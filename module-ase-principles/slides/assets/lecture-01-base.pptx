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4" r:id="rId12"/>
  </p:sldMasterIdLst>
  <p:notesMasterIdLst>
    <p:notesMasterId r:id="rId22"/>
  </p:notesMasterIdLst>
  <p:handoutMasterIdLst>
    <p:handoutMasterId r:id="rId23"/>
  </p:handoutMasterIdLst>
  <p:sldIdLst>
    <p:sldId id="256" r:id="rId16"/>
    <p:sldId id="214737538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A382648-2297-8FFC-B73F-AB124D6DE6DE}" name="Kaplan, Dan J                            Collins" initials="KDJC" userId="Kaplan, Dan J                            Collins" providerId="None"/>
  <p188:author id="{2D53BE49-35D9-EF15-1A32-A328DF3692BD}" name="Schroeder, Nancy A                            Collins" initials="SC" userId="S::10656689@adxuser.com::a39546d3-50b7-4369-86b3-1895d645d969" providerId="AD"/>
  <p188:author id="{6FDF37B6-3747-D076-79BF-E4A9A05A5DDD}" name="Sevestre, Stephane                           Export License Required - US Collins" initials="SSELRUC" userId="Sevestre, Stephane                           Export License Required - US Collins"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y Avitabile" initials="AA" lastIdx="1" clrIdx="0">
    <p:extLst>
      <p:ext uri="{19B8F6BF-5375-455C-9EA6-DF929625EA0E}">
        <p15:presenceInfo xmlns:p15="http://schemas.microsoft.com/office/powerpoint/2012/main" userId="S-1-5-21-1214440339-861567501-682003330-13659481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C1C2"/>
    <a:srgbClr val="00B050"/>
    <a:srgbClr val="FFCC00"/>
    <a:srgbClr val="FFCCCC"/>
    <a:srgbClr val="00933C"/>
    <a:srgbClr val="D3D1E7"/>
    <a:srgbClr val="D9D9D6"/>
    <a:srgbClr val="E7E7E7"/>
    <a:srgbClr val="63666A"/>
    <a:srgbClr val="B1B3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2"/>
    <p:restoredTop sz="93973"/>
  </p:normalViewPr>
  <p:slideViewPr>
    <p:cSldViewPr snapToGrid="0">
      <p:cViewPr varScale="1">
        <p:scale>
          <a:sx n="119" d="100"/>
          <a:sy n="119" d="100"/>
        </p:scale>
        <p:origin x="336" y="192"/>
      </p:cViewPr>
      <p:guideLst>
        <p:guide orient="horz" pos="408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Master" Target="slideMasters/slideMaster7.xml"/><Relationship Id="rId17" Type="http://schemas.openxmlformats.org/officeDocument/2006/relationships/slide" Target="slides/slide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xml"/><Relationship Id="rId29" Type="http://schemas.microsoft.com/office/2018/10/relationships/authors" Target="authors.xml"/><Relationship Id="rId1" Type="http://schemas.openxmlformats.org/officeDocument/2006/relationships/customXml" Target="../customXml/item1.xml"/><Relationship Id="rId24" Type="http://schemas.openxmlformats.org/officeDocument/2006/relationships/commentAuthors" Target="commentAuthors.xml"/><Relationship Id="rId5" Type="http://schemas.openxmlformats.org/officeDocument/2006/relationships/customXml" Target="../customXml/item5.xml"/><Relationship Id="rId23" Type="http://schemas.openxmlformats.org/officeDocument/2006/relationships/handoutMaster" Target="handoutMasters/handoutMaster1.xml"/><Relationship Id="rId28" Type="http://schemas.openxmlformats.org/officeDocument/2006/relationships/tableStyles" Target="tableStyles.xml"/><Relationship Id="rId4" Type="http://schemas.openxmlformats.org/officeDocument/2006/relationships/customXml" Target="../customXml/item4.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oter Placeholder 11"/>
          <p:cNvSpPr>
            <a:spLocks noGrp="1"/>
          </p:cNvSpPr>
          <p:nvPr>
            <p:ph type="ftr" sz="quarter" idx="2"/>
          </p:nvPr>
        </p:nvSpPr>
        <p:spPr>
          <a:xfrm>
            <a:off x="0" y="8855038"/>
            <a:ext cx="6858000" cy="276999"/>
          </a:xfrm>
          <a:prstGeom prst="rect">
            <a:avLst/>
          </a:prstGeom>
        </p:spPr>
        <p:txBody>
          <a:bodyPr vert="horz" lIns="91440" tIns="45720" rIns="91440" bIns="45720" rtlCol="0" anchor="b">
            <a:spAutoFit/>
          </a:bodyPr>
          <a:lstStyle>
            <a:lvl1pPr algn="l">
              <a:defRPr sz="1200"/>
            </a:lvl1pPr>
          </a:lstStyle>
          <a:p>
            <a:pPr algn="ctr"/>
            <a:endParaRPr lang="en-US"/>
          </a:p>
        </p:txBody>
      </p:sp>
      <p:sp>
        <p:nvSpPr>
          <p:cNvPr id="13" name="Slide Number Placeholder 12"/>
          <p:cNvSpPr>
            <a:spLocks noGrp="1"/>
          </p:cNvSpPr>
          <p:nvPr>
            <p:ph type="sldNum" sz="quarter" idx="3"/>
          </p:nvPr>
        </p:nvSpPr>
        <p:spPr>
          <a:xfrm>
            <a:off x="3886200" y="0"/>
            <a:ext cx="2971800" cy="458787"/>
          </a:xfrm>
          <a:prstGeom prst="rect">
            <a:avLst/>
          </a:prstGeom>
        </p:spPr>
        <p:txBody>
          <a:bodyPr vert="horz" lIns="91440" tIns="45720" rIns="91440" bIns="45720" rtlCol="0" anchor="b"/>
          <a:lstStyle>
            <a:lvl1pPr algn="r">
              <a:defRPr sz="1200"/>
            </a:lvl1pPr>
          </a:lstStyle>
          <a:p>
            <a:fld id="{138C58B0-FFE9-437E-B2CB-216DAFA841B5}" type="slidenum">
              <a:rPr lang="en-US" smtClean="0"/>
              <a:t>‹#›</a:t>
            </a:fld>
            <a:endParaRPr lang="en-US"/>
          </a:p>
        </p:txBody>
      </p:sp>
    </p:spTree>
    <p:extLst>
      <p:ext uri="{BB962C8B-B14F-4D97-AF65-F5344CB8AC3E}">
        <p14:creationId xmlns:p14="http://schemas.microsoft.com/office/powerpoint/2010/main" val="2414966732"/>
      </p:ext>
    </p:extLst>
  </p:cSld>
  <p:clrMap bg1="lt1" tx1="dk1" bg2="lt2" tx2="dk2" accent1="accent1" accent2="accent2" accent3="accent3" accent4="accent4" accent5="accent5" accent6="accent6" hlink="hlink" folHlink="folHlink"/>
  <p:hf hdr="0" dt="0"/>
  <p:extLst>
    <p:ext uri="{56416CCD-93CA-4268-BC5B-53C4BB910035}">
      <p15:sldGuideLst xmlns:p15="http://schemas.microsoft.com/office/powerpoint/2012/main">
        <p15:guide id="2" pos="288" userDrawn="1">
          <p15:clr>
            <a:srgbClr val="F26B43"/>
          </p15:clr>
        </p15:guide>
        <p15:guide id="3" pos="4032"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92624" y="692622"/>
            <a:ext cx="5517676" cy="310369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12556"/>
            <a:ext cx="5524500" cy="4094214"/>
          </a:xfrm>
          <a:prstGeom prst="rect">
            <a:avLst/>
          </a:prstGeom>
        </p:spPr>
        <p:txBody>
          <a:bodyPr vert="horz" lIns="0" tIns="0" rIns="0" bIns="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p:cNvSpPr>
            <a:spLocks noGrp="1"/>
          </p:cNvSpPr>
          <p:nvPr>
            <p:ph type="ftr" sz="quarter" idx="4"/>
          </p:nvPr>
        </p:nvSpPr>
        <p:spPr>
          <a:xfrm>
            <a:off x="0" y="8774668"/>
            <a:ext cx="6858000" cy="369332"/>
          </a:xfrm>
          <a:prstGeom prst="rect">
            <a:avLst/>
          </a:prstGeom>
        </p:spPr>
        <p:txBody>
          <a:bodyPr vert="horz" lIns="91440" tIns="45720" rIns="91440" bIns="45720" rtlCol="0" anchor="b">
            <a:spAutoFit/>
          </a:bodyPr>
          <a:lstStyle>
            <a:lvl1pPr algn="ctr">
              <a:defRPr lang="en-US"/>
            </a:lvl1pPr>
          </a:lstStyle>
          <a:p>
            <a:endParaRPr lang="en-US"/>
          </a:p>
        </p:txBody>
      </p:sp>
      <p:sp>
        <p:nvSpPr>
          <p:cNvPr id="15" name="Slide Number Placeholder 14"/>
          <p:cNvSpPr>
            <a:spLocks noGrp="1"/>
          </p:cNvSpPr>
          <p:nvPr>
            <p:ph type="sldNum" sz="quarter" idx="5"/>
          </p:nvPr>
        </p:nvSpPr>
        <p:spPr>
          <a:xfrm>
            <a:off x="3886200" y="9183"/>
            <a:ext cx="2971800" cy="458787"/>
          </a:xfrm>
          <a:prstGeom prst="rect">
            <a:avLst/>
          </a:prstGeom>
        </p:spPr>
        <p:txBody>
          <a:bodyPr vert="horz" lIns="91440" tIns="45720" rIns="91440" bIns="45720" rtlCol="0" anchor="b"/>
          <a:lstStyle>
            <a:lvl1pPr algn="r">
              <a:defRPr sz="1200"/>
            </a:lvl1pPr>
          </a:lstStyle>
          <a:p>
            <a:fld id="{56AF3A09-0EB5-429E-B7D0-FB28A7726D23}" type="slidenum">
              <a:rPr lang="en-US" smtClean="0"/>
              <a:t>‹#›</a:t>
            </a:fld>
            <a:endParaRPr lang="en-US"/>
          </a:p>
        </p:txBody>
      </p:sp>
    </p:spTree>
    <p:extLst>
      <p:ext uri="{BB962C8B-B14F-4D97-AF65-F5344CB8AC3E}">
        <p14:creationId xmlns:p14="http://schemas.microsoft.com/office/powerpoint/2010/main" val="2302219137"/>
      </p:ext>
    </p:extLst>
  </p:cSld>
  <p:clrMap bg1="lt1" tx1="dk1" bg2="lt2" tx2="dk2" accent1="accent1" accent2="accent2" accent3="accent3" accent4="accent4" accent5="accent5" accent6="accent6" hlink="hlink" folHlink="folHlink"/>
  <p:hf dt="0"/>
  <p:notesStyle>
    <a:lvl1pPr marL="115888"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1pPr>
    <a:lvl2pPr marL="287338" indent="-117475"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2pPr>
    <a:lvl3pPr marL="457200"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3pPr>
    <a:lvl4pPr marL="627063" indent="-115888"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4pPr>
    <a:lvl5pPr marL="860425" indent="-171450" algn="l" defTabSz="914400" rtl="0" eaLnBrk="1" latinLnBrk="0" hangingPunct="1">
      <a:spcBef>
        <a:spcPts val="200"/>
      </a:spcBef>
      <a:buFont typeface="Arial" panose="020B0604020202020204" pitchFamily="34" charset="0"/>
      <a:buChar char="•"/>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432" userDrawn="1">
          <p15:clr>
            <a:srgbClr val="F26B43"/>
          </p15:clr>
        </p15:guide>
        <p15:guide id="2" pos="3912"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30E6-29FE-8D9A-C5A0-8F0EF7B91E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B0C18-6CCF-9B06-B8C2-7AF859D1CD47}"/>
              </a:ext>
            </a:extLst>
          </p:cNvPr>
          <p:cNvSpPr>
            <a:spLocks noGrp="1" noRot="1" noChangeAspect="1"/>
          </p:cNvSpPr>
          <p:nvPr>
            <p:ph type="sldImg"/>
          </p:nvPr>
        </p:nvSpPr>
        <p:spPr>
          <a:xfrm>
            <a:off x="692150" y="692150"/>
            <a:ext cx="5518150" cy="3103563"/>
          </a:xfrm>
        </p:spPr>
      </p:sp>
      <p:sp>
        <p:nvSpPr>
          <p:cNvPr id="3" name="Notes Placeholder 2">
            <a:extLst>
              <a:ext uri="{FF2B5EF4-FFF2-40B4-BE49-F238E27FC236}">
                <a16:creationId xmlns:a16="http://schemas.microsoft.com/office/drawing/2014/main" id="{6C784970-52A9-3C3D-45DC-35C4C99DE06F}"/>
              </a:ext>
            </a:extLst>
          </p:cNvPr>
          <p:cNvSpPr>
            <a:spLocks noGrp="1"/>
          </p:cNvSpPr>
          <p:nvPr>
            <p:ph type="body" idx="1"/>
          </p:nvPr>
        </p:nvSpPr>
        <p:spPr/>
        <p:txBody>
          <a:bodyPr/>
          <a:lstStyle/>
          <a:p>
            <a:r>
              <a:rPr lang="en-US" dirty="0"/>
              <a:t>We believe in abstractions: hierarchical, composable, designed for formal reasoning.  How to develop agentic software engineering so that the abstractions are the heart of what they produce, how they plan (i.e., how they decompose work </a:t>
            </a:r>
            <a:r>
              <a:rPr lang="en-US" dirty="0" err="1"/>
              <a:t>temporily</a:t>
            </a:r>
            <a:r>
              <a:rPr lang="en-US" dirty="0"/>
              <a:t> and structurally)</a:t>
            </a:r>
          </a:p>
          <a:p>
            <a:endParaRPr lang="en-US" dirty="0"/>
          </a:p>
          <a:p>
            <a:endParaRPr lang="en-US" dirty="0"/>
          </a:p>
          <a:p>
            <a:r>
              <a:rPr lang="en-US" dirty="0"/>
              <a:t>Assurance – externalize confidence in the system – how do we achieve views that are appropriate for humans (avoid mental overhead) and agents (avoiding time and token burn).  Cautionary story about Haskell build system.  Achieve visibility into the development process – governance, process improvement measurement.  Key point: independence – diversity in reasoning and problem solving.</a:t>
            </a:r>
          </a:p>
          <a:p>
            <a:endParaRPr lang="en-US" dirty="0"/>
          </a:p>
          <a:p>
            <a:r>
              <a:rPr lang="en-US" dirty="0"/>
              <a:t>High assurance, properties that are specified and assessed at multiple levels of abstraction</a:t>
            </a:r>
          </a:p>
          <a:p>
            <a:endParaRPr lang="en-US" dirty="0"/>
          </a:p>
          <a:p>
            <a:r>
              <a:rPr lang="en-US" dirty="0"/>
              <a:t>Usability for agents – I’ve got this powerful new employee and teammate.  They are much smarter and faster than me at meany things.  But they are not as good as me at other things.</a:t>
            </a:r>
          </a:p>
          <a:p>
            <a:endParaRPr lang="en-US" dirty="0"/>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US" dirty="0"/>
              <a:t>Shift from engineering the code to engineering the development and assurance context</a:t>
            </a:r>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r>
              <a:rPr lang="en-US" dirty="0"/>
              <a:t>Managed technology base – layered composable abstractions that not only provide direction but provide explainability</a:t>
            </a:r>
          </a:p>
          <a:p>
            <a:pPr marL="115888" marR="0" lvl="0" indent="-115888" algn="l" defTabSz="914400" rtl="0" eaLnBrk="1" fontAlgn="auto" latinLnBrk="0" hangingPunct="1">
              <a:lnSpc>
                <a:spcPct val="100000"/>
              </a:lnSpc>
              <a:spcBef>
                <a:spcPts val="200"/>
              </a:spcBef>
              <a:spcAft>
                <a:spcPts val="0"/>
              </a:spcAft>
              <a:buClrTx/>
              <a:buSzTx/>
              <a:buFont typeface="Arial" panose="020B0604020202020204" pitchFamily="34" charset="0"/>
              <a:buChar char="•"/>
              <a:tabLst/>
              <a:defRPr/>
            </a:pPr>
            <a:endParaRPr lang="en-US" dirty="0"/>
          </a:p>
          <a:p>
            <a:endParaRPr lang="en-US" dirty="0"/>
          </a:p>
        </p:txBody>
      </p:sp>
      <p:sp>
        <p:nvSpPr>
          <p:cNvPr id="4" name="Footer Placeholder 3">
            <a:extLst>
              <a:ext uri="{FF2B5EF4-FFF2-40B4-BE49-F238E27FC236}">
                <a16:creationId xmlns:a16="http://schemas.microsoft.com/office/drawing/2014/main" id="{65ACAA5E-556E-E4A0-BCBA-9B2C375EA597}"/>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6A872A34-1850-D49F-1CED-0BD587A42992}"/>
              </a:ext>
            </a:extLst>
          </p:cNvPr>
          <p:cNvSpPr>
            <a:spLocks noGrp="1"/>
          </p:cNvSpPr>
          <p:nvPr>
            <p:ph type="sldNum" sz="quarter" idx="5"/>
          </p:nvPr>
        </p:nvSpPr>
        <p:spPr/>
        <p:txBody>
          <a:bodyPr/>
          <a:lstStyle/>
          <a:p>
            <a:fld id="{56AF3A09-0EB5-429E-B7D0-FB28A7726D23}" type="slidenum">
              <a:rPr lang="en-US" smtClean="0"/>
              <a:t>2</a:t>
            </a:fld>
            <a:endParaRPr lang="en-US"/>
          </a:p>
        </p:txBody>
      </p:sp>
    </p:spTree>
    <p:extLst>
      <p:ext uri="{BB962C8B-B14F-4D97-AF65-F5344CB8AC3E}">
        <p14:creationId xmlns:p14="http://schemas.microsoft.com/office/powerpoint/2010/main" val="2599503159"/>
      </p:ext>
    </p:extLst>
  </p:cSld>
  <p:clrMapOvr>
    <a:masterClrMapping/>
  </p:clrMapOvr>
</p:note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4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7"/>
          <p:cNvSpPr>
            <a:spLocks noChangeArrowheads="1"/>
          </p:cNvSpPr>
          <p:nvPr userDrawn="1"/>
        </p:nvSpPr>
        <p:spPr bwMode="auto">
          <a:xfrm>
            <a:off x="0" y="0"/>
            <a:ext cx="12192000" cy="12954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 name="Rectangle 18"/>
          <p:cNvSpPr>
            <a:spLocks noChangeArrowheads="1"/>
          </p:cNvSpPr>
          <p:nvPr userDrawn="1"/>
        </p:nvSpPr>
        <p:spPr bwMode="auto">
          <a:xfrm rot="16200000">
            <a:off x="-2425700" y="3721100"/>
            <a:ext cx="5562600" cy="711200"/>
          </a:xfrm>
          <a:prstGeom prst="rect">
            <a:avLst/>
          </a:prstGeom>
          <a:gradFill rotWithShape="0">
            <a:gsLst>
              <a:gs pos="0">
                <a:srgbClr val="9900CC"/>
              </a:gs>
              <a:gs pos="100000">
                <a:srgbClr val="FFFFFF"/>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6156" name="Rectangle 12"/>
          <p:cNvSpPr>
            <a:spLocks noGrp="1" noChangeArrowheads="1"/>
          </p:cNvSpPr>
          <p:nvPr>
            <p:ph type="ctrTitle"/>
          </p:nvPr>
        </p:nvSpPr>
        <p:spPr>
          <a:xfrm>
            <a:off x="1320800" y="1828800"/>
            <a:ext cx="10363200" cy="1143000"/>
          </a:xfrm>
        </p:spPr>
        <p:txBody>
          <a:bodyPr/>
          <a:lstStyle>
            <a:lvl1pPr>
              <a:defRPr/>
            </a:lvl1pPr>
          </a:lstStyle>
          <a:p>
            <a:r>
              <a:rPr lang="en-US"/>
              <a:t>Click to edit Master title style</a:t>
            </a:r>
          </a:p>
        </p:txBody>
      </p:sp>
      <p:sp>
        <p:nvSpPr>
          <p:cNvPr id="6157" name="Rectangle 13"/>
          <p:cNvSpPr>
            <a:spLocks noGrp="1" noChangeArrowheads="1"/>
          </p:cNvSpPr>
          <p:nvPr>
            <p:ph type="subTitle" idx="1"/>
          </p:nvPr>
        </p:nvSpPr>
        <p:spPr>
          <a:xfrm>
            <a:off x="1828800" y="3886200"/>
            <a:ext cx="8534400" cy="1752600"/>
          </a:xfrm>
        </p:spPr>
        <p:txBody>
          <a:bodyPr/>
          <a:lstStyle>
            <a:lvl1pPr marL="0" indent="0" algn="ctr">
              <a:buFont typeface="Wingdings" charset="2"/>
              <a:buNone/>
              <a:defRPr/>
            </a:lvl1pPr>
          </a:lstStyle>
          <a:p>
            <a:r>
              <a:rPr lang="en-US"/>
              <a:t>Click to edit Master subtitle style</a:t>
            </a:r>
          </a:p>
        </p:txBody>
      </p:sp>
      <p:sp>
        <p:nvSpPr>
          <p:cNvPr id="6" name="Rectangle 14"/>
          <p:cNvSpPr>
            <a:spLocks noGrp="1" noChangeArrowheads="1"/>
          </p:cNvSpPr>
          <p:nvPr>
            <p:ph type="dt" sz="half" idx="10"/>
          </p:nvPr>
        </p:nvSpPr>
        <p:spPr bwMode="auto">
          <a:xfrm>
            <a:off x="1320800" y="6248400"/>
            <a:ext cx="2540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latin typeface="Tahoma" pitchFamily="-84" charset="0"/>
              </a:defRPr>
            </a:lvl1pPr>
          </a:lstStyle>
          <a:p>
            <a:pPr>
              <a:defRPr/>
            </a:pPr>
            <a:endParaRPr lang="en-US"/>
          </a:p>
        </p:txBody>
      </p:sp>
      <p:sp>
        <p:nvSpPr>
          <p:cNvPr id="7" name="Rectangle 15"/>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r>
              <a:rPr lang="en-US"/>
              <a:t>CS Agentic Development</a:t>
            </a:r>
          </a:p>
        </p:txBody>
      </p:sp>
      <p:sp>
        <p:nvSpPr>
          <p:cNvPr id="8" name="Rectangle 16"/>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45E685A3-5A44-F34A-9DD6-E549D5259BBF}" type="slidenum">
              <a:rPr lang="en-US"/>
              <a:pPr>
                <a:defRPr/>
              </a:pPr>
              <a:t>‹#›</a:t>
            </a:fld>
            <a:endParaRPr lang="en-US"/>
          </a:p>
        </p:txBody>
      </p:sp>
    </p:spTree>
    <p:extLst>
      <p:ext uri="{BB962C8B-B14F-4D97-AF65-F5344CB8AC3E}">
        <p14:creationId xmlns:p14="http://schemas.microsoft.com/office/powerpoint/2010/main" val="36110403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C22399C2-1ADD-1549-9753-CEA7C1EED1B8}" type="slidenum">
              <a:rPr lang="en-US"/>
              <a:pPr>
                <a:defRPr/>
              </a:pPr>
              <a:t>‹#›</a:t>
            </a:fld>
            <a:endParaRPr lang="en-US"/>
          </a:p>
        </p:txBody>
      </p:sp>
    </p:spTree>
    <p:extLst>
      <p:ext uri="{BB962C8B-B14F-4D97-AF65-F5344CB8AC3E}">
        <p14:creationId xmlns:p14="http://schemas.microsoft.com/office/powerpoint/2010/main" val="22237583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50848EDB-E059-EE4C-BEE4-92ACBFC1ACEA}" type="slidenum">
              <a:rPr lang="en-US"/>
              <a:pPr>
                <a:defRPr/>
              </a:pPr>
              <a:t>‹#›</a:t>
            </a:fld>
            <a:endParaRPr lang="en-US"/>
          </a:p>
        </p:txBody>
      </p:sp>
    </p:spTree>
    <p:extLst>
      <p:ext uri="{BB962C8B-B14F-4D97-AF65-F5344CB8AC3E}">
        <p14:creationId xmlns:p14="http://schemas.microsoft.com/office/powerpoint/2010/main" val="407940486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51600" y="1524000"/>
            <a:ext cx="53340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1EE9051A-5116-C044-BC66-ED283B4D5A77}" type="slidenum">
              <a:rPr lang="en-US"/>
              <a:pPr>
                <a:defRPr/>
              </a:pPr>
              <a:t>‹#›</a:t>
            </a:fld>
            <a:endParaRPr lang="en-US"/>
          </a:p>
        </p:txBody>
      </p:sp>
    </p:spTree>
    <p:extLst>
      <p:ext uri="{BB962C8B-B14F-4D97-AF65-F5344CB8AC3E}">
        <p14:creationId xmlns:p14="http://schemas.microsoft.com/office/powerpoint/2010/main" val="35126377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8" name="Rectangle 13"/>
          <p:cNvSpPr>
            <a:spLocks noGrp="1" noChangeArrowheads="1"/>
          </p:cNvSpPr>
          <p:nvPr>
            <p:ph type="sldNum" sz="quarter" idx="11"/>
          </p:nvPr>
        </p:nvSpPr>
        <p:spPr>
          <a:ln/>
        </p:spPr>
        <p:txBody>
          <a:bodyPr/>
          <a:lstStyle>
            <a:lvl1pPr>
              <a:defRPr/>
            </a:lvl1pPr>
          </a:lstStyle>
          <a:p>
            <a:pPr>
              <a:defRPr/>
            </a:pPr>
            <a:fld id="{2E73A91B-A097-8F43-A5C5-A8482E10CE6F}" type="slidenum">
              <a:rPr lang="en-US"/>
              <a:pPr>
                <a:defRPr/>
              </a:pPr>
              <a:t>‹#›</a:t>
            </a:fld>
            <a:endParaRPr lang="en-US"/>
          </a:p>
        </p:txBody>
      </p:sp>
    </p:spTree>
    <p:extLst>
      <p:ext uri="{BB962C8B-B14F-4D97-AF65-F5344CB8AC3E}">
        <p14:creationId xmlns:p14="http://schemas.microsoft.com/office/powerpoint/2010/main" val="6474905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4" name="Rectangle 13"/>
          <p:cNvSpPr>
            <a:spLocks noGrp="1" noChangeArrowheads="1"/>
          </p:cNvSpPr>
          <p:nvPr>
            <p:ph type="sldNum" sz="quarter" idx="11"/>
          </p:nvPr>
        </p:nvSpPr>
        <p:spPr>
          <a:ln/>
        </p:spPr>
        <p:txBody>
          <a:bodyPr/>
          <a:lstStyle>
            <a:lvl1pPr>
              <a:defRPr/>
            </a:lvl1pPr>
          </a:lstStyle>
          <a:p>
            <a:pPr>
              <a:defRPr/>
            </a:pPr>
            <a:fld id="{6E0AA622-F4CE-604D-A669-CD3D12FC535C}" type="slidenum">
              <a:rPr lang="en-US"/>
              <a:pPr>
                <a:defRPr/>
              </a:pPr>
              <a:t>‹#›</a:t>
            </a:fld>
            <a:endParaRPr lang="en-US"/>
          </a:p>
        </p:txBody>
      </p:sp>
    </p:spTree>
    <p:extLst>
      <p:ext uri="{BB962C8B-B14F-4D97-AF65-F5344CB8AC3E}">
        <p14:creationId xmlns:p14="http://schemas.microsoft.com/office/powerpoint/2010/main" val="8783573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3" name="Rectangle 13"/>
          <p:cNvSpPr>
            <a:spLocks noGrp="1" noChangeArrowheads="1"/>
          </p:cNvSpPr>
          <p:nvPr>
            <p:ph type="sldNum" sz="quarter" idx="11"/>
          </p:nvPr>
        </p:nvSpPr>
        <p:spPr>
          <a:ln/>
        </p:spPr>
        <p:txBody>
          <a:bodyPr/>
          <a:lstStyle>
            <a:lvl1pPr>
              <a:defRPr/>
            </a:lvl1pPr>
          </a:lstStyle>
          <a:p>
            <a:pPr>
              <a:defRPr/>
            </a:pPr>
            <a:fld id="{BA615124-8EB2-6E40-9E50-F98D2465DC75}" type="slidenum">
              <a:rPr lang="en-US"/>
              <a:pPr>
                <a:defRPr/>
              </a:pPr>
              <a:t>‹#›</a:t>
            </a:fld>
            <a:endParaRPr lang="en-US"/>
          </a:p>
        </p:txBody>
      </p:sp>
    </p:spTree>
    <p:extLst>
      <p:ext uri="{BB962C8B-B14F-4D97-AF65-F5344CB8AC3E}">
        <p14:creationId xmlns:p14="http://schemas.microsoft.com/office/powerpoint/2010/main" val="17975853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A44EE25D-892F-FA42-8251-4062CB60CA5E}" type="slidenum">
              <a:rPr lang="en-US"/>
              <a:pPr>
                <a:defRPr/>
              </a:pPr>
              <a:t>‹#›</a:t>
            </a:fld>
            <a:endParaRPr lang="en-US"/>
          </a:p>
        </p:txBody>
      </p:sp>
    </p:spTree>
    <p:extLst>
      <p:ext uri="{BB962C8B-B14F-4D97-AF65-F5344CB8AC3E}">
        <p14:creationId xmlns:p14="http://schemas.microsoft.com/office/powerpoint/2010/main" val="6745426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6" name="Rectangle 13"/>
          <p:cNvSpPr>
            <a:spLocks noGrp="1" noChangeArrowheads="1"/>
          </p:cNvSpPr>
          <p:nvPr>
            <p:ph type="sldNum" sz="quarter" idx="11"/>
          </p:nvPr>
        </p:nvSpPr>
        <p:spPr>
          <a:ln/>
        </p:spPr>
        <p:txBody>
          <a:bodyPr/>
          <a:lstStyle>
            <a:lvl1pPr>
              <a:defRPr/>
            </a:lvl1pPr>
          </a:lstStyle>
          <a:p>
            <a:pPr>
              <a:defRPr/>
            </a:pPr>
            <a:fld id="{2C56E9B7-6EE0-8D46-8C36-993F30F20EC8}" type="slidenum">
              <a:rPr lang="en-US"/>
              <a:pPr>
                <a:defRPr/>
              </a:pPr>
              <a:t>‹#›</a:t>
            </a:fld>
            <a:endParaRPr lang="en-US"/>
          </a:p>
        </p:txBody>
      </p:sp>
    </p:spTree>
    <p:extLst>
      <p:ext uri="{BB962C8B-B14F-4D97-AF65-F5344CB8AC3E}">
        <p14:creationId xmlns:p14="http://schemas.microsoft.com/office/powerpoint/2010/main" val="9890397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0CB14967-302F-6E48-8678-32FDE0F3292B}" type="slidenum">
              <a:rPr lang="en-US"/>
              <a:pPr>
                <a:defRPr/>
              </a:pPr>
              <a:t>‹#›</a:t>
            </a:fld>
            <a:endParaRPr lang="en-US"/>
          </a:p>
        </p:txBody>
      </p:sp>
    </p:spTree>
    <p:extLst>
      <p:ext uri="{BB962C8B-B14F-4D97-AF65-F5344CB8AC3E}">
        <p14:creationId xmlns:p14="http://schemas.microsoft.com/office/powerpoint/2010/main" val="33068882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67800" y="0"/>
            <a:ext cx="2717800" cy="6400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0"/>
            <a:ext cx="7950200" cy="6400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p:cNvSpPr>
            <a:spLocks noGrp="1" noChangeArrowheads="1"/>
          </p:cNvSpPr>
          <p:nvPr>
            <p:ph type="ftr" sz="quarter" idx="10"/>
          </p:nvPr>
        </p:nvSpPr>
        <p:spPr>
          <a:ln/>
        </p:spPr>
        <p:txBody>
          <a:bodyPr/>
          <a:lstStyle>
            <a:lvl1pPr>
              <a:defRPr/>
            </a:lvl1pPr>
          </a:lstStyle>
          <a:p>
            <a:pPr>
              <a:defRPr/>
            </a:pPr>
            <a:r>
              <a:rPr lang="en-US"/>
              <a:t>CS Agentic Development</a:t>
            </a:r>
          </a:p>
        </p:txBody>
      </p:sp>
      <p:sp>
        <p:nvSpPr>
          <p:cNvPr id="5" name="Rectangle 13"/>
          <p:cNvSpPr>
            <a:spLocks noGrp="1" noChangeArrowheads="1"/>
          </p:cNvSpPr>
          <p:nvPr>
            <p:ph type="sldNum" sz="quarter" idx="11"/>
          </p:nvPr>
        </p:nvSpPr>
        <p:spPr>
          <a:ln/>
        </p:spPr>
        <p:txBody>
          <a:bodyPr/>
          <a:lstStyle>
            <a:lvl1pPr>
              <a:defRPr/>
            </a:lvl1pPr>
          </a:lstStyle>
          <a:p>
            <a:pPr>
              <a:defRPr/>
            </a:pPr>
            <a:fld id="{EBA15ABF-0168-ED43-8055-FDAC86F85D9F}" type="slidenum">
              <a:rPr lang="en-US"/>
              <a:pPr>
                <a:defRPr/>
              </a:pPr>
              <a:t>‹#›</a:t>
            </a:fld>
            <a:endParaRPr lang="en-US"/>
          </a:p>
        </p:txBody>
      </p:sp>
    </p:spTree>
    <p:extLst>
      <p:ext uri="{BB962C8B-B14F-4D97-AF65-F5344CB8AC3E}">
        <p14:creationId xmlns:p14="http://schemas.microsoft.com/office/powerpoint/2010/main" val="1942974883"/>
      </p:ext>
    </p:extLst>
  </p:cSld>
  <p:clrMapOvr>
    <a:masterClrMapping/>
  </p:clrMapOvr>
</p:sldLayout>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7.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35" name="Rectangle 15"/>
          <p:cNvSpPr>
            <a:spLocks noChangeArrowheads="1"/>
          </p:cNvSpPr>
          <p:nvPr userDrawn="1"/>
        </p:nvSpPr>
        <p:spPr bwMode="auto">
          <a:xfrm rot="-5400000">
            <a:off x="-2501900" y="3644900"/>
            <a:ext cx="5715000" cy="711200"/>
          </a:xfrm>
          <a:prstGeom prst="rect">
            <a:avLst/>
          </a:prstGeom>
          <a:gradFill rotWithShape="0">
            <a:gsLst>
              <a:gs pos="0">
                <a:srgbClr val="DDCBE7"/>
              </a:gs>
              <a:gs pos="100000">
                <a:srgbClr val="DDCBE7">
                  <a:gamma/>
                  <a:tint val="0"/>
                  <a:invGamma/>
                </a:srgbClr>
              </a:gs>
            </a:gsLst>
            <a:lin ang="540000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5134" name="Rectangle 14"/>
          <p:cNvSpPr>
            <a:spLocks noChangeArrowheads="1"/>
          </p:cNvSpPr>
          <p:nvPr userDrawn="1"/>
        </p:nvSpPr>
        <p:spPr bwMode="auto">
          <a:xfrm>
            <a:off x="0" y="0"/>
            <a:ext cx="12192000" cy="1143000"/>
          </a:xfrm>
          <a:prstGeom prst="rect">
            <a:avLst/>
          </a:prstGeom>
          <a:gradFill rotWithShape="0">
            <a:gsLst>
              <a:gs pos="0">
                <a:srgbClr val="9900CC"/>
              </a:gs>
              <a:gs pos="100000">
                <a:srgbClr val="FFFFFF"/>
              </a:gs>
            </a:gsLst>
            <a:lin ang="0" scaled="1"/>
          </a:gradFill>
          <a:ln w="9525">
            <a:noFill/>
            <a:miter lim="800000"/>
            <a:headEnd/>
            <a:tailEnd/>
          </a:ln>
          <a:effectLst/>
        </p:spPr>
        <p:txBody>
          <a:bodyPr wrap="none" anchor="ctr">
            <a:prstTxWarp prst="textNoShape">
              <a:avLst/>
            </a:prstTxWarp>
          </a:bodyPr>
          <a:lstStyle/>
          <a:p>
            <a:pPr>
              <a:defRPr/>
            </a:pPr>
            <a:endParaRPr lang="en-US" sz="1800">
              <a:latin typeface="Tahoma" pitchFamily="-84" charset="0"/>
            </a:endParaRPr>
          </a:p>
        </p:txBody>
      </p:sp>
      <p:sp>
        <p:nvSpPr>
          <p:cNvPr id="1028" name="Rectangle 9"/>
          <p:cNvSpPr>
            <a:spLocks noGrp="1" noChangeArrowheads="1"/>
          </p:cNvSpPr>
          <p:nvPr>
            <p:ph type="title"/>
          </p:nvPr>
        </p:nvSpPr>
        <p:spPr bwMode="auto">
          <a:xfrm>
            <a:off x="914400" y="0"/>
            <a:ext cx="108712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9" name="Rectangle 10"/>
          <p:cNvSpPr>
            <a:spLocks noGrp="1" noChangeArrowheads="1"/>
          </p:cNvSpPr>
          <p:nvPr>
            <p:ph type="body" idx="1"/>
          </p:nvPr>
        </p:nvSpPr>
        <p:spPr bwMode="auto">
          <a:xfrm>
            <a:off x="914400" y="1524000"/>
            <a:ext cx="108712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32" name="Rectangle 12"/>
          <p:cNvSpPr>
            <a:spLocks noGrp="1" noChangeArrowheads="1"/>
          </p:cNvSpPr>
          <p:nvPr>
            <p:ph type="ftr" sz="quarter" idx="3"/>
          </p:nvPr>
        </p:nvSpPr>
        <p:spPr bwMode="auto">
          <a:xfrm>
            <a:off x="0" y="6553200"/>
            <a:ext cx="4775200" cy="3048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rgbClr val="D0B6DE"/>
                </a:solidFill>
                <a:latin typeface="Tahoma" pitchFamily="-84" charset="0"/>
              </a:defRPr>
            </a:lvl1pPr>
          </a:lstStyle>
          <a:p>
            <a:pPr>
              <a:defRPr/>
            </a:pPr>
            <a:r>
              <a:rPr lang="en-US"/>
              <a:t>CS Agentic Development</a:t>
            </a:r>
          </a:p>
        </p:txBody>
      </p:sp>
      <p:sp>
        <p:nvSpPr>
          <p:cNvPr id="5133" name="Rectangle 13"/>
          <p:cNvSpPr>
            <a:spLocks noGrp="1" noChangeArrowheads="1"/>
          </p:cNvSpPr>
          <p:nvPr>
            <p:ph type="sldNum" sz="quarter" idx="4"/>
          </p:nvPr>
        </p:nvSpPr>
        <p:spPr bwMode="auto">
          <a:xfrm>
            <a:off x="11582400" y="6400800"/>
            <a:ext cx="60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solidFill>
                  <a:srgbClr val="D0B6DE"/>
                </a:solidFill>
                <a:latin typeface="Tahoma" pitchFamily="-84" charset="0"/>
              </a:defRPr>
            </a:lvl1pPr>
          </a:lstStyle>
          <a:p>
            <a:pPr>
              <a:defRPr/>
            </a:pPr>
            <a:fld id="{623F72AE-F2FC-1C4B-AEBE-5105C7AC914D}" type="slidenum">
              <a:rPr lang="en-US"/>
              <a:pPr>
                <a:defRPr/>
              </a:pPr>
              <a:t>‹#›</a:t>
            </a:fld>
            <a:endParaRPr lang="en-US"/>
          </a:p>
        </p:txBody>
      </p:sp>
    </p:spTree>
    <p:extLst>
      <p:ext uri="{BB962C8B-B14F-4D97-AF65-F5344CB8AC3E}">
        <p14:creationId xmlns:p14="http://schemas.microsoft.com/office/powerpoint/2010/main" val="25548840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Lst>
  <p:hf sldNum="0" hdr="0" dt="0"/>
  <p:txStyles>
    <p:titleStyle>
      <a:lvl1pPr algn="l" rtl="0" eaLnBrk="0" fontAlgn="base" hangingPunct="0">
        <a:spcBef>
          <a:spcPct val="0"/>
        </a:spcBef>
        <a:spcAft>
          <a:spcPct val="0"/>
        </a:spcAft>
        <a:defRPr sz="4400" b="1">
          <a:solidFill>
            <a:schemeClr val="tx1"/>
          </a:solidFill>
          <a:latin typeface="+mj-lt"/>
          <a:ea typeface="ＭＳ Ｐゴシック" pitchFamily="-84" charset="-128"/>
          <a:cs typeface="ＭＳ Ｐゴシック" pitchFamily="-84" charset="-128"/>
        </a:defRPr>
      </a:lvl1pPr>
      <a:lvl2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2pPr>
      <a:lvl3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3pPr>
      <a:lvl4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4pPr>
      <a:lvl5pPr algn="l" rtl="0" eaLnBrk="0" fontAlgn="base" hangingPunct="0">
        <a:spcBef>
          <a:spcPct val="0"/>
        </a:spcBef>
        <a:spcAft>
          <a:spcPct val="0"/>
        </a:spcAft>
        <a:defRPr sz="4400" b="1">
          <a:solidFill>
            <a:schemeClr val="tx1"/>
          </a:solidFill>
          <a:latin typeface="Microsoft Sans Serif" charset="0"/>
          <a:ea typeface="ＭＳ Ｐゴシック" pitchFamily="-84" charset="-128"/>
          <a:cs typeface="ＭＳ Ｐゴシック" pitchFamily="-84" charset="-128"/>
        </a:defRPr>
      </a:lvl5pPr>
      <a:lvl6pPr marL="457200" algn="l" rtl="0" fontAlgn="base">
        <a:spcBef>
          <a:spcPct val="0"/>
        </a:spcBef>
        <a:spcAft>
          <a:spcPct val="0"/>
        </a:spcAft>
        <a:defRPr sz="4400" b="1">
          <a:solidFill>
            <a:schemeClr val="tx1"/>
          </a:solidFill>
          <a:latin typeface="Microsoft Sans Serif" charset="0"/>
        </a:defRPr>
      </a:lvl6pPr>
      <a:lvl7pPr marL="914400" algn="l" rtl="0" fontAlgn="base">
        <a:spcBef>
          <a:spcPct val="0"/>
        </a:spcBef>
        <a:spcAft>
          <a:spcPct val="0"/>
        </a:spcAft>
        <a:defRPr sz="4400" b="1">
          <a:solidFill>
            <a:schemeClr val="tx1"/>
          </a:solidFill>
          <a:latin typeface="Microsoft Sans Serif" charset="0"/>
        </a:defRPr>
      </a:lvl7pPr>
      <a:lvl8pPr marL="1371600" algn="l" rtl="0" fontAlgn="base">
        <a:spcBef>
          <a:spcPct val="0"/>
        </a:spcBef>
        <a:spcAft>
          <a:spcPct val="0"/>
        </a:spcAft>
        <a:defRPr sz="4400" b="1">
          <a:solidFill>
            <a:schemeClr val="tx1"/>
          </a:solidFill>
          <a:latin typeface="Microsoft Sans Serif" charset="0"/>
        </a:defRPr>
      </a:lvl8pPr>
      <a:lvl9pPr marL="1828800" algn="l" rtl="0" fontAlgn="base">
        <a:spcBef>
          <a:spcPct val="0"/>
        </a:spcBef>
        <a:spcAft>
          <a:spcPct val="0"/>
        </a:spcAft>
        <a:defRPr sz="4400" b="1">
          <a:solidFill>
            <a:schemeClr val="tx1"/>
          </a:solidFill>
          <a:latin typeface="Microsoft Sans Serif"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106" charset="2"/>
        <a:buChar char="n"/>
        <a:defRPr sz="3200">
          <a:solidFill>
            <a:schemeClr val="tx1"/>
          </a:solidFill>
          <a:latin typeface="+mn-lt"/>
          <a:ea typeface="ＭＳ Ｐゴシック" pitchFamily="-84" charset="-128"/>
          <a:cs typeface="ＭＳ Ｐゴシック" pitchFamily="-84" charset="-128"/>
        </a:defRPr>
      </a:lvl1pPr>
      <a:lvl2pPr marL="742950" indent="-285750" algn="l" rtl="0" eaLnBrk="0" fontAlgn="base" hangingPunct="0">
        <a:spcBef>
          <a:spcPct val="20000"/>
        </a:spcBef>
        <a:spcAft>
          <a:spcPct val="0"/>
        </a:spcAft>
        <a:buClr>
          <a:schemeClr val="hlink"/>
        </a:buClr>
        <a:buSzPct val="55000"/>
        <a:buFont typeface="Wingdings" pitchFamily="-106" charset="2"/>
        <a:buChar char="n"/>
        <a:defRPr sz="28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folHlink"/>
        </a:buClr>
        <a:buSzPct val="50000"/>
        <a:buFont typeface="Wingdings" pitchFamily="-106" charset="2"/>
        <a:buChar char="n"/>
        <a:defRPr sz="24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accent2"/>
        </a:buClr>
        <a:buSzPct val="55000"/>
        <a:buFont typeface="Wingdings" pitchFamily="-106" charset="2"/>
        <a:buChar char="n"/>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accent1"/>
        </a:buClr>
        <a:buSzPct val="50000"/>
        <a:buFont typeface="Wingdings" pitchFamily="-106" charset="2"/>
        <a:buChar char="n"/>
        <a:defRPr sz="2000">
          <a:solidFill>
            <a:schemeClr val="tx1"/>
          </a:solidFill>
          <a:latin typeface="+mn-lt"/>
          <a:ea typeface="ＭＳ Ｐゴシック" charset="-128"/>
        </a:defRPr>
      </a:lvl5pPr>
      <a:lvl6pPr marL="25146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6pPr>
      <a:lvl7pPr marL="29718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7pPr>
      <a:lvl8pPr marL="34290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8pPr>
      <a:lvl9pPr marL="3886200" indent="-228600" algn="l" rtl="0" fontAlgn="base">
        <a:spcBef>
          <a:spcPct val="20000"/>
        </a:spcBef>
        <a:spcAft>
          <a:spcPct val="0"/>
        </a:spcAft>
        <a:buClr>
          <a:schemeClr val="accent1"/>
        </a:buClr>
        <a:buSzPct val="50000"/>
        <a:buFont typeface="Wingdings" charset="2"/>
        <a:buChar char="n"/>
        <a:defRPr sz="2000">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0473" y="1295401"/>
            <a:ext cx="10451054" cy="1737360"/>
          </a:xfrm>
        </p:spPr>
        <p:txBody>
          <a:bodyPr/>
          <a:lstStyle/>
          <a:p>
            <a:r>
              <a:rPr lang="en-US" dirty="0"/>
              <a:t>Intent, Specifications, Realizations, and the Judgments That Connect Them</a:t>
            </a:r>
          </a:p>
        </p:txBody>
      </p:sp>
      <p:sp>
        <p:nvSpPr>
          <p:cNvPr id="4" name="Footer Placeholder 3"/>
          <p:cNvSpPr>
            <a:spLocks noGrp="1"/>
          </p:cNvSpPr>
          <p:nvPr>
            <p:ph type="ftr" sz="quarter" idx="11"/>
          </p:nvPr>
        </p:nvSpPr>
        <p:spPr/>
        <p:txBody>
          <a:bodyPr/>
          <a:lstStyle/>
          <a:p>
            <a:r>
              <a:rPr dirty="0"/>
              <a:t>Agentic Software Engineering — SE Module, Lecture 01</a:t>
            </a:r>
          </a:p>
        </p:txBody>
      </p:sp>
      <p:cxnSp>
        <p:nvCxnSpPr>
          <p:cNvPr id="5" name="Connector 4"/>
          <p:cNvCxnSpPr/>
          <p:nvPr/>
        </p:nvCxnSpPr>
        <p:spPr>
          <a:xfrm>
            <a:off x="1920240" y="34290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20240" y="4114800"/>
            <a:ext cx="8321040" cy="0"/>
          </a:xfrm>
          <a:prstGeom prst="line">
            <a:avLst/>
          </a:prstGeom>
          <a:ln w="28575">
            <a:solidFill>
              <a:schemeClr val="accent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430767" y="3570351"/>
            <a:ext cx="9079454" cy="393954"/>
          </a:xfrm>
          <a:prstGeom prst="rect">
            <a:avLst/>
          </a:prstGeom>
          <a:noFill/>
        </p:spPr>
        <p:txBody>
          <a:bodyPr wrap="square" lIns="45720" tIns="27432" rIns="45720" bIns="27432" anchor="ctr">
            <a:spAutoFit/>
          </a:bodyPr>
          <a:lstStyle/>
          <a:p>
            <a:pPr algn="ctr"/>
            <a:r>
              <a:rPr sz="2200" dirty="0">
                <a:latin typeface="Tahoma"/>
              </a:rPr>
              <a:t>Agentic Software Engineering — </a:t>
            </a:r>
            <a:r>
              <a:rPr lang="en-US" sz="2200" dirty="0">
                <a:latin typeface="Tahoma"/>
              </a:rPr>
              <a:t>ASE Principles</a:t>
            </a:r>
            <a:r>
              <a:rPr sz="2200" dirty="0">
                <a:latin typeface="Tahoma"/>
              </a:rPr>
              <a:t> Module, Lecture 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353AD-E3B4-5F11-87CE-19A60B0F411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A7B829E-4A53-CCF2-765C-E47BDC8D324C}"/>
              </a:ext>
            </a:extLst>
          </p:cNvPr>
          <p:cNvSpPr>
            <a:spLocks noGrp="1"/>
          </p:cNvSpPr>
          <p:nvPr>
            <p:ph type="title"/>
          </p:nvPr>
        </p:nvSpPr>
        <p:spPr/>
        <p:txBody>
          <a:bodyPr/>
          <a:lstStyle/>
          <a:p>
            <a:r>
              <a:rPr lang="en-US" sz="3200" dirty="0"/>
              <a:t>Motivation</a:t>
            </a:r>
          </a:p>
        </p:txBody>
      </p:sp>
      <p:sp>
        <p:nvSpPr>
          <p:cNvPr id="3" name="Footer Placeholder 2">
            <a:extLst>
              <a:ext uri="{FF2B5EF4-FFF2-40B4-BE49-F238E27FC236}">
                <a16:creationId xmlns:a16="http://schemas.microsoft.com/office/drawing/2014/main" id="{50A7E0D4-0F30-B1F4-C113-8C53F20244D6}"/>
              </a:ext>
            </a:extLst>
          </p:cNvPr>
          <p:cNvSpPr>
            <a:spLocks noGrp="1"/>
          </p:cNvSpPr>
          <p:nvPr>
            <p:ph type="ftr" sz="quarter" idx="10"/>
          </p:nvPr>
        </p:nvSpPr>
        <p:spPr/>
        <p:txBody>
          <a:bodyPr/>
          <a:lstStyle/>
          <a:p>
            <a:pPr>
              <a:defRPr/>
            </a:pPr>
            <a:r>
              <a:rPr lang="en-US"/>
              <a:t>RASE for seL4 using HAMR</a:t>
            </a:r>
          </a:p>
        </p:txBody>
      </p:sp>
      <p:sp>
        <p:nvSpPr>
          <p:cNvPr id="7" name="TextBox 6">
            <a:extLst>
              <a:ext uri="{FF2B5EF4-FFF2-40B4-BE49-F238E27FC236}">
                <a16:creationId xmlns:a16="http://schemas.microsoft.com/office/drawing/2014/main" id="{31757673-6078-2EA6-EDF7-DAF3D2045FCD}"/>
              </a:ext>
            </a:extLst>
          </p:cNvPr>
          <p:cNvSpPr txBox="1"/>
          <p:nvPr/>
        </p:nvSpPr>
        <p:spPr>
          <a:xfrm>
            <a:off x="6590998" y="4343986"/>
            <a:ext cx="5194602" cy="1477328"/>
          </a:xfrm>
          <a:prstGeom prst="rect">
            <a:avLst/>
          </a:prstGeom>
          <a:noFill/>
          <a:ln w="28575">
            <a:solidFill>
              <a:schemeClr val="tx1"/>
            </a:solidFill>
          </a:ln>
        </p:spPr>
        <p:txBody>
          <a:bodyPr wrap="square" rtlCol="0">
            <a:spAutoFit/>
          </a:bodyPr>
          <a:lstStyle/>
          <a:p>
            <a:r>
              <a:rPr lang="en-US" b="1" dirty="0"/>
              <a:t>The question this lecture begins to answer</a:t>
            </a:r>
            <a:r>
              <a:rPr lang="en-US" dirty="0"/>
              <a:t>:</a:t>
            </a:r>
          </a:p>
          <a:p>
            <a:endParaRPr lang="en-US" dirty="0"/>
          </a:p>
          <a:p>
            <a:r>
              <a:rPr lang="en-US" dirty="0"/>
              <a:t>What are the basic principles can guide us in engineering the development and assurance context?</a:t>
            </a:r>
          </a:p>
        </p:txBody>
      </p:sp>
      <p:pic>
        <p:nvPicPr>
          <p:cNvPr id="8" name="Picture 7">
            <a:extLst>
              <a:ext uri="{FF2B5EF4-FFF2-40B4-BE49-F238E27FC236}">
                <a16:creationId xmlns:a16="http://schemas.microsoft.com/office/drawing/2014/main" id="{6CFCD1F8-7E68-33A2-3BE0-9561F3013A77}"/>
              </a:ext>
            </a:extLst>
          </p:cNvPr>
          <p:cNvPicPr>
            <a:picLocks noChangeAspect="1"/>
          </p:cNvPicPr>
          <p:nvPr/>
        </p:nvPicPr>
        <p:blipFill>
          <a:blip r:embed="rId3"/>
          <a:stretch>
            <a:fillRect/>
          </a:stretch>
        </p:blipFill>
        <p:spPr>
          <a:xfrm>
            <a:off x="895179" y="1385158"/>
            <a:ext cx="5945460" cy="2518997"/>
          </a:xfrm>
          <a:prstGeom prst="rect">
            <a:avLst/>
          </a:prstGeom>
        </p:spPr>
      </p:pic>
      <p:sp>
        <p:nvSpPr>
          <p:cNvPr id="9" name="TextBox 8">
            <a:extLst>
              <a:ext uri="{FF2B5EF4-FFF2-40B4-BE49-F238E27FC236}">
                <a16:creationId xmlns:a16="http://schemas.microsoft.com/office/drawing/2014/main" id="{63CBF88E-5E79-8062-26F4-A4DBC30CD1A4}"/>
              </a:ext>
            </a:extLst>
          </p:cNvPr>
          <p:cNvSpPr txBox="1"/>
          <p:nvPr/>
        </p:nvSpPr>
        <p:spPr>
          <a:xfrm>
            <a:off x="838663" y="4521875"/>
            <a:ext cx="5511337" cy="2031325"/>
          </a:xfrm>
          <a:prstGeom prst="rect">
            <a:avLst/>
          </a:prstGeom>
          <a:noFill/>
        </p:spPr>
        <p:txBody>
          <a:bodyPr wrap="square" rtlCol="0">
            <a:spAutoFit/>
          </a:bodyPr>
          <a:lstStyle/>
          <a:p>
            <a:r>
              <a:rPr lang="en-US" dirty="0"/>
              <a:t>Human effort will shift </a:t>
            </a:r>
          </a:p>
          <a:p>
            <a:r>
              <a:rPr lang="en-US" b="1" dirty="0"/>
              <a:t>…</a:t>
            </a:r>
            <a:r>
              <a:rPr lang="en-US" dirty="0"/>
              <a:t>from</a:t>
            </a:r>
            <a:r>
              <a:rPr lang="en-US" b="1" dirty="0"/>
              <a:t> engineering the code </a:t>
            </a:r>
          </a:p>
          <a:p>
            <a:r>
              <a:rPr lang="en-US" b="1" dirty="0"/>
              <a:t>…</a:t>
            </a:r>
            <a:r>
              <a:rPr lang="en-US" dirty="0"/>
              <a:t>to </a:t>
            </a:r>
            <a:r>
              <a:rPr lang="en-US" b="1" dirty="0"/>
              <a:t>engineering the development and assurance context</a:t>
            </a:r>
          </a:p>
          <a:p>
            <a:r>
              <a:rPr lang="en-US" b="1" dirty="0"/>
              <a:t>…</a:t>
            </a:r>
            <a:r>
              <a:rPr lang="en-US" dirty="0"/>
              <a:t>to</a:t>
            </a:r>
            <a:r>
              <a:rPr lang="en-US" b="1" dirty="0"/>
              <a:t> engineering layered, composable abstractions</a:t>
            </a:r>
          </a:p>
          <a:p>
            <a:r>
              <a:rPr lang="en-US" b="1" dirty="0"/>
              <a:t>…</a:t>
            </a:r>
            <a:r>
              <a:rPr lang="en-US" dirty="0"/>
              <a:t>that </a:t>
            </a:r>
            <a:r>
              <a:rPr lang="en-US" b="1" dirty="0"/>
              <a:t>provide direction but also explainability</a:t>
            </a:r>
          </a:p>
        </p:txBody>
      </p:sp>
      <p:sp>
        <p:nvSpPr>
          <p:cNvPr id="2" name="Text Box 151">
            <a:extLst>
              <a:ext uri="{FF2B5EF4-FFF2-40B4-BE49-F238E27FC236}">
                <a16:creationId xmlns:a16="http://schemas.microsoft.com/office/drawing/2014/main" id="{154A665A-AC53-48EC-5689-6B51D8CB8068}"/>
              </a:ext>
            </a:extLst>
          </p:cNvPr>
          <p:cNvSpPr txBox="1">
            <a:spLocks noChangeArrowheads="1"/>
          </p:cNvSpPr>
          <p:nvPr/>
        </p:nvSpPr>
        <p:spPr bwMode="auto">
          <a:xfrm>
            <a:off x="621175" y="4146313"/>
            <a:ext cx="4512931" cy="338554"/>
          </a:xfrm>
          <a:prstGeom prst="rect">
            <a:avLst/>
          </a:prstGeom>
          <a:gradFill rotWithShape="0">
            <a:gsLst>
              <a:gs pos="0">
                <a:schemeClr val="accent2"/>
              </a:gs>
              <a:gs pos="100000">
                <a:srgbClr val="FFFFFF"/>
              </a:gs>
            </a:gsLst>
            <a:lin ang="0" scaled="1"/>
          </a:gradFill>
          <a:ln w="38100">
            <a:noFill/>
            <a:miter lim="800000"/>
            <a:headEnd/>
            <a:tailEnd/>
          </a:ln>
        </p:spPr>
        <p:txBody>
          <a:bodyPr wrap="square" anchor="ctr">
            <a:prstTxWarp prst="textNoShape">
              <a:avLst/>
            </a:prstTxWarp>
            <a:spAutoFit/>
          </a:bodyPr>
          <a:lstStyle/>
          <a:p>
            <a:r>
              <a:rPr lang="en-US" sz="1600" dirty="0"/>
              <a:t>As we move into the future..</a:t>
            </a:r>
          </a:p>
        </p:txBody>
      </p:sp>
    </p:spTree>
    <p:extLst>
      <p:ext uri="{BB962C8B-B14F-4D97-AF65-F5344CB8AC3E}">
        <p14:creationId xmlns:p14="http://schemas.microsoft.com/office/powerpoint/2010/main" val="19597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build="p"/>
    </p:bldLst>
  </p:timing>
</p:sld>
</file>

<file path=ppt/theme/theme1.xml><?xml version="1.0" encoding="utf-8"?>
<a:theme xmlns:a="http://schemas.openxmlformats.org/drawingml/2006/main" name="Collins Masters: Covers">
  <a:themeElements>
    <a:clrScheme name="1: RTX PRIMARY PALETTE">
      <a:dk1>
        <a:sysClr val="windowText" lastClr="000000"/>
      </a:dk1>
      <a:lt1>
        <a:sysClr val="window" lastClr="FFFFFF"/>
      </a:lt1>
      <a:dk2>
        <a:srgbClr val="CE1126"/>
      </a:dk2>
      <a:lt2>
        <a:srgbClr val="FFFFFF"/>
      </a:lt2>
      <a:accent1>
        <a:srgbClr val="000000"/>
      </a:accent1>
      <a:accent2>
        <a:srgbClr val="63666A"/>
      </a:accent2>
      <a:accent3>
        <a:srgbClr val="B1B3B3"/>
      </a:accent3>
      <a:accent4>
        <a:srgbClr val="D9D9D6"/>
      </a:accent4>
      <a:accent5>
        <a:srgbClr val="F7F7F7"/>
      </a:accent5>
      <a:accent6>
        <a:srgbClr val="FFFFFF"/>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ew_Collins_PPT_Non_tech_data_16x9_internal" id="{B82BE9C0-C93E-B342-83A7-9B688A9500D2}" vid="{3BB40FCB-6667-1E47-BE2D-5EA748AB28C3}"/>
    </a:ext>
  </a:extLst>
</a:theme>
</file>

<file path=ppt/theme/theme7.xml><?xml version="1.0" encoding="utf-8"?>
<a:theme xmlns:a="http://schemas.openxmlformats.org/drawingml/2006/main" name="Blends">
  <a:themeElements>
    <a:clrScheme name="">
      <a:dk1>
        <a:srgbClr val="000000"/>
      </a:dk1>
      <a:lt1>
        <a:srgbClr val="FFFFFF"/>
      </a:lt1>
      <a:dk2>
        <a:srgbClr val="990099"/>
      </a:dk2>
      <a:lt2>
        <a:srgbClr val="1C1C1C"/>
      </a:lt2>
      <a:accent1>
        <a:srgbClr val="6E1EC6"/>
      </a:accent1>
      <a:accent2>
        <a:srgbClr val="FFCF01"/>
      </a:accent2>
      <a:accent3>
        <a:srgbClr val="FFFFFF"/>
      </a:accent3>
      <a:accent4>
        <a:srgbClr val="000000"/>
      </a:accent4>
      <a:accent5>
        <a:srgbClr val="BAABDF"/>
      </a:accent5>
      <a:accent6>
        <a:srgbClr val="E7BB01"/>
      </a:accent6>
      <a:hlink>
        <a:srgbClr val="00CC00"/>
      </a:hlink>
      <a:folHlink>
        <a:srgbClr val="990099"/>
      </a:folHlink>
    </a:clrScheme>
    <a:fontScheme name="Blends">
      <a:majorFont>
        <a:latin typeface="Microsoft Sans Serif"/>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ahoma"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RTX Colors">
      <a:dk1>
        <a:sysClr val="windowText" lastClr="000000"/>
      </a:dk1>
      <a:lt1>
        <a:sysClr val="window" lastClr="FFFFFF"/>
      </a:lt1>
      <a:dk2>
        <a:srgbClr val="CE1126"/>
      </a:dk2>
      <a:lt2>
        <a:srgbClr val="FFFFFF"/>
      </a:lt2>
      <a:accent1>
        <a:srgbClr val="000000"/>
      </a:accent1>
      <a:accent2>
        <a:srgbClr val="464648"/>
      </a:accent2>
      <a:accent3>
        <a:srgbClr val="6B6B6D"/>
      </a:accent3>
      <a:accent4>
        <a:srgbClr val="89898A"/>
      </a:accent4>
      <a:accent5>
        <a:srgbClr val="B8B8B9"/>
      </a:accent5>
      <a:accent6>
        <a:srgbClr val="D4D4D5"/>
      </a:accent6>
      <a:hlink>
        <a:srgbClr val="CE1126"/>
      </a:hlink>
      <a:folHlink>
        <a:srgbClr val="000000"/>
      </a:folHlink>
    </a:clrScheme>
    <a:fontScheme name="RTX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E7012FDC1D4354E98E11BE167F4924F" ma:contentTypeVersion="15" ma:contentTypeDescription="Create a new document." ma:contentTypeScope="" ma:versionID="ee7bbbec8c70d8a105990da3d4a313c8">
  <xsd:schema xmlns:xsd="http://www.w3.org/2001/XMLSchema" xmlns:xs="http://www.w3.org/2001/XMLSchema" xmlns:p="http://schemas.microsoft.com/office/2006/metadata/properties" xmlns:ns1="http://schemas.microsoft.com/sharepoint/v3" xmlns:ns2="753e5dbd-8faa-4cd2-a40a-88c25858900e" xmlns:ns3="2b0f7bea-0413-45a1-baf2-d1833301f0a3" targetNamespace="http://schemas.microsoft.com/office/2006/metadata/properties" ma:root="true" ma:fieldsID="26901830fb53b027f9814912c0dd6b18" ns1:_="" ns2:_="" ns3:_="">
    <xsd:import namespace="http://schemas.microsoft.com/sharepoint/v3"/>
    <xsd:import namespace="753e5dbd-8faa-4cd2-a40a-88c25858900e"/>
    <xsd:import namespace="2b0f7bea-0413-45a1-baf2-d1833301f0a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VIOL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3e5dbd-8faa-4cd2-a40a-88c2585890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a5da18db-0dbb-493a-8358-0ebfa2dc996a"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VIOLATION" ma:index="20" nillable="true" ma:displayName="VIOLATION" ma:internalName="VIOLATION">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b0f7bea-0413-45a1-baf2-d1833301f0a3"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18818af6-7cc3-44cc-bda2-686339767069}" ma:internalName="TaxCatchAll" ma:showField="CatchAllData" ma:web="2b0f7bea-0413-45a1-baf2-d1833301f0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VIOLATION xmlns="753e5dbd-8faa-4cd2-a40a-88c25858900e">FALSE</VIOLATION>
    <SharedWithUsers xmlns="2b0f7bea-0413-45a1-baf2-d1833301f0a3">
      <UserInfo>
        <DisplayName>Tahat, Amer                            Collins</DisplayName>
        <AccountId>34</AccountId>
        <AccountType/>
      </UserInfo>
      <UserInfo>
        <DisplayName>Kramer, Sara                            Collins</DisplayName>
        <AccountId>41</AccountId>
        <AccountType/>
      </UserInfo>
      <UserInfo>
        <DisplayName>Wijesekara, Yeshani D                            Collins</DisplayName>
        <AccountId>44</AccountId>
        <AccountType/>
      </UserInfo>
      <UserInfo>
        <DisplayName>Carcangiu, Simone                           Export License Required - US Collins</DisplayName>
        <AccountId>55</AccountId>
        <AccountType/>
      </UserInfo>
      <UserInfo>
        <DisplayName>Sofronis, Christos                           Export License Required - US Collins</DisplayName>
        <AccountId>56</AccountId>
        <AccountType/>
      </UserInfo>
    </SharedWithUsers>
    <lcf76f155ced4ddcb4097134ff3c332f xmlns="753e5dbd-8faa-4cd2-a40a-88c25858900e">
      <Terms xmlns="http://schemas.microsoft.com/office/infopath/2007/PartnerControls"/>
    </lcf76f155ced4ddcb4097134ff3c332f>
    <TaxCatchAll xmlns="2b0f7bea-0413-45a1-baf2-d1833301f0a3" xsi:nil="true"/>
  </documentManagement>
</p:properties>
</file>

<file path=customXml/item3.xml><?xml version="1.0" encoding="utf-8"?>
<sisl xmlns:xsi="http://www.w3.org/2001/XMLSchema-instance" xmlns:xsd="http://www.w3.org/2001/XMLSchema" xmlns="http://www.boldonjames.com/2008/01/sie/internal/label" sislVersion="0" policy="cde53ac1-bf5f-4aae-9cf1-07509e23a4b0" origin="defaultValue">
  <element uid="bba94c65-ac3d-4f34-b2e1-8de11ef6f01c" value=""/>
</sisl>
</file>

<file path=customXml/item4.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ZGU1M2FjMS1iZjVmLTRhYWUtOWNmMS0wNzUwOWUyM2E0YjAiIG9yaWdpbj0iZGVmYXVsdFZhbHVlIj48ZWxlbWVudCB1aWQ9ImJiYTk0YzY1LWFjM2QtNGYzNC1iMmUxLThkZTExZWY2ZjAxYyIgdmFsdWU9IiIgeG1sbnM9Imh0dHA6Ly93d3cuYm9sZG9uamFtZXMuY29tLzIwMDgvMDEvc2llL2ludGVybmFsL2xhYmVsIiAvPjwvc2lzbD48VXNlck5hbWU+VVNcbnJwMDI0MTU4MjwvVXNlck5hbWU+PERhdGVUaW1lPjIvMTIvMjAyMCAyOjQ5OjE3IFBNPC9EYXRlVGltZT48TGFiZWxTdHJpbmc+T3JpZ2luIEp1cmlzZGljdGlvbjogVVMg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U5OGNmYzI4LTVkZmQtNGYwNi04YzAxLWM3NTg4ZmQzOTRm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kNzU5Y2Q3YS1iNTdjLTQyZTQtOWE0OS05YjgyYTIzMzc1NzkiIHZhbHVlPSIiIHhtbG5zPSJodHRwOi8vd3d3LmJvbGRvbmphbWVzLmNvbS8yMDA4LzAxL3NpZS9pbnRlcm5hbC9sYWJlbCIgLz48ZWxlbWVudCB1aWQ9ImMyMDZkNWZhLWFlZTEtNGY2NC04OWQ5LWY4MWU0ZDdiM2FjYyIgdmFsdWU9IiIgeG1sbnM9Imh0dHA6Ly93d3cuYm9sZG9uamFtZXMuY29tLzIwMDgvMDEvc2llL2ludGVybmFsL2xhYmVsIiAvPjwvc2lzbD48VXNlck5hbWU+VVNcbnJwMDI0MTU4MjwvVXNlck5hbWU+PERhdGVUaW1lPjIvMTIvMjAyMCAzOjAzOjA5IFBNPC9EYXRlVGltZT48TGFiZWxTdHJpbmc+T3JpZ2luIEp1cmlzZGljdGlvbjogVVMgIHwgUmF5dGhlb24gQ29tcGV0aXRpb24gU2Vuc2l0aXZlIHwgUGVyIEN1cnJlbnQgUmF5dGhlb24gUG9saWN5IChSUC1PR0MtMDM1KSB8IE5vbi1FeHBvcnQgQ29udHJvbGxlZCBUZWNobmljYWwgSW5mb3JtYXRpb24gKEVYSU0gRGV0ZXJtaW5lZCBPbmx5KS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2FlMTFhNmItMjFiMS00OWQ4LTk5ZDgtZWQzMDY4NTEzODR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yLzIwMjAgMzoyODo1NyBQTTwvRGF0ZVRpbWU+PExhYmVsU3RyaW5nPk9yaWdpbiBKdXJpc2RpY3Rpb246IFVTICB8IFJheXRoZW9uIFByb3ByaWV0YXJ5IHwgUGVyIEN1cnJlbnQgUmF5dGhlb24gUG9saWN5IChSUC1PR0MtMDM1KSB8IFVTLUlUQVIgQ29udHJvbGx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wMTJlYjIyYy03NmNhLTRlNGYtOGFiOS1mYWJiMDU0YWUx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yLzE0LzIwMjAgNDo0Mjo0NCBQTTwvRGF0ZVRpbWU+PExhYmVsU3RyaW5nPk9yaWdpbiBKdXJpc2RpY3Rpb246IFVTICB8IFJheXRoZW9uIE1vc3QgUHJpdmF0ZS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I5OTdhNzE2ZS1jMDNmLTQzYjEtYTViMC1kNmNkMDRlOWJhNDA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L3Npc2w+PFVzZXJOYW1lPlVTXG5ycDAyNDE1ODI8L1VzZXJOYW1lPjxEYXRlVGltZT4yLzE0LzIwMjAgNjoyOTozNC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YWNmOWVjYzMtMGY0NS00MjM0LWE5MGQtZTQzNjhmYWNkOTgx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Ny8yMDIwIDg6Mjg6MzE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PGVsZW1lbnQgdWlkPSJiYmE5NGM2NS1hYzNkLTRmMzQtYjJlMS04ZGUxMWVmNmYwMWMiIHZhbHVlPSIiIHhtbG5zPSJodHRwOi8vd3d3LmJvbGRvbmphbWVzLmNvbS8yMDA4LzAxL3NpZS9pbnRlcm5hbC9sYWJlbCIgLz48ZWxlbWVudCB1aWQ9Ijk5N2E3MTZlLWMwM2YtNDNiMS1hNWIwLWQ2Y2QwNGU5YmE0MCIgdmFsdWU9IiIgeG1sbnM9Imh0dHA6Ly93d3cuYm9sZG9uamFtZXMuY29tLzIwMDgvMDEvc2llL2ludGVybmFsL2xhYmVsIiAvPjxlbGVtZW50IHVpZD0iYWFmYzlhOTUtZWU1ZC00ODdjLTljNGUtNjdhNTM4MGYyOTkxIiB2YWx1ZT0iIiB4bWxucz0iaHR0cDovL3d3dy5ib2xkb25qYW1lcy5jb20vMjAwOC8wMS9zaWUvaW50ZXJuYWwvbGFiZWwiIC8+PGVsZW1lbnQgdWlkPSJiYzJiN2MwMS02ZGIxLTRlN2QtODhkMS1mYzYxNjc0Zjg2ZmQiIHZhbHVlPSIiIHhtbG5zPSJodHRwOi8vd3d3LmJvbGRvbmphbWVzLmNvbS8yMDA4LzAxL3NpZS9pbnRlcm5hbC9sYWJlbCIgLz48ZWxlbWVudCB1aWQ9IjkyZTk5M2EzLWFmMzItNGFmYi1hYTE5LTNhNDljZGI4MmM3YSIgdmFsdWU9IiIgeG1sbnM9Imh0dHA6Ly93d3cuYm9sZG9uamFtZXMuY29tLzIwMDgvMDEvc2llL2ludGVybmFsL2xhYmVsIiAvPjwvc2lzbD48VXNlck5hbWU+VVNcbnJwMDI0MTU4MjwvVXNlck5hbWU+PERhdGVUaW1lPjIvMTgvMjAyMCA0OjU4OjI4IFBNPC9EYXRlVGltZT48TGFiZWxTdHJpbmc+T3JpZ2luIEp1cmlzZGljdGlvbjogVVMgIHwgUmF5dGhlb24gUHJvcHJpZXRhcn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MDEyZWIyMmMtNzZjYS00ZTRmLThhYjktZmFiYjA1NGFlM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i8xOC8yMDIwIDU6MDA6MTYgUE08L0RhdGVUaW1lPjxMYWJlbFN0cmluZz5PcmlnaW4gSnVyaXNkaWN0aW9uOiBVUyAgfCBSYXl0aGVvbiBNb3N0IFByaXZhdGUgfCBQZXIgQ3VycmVudCBSYXl0aGVvbiBQb2xpY3kgKFJQLU9HQy0wMzUpIHwgVVMtRXhwb3J0IENvbnRyb2xsZWQgSnVyaXNkaWN0aW9uIFVuZGV0ZXJtaW5lZCB8IFBlciBDdXJyZW50IFJheXRoZW9uIFBvbGljeSAoUEktT0dDLUdUQy01MDA0KTwvTGFiZWxTdHJpbmc+PC9pdGVtPjxpdGVtPjxzaXNsIHNpc2xWZXJzaW9uPSIwIiBwb2xpY3k9ImNkZTUzYWMxLWJmNWYtNGFhZS05Y2YxLTA3NTA5ZTIzYTRiMCIgb3JpZ2luPSJ1c2VyU2VsZWN0ZWQiPjxlbGVtZW50IHVpZD0iYmJhOTRjNjUtYWMzZC00ZjM0LWIyZTEtOGRlMTFlZjZmMDFjIiB2YWx1ZT0iIiB4bWxucz0iaHR0cDovL3d3dy5ib2xkb25qYW1lcy5jb20vMjAwOC8wMS9zaWUvaW50ZXJuYWwvbGFiZWwiIC8+PGVsZW1lbnQgdWlkPSJhY2Y5ZWNjMy0wZjQ1LTQyMzQtYTkwZC1lNDM2OGZhY2Q5ODEiIHZhbHVlPSIiIHhtbG5zPSJodHRwOi8vd3d3LmJvbGRvbmphbWVzLmNvbS8yMDA4LzAxL3NpZS9pbnRlcm5hbC9sYWJlbCIgLz48ZWxlbWVudCB1aWQ9ImFhZmM5YTk1LWVlNWQtNDg3Yy05YzRlLTY3YTUzODBmMjk5MS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zLzcvMjAyMCA4OjIzOjM2IFBNPC9EYXRlVGltZT48TGFiZWxTdHJpbmc+T3JpZ2luIEp1cmlzZGljdGlvbjogVVMgIHwgSW50ZXJuYWwgVXNlIE9ubHkgfCBQZXIgQ3VycmVudCBSYXl0aGVvbiBQb2xpY3kgKFJQLU9HQy0wMzUpIHwgT3RoZXIgSW5mb3JtYXRpb24gKE5vdCBSZXF1aXJpbmcgYW4gRXhwb3J0IENvbnRyb2wgTWFya2luZykgfCBObyBtYXJraW5nIGFwcGxpZWQgYnkgdGhlIHRvb2w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OTk3YTcxNmUtYzAzZi00M2IxLWE1YjAtZDZjZDA0ZTliYTQw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ZiOTkxMzA4LWEzZGUtNDBhOC05NjdiLTA5MjIzMzQyNDFiYSIgdmFsdWU9IiIgeG1sbnM9Imh0dHA6Ly93d3cuYm9sZG9uamFtZXMuY29tLzIwMDgvMDEvc2llL2ludGVybmFsL2xhYmVsIiAvPjxlbGVtZW50IHVpZD0iYzIwNmQ1ZmEtYWVlMS00ZjY0LTg5ZDktZjgxZTRkN2IzYWNjIiB2YWx1ZT0iIiB4bWxucz0iaHR0cDovL3d3dy5ib2xkb25qYW1lcy5jb20vMjAwOC8wMS9zaWUvaW50ZXJuYWwvbGFiZWwiIC8+PC9zaXNsPjxVc2VyTmFtZT5VU1xucnAwMjQxNTgyPC9Vc2VyTmFtZT48RGF0ZVRpbWU+My83LzIwMjAgODoyNDo0OSBQTTwvRGF0ZVRpbWU+PExhYmVsU3RyaW5nPk9yaWdpbiBKdXJpc2RpY3Rpb246IFVTICB8IFJheXRoZW9uIFByb3ByaWV0YXJ5IHwgUGVyIEN1cnJlbnQgUmF5dGhlb24gUG9saWN5IChSUC1PR0MtMDM1KSB8IFVTLUV4cG9ydCBDb250cm9sbGVkIEp1cmlzZGljdGlvbiBVbmRldGVybWluZWQgfCBQZXIgQ3VycmVudCBSYXl0aGVvbiBQb2xpY3kgKFBJLU9HQy1HVEMtNTAwNCk8L0xhYmVsU3RyaW5nPjwvaXRlbT48aXRlbT48c2lzbCBzaXNsVmVyc2lvbj0iMCIgcG9saWN5PSJjZGU1M2FjMS1iZjVmLTRhYWUtOWNmMS0wNzUwOWUyM2E0YjAiIG9yaWdpbj0idXNlclNlbGVjdGVkIj48ZWxlbWVudCB1aWQ9ImJiYTk0YzY1LWFjM2QtNGYzNC1iMmUxLThkZTExZWY2ZjAxYyIgdmFsdWU9IiIgeG1sbnM9Imh0dHA6Ly93d3cuYm9sZG9uamFtZXMuY29tLzIwMDgvMDEvc2llL2ludGVybmFsL2xhYmVsIiAvPjxlbGVtZW50IHVpZD0iZmI5OTEzMDgtYTNkZS00MGE4LTk2N2ItMDkyMjMzNDI0MWJhIiB2YWx1ZT0iIiB4bWxucz0iaHR0cDovL3d3dy5ib2xkb25qYW1lcy5jb20vMjAwOC8wMS9zaWUvaW50ZXJuYWwvbGFiZWwiIC8+PGVsZW1lbnQgdWlkPSJjMjA2ZDVmYS1hZWUxLTRmNjQtODlkOS1mODFlNGQ3YjNhY2MiIHZhbHVlPSIiIHhtbG5zPSJodHRwOi8vd3d3LmJvbGRvbmphbWVzLmNvbS8yMDA4LzAxL3NpZS9pbnRlcm5hbC9sYWJlbCIgLz48ZWxlbWVudCB1aWQ9ImFjZjllY2MzLTBmNDUtNDIzNC1hOTBkLWU0MzY4ZmFjZDk4MSIgdmFsdWU9IiIgeG1sbnM9Imh0dHA6Ly93d3cuYm9sZG9uamFtZXMuY29tLzIwMDgvMDEvc2llL2ludGVybmFsL2xhYmVsIiAvPjxlbGVtZW50IHVpZD0iYWFmYzlhOTUtZWU1ZC00ODdjLTljNGUtNjdhNTM4MGYyOTkxIiB2YWx1ZT0iIiB4bWxucz0iaHR0cDovL3d3dy5ib2xkb25qYW1lcy5jb20vMjAwOC8wMS9zaWUvaW50ZXJuYWwvbGFiZWwiIC8+PC9zaXNsPjxVc2VyTmFtZT5VU1wxMTAzMDg1PC9Vc2VyTmFtZT48RGF0ZVRpbWU+My8xMi8yMDIwIDY6MjM6MjMgUE08L0RhdGVUaW1lPjxMYWJlbFN0cmluZz5PcmlnaW4gSnVyaXNkaWN0aW9uOiBVUyAgfCBJbnRlcm5hbCBVc2UgT25seSB8IFBlciBDdXJyZW50IFJheXRoZW9uIFBvbGljeSAoUlAtT0dDLTAzNSkgfCBVUy1FeHBvcnQgQ29udHJvbGxlZCBKdXJpc2RpY3Rpb24gVW5kZXRlcm1pbmVkIHwgUGVyIEN1cnJlbnQgUmF5dGhlb24gUG9saWN5IChQSS1PR0MtR1RDLTUwMDQpPC9MYWJlbFN0cmluZz48L2l0ZW0+PGl0ZW0+PHNpc2wgc2lzbFZlcnNpb249IjAiIHBvbGljeT0iY2RlNTNhYzEtYmY1Zi00YWFlLTljZjEtMDc1MDllMjNhNGIwIiBvcmlnaW49InVzZXJTZWxlY3RlZCIgLz48VXNlck5hbWU+VVNcMTEwMzA4NTwvVXNlck5hbWU+PERhdGVUaW1lPjMvMTMvMjAyMCAxMDowMjo0NC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YWZjOWE5NS1lZTVkLTQ4N2MtOWM0ZS02N2E1MzgwZjI5OTE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DExMDMwODU8L1VzZXJOYW1lPjxEYXRlVGltZT4zLzEzLzIwMjAgMTA6MDU6NDQgUE08L0RhdGVUaW1lPjxMYWJlbFN0cmluZz5PcmlnaW4gSnVyaXNkaWN0aW9uOiBVUyAgfCBUaGlyZCBQYXJ0eSBQcm9wcmlldGFyeSAtIE5lZWQgdG8gS25vdyB8IFBlciBDdXJyZW50IFJheXRoZW9uIFBvbGljeSAoUlAtT0dDLTAzNSkgfCBPdGhlciBJbmZvcm1hdGlvbiAoTm90IFJlcXVpcmluZyBhbiBFeHBvcnQgQ29udHJvbCBNYXJraW5nKSB8IE5vIG1hcmtpbmcgYXBwbGllZCBieSB0aGUgdG9vbDwvTGFiZWxTdHJpbmc+PC9pdGVtPjxpdGVtPjxzaXNsIHNpc2xWZXJzaW9uPSIwIiBwb2xpY3k9ImNkZTUzYWMxLWJmNWYtNGFhZS05Y2YxLTA3NTA5ZTIzYTRiMCIgb3JpZ2luPSJ1c2VyU2VsZWN0ZWQiIC8+PFVzZXJOYW1lPlVTXG5ycDAyNDE1ODI8L1VzZXJOYW1lPjxEYXRlVGltZT4zLzMwLzIwMjAgMTo1MzoxNyBQTTwvRGF0ZVRpbWU+PExhYmVsU3RyaW5nPlRoaXMgYXJ0aWZhY3QgaGFzIG5vIGNsYXNzaWZpY2F0aW9uLjwvTGFiZWxTdHJpbmc+PC9pdGVtPjxpdGVtPjxzaXNsIHNpc2xWZXJzaW9uPSIwIiBwb2xpY3k9ImNkZTUzYWMxLWJmNWYtNGFhZS05Y2YxLTA3NTA5ZTIzYTRiMCIgb3JpZ2luPSJ1c2VyU2VsZWN0ZWQiPjxlbGVtZW50IHVpZD0iMTVmZWZhMWMtYWY2Ny00ZWJmLWE3MWQtZjAxNjIxMTY4OTYyIiB2YWx1ZT0iIiB4bWxucz0iaHR0cDovL3d3dy5ib2xkb25qYW1lcy5jb20vMjAwOC8wMS9zaWUvaW50ZXJuYWwvbGFiZWwiIC8+PGVsZW1lbnQgdWlkPSJhMDZkYTRkYS1hMjYzLTQxMzYtYjRmZC1mMjhhMTdkMzAxODgiIHZhbHVlPSIiIHhtbG5zPSJodHRwOi8vd3d3LmJvbGRvbmphbWVzLmNvbS8yMDA4LzAxL3NpZS9pbnRlcm5hbC9sYWJlbCIgLz48ZWxlbWVudCB1aWQ9ImJiYTk0YzY1LWFjM2QtNGYzNC1iMmUxLThkZTExZWY2ZjAxYyIgdmFsdWU9IiIgeG1sbnM9Imh0dHA6Ly93d3cuYm9sZG9uamFtZXMuY29tLzIwMDgvMDEvc2llL2ludGVybmFsL2xhYmVsIiAvPjxlbGVtZW50IHVpZD0iYmMyYjdjMDEtNmRiMS00ZTdkLTg4ZDEtZmM2MTY3NGY4NmZkIiB2YWx1ZT0iIiB4bWxucz0iaHR0cDovL3d3dy5ib2xkb25qYW1lcy5jb20vMjAwOC8wMS9zaWUvaW50ZXJuYWwvbGFiZWwiIC8+PGVsZW1lbnQgdWlkPSI5MmU5OTNhMy1hZjMyLTRhZmItYWExOS0zYTQ5Y2RiODJjN2EiIHZhbHVlPSIiIHhtbG5zPSJodHRwOi8vd3d3LmJvbGRvbmphbWVzLmNvbS8yMDA4LzAxL3NpZS9pbnRlcm5hbC9sYWJlbCIgLz48L3Npc2w+PFVzZXJOYW1lPlVTXG5ycDAyNDE1ODI8L1VzZXJOYW1lPjxEYXRlVGltZT40LzIvMjAyMCAzOjQ5OjE3IFBNPC9EYXRlVGltZT48TGFiZWxTdHJpbmc+T3JpZ2luIEp1cmlzZGljdGlvbjogVVMgIHwgVGhpcmQgUGFydHkgUHJvcHJpZXRhcnkgLSBOZWVkIHRvIEtub3cgfCBVc2UgUHJlZXhpc3RpbmcgTWFya2luZyAobm90IGFwcGxpZWQgYnkgdGhpcyB0b29sKSB8IE90aGVyIEluZm9ybWF0aW9uIChOb3QgUmVxdWlyaW5nIGFuIEV4cG9ydCBDb250cm9sIE1hcmtpbmcpIHwgTm8gbWFya2luZyBhcHBsaWVkIGJ5IHRoZSB0b29sPC9MYWJlbFN0cmluZz48L2l0ZW0+PGl0ZW0+PHNpc2wgc2lzbFZlcnNpb249IjAiIHBvbGljeT0iY2RlNTNhYzEtYmY1Zi00YWFlLTljZjEtMDc1MDllMjNhNGIwIiBvcmlnaW49InVzZXJTZWxlY3RlZCIgLz48VXNlck5hbWU+VVNcMTEwMzA4NTwvVXNlck5hbWU+PERhdGVUaW1lPjQvMjAvMjAyMCA2OjI2OjU0IFBNPC9EYXRlVGltZT48TGFiZWxTdHJpbmc+VGhpcyBhcnRpZmFjdCBoYXMgbm8gY2xhc3NpZmljYXRpb24uPC9MYWJlbFN0cmluZz48L2l0ZW0+PGl0ZW0+PHNpc2wgc2lzbFZlcnNpb249IjAiIHBvbGljeT0iY2RlNTNhYzEtYmY1Zi00YWFlLTljZjEtMDc1MDllMjNhNGIwIiBvcmlnaW49ImRlZmF1bHRWYWx1ZSI+PGVsZW1lbnQgdWlkPSJiYmE5NGM2NS1hYzNkLTRmMzQtYjJlMS04ZGUxMWVmNmYwMWMiIHZhbHVlPSIiIHhtbG5zPSJodHRwOi8vd3d3LmJvbGRvbmphbWVzLmNvbS8yMDA4LzAxL3NpZS9pbnRlcm5hbC9sYWJlbCIgLz48L3Npc2w+PFVzZXJOYW1lPlVTXG5ycDAyNDE1ODI8L1VzZXJOYW1lPjxEYXRlVGltZT4xMC83LzIwMjAgNDowMjo0NSBQTTwvRGF0ZVRpbWU+PExhYmVsU3RyaW5nPk9yaWdpbiBKdXJpc2RpY3Rpb246IFVTIDwvTGFiZWxTdHJpbmc+PC9pdGVtPjwvbGFiZWxIaXN0b3J5Pg==</Value>
</WrappedLabelHistory>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EE6978-602F-4E1E-86C3-E0B15D47F80B}">
  <ds:schemaRefs>
    <ds:schemaRef ds:uri="2b0f7bea-0413-45a1-baf2-d1833301f0a3"/>
    <ds:schemaRef ds:uri="753e5dbd-8faa-4cd2-a40a-88c2585890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992B585-A4B9-4C42-9AB2-69742D208DAF}">
  <ds:schemaRefs>
    <ds:schemaRef ds:uri="2b0f7bea-0413-45a1-baf2-d1833301f0a3"/>
    <ds:schemaRef ds:uri="753e5dbd-8faa-4cd2-a40a-88c25858900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9B1DF-446C-4290-BB79-EA688A1291AC}">
  <ds:schemaRefs>
    <ds:schemaRef ds:uri="http://www.boldonjames.com/2008/01/sie/internal/label"/>
    <ds:schemaRef ds:uri="http://www.w3.org/2001/XMLSchema"/>
  </ds:schemaRefs>
</ds:datastoreItem>
</file>

<file path=customXml/itemProps4.xml><?xml version="1.0" encoding="utf-8"?>
<ds:datastoreItem xmlns:ds="http://schemas.openxmlformats.org/officeDocument/2006/customXml" ds:itemID="{45F20A76-F421-4C7E-9FA5-EB9918BB68FF}">
  <ds:schemaRefs>
    <ds:schemaRef ds:uri="http://www.boldonjames.com/2016/02/Classifier/internal/wrappedLabelHistory"/>
    <ds:schemaRef ds:uri="http://www.w3.org/2001/XMLSchema"/>
  </ds:schemaRefs>
</ds:datastoreItem>
</file>

<file path=customXml/itemProps5.xml><?xml version="1.0" encoding="utf-8"?>
<ds:datastoreItem xmlns:ds="http://schemas.openxmlformats.org/officeDocument/2006/customXml" ds:itemID="{4E5169E7-2729-4230-9755-7A49F75A3C20}">
  <ds:schemaRefs>
    <ds:schemaRef ds:uri="http://schemas.microsoft.com/sharepoint/v3/contenttype/forms"/>
  </ds:schemaRefs>
</ds:datastoreItem>
</file>

<file path=docMetadata/LabelInfo.xml><?xml version="1.0" encoding="utf-8"?>
<clbl:labelList xmlns:clbl="http://schemas.microsoft.com/office/2020/mipLabelMetadata">
  <clbl:label id="{4447dd6a-a4a1-440b-a6a3-9124ef1ee017}" enabled="1" method="Privileged" siteId="{7a18110d-ef9b-4274-acef-e62ab0fe28ed}" removed="0"/>
</clbl:labelList>
</file>

<file path=docProps/app.xml><?xml version="1.0" encoding="utf-8"?>
<Properties xmlns="http://schemas.openxmlformats.org/officeDocument/2006/extended-properties" xmlns:vt="http://schemas.openxmlformats.org/officeDocument/2006/docPropsVTypes">
  <Template>Collins_PPT_Non_tech_data_16x9_internal</Template>
  <TotalTime>28486</TotalTime>
  <Words>484</Words>
  <Application>Microsoft Macintosh PowerPoint</Application>
  <PresentationFormat>Widescreen</PresentationFormat>
  <Paragraphs>105</Paragraphs>
  <Slides>6</Slides>
  <Notes>1</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6</vt:i4>
      </vt:variant>
    </vt:vector>
  </HeadingPairs>
  <TitlesOfParts>
    <vt:vector size="24" baseType="lpstr">
      <vt:lpstr>Arial</vt:lpstr>
      <vt:lpstr>Arial Regular</vt:lpstr>
      <vt:lpstr>DIN-Light</vt:lpstr>
      <vt:lpstr>Microsoft Sans Serif</vt:lpstr>
      <vt:lpstr>Noto Sans Symbols</vt:lpstr>
      <vt:lpstr>Tahoma</vt:lpstr>
      <vt:lpstr>Verdana</vt:lpstr>
      <vt:lpstr>Wingdings</vt:lpstr>
      <vt:lpstr>Collins Masters: Covers</vt:lpstr>
      <vt:lpstr>Collins Masters: Content</vt:lpstr>
      <vt:lpstr>Collins Masters: Section Breakers</vt:lpstr>
      <vt:lpstr>1_Collins Masters: Content</vt:lpstr>
      <vt:lpstr>2_Collins Masters: Content</vt:lpstr>
      <vt:lpstr>Collins Aerospace 16x9</vt:lpstr>
      <vt:lpstr>Blends</vt:lpstr>
      <vt:lpstr>1_Collins Aerospace 16x9</vt:lpstr>
      <vt:lpstr>2_Collins Aerospace 16x9</vt:lpstr>
      <vt:lpstr>3_Collins Aerospace 16x9</vt:lpstr>
      <vt:lpstr>Intent, Specifications, Realizations, and the Judgments That Connect Them</vt:lpstr>
      <vt:lpstr>Motivation</vt:lpstr>
      <vt:lpstr>ASE – Key Concepts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Avionics CMS Gate 3 Template</dc:title>
  <dc:subject>[rtnipcontrolcode:rtnipcontrolcodenone||rtnexportcontrolcountry:usa|rtnexportcontrolcode:rtnexportcontrolcodenone||]</dc:subject>
  <dc:creator>Jaeger, Nic               Collins</dc:creator>
  <cp:keywords>AM Template</cp:keywords>
  <dc:description>AM Template;</dc:description>
  <cp:lastModifiedBy>John Hatcliff</cp:lastModifiedBy>
  <cp:revision>203</cp:revision>
  <cp:lastPrinted>2025-09-04T07:08:32Z</cp:lastPrinted>
  <dcterms:created xsi:type="dcterms:W3CDTF">2022-01-19T19:30:31Z</dcterms:created>
  <dcterms:modified xsi:type="dcterms:W3CDTF">2026-10-20T16:49:42Z</dcterms:modified>
  <cp:category>AM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bb64deb3-b5ac-4347-88a3-8a542b8e6f51</vt:lpwstr>
  </property>
  <property fmtid="{D5CDD505-2E9C-101B-9397-08002B2CF9AE}" pid="3" name="bjSaver">
    <vt:lpwstr>A2AB0OuaTTiL2YVHw3qxYann2Jd9uCN6</vt:lpwstr>
  </property>
  <property fmtid="{D5CDD505-2E9C-101B-9397-08002B2CF9AE}" pid="4" name="rtnipcontrolcode">
    <vt:lpwstr>rtnipcontrolcodenone</vt:lpwstr>
  </property>
  <property fmtid="{D5CDD505-2E9C-101B-9397-08002B2CF9AE}" pid="5" name="rtnexportcontrolcode">
    <vt:lpwstr>rtnexportcontrolcodenone</vt:lpwstr>
  </property>
  <property fmtid="{D5CDD505-2E9C-101B-9397-08002B2CF9AE}" pid="6" name="bjDocumentLabelXML">
    <vt:lpwstr>&lt;?xml version="1.0" encoding="us-ascii"?&gt;&lt;sisl xmlns:xsi="http://www.w3.org/2001/XMLSchema-instance" xmlns:xsd="http://www.w3.org/2001/XMLSchema" sislVersion="0" policy="cde53ac1-bf5f-4aae-9cf1-07509e23a4b0" origin="defaultValue" xmlns="http://www.boldonj</vt:lpwstr>
  </property>
  <property fmtid="{D5CDD505-2E9C-101B-9397-08002B2CF9AE}" pid="7" name="bjDocumentLabelXML-0">
    <vt:lpwstr>ames.com/2008/01/sie/internal/label"&gt;&lt;element uid="bba94c65-ac3d-4f34-b2e1-8de11ef6f01c" value="" /&gt;&lt;/sisl&gt;</vt:lpwstr>
  </property>
  <property fmtid="{D5CDD505-2E9C-101B-9397-08002B2CF9AE}" pid="8" name="bjDocumentSecurityLabel">
    <vt:lpwstr>Origin Jurisdiction: US </vt:lpwstr>
  </property>
  <property fmtid="{D5CDD505-2E9C-101B-9397-08002B2CF9AE}" pid="9" name="rtnexportcontrolcountry">
    <vt:lpwstr>usa</vt:lpwstr>
  </property>
  <property fmtid="{D5CDD505-2E9C-101B-9397-08002B2CF9AE}" pid="10" name="bjClsUserRVM">
    <vt:lpwstr>[]</vt:lpwstr>
  </property>
  <property fmtid="{D5CDD505-2E9C-101B-9397-08002B2CF9AE}" pid="11" name="bjLabelHistoryID">
    <vt:lpwstr>{45F20A76-F421-4C7E-9FA5-EB9918BB68FF}</vt:lpwstr>
  </property>
  <property fmtid="{D5CDD505-2E9C-101B-9397-08002B2CF9AE}" pid="12" name="MSIP_Label_a37ca26f-e25f-4770-9a89-55e6db4cfbd6_SetDate">
    <vt:lpwstr>2020-04-03T15:47:36.2221519Z</vt:lpwstr>
  </property>
  <property fmtid="{D5CDD505-2E9C-101B-9397-08002B2CF9AE}" pid="13" name="MSIP_Label_a37ca26f-e25f-4770-9a89-55e6db4cfbd6_Name">
    <vt:lpwstr>NO TECH DATA</vt:lpwstr>
  </property>
  <property fmtid="{D5CDD505-2E9C-101B-9397-08002B2CF9AE}" pid="14" name="CASize">
    <vt:lpwstr>W</vt:lpwstr>
  </property>
  <property fmtid="{D5CDD505-2E9C-101B-9397-08002B2CF9AE}" pid="15" name="MSIP_Label_a37ca26f-e25f-4770-9a89-55e6db4cfbd6_Application">
    <vt:lpwstr>Microsoft Azure Information Protection</vt:lpwstr>
  </property>
  <property fmtid="{D5CDD505-2E9C-101B-9397-08002B2CF9AE}" pid="16" name="UTC Classification">
    <vt:lpwstr>NO TECH DATA</vt:lpwstr>
  </property>
  <property fmtid="{D5CDD505-2E9C-101B-9397-08002B2CF9AE}" pid="17" name="MSIP_Label_a37ca26f-e25f-4770-9a89-55e6db4cfbd6_Extended_MSFT_Method">
    <vt:lpwstr>Manual</vt:lpwstr>
  </property>
  <property fmtid="{D5CDD505-2E9C-101B-9397-08002B2CF9AE}" pid="18" name="ContentTypeId">
    <vt:lpwstr>0x0101007E7012FDC1D4354E98E11BE167F4924F</vt:lpwstr>
  </property>
  <property fmtid="{D5CDD505-2E9C-101B-9397-08002B2CF9AE}" pid="19" name="MSIP_Label_a37ca26f-e25f-4770-9a89-55e6db4cfbd6_Owner">
    <vt:lpwstr>zastropw@azg.utcaus.com</vt:lpwstr>
  </property>
  <property fmtid="{D5CDD505-2E9C-101B-9397-08002B2CF9AE}" pid="20" name="MSIP_Label_a37ca26f-e25f-4770-9a89-55e6db4cfbd6_Enabled">
    <vt:lpwstr>True</vt:lpwstr>
  </property>
  <property fmtid="{D5CDD505-2E9C-101B-9397-08002B2CF9AE}" pid="21" name="MSIP_Label_a37ca26f-e25f-4770-9a89-55e6db4cfbd6_SiteId">
    <vt:lpwstr>ff460f77-8fa7-4946-ad6d-d50817a742fa</vt:lpwstr>
  </property>
  <property fmtid="{D5CDD505-2E9C-101B-9397-08002B2CF9AE}" pid="22" name="MSIP_Label_a37ca26f-e25f-4770-9a89-55e6db4cfbd6_ActionId">
    <vt:lpwstr>029ba2ca-3ec3-4a74-a9d9-492333a5ed1c</vt:lpwstr>
  </property>
  <property fmtid="{D5CDD505-2E9C-101B-9397-08002B2CF9AE}" pid="23" name="MSIP_Label_4447dd6a-a4a1-440b-a6a3-9124ef1ee017_Enabled">
    <vt:lpwstr>true</vt:lpwstr>
  </property>
  <property fmtid="{D5CDD505-2E9C-101B-9397-08002B2CF9AE}" pid="24" name="MSIP_Label_4447dd6a-a4a1-440b-a6a3-9124ef1ee017_SetDate">
    <vt:lpwstr>2022-09-22T01:10:54Z</vt:lpwstr>
  </property>
  <property fmtid="{D5CDD505-2E9C-101B-9397-08002B2CF9AE}" pid="25" name="MSIP_Label_4447dd6a-a4a1-440b-a6a3-9124ef1ee017_Method">
    <vt:lpwstr>Privileged</vt:lpwstr>
  </property>
  <property fmtid="{D5CDD505-2E9C-101B-9397-08002B2CF9AE}" pid="26" name="MSIP_Label_4447dd6a-a4a1-440b-a6a3-9124ef1ee017_Name">
    <vt:lpwstr>NO TECH DATA</vt:lpwstr>
  </property>
  <property fmtid="{D5CDD505-2E9C-101B-9397-08002B2CF9AE}" pid="27" name="MSIP_Label_4447dd6a-a4a1-440b-a6a3-9124ef1ee017_SiteId">
    <vt:lpwstr>7a18110d-ef9b-4274-acef-e62ab0fe28ed</vt:lpwstr>
  </property>
  <property fmtid="{D5CDD505-2E9C-101B-9397-08002B2CF9AE}" pid="28" name="MSIP_Label_4447dd6a-a4a1-440b-a6a3-9124ef1ee017_ActionId">
    <vt:lpwstr>2b5d91e4-2c21-4644-8d30-dadf71502cbd</vt:lpwstr>
  </property>
  <property fmtid="{D5CDD505-2E9C-101B-9397-08002B2CF9AE}" pid="29" name="MSIP_Label_4447dd6a-a4a1-440b-a6a3-9124ef1ee017_ContentBits">
    <vt:lpwstr>0</vt:lpwstr>
  </property>
  <property fmtid="{D5CDD505-2E9C-101B-9397-08002B2CF9AE}" pid="30" name="MediaServiceImageTags">
    <vt:lpwstr/>
  </property>
</Properties>
</file>
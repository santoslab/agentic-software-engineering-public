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Masters/slideMaster7.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7.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4" r:id="rId12"/>
  </p:sldMasterIdLst>
  <p:notesMasterIdLst>
    <p:notesMasterId r:id="rId22"/>
  </p:notesMasterIdLst>
  <p:handoutMasterIdLst>
    <p:handoutMasterId r:id="rId23"/>
  </p:handoutMasterIdLst>
  <p:sldIdLst>
    <p:sldId id="256" r:id="rId16"/>
    <p:sldId id="2147375382" r:id="rId17"/>
    <p:sldId id="2147375383" r:id="rId15"/>
    <p:sldId id="2147375384" r:id="rId18"/>
    <p:sldId id="2147375385" r:id="rId19"/>
    <p:sldId id="2147375386" r:id="rId20"/>
    <p:sldId id="2147375387" r:id="rId21"/>
    <p:sldId id="2147375388" r:id="rId14"/>
    <p:sldId id="2147375389" r:id="rId13"/>
    <p:sldId id="2147375390" r:id="rId11"/>
    <p:sldId id="2147375391" r:id="rId10"/>
    <p:sldId id="2147375392" r:id="rId9"/>
    <p:sldId id="2147375393" r:id="rId8"/>
    <p:sldId id="2147375394" r:id="rId7"/>
    <p:sldId id="2147375395" r:id="rId6"/>
    <p:sldId id="2147375396" r:id="rId30"/>
    <p:sldId id="2147375397" r:id="rId31"/>
    <p:sldId id="2147375398" r:id="rId32"/>
    <p:sldId id="2147375399" r:id="rId33"/>
    <p:sldId id="2147375400" r:id="rId34"/>
    <p:sldId id="2147375401" r:id="rId35"/>
    <p:sldId id="2147375402" r:id="rId36"/>
    <p:sldId id="2147375403" r:id="rId37"/>
    <p:sldId id="2147375404" r:id="rId38"/>
    <p:sldId id="2147375405" r:id="rId39"/>
    <p:sldId id="2147375406" r:id="rId40"/>
    <p:sldId id="2147375407" r:id="rId41"/>
    <p:sldId id="2147375408" r:id="rId42"/>
    <p:sldId id="2147375409" r:id="rId43"/>
    <p:sldId id="2147375410" r:id="rId44"/>
    <p:sldId id="2147375411" r:id="rId45"/>
    <p:sldId id="2147375412" r:id="rId46"/>
    <p:sldId id="2147375413" r:id="rId47"/>
    <p:sldId id="2147375414" r:id="rId48"/>
    <p:sldId id="2147375415" r:id="rId49"/>
    <p:sldId id="2147375416" r:id="rId50"/>
    <p:sldId id="2147375417" r:id="rId51"/>
    <p:sldId id="2147375418" r:id="rId52"/>
    <p:sldId id="2147375419" r:id="rId53"/>
    <p:sldId id="2147375420"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080"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A382648-2297-8FFC-B73F-AB124D6DE6DE}" name="Kaplan, Dan J                            Collins" initials="KDJC" userId="Kaplan, Dan J                            Collins" providerId="None"/>
  <p188:author id="{2D53BE49-35D9-EF15-1A32-A328DF3692BD}" name="Schroeder, Nancy A                            Collins" initials="SC" userId="S::10656689@adxuser.com::a39546d3-50b7-4369-86b3-1895d645d969" providerId="AD"/>
  <p188:author id="{6FDF37B6-3747-D076-79BF-E4A9A05A5DDD}" name="Sevestre, Stephane                           Export License Required - US Collins" initials="SSELRUC" userId="Sevestre, Stephane                           Export License Required - US Collins"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my Avitabile" initials="AA" lastIdx="1" clrIdx="0">
    <p:extLst>
      <p:ext uri="{19B8F6BF-5375-455C-9EA6-DF929625EA0E}">
        <p15:presenceInfo xmlns:p15="http://schemas.microsoft.com/office/powerpoint/2012/main" userId="S-1-5-21-1214440339-861567501-682003330-13659481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C1C2"/>
    <a:srgbClr val="00B050"/>
    <a:srgbClr val="FFCC00"/>
    <a:srgbClr val="FFCCCC"/>
    <a:srgbClr val="00933C"/>
    <a:srgbClr val="D3D1E7"/>
    <a:srgbClr val="D9D9D6"/>
    <a:srgbClr val="E7E7E7"/>
    <a:srgbClr val="63666A"/>
    <a:srgbClr val="B1B3B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3B4B98B0-60AC-42C2-AFA5-B58CD77FA1E5}">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72"/>
    <p:restoredTop sz="93973"/>
  </p:normalViewPr>
  <p:slideViewPr>
    <p:cSldViewPr snapToGrid="0">
      <p:cViewPr varScale="1">
        <p:scale>
          <a:sx n="119" d="100"/>
          <a:sy n="119" d="100"/>
        </p:scale>
        <p:origin x="336" y="192"/>
      </p:cViewPr>
      <p:guideLst>
        <p:guide orient="horz" pos="4080"/>
        <p:guide pos="384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slide" Target="slides/slide15.xml"/><Relationship Id="rId7" Type="http://schemas.openxmlformats.org/officeDocument/2006/relationships/slide" Target="slides/slide14.xml"/><Relationship Id="rId8" Type="http://schemas.openxmlformats.org/officeDocument/2006/relationships/slide" Target="slides/slide13.xml"/><Relationship Id="rId9" Type="http://schemas.openxmlformats.org/officeDocument/2006/relationships/slide" Target="slides/slide12.xml"/><Relationship Id="rId10" Type="http://schemas.openxmlformats.org/officeDocument/2006/relationships/slide" Target="slides/slide11.xml"/><Relationship Id="rId11" Type="http://schemas.openxmlformats.org/officeDocument/2006/relationships/slide" Target="slides/slide10.xml"/><Relationship Id="rId12" Type="http://schemas.openxmlformats.org/officeDocument/2006/relationships/slideMaster" Target="slideMasters/slideMaster7.xml"/><Relationship Id="rId13" Type="http://schemas.openxmlformats.org/officeDocument/2006/relationships/slide" Target="slides/slide9.xml"/><Relationship Id="rId14" Type="http://schemas.openxmlformats.org/officeDocument/2006/relationships/slide" Target="slides/slide8.xml"/><Relationship Id="rId15" Type="http://schemas.openxmlformats.org/officeDocument/2006/relationships/slide" Target="slides/slide3.xml"/><Relationship Id="rId16" Type="http://schemas.openxmlformats.org/officeDocument/2006/relationships/slide" Target="slides/slide1.xml"/><Relationship Id="rId17" Type="http://schemas.openxmlformats.org/officeDocument/2006/relationships/slide" Target="slides/slide2.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commentAuthors" Target="commentAuthors.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8/10/relationships/authors" Target="authors.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52" Type="http://schemas.openxmlformats.org/officeDocument/2006/relationships/slide" Target="slides/slide38.xml"/><Relationship Id="rId53" Type="http://schemas.openxmlformats.org/officeDocument/2006/relationships/slide" Target="slides/slide39.xml"/><Relationship Id="rId54" Type="http://schemas.openxmlformats.org/officeDocument/2006/relationships/slide" Target="slides/slide4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oter Placeholder 11"/>
          <p:cNvSpPr>
            <a:spLocks noGrp="1"/>
          </p:cNvSpPr>
          <p:nvPr>
            <p:ph type="ftr" sz="quarter" idx="2"/>
          </p:nvPr>
        </p:nvSpPr>
        <p:spPr>
          <a:xfrm>
            <a:off x="0" y="8855038"/>
            <a:ext cx="6858000" cy="276999"/>
          </a:xfrm>
          <a:prstGeom prst="rect">
            <a:avLst/>
          </a:prstGeom>
        </p:spPr>
        <p:txBody>
          <a:bodyPr vert="horz" lIns="91440" tIns="45720" rIns="91440" bIns="45720" rtlCol="0" anchor="b">
            <a:spAutoFit/>
          </a:bodyPr>
          <a:lstStyle>
            <a:lvl1pPr algn="l">
              <a:defRPr sz="1200"/>
            </a:lvl1pPr>
          </a:lstStyle>
          <a:p>
            <a:pPr algn="ctr"/>
            <a:endParaRPr lang="en-US"/>
          </a:p>
        </p:txBody>
      </p:sp>
      <p:sp>
        <p:nvSpPr>
          <p:cNvPr id="13" name="Slide Number Placeholder 12"/>
          <p:cNvSpPr>
            <a:spLocks noGrp="1"/>
          </p:cNvSpPr>
          <p:nvPr>
            <p:ph type="sldNum" sz="quarter" idx="3"/>
          </p:nvPr>
        </p:nvSpPr>
        <p:spPr>
          <a:xfrm>
            <a:off x="3886200" y="0"/>
            <a:ext cx="2971800" cy="458787"/>
          </a:xfrm>
          <a:prstGeom prst="rect">
            <a:avLst/>
          </a:prstGeom>
        </p:spPr>
        <p:txBody>
          <a:bodyPr vert="horz" lIns="91440" tIns="45720" rIns="91440" bIns="45720" rtlCol="0" anchor="b"/>
          <a:lstStyle>
            <a:lvl1pPr algn="r">
              <a:defRPr sz="1200"/>
            </a:lvl1pPr>
          </a:lstStyle>
          <a:p>
            <a:fld id="{138C58B0-FFE9-437E-B2CB-216DAFA841B5}" type="slidenum">
              <a:rPr lang="en-US" smtClean="0"/>
              <a:t>‹#›</a:t>
            </a:fld>
            <a:endParaRPr lang="en-US"/>
          </a:p>
        </p:txBody>
      </p:sp>
    </p:spTree>
    <p:extLst>
      <p:ext uri="{BB962C8B-B14F-4D97-AF65-F5344CB8AC3E}">
        <p14:creationId xmlns:p14="http://schemas.microsoft.com/office/powerpoint/2010/main" val="2414966732"/>
      </p:ext>
    </p:extLst>
  </p:cSld>
  <p:clrMap bg1="lt1" tx1="dk1" bg2="lt2" tx2="dk2" accent1="accent1" accent2="accent2" accent3="accent3" accent4="accent4" accent5="accent5" accent6="accent6" hlink="hlink" folHlink="folHlink"/>
  <p:hf hdr="0" dt="0"/>
  <p:extLst>
    <p:ext uri="{56416CCD-93CA-4268-BC5B-53C4BB910035}">
      <p15:sldGuideLst xmlns:p15="http://schemas.microsoft.com/office/powerpoint/2012/main">
        <p15:guide id="2" pos="288" userDrawn="1">
          <p15:clr>
            <a:srgbClr val="F26B43"/>
          </p15:clr>
        </p15:guide>
        <p15:guide id="3" pos="4032"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92624" y="692622"/>
            <a:ext cx="5517676" cy="3103693"/>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012556"/>
            <a:ext cx="5524500" cy="4094214"/>
          </a:xfrm>
          <a:prstGeom prst="rect">
            <a:avLst/>
          </a:prstGeom>
        </p:spPr>
        <p:txBody>
          <a:bodyPr vert="horz" lIns="0" tIns="0" rIns="0" bIns="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13"/>
          <p:cNvSpPr>
            <a:spLocks noGrp="1"/>
          </p:cNvSpPr>
          <p:nvPr>
            <p:ph type="ftr" sz="quarter" idx="4"/>
          </p:nvPr>
        </p:nvSpPr>
        <p:spPr>
          <a:xfrm>
            <a:off x="0" y="8774668"/>
            <a:ext cx="6858000" cy="369332"/>
          </a:xfrm>
          <a:prstGeom prst="rect">
            <a:avLst/>
          </a:prstGeom>
        </p:spPr>
        <p:txBody>
          <a:bodyPr vert="horz" lIns="91440" tIns="45720" rIns="91440" bIns="45720" rtlCol="0" anchor="b">
            <a:spAutoFit/>
          </a:bodyPr>
          <a:lstStyle>
            <a:lvl1pPr algn="ctr">
              <a:defRPr lang="en-US"/>
            </a:lvl1pPr>
          </a:lstStyle>
          <a:p>
            <a:endParaRPr lang="en-US"/>
          </a:p>
        </p:txBody>
      </p:sp>
      <p:sp>
        <p:nvSpPr>
          <p:cNvPr id="15" name="Slide Number Placeholder 14"/>
          <p:cNvSpPr>
            <a:spLocks noGrp="1"/>
          </p:cNvSpPr>
          <p:nvPr>
            <p:ph type="sldNum" sz="quarter" idx="5"/>
          </p:nvPr>
        </p:nvSpPr>
        <p:spPr>
          <a:xfrm>
            <a:off x="3886200" y="9183"/>
            <a:ext cx="2971800" cy="458787"/>
          </a:xfrm>
          <a:prstGeom prst="rect">
            <a:avLst/>
          </a:prstGeom>
        </p:spPr>
        <p:txBody>
          <a:bodyPr vert="horz" lIns="91440" tIns="45720" rIns="91440" bIns="45720" rtlCol="0" anchor="b"/>
          <a:lstStyle>
            <a:lvl1pPr algn="r">
              <a:defRPr sz="1200"/>
            </a:lvl1pPr>
          </a:lstStyle>
          <a:p>
            <a:fld id="{56AF3A09-0EB5-429E-B7D0-FB28A7726D23}" type="slidenum">
              <a:rPr lang="en-US" smtClean="0"/>
              <a:t>‹#›</a:t>
            </a:fld>
            <a:endParaRPr lang="en-US"/>
          </a:p>
        </p:txBody>
      </p:sp>
    </p:spTree>
    <p:extLst>
      <p:ext uri="{BB962C8B-B14F-4D97-AF65-F5344CB8AC3E}">
        <p14:creationId xmlns:p14="http://schemas.microsoft.com/office/powerpoint/2010/main" val="2302219137"/>
      </p:ext>
    </p:extLst>
  </p:cSld>
  <p:clrMap bg1="lt1" tx1="dk1" bg2="lt2" tx2="dk2" accent1="accent1" accent2="accent2" accent3="accent3" accent4="accent4" accent5="accent5" accent6="accent6" hlink="hlink" folHlink="folHlink"/>
  <p:hf dt="0"/>
  <p:notesStyle>
    <a:lvl1pPr marL="115888" indent="-115888" algn="l" defTabSz="914400" rtl="0" eaLnBrk="1" latinLnBrk="0" hangingPunct="1">
      <a:spcBef>
        <a:spcPts val="200"/>
      </a:spcBef>
      <a:buFont typeface="Arial" panose="020B0604020202020204" pitchFamily="34" charset="0"/>
      <a:buChar char="•"/>
      <a:defRPr sz="1000" kern="1200">
        <a:solidFill>
          <a:schemeClr val="tx1"/>
        </a:solidFill>
        <a:latin typeface="+mn-lt"/>
        <a:ea typeface="+mn-ea"/>
        <a:cs typeface="+mn-cs"/>
      </a:defRPr>
    </a:lvl1pPr>
    <a:lvl2pPr marL="287338" indent="-117475" algn="l" defTabSz="914400" rtl="0" eaLnBrk="1" latinLnBrk="0" hangingPunct="1">
      <a:spcBef>
        <a:spcPts val="200"/>
      </a:spcBef>
      <a:buFont typeface="Arial" panose="020B0604020202020204" pitchFamily="34" charset="0"/>
      <a:buChar char="–"/>
      <a:defRPr sz="1000" kern="1200">
        <a:solidFill>
          <a:schemeClr val="tx1"/>
        </a:solidFill>
        <a:latin typeface="+mn-lt"/>
        <a:ea typeface="+mn-ea"/>
        <a:cs typeface="+mn-cs"/>
      </a:defRPr>
    </a:lvl2pPr>
    <a:lvl3pPr marL="457200" indent="-115888" algn="l" defTabSz="914400" rtl="0" eaLnBrk="1" latinLnBrk="0" hangingPunct="1">
      <a:spcBef>
        <a:spcPts val="200"/>
      </a:spcBef>
      <a:buFont typeface="Arial" panose="020B0604020202020204" pitchFamily="34" charset="0"/>
      <a:buChar char="•"/>
      <a:defRPr sz="1000" kern="1200">
        <a:solidFill>
          <a:schemeClr val="tx1"/>
        </a:solidFill>
        <a:latin typeface="+mn-lt"/>
        <a:ea typeface="+mn-ea"/>
        <a:cs typeface="+mn-cs"/>
      </a:defRPr>
    </a:lvl3pPr>
    <a:lvl4pPr marL="627063" indent="-115888" algn="l" defTabSz="914400" rtl="0" eaLnBrk="1" latinLnBrk="0" hangingPunct="1">
      <a:spcBef>
        <a:spcPts val="200"/>
      </a:spcBef>
      <a:buFont typeface="Arial" panose="020B0604020202020204" pitchFamily="34" charset="0"/>
      <a:buChar char="–"/>
      <a:defRPr sz="1000" kern="1200">
        <a:solidFill>
          <a:schemeClr val="tx1"/>
        </a:solidFill>
        <a:latin typeface="+mn-lt"/>
        <a:ea typeface="+mn-ea"/>
        <a:cs typeface="+mn-cs"/>
      </a:defRPr>
    </a:lvl4pPr>
    <a:lvl5pPr marL="860425" indent="-171450" algn="l" defTabSz="914400" rtl="0" eaLnBrk="1" latinLnBrk="0" hangingPunct="1">
      <a:spcBef>
        <a:spcPts val="200"/>
      </a:spcBef>
      <a:buFont typeface="Arial" panose="020B0604020202020204" pitchFamily="34" charset="0"/>
      <a:buChar char="•"/>
      <a:defRPr sz="1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pos="432" userDrawn="1">
          <p15:clr>
            <a:srgbClr val="F26B43"/>
          </p15:clr>
        </p15:guide>
        <p15:guide id="2" pos="3912"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C30E6-29FE-8D9A-C5A0-8F0EF7B91E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B0C18-6CCF-9B06-B8C2-7AF859D1CD47}"/>
              </a:ext>
            </a:extLst>
          </p:cNvPr>
          <p:cNvSpPr>
            <a:spLocks noGrp="1" noRot="1" noChangeAspect="1"/>
          </p:cNvSpPr>
          <p:nvPr>
            <p:ph type="sldImg"/>
          </p:nvPr>
        </p:nvSpPr>
        <p:spPr>
          <a:xfrm>
            <a:off x="692150" y="692150"/>
            <a:ext cx="5518150" cy="3103563"/>
          </a:xfrm>
        </p:spPr>
      </p:sp>
      <p:sp>
        <p:nvSpPr>
          <p:cNvPr id="3" name="Notes Placeholder 2">
            <a:extLst>
              <a:ext uri="{FF2B5EF4-FFF2-40B4-BE49-F238E27FC236}">
                <a16:creationId xmlns:a16="http://schemas.microsoft.com/office/drawing/2014/main" id="{6C784970-52A9-3C3D-45DC-35C4C99DE06F}"/>
              </a:ext>
            </a:extLst>
          </p:cNvPr>
          <p:cNvSpPr>
            <a:spLocks noGrp="1"/>
          </p:cNvSpPr>
          <p:nvPr>
            <p:ph type="body" idx="1"/>
          </p:nvPr>
        </p:nvSpPr>
        <p:spPr/>
        <p:txBody>
          <a:bodyPr/>
          <a:lstStyle/>
          <a:p>
            <a:r>
              <a:t>We believe in abstractions: hierarchical, composable, designed for formal reasoning.  How to develop agentic software engineering so that the abstractions are the heart of what they produce, how they plan (i.e., how they decompose work temporily and structurally)</a:t>
            </a:r>
          </a:p>
          <a:p/>
          <a:p/>
          <a:p>
            <a:r>
              <a:t>Assurance – externalize confidence in the system – how do we achieve views that are appropriate for humans (avoid mental overhead) and agents (avoiding time and token burn).  Cautionary story about Haskell build system.  Achieve visibility into the development process – governance, process improvement measurement.  Key point: independence – diversity in reasoning and problem solving.</a:t>
            </a:r>
          </a:p>
          <a:p/>
          <a:p>
            <a:r>
              <a:t>High assurance, properties that are specified and assessed at multiple levels of abstraction</a:t>
            </a:r>
          </a:p>
          <a:p/>
          <a:p>
            <a:r>
              <a:t>Usability for agents – I’ve got this powerful new employee and teammate.  They are much smarter and faster than me at meany things.  But they are not as good as me at other things.</a:t>
            </a:r>
          </a:p>
          <a:p/>
          <a:p>
            <a:r>
              <a:t>Shift from engineering the code to engineering the development and assurance context</a:t>
            </a:r>
          </a:p>
          <a:p>
            <a:r>
              <a:t>Managed technology base – layered composable abstractions that not only provide direction but provide explainability</a:t>
            </a:r>
          </a:p>
          <a:p/>
          <a:p/>
          <a:p/>
          <a:p>
            <a:r>
              <a:t>Lecture 01 framing: the three stages of the effort shift are the structure of the purpose section in the notes.</a:t>
            </a:r>
          </a:p>
        </p:txBody>
      </p:sp>
      <p:sp>
        <p:nvSpPr>
          <p:cNvPr id="4" name="Footer Placeholder 3">
            <a:extLst>
              <a:ext uri="{FF2B5EF4-FFF2-40B4-BE49-F238E27FC236}">
                <a16:creationId xmlns:a16="http://schemas.microsoft.com/office/drawing/2014/main" id="{65ACAA5E-556E-E4A0-BCBA-9B2C375EA597}"/>
              </a:ext>
            </a:extLst>
          </p:cNvPr>
          <p:cNvSpPr>
            <a:spLocks noGrp="1"/>
          </p:cNvSpPr>
          <p:nvPr>
            <p:ph type="ftr" sz="quarter" idx="4"/>
          </p:nvPr>
        </p:nvSpPr>
        <p:spPr/>
        <p:txBody>
          <a:bodyPr/>
          <a:lstStyle/>
          <a:p>
            <a:endParaRPr lang="en-US"/>
          </a:p>
        </p:txBody>
      </p:sp>
      <p:sp>
        <p:nvSpPr>
          <p:cNvPr id="5" name="Slide Number Placeholder 4">
            <a:extLst>
              <a:ext uri="{FF2B5EF4-FFF2-40B4-BE49-F238E27FC236}">
                <a16:creationId xmlns:a16="http://schemas.microsoft.com/office/drawing/2014/main" id="{6A872A34-1850-D49F-1CED-0BD587A42992}"/>
              </a:ext>
            </a:extLst>
          </p:cNvPr>
          <p:cNvSpPr>
            <a:spLocks noGrp="1"/>
          </p:cNvSpPr>
          <p:nvPr>
            <p:ph type="sldNum" sz="quarter" idx="5"/>
          </p:nvPr>
        </p:nvSpPr>
        <p:spPr/>
        <p:txBody>
          <a:bodyPr/>
          <a:lstStyle/>
          <a:p>
            <a:fld id="{56AF3A09-0EB5-429E-B7D0-FB28A7726D23}" type="slidenum">
              <a:rPr lang="en-US" smtClean="0"/>
              <a:t>2</a:t>
            </a:fld>
            <a:endParaRPr lang="en-US"/>
          </a:p>
        </p:txBody>
      </p:sp>
    </p:spTree>
    <p:extLst>
      <p:ext uri="{BB962C8B-B14F-4D97-AF65-F5344CB8AC3E}">
        <p14:creationId xmlns:p14="http://schemas.microsoft.com/office/powerpoint/2010/main" val="2599503159"/>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three entities and the five judgments, define a managed process, and name the records. Everything later is an instance of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stages of the shift. The layers serve two readers: direction for agents at the layer they work in; explanation for people, trustworthy because conformance between layers is checked.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objectives; each is something a student can do on A0.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is the abstract picture. Part 2 shows every element on A0.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Diagram 1. Intent has no artifact. VAL compares intent and specifications; CONF compares specifications and realization; SQ and RQ are loops on one artifact; TR is the dashed links. The ledger records the five; the gate decides the mechanical parts before a commit.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Intent lives with the stakeholders; a person cannot enumerate it; the purpose statement is the nearest written thing and is an engineering artifact. An agent reaches intent only through a person, which is why VAL is reserved to a person. Elicitation is the next lecture.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forms A0 uses, the role a specification plays, and the clause as the unit with its three fields.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properties, each one sentence; A0 establishes SQ by a person reading. The audit as a procedure, with seeded gaps, is the A1 lecture.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and tests are both realization. RQ asks whether the realization is in a state where it can be checked: lint, collect, test discipline. Kept separate from CONF so that a conformance result is about runnable code and a suite that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Conformance is a relationship on the pair; verification is the attempt, so a result is evidence with a scope. In A0 CONF is four conditions because a suite written by the same agent that wrote the code can mislead in three ways.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Validation compares an artifact with what is in a person's mind; only a person can decide; recorded as a sign-off. It can fail while every other judgment holds, which is the sabotage in Part 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clause has an identifier and every link resolves both ways. Its own row because a program decides it cheaply and the other rows depend on it clause by clause. Identifiers are the shared vocabulary of person, agent, and program.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element of Part 1 pointed at in a file.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realistic shape, and it grows. Version A0 is one stage, filter. The Python sibling of the HAMR Simple Network Guard.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Twelve-line file. Is it right? It cannot say what was asked, what was promised, or whether the promise was checked. With an agent writing the code, the person reads three other things instead.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directory tree, by the categories the diagram uses. Support files are not realizations of any clause.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nearest written thing to intent. Agreed by the stakeholders, audited, derived from; not a transcript. How it was obtained is the next lecture.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conops.md has five sections; requirements.md has four clauses. Two kinds of document that govern one system and must agree.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clauses verbatim. Three fields, each with a job: the identifier is what a report cites; the method says who verifies; derived-from makes the family.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mechanical clause can be checked at every commit by a program nobody has to remember to run; a judgment clause costs a person's attention every time. With an agent writing the code, make as many clauses mechanical as possible and record the choice on the clause.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property with the place in A0 where it can be checked. The REQ-2 question is planted to show that a reading is a judgment. SQ-1 and the SQ row.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message.py makes REQ-0 concrete: three levels, a frozen dataclass, rejection of wrong types. filter.py is the working file. One specification, many realizations.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a claim about one clause and cites it. The marker serves three readers. A test that cites nothing is not allowed in A0.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programs decide RQ; the test discipline is reviewed. RQ is separate from CONF so a conformance result is about runnable code and a suite that ran.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passing suite establishes only that its own claims hold. With the same agent writing code and tests a green suite misleads in three ways, so CONF is the conjunction of four conditions, each with its own evidence.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plugin reads the clause identifiers from the specifications and the markers from the suite; one row per clause. A clause with no citing test would show no evidence and fail the run. Branch coverage is weak but finds the places where code can do anything unnoticed.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Condition 4 was decided by a person in the story's role. Three kinds of verifier; A0 uses human and algorithmic; the agent verifier enters in A1.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names who, in which role, when, on which version. The walkthrough does double duty: one activity, two questions. Keep them apart in thought.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Suppose the officer meant Restricted must be stopped too and the author of the ConOps did not understand. Every artifact was derived from the same misunderstanding; nothing in the repository can detect it. Only the officer walking US-2 or declining to sign catches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of links; TR-1; what the program decides and what a person reads. Identifiers are the vocabulary shared by person, agent, and program.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rows. Each is a claim with status, evidence, provenance, and a stale-when. Provenance distinguishes evidence from a description of evidence: an exit code at a named commit can be rerun; an agent's 'all tests pass' cannot.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WF-1: tools/gate.sh must exit 0 before a commit. An algorithmic gate decides RQ and the three mechanical conditions of CONF. Approval gates are recorded human decisions; the first one in front of a commit arrives with the build plan in A2. A gate makes the checks a property of every commit.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 the condition to RESTRICTED. Four tests fail; REQ-1 and REQ-2 show FAIL; coverage still 100 percent; only CONF turns red; the suite caught it. A failed check is a fact about the pair; which side moves is a recorded decision.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rule per judgment plus workflow and reports, CONF having two. Each has the same fields. Decided-by makes a rule checkable; on-failure gives a red result a next step. Two styles in A0.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reads the file; person and agent follow the same written process; a habit cannot be followed by an agent and a prompt cannot be audited by a person. The dev log. Effort: under thirty lines of code against more than three hundred of specifications, rules, reports. Optional demo: ask an agent what the system does and how it knows; watch where it looks.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keeps the system and improves the specifications; A2 adds the second stage and the first specifications of structure.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carries over directly on day one, and what needs adaptation. One skill underlies the adapted parts: phrasing your own criteria with a named decider, named evidence, and a stated consequence of failure.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 1 forces an amendment, a stale VAL row, and a re-sign before the test and the gate.</a:t>
            </a:r>
          </a:p>
        </p:txBody>
      </p:sp>
      <p:sp>
        <p:nvSpPr>
          <p:cNvPr id="4" name="Slide Number Placeholder 3"/>
          <p:cNvSpPr>
            <a:spLocks noGrp="1"/>
          </p:cNvSpPr>
          <p:nvPr>
            <p:ph type="sldNum" idx="5" sz="quarter"/>
          </p:nvPr>
        </p:nvSpPr>
        <p:spPr/>
      </p:sp>
    </p:spTree>
  </p:cSld>
  <p:clrMapOvr>
    <a:masterClrMapping/>
  </p:clrMapOvr>
</p:note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46.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Rectangle 17"/>
          <p:cNvSpPr>
            <a:spLocks noChangeArrowheads="1"/>
          </p:cNvSpPr>
          <p:nvPr userDrawn="1"/>
        </p:nvSpPr>
        <p:spPr bwMode="auto">
          <a:xfrm>
            <a:off x="0" y="0"/>
            <a:ext cx="12192000" cy="1295400"/>
          </a:xfrm>
          <a:prstGeom prst="rect">
            <a:avLst/>
          </a:prstGeom>
          <a:gradFill rotWithShape="0">
            <a:gsLst>
              <a:gs pos="0">
                <a:srgbClr val="9900CC"/>
              </a:gs>
              <a:gs pos="100000">
                <a:srgbClr val="FFFFFF"/>
              </a:gs>
            </a:gsLst>
            <a:lin ang="0" scaled="1"/>
          </a:gradFill>
          <a:ln w="9525">
            <a:noFill/>
            <a:miter lim="800000"/>
            <a:headEnd/>
            <a:tailEnd/>
          </a:ln>
          <a:effectLst/>
        </p:spPr>
        <p:txBody>
          <a:bodyPr wrap="none" anchor="ctr">
            <a:prstTxWarp prst="textNoShape">
              <a:avLst/>
            </a:prstTxWarp>
          </a:bodyPr>
          <a:lstStyle/>
          <a:p>
            <a:pPr>
              <a:defRPr/>
            </a:pPr>
            <a:endParaRPr lang="en-US" sz="1800">
              <a:latin typeface="Tahoma" pitchFamily="-84" charset="0"/>
            </a:endParaRPr>
          </a:p>
        </p:txBody>
      </p:sp>
      <p:sp>
        <p:nvSpPr>
          <p:cNvPr id="5" name="Rectangle 18"/>
          <p:cNvSpPr>
            <a:spLocks noChangeArrowheads="1"/>
          </p:cNvSpPr>
          <p:nvPr userDrawn="1"/>
        </p:nvSpPr>
        <p:spPr bwMode="auto">
          <a:xfrm rot="16200000">
            <a:off x="-2425700" y="3721100"/>
            <a:ext cx="5562600" cy="711200"/>
          </a:xfrm>
          <a:prstGeom prst="rect">
            <a:avLst/>
          </a:prstGeom>
          <a:gradFill rotWithShape="0">
            <a:gsLst>
              <a:gs pos="0">
                <a:srgbClr val="9900CC"/>
              </a:gs>
              <a:gs pos="100000">
                <a:srgbClr val="FFFFFF"/>
              </a:gs>
            </a:gsLst>
            <a:lin ang="5400000" scaled="1"/>
          </a:gradFill>
          <a:ln w="9525">
            <a:noFill/>
            <a:miter lim="800000"/>
            <a:headEnd/>
            <a:tailEnd/>
          </a:ln>
          <a:effectLst/>
        </p:spPr>
        <p:txBody>
          <a:bodyPr wrap="none" anchor="ctr">
            <a:prstTxWarp prst="textNoShape">
              <a:avLst/>
            </a:prstTxWarp>
          </a:bodyPr>
          <a:lstStyle/>
          <a:p>
            <a:pPr>
              <a:defRPr/>
            </a:pPr>
            <a:endParaRPr lang="en-US" sz="1800">
              <a:latin typeface="Tahoma" pitchFamily="-84" charset="0"/>
            </a:endParaRPr>
          </a:p>
        </p:txBody>
      </p:sp>
      <p:sp>
        <p:nvSpPr>
          <p:cNvPr id="6156" name="Rectangle 12"/>
          <p:cNvSpPr>
            <a:spLocks noGrp="1" noChangeArrowheads="1"/>
          </p:cNvSpPr>
          <p:nvPr>
            <p:ph type="ctrTitle"/>
          </p:nvPr>
        </p:nvSpPr>
        <p:spPr>
          <a:xfrm>
            <a:off x="1320800" y="1828800"/>
            <a:ext cx="10363200" cy="1143000"/>
          </a:xfrm>
        </p:spPr>
        <p:txBody>
          <a:bodyPr/>
          <a:lstStyle>
            <a:lvl1pPr>
              <a:defRPr/>
            </a:lvl1pPr>
          </a:lstStyle>
          <a:p>
            <a:r>
              <a:rPr lang="en-US"/>
              <a:t>Click to edit Master title style</a:t>
            </a:r>
          </a:p>
        </p:txBody>
      </p:sp>
      <p:sp>
        <p:nvSpPr>
          <p:cNvPr id="6157" name="Rectangle 13"/>
          <p:cNvSpPr>
            <a:spLocks noGrp="1" noChangeArrowheads="1"/>
          </p:cNvSpPr>
          <p:nvPr>
            <p:ph type="subTitle" idx="1"/>
          </p:nvPr>
        </p:nvSpPr>
        <p:spPr>
          <a:xfrm>
            <a:off x="1828800" y="3886200"/>
            <a:ext cx="8534400" cy="1752600"/>
          </a:xfrm>
        </p:spPr>
        <p:txBody>
          <a:bodyPr/>
          <a:lstStyle>
            <a:lvl1pPr marL="0" indent="0" algn="ctr">
              <a:buFont typeface="Wingdings" charset="2"/>
              <a:buNone/>
              <a:defRPr/>
            </a:lvl1pPr>
          </a:lstStyle>
          <a:p>
            <a:r>
              <a:rPr lang="en-US"/>
              <a:t>Click to edit Master subtitle style</a:t>
            </a:r>
          </a:p>
        </p:txBody>
      </p:sp>
      <p:sp>
        <p:nvSpPr>
          <p:cNvPr id="6" name="Rectangle 14"/>
          <p:cNvSpPr>
            <a:spLocks noGrp="1" noChangeArrowheads="1"/>
          </p:cNvSpPr>
          <p:nvPr>
            <p:ph type="dt" sz="half" idx="10"/>
          </p:nvPr>
        </p:nvSpPr>
        <p:spPr bwMode="auto">
          <a:xfrm>
            <a:off x="1320800" y="6248400"/>
            <a:ext cx="2540000" cy="457200"/>
          </a:xfrm>
          <a:prstGeom prst="rect">
            <a:avLst/>
          </a:prstGeom>
          <a:ln>
            <a:miter lim="800000"/>
            <a:headEnd/>
            <a:tailEnd/>
          </a:ln>
        </p:spPr>
        <p:txBody>
          <a:bodyPr vert="horz" wrap="square" lIns="91440" tIns="45720" rIns="91440" bIns="45720" numCol="1" anchor="b" anchorCtr="0" compatLnSpc="1">
            <a:prstTxWarp prst="textNoShape">
              <a:avLst/>
            </a:prstTxWarp>
          </a:bodyPr>
          <a:lstStyle>
            <a:lvl1pPr>
              <a:defRPr sz="1400">
                <a:solidFill>
                  <a:schemeClr val="bg2"/>
                </a:solidFill>
                <a:latin typeface="Tahoma" pitchFamily="-84" charset="0"/>
              </a:defRPr>
            </a:lvl1pPr>
          </a:lstStyle>
          <a:p>
            <a:pPr>
              <a:defRPr/>
            </a:pPr>
            <a:endParaRPr lang="en-US"/>
          </a:p>
        </p:txBody>
      </p:sp>
      <p:sp>
        <p:nvSpPr>
          <p:cNvPr id="7" name="Rectangle 15"/>
          <p:cNvSpPr>
            <a:spLocks noGrp="1" noChangeArrowheads="1"/>
          </p:cNvSpPr>
          <p:nvPr>
            <p:ph type="ftr" sz="quarter" idx="11"/>
          </p:nvPr>
        </p:nvSpPr>
        <p:spPr>
          <a:xfrm>
            <a:off x="4572000" y="6248400"/>
            <a:ext cx="3860800" cy="457200"/>
          </a:xfrm>
        </p:spPr>
        <p:txBody>
          <a:bodyPr/>
          <a:lstStyle>
            <a:lvl1pPr>
              <a:defRPr>
                <a:solidFill>
                  <a:schemeClr val="bg2"/>
                </a:solidFill>
              </a:defRPr>
            </a:lvl1pPr>
          </a:lstStyle>
          <a:p>
            <a:pPr>
              <a:defRPr/>
            </a:pPr>
            <a:r>
              <a:rPr lang="en-US"/>
              <a:t>CS Agentic Development</a:t>
            </a:r>
          </a:p>
        </p:txBody>
      </p:sp>
      <p:sp>
        <p:nvSpPr>
          <p:cNvPr id="8" name="Rectangle 16"/>
          <p:cNvSpPr>
            <a:spLocks noGrp="1" noChangeArrowheads="1"/>
          </p:cNvSpPr>
          <p:nvPr>
            <p:ph type="sldNum" sz="quarter" idx="12"/>
          </p:nvPr>
        </p:nvSpPr>
        <p:spPr>
          <a:xfrm>
            <a:off x="9144000" y="6248400"/>
            <a:ext cx="2540000" cy="457200"/>
          </a:xfrm>
        </p:spPr>
        <p:txBody>
          <a:bodyPr/>
          <a:lstStyle>
            <a:lvl1pPr>
              <a:defRPr>
                <a:solidFill>
                  <a:schemeClr val="bg2"/>
                </a:solidFill>
              </a:defRPr>
            </a:lvl1pPr>
          </a:lstStyle>
          <a:p>
            <a:pPr>
              <a:defRPr/>
            </a:pPr>
            <a:fld id="{45E685A3-5A44-F34A-9DD6-E549D5259BBF}" type="slidenum">
              <a:rPr lang="en-US"/>
              <a:pPr>
                <a:defRPr/>
              </a:pPr>
              <a:t>‹#›</a:t>
            </a:fld>
            <a:endParaRPr lang="en-US"/>
          </a:p>
        </p:txBody>
      </p:sp>
    </p:spTree>
    <p:extLst>
      <p:ext uri="{BB962C8B-B14F-4D97-AF65-F5344CB8AC3E}">
        <p14:creationId xmlns:p14="http://schemas.microsoft.com/office/powerpoint/2010/main" val="361104036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5" name="Rectangle 13"/>
          <p:cNvSpPr>
            <a:spLocks noGrp="1" noChangeArrowheads="1"/>
          </p:cNvSpPr>
          <p:nvPr>
            <p:ph type="sldNum" sz="quarter" idx="11"/>
          </p:nvPr>
        </p:nvSpPr>
        <p:spPr>
          <a:ln/>
        </p:spPr>
        <p:txBody>
          <a:bodyPr/>
          <a:lstStyle>
            <a:lvl1pPr>
              <a:defRPr/>
            </a:lvl1pPr>
          </a:lstStyle>
          <a:p>
            <a:pPr>
              <a:defRPr/>
            </a:pPr>
            <a:fld id="{C22399C2-1ADD-1549-9753-CEA7C1EED1B8}" type="slidenum">
              <a:rPr lang="en-US"/>
              <a:pPr>
                <a:defRPr/>
              </a:pPr>
              <a:t>‹#›</a:t>
            </a:fld>
            <a:endParaRPr lang="en-US"/>
          </a:p>
        </p:txBody>
      </p:sp>
    </p:spTree>
    <p:extLst>
      <p:ext uri="{BB962C8B-B14F-4D97-AF65-F5344CB8AC3E}">
        <p14:creationId xmlns:p14="http://schemas.microsoft.com/office/powerpoint/2010/main" val="222375834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5" name="Rectangle 13"/>
          <p:cNvSpPr>
            <a:spLocks noGrp="1" noChangeArrowheads="1"/>
          </p:cNvSpPr>
          <p:nvPr>
            <p:ph type="sldNum" sz="quarter" idx="11"/>
          </p:nvPr>
        </p:nvSpPr>
        <p:spPr>
          <a:ln/>
        </p:spPr>
        <p:txBody>
          <a:bodyPr/>
          <a:lstStyle>
            <a:lvl1pPr>
              <a:defRPr/>
            </a:lvl1pPr>
          </a:lstStyle>
          <a:p>
            <a:pPr>
              <a:defRPr/>
            </a:pPr>
            <a:fld id="{50848EDB-E059-EE4C-BEE4-92ACBFC1ACEA}" type="slidenum">
              <a:rPr lang="en-US"/>
              <a:pPr>
                <a:defRPr/>
              </a:pPr>
              <a:t>‹#›</a:t>
            </a:fld>
            <a:endParaRPr lang="en-US"/>
          </a:p>
        </p:txBody>
      </p:sp>
    </p:spTree>
    <p:extLst>
      <p:ext uri="{BB962C8B-B14F-4D97-AF65-F5344CB8AC3E}">
        <p14:creationId xmlns:p14="http://schemas.microsoft.com/office/powerpoint/2010/main" val="407940486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914400" y="1524000"/>
            <a:ext cx="5334000" cy="4876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451600" y="1524000"/>
            <a:ext cx="5334000" cy="4876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6" name="Rectangle 13"/>
          <p:cNvSpPr>
            <a:spLocks noGrp="1" noChangeArrowheads="1"/>
          </p:cNvSpPr>
          <p:nvPr>
            <p:ph type="sldNum" sz="quarter" idx="11"/>
          </p:nvPr>
        </p:nvSpPr>
        <p:spPr>
          <a:ln/>
        </p:spPr>
        <p:txBody>
          <a:bodyPr/>
          <a:lstStyle>
            <a:lvl1pPr>
              <a:defRPr/>
            </a:lvl1pPr>
          </a:lstStyle>
          <a:p>
            <a:pPr>
              <a:defRPr/>
            </a:pPr>
            <a:fld id="{1EE9051A-5116-C044-BC66-ED283B4D5A77}" type="slidenum">
              <a:rPr lang="en-US"/>
              <a:pPr>
                <a:defRPr/>
              </a:pPr>
              <a:t>‹#›</a:t>
            </a:fld>
            <a:endParaRPr lang="en-US"/>
          </a:p>
        </p:txBody>
      </p:sp>
    </p:spTree>
    <p:extLst>
      <p:ext uri="{BB962C8B-B14F-4D97-AF65-F5344CB8AC3E}">
        <p14:creationId xmlns:p14="http://schemas.microsoft.com/office/powerpoint/2010/main" val="351263776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8" name="Rectangle 13"/>
          <p:cNvSpPr>
            <a:spLocks noGrp="1" noChangeArrowheads="1"/>
          </p:cNvSpPr>
          <p:nvPr>
            <p:ph type="sldNum" sz="quarter" idx="11"/>
          </p:nvPr>
        </p:nvSpPr>
        <p:spPr>
          <a:ln/>
        </p:spPr>
        <p:txBody>
          <a:bodyPr/>
          <a:lstStyle>
            <a:lvl1pPr>
              <a:defRPr/>
            </a:lvl1pPr>
          </a:lstStyle>
          <a:p>
            <a:pPr>
              <a:defRPr/>
            </a:pPr>
            <a:fld id="{2E73A91B-A097-8F43-A5C5-A8482E10CE6F}" type="slidenum">
              <a:rPr lang="en-US"/>
              <a:pPr>
                <a:defRPr/>
              </a:pPr>
              <a:t>‹#›</a:t>
            </a:fld>
            <a:endParaRPr lang="en-US"/>
          </a:p>
        </p:txBody>
      </p:sp>
    </p:spTree>
    <p:extLst>
      <p:ext uri="{BB962C8B-B14F-4D97-AF65-F5344CB8AC3E}">
        <p14:creationId xmlns:p14="http://schemas.microsoft.com/office/powerpoint/2010/main" val="64749059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4" name="Rectangle 13"/>
          <p:cNvSpPr>
            <a:spLocks noGrp="1" noChangeArrowheads="1"/>
          </p:cNvSpPr>
          <p:nvPr>
            <p:ph type="sldNum" sz="quarter" idx="11"/>
          </p:nvPr>
        </p:nvSpPr>
        <p:spPr>
          <a:ln/>
        </p:spPr>
        <p:txBody>
          <a:bodyPr/>
          <a:lstStyle>
            <a:lvl1pPr>
              <a:defRPr/>
            </a:lvl1pPr>
          </a:lstStyle>
          <a:p>
            <a:pPr>
              <a:defRPr/>
            </a:pPr>
            <a:fld id="{6E0AA622-F4CE-604D-A669-CD3D12FC535C}" type="slidenum">
              <a:rPr lang="en-US"/>
              <a:pPr>
                <a:defRPr/>
              </a:pPr>
              <a:t>‹#›</a:t>
            </a:fld>
            <a:endParaRPr lang="en-US"/>
          </a:p>
        </p:txBody>
      </p:sp>
    </p:spTree>
    <p:extLst>
      <p:ext uri="{BB962C8B-B14F-4D97-AF65-F5344CB8AC3E}">
        <p14:creationId xmlns:p14="http://schemas.microsoft.com/office/powerpoint/2010/main" val="87835731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3" name="Rectangle 13"/>
          <p:cNvSpPr>
            <a:spLocks noGrp="1" noChangeArrowheads="1"/>
          </p:cNvSpPr>
          <p:nvPr>
            <p:ph type="sldNum" sz="quarter" idx="11"/>
          </p:nvPr>
        </p:nvSpPr>
        <p:spPr>
          <a:ln/>
        </p:spPr>
        <p:txBody>
          <a:bodyPr/>
          <a:lstStyle>
            <a:lvl1pPr>
              <a:defRPr/>
            </a:lvl1pPr>
          </a:lstStyle>
          <a:p>
            <a:pPr>
              <a:defRPr/>
            </a:pPr>
            <a:fld id="{BA615124-8EB2-6E40-9E50-F98D2465DC75}" type="slidenum">
              <a:rPr lang="en-US"/>
              <a:pPr>
                <a:defRPr/>
              </a:pPr>
              <a:t>‹#›</a:t>
            </a:fld>
            <a:endParaRPr lang="en-US"/>
          </a:p>
        </p:txBody>
      </p:sp>
    </p:spTree>
    <p:extLst>
      <p:ext uri="{BB962C8B-B14F-4D97-AF65-F5344CB8AC3E}">
        <p14:creationId xmlns:p14="http://schemas.microsoft.com/office/powerpoint/2010/main" val="179758534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6" name="Rectangle 13"/>
          <p:cNvSpPr>
            <a:spLocks noGrp="1" noChangeArrowheads="1"/>
          </p:cNvSpPr>
          <p:nvPr>
            <p:ph type="sldNum" sz="quarter" idx="11"/>
          </p:nvPr>
        </p:nvSpPr>
        <p:spPr>
          <a:ln/>
        </p:spPr>
        <p:txBody>
          <a:bodyPr/>
          <a:lstStyle>
            <a:lvl1pPr>
              <a:defRPr/>
            </a:lvl1pPr>
          </a:lstStyle>
          <a:p>
            <a:pPr>
              <a:defRPr/>
            </a:pPr>
            <a:fld id="{A44EE25D-892F-FA42-8251-4062CB60CA5E}" type="slidenum">
              <a:rPr lang="en-US"/>
              <a:pPr>
                <a:defRPr/>
              </a:pPr>
              <a:t>‹#›</a:t>
            </a:fld>
            <a:endParaRPr lang="en-US"/>
          </a:p>
        </p:txBody>
      </p:sp>
    </p:spTree>
    <p:extLst>
      <p:ext uri="{BB962C8B-B14F-4D97-AF65-F5344CB8AC3E}">
        <p14:creationId xmlns:p14="http://schemas.microsoft.com/office/powerpoint/2010/main" val="6745426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6" name="Rectangle 13"/>
          <p:cNvSpPr>
            <a:spLocks noGrp="1" noChangeArrowheads="1"/>
          </p:cNvSpPr>
          <p:nvPr>
            <p:ph type="sldNum" sz="quarter" idx="11"/>
          </p:nvPr>
        </p:nvSpPr>
        <p:spPr>
          <a:ln/>
        </p:spPr>
        <p:txBody>
          <a:bodyPr/>
          <a:lstStyle>
            <a:lvl1pPr>
              <a:defRPr/>
            </a:lvl1pPr>
          </a:lstStyle>
          <a:p>
            <a:pPr>
              <a:defRPr/>
            </a:pPr>
            <a:fld id="{2C56E9B7-6EE0-8D46-8C36-993F30F20EC8}" type="slidenum">
              <a:rPr lang="en-US"/>
              <a:pPr>
                <a:defRPr/>
              </a:pPr>
              <a:t>‹#›</a:t>
            </a:fld>
            <a:endParaRPr lang="en-US"/>
          </a:p>
        </p:txBody>
      </p:sp>
    </p:spTree>
    <p:extLst>
      <p:ext uri="{BB962C8B-B14F-4D97-AF65-F5344CB8AC3E}">
        <p14:creationId xmlns:p14="http://schemas.microsoft.com/office/powerpoint/2010/main" val="98903976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5" name="Rectangle 13"/>
          <p:cNvSpPr>
            <a:spLocks noGrp="1" noChangeArrowheads="1"/>
          </p:cNvSpPr>
          <p:nvPr>
            <p:ph type="sldNum" sz="quarter" idx="11"/>
          </p:nvPr>
        </p:nvSpPr>
        <p:spPr>
          <a:ln/>
        </p:spPr>
        <p:txBody>
          <a:bodyPr/>
          <a:lstStyle>
            <a:lvl1pPr>
              <a:defRPr/>
            </a:lvl1pPr>
          </a:lstStyle>
          <a:p>
            <a:pPr>
              <a:defRPr/>
            </a:pPr>
            <a:fld id="{0CB14967-302F-6E48-8678-32FDE0F3292B}" type="slidenum">
              <a:rPr lang="en-US"/>
              <a:pPr>
                <a:defRPr/>
              </a:pPr>
              <a:t>‹#›</a:t>
            </a:fld>
            <a:endParaRPr lang="en-US"/>
          </a:p>
        </p:txBody>
      </p:sp>
    </p:spTree>
    <p:extLst>
      <p:ext uri="{BB962C8B-B14F-4D97-AF65-F5344CB8AC3E}">
        <p14:creationId xmlns:p14="http://schemas.microsoft.com/office/powerpoint/2010/main" val="330688825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67800" y="0"/>
            <a:ext cx="2717800" cy="64008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914400" y="0"/>
            <a:ext cx="7950200" cy="6400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2"/>
          <p:cNvSpPr>
            <a:spLocks noGrp="1" noChangeArrowheads="1"/>
          </p:cNvSpPr>
          <p:nvPr>
            <p:ph type="ftr" sz="quarter" idx="10"/>
          </p:nvPr>
        </p:nvSpPr>
        <p:spPr>
          <a:ln/>
        </p:spPr>
        <p:txBody>
          <a:bodyPr/>
          <a:lstStyle>
            <a:lvl1pPr>
              <a:defRPr/>
            </a:lvl1pPr>
          </a:lstStyle>
          <a:p>
            <a:pPr>
              <a:defRPr/>
            </a:pPr>
            <a:r>
              <a:rPr lang="en-US"/>
              <a:t>CS Agentic Development</a:t>
            </a:r>
          </a:p>
        </p:txBody>
      </p:sp>
      <p:sp>
        <p:nvSpPr>
          <p:cNvPr id="5" name="Rectangle 13"/>
          <p:cNvSpPr>
            <a:spLocks noGrp="1" noChangeArrowheads="1"/>
          </p:cNvSpPr>
          <p:nvPr>
            <p:ph type="sldNum" sz="quarter" idx="11"/>
          </p:nvPr>
        </p:nvSpPr>
        <p:spPr>
          <a:ln/>
        </p:spPr>
        <p:txBody>
          <a:bodyPr/>
          <a:lstStyle>
            <a:lvl1pPr>
              <a:defRPr/>
            </a:lvl1pPr>
          </a:lstStyle>
          <a:p>
            <a:pPr>
              <a:defRPr/>
            </a:pPr>
            <a:fld id="{EBA15ABF-0168-ED43-8055-FDAC86F85D9F}" type="slidenum">
              <a:rPr lang="en-US"/>
              <a:pPr>
                <a:defRPr/>
              </a:pPr>
              <a:t>‹#›</a:t>
            </a:fld>
            <a:endParaRPr lang="en-US"/>
          </a:p>
        </p:txBody>
      </p:sp>
    </p:spTree>
    <p:extLst>
      <p:ext uri="{BB962C8B-B14F-4D97-AF65-F5344CB8AC3E}">
        <p14:creationId xmlns:p14="http://schemas.microsoft.com/office/powerpoint/2010/main" val="1942974883"/>
      </p:ext>
    </p:extLst>
  </p:cSld>
  <p:clrMapOvr>
    <a:masterClrMapping/>
  </p:clrMapOvr>
</p:sldLayout>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slideLayout" Target="../slideLayouts/slideLayout47.xml"/><Relationship Id="rId3" Type="http://schemas.openxmlformats.org/officeDocument/2006/relationships/slideLayout" Target="../slideLayouts/slideLayout48.xml"/><Relationship Id="rId4" Type="http://schemas.openxmlformats.org/officeDocument/2006/relationships/slideLayout" Target="../slideLayouts/slideLayout49.xml"/><Relationship Id="rId5" Type="http://schemas.openxmlformats.org/officeDocument/2006/relationships/slideLayout" Target="../slideLayouts/slideLayout50.xml"/><Relationship Id="rId6" Type="http://schemas.openxmlformats.org/officeDocument/2006/relationships/slideLayout" Target="../slideLayouts/slideLayout51.xml"/><Relationship Id="rId7" Type="http://schemas.openxmlformats.org/officeDocument/2006/relationships/slideLayout" Target="../slideLayouts/slideLayout52.xml"/><Relationship Id="rId8" Type="http://schemas.openxmlformats.org/officeDocument/2006/relationships/slideLayout" Target="../slideLayouts/slideLayout53.xml"/><Relationship Id="rId9" Type="http://schemas.openxmlformats.org/officeDocument/2006/relationships/slideLayout" Target="../slideLayouts/slideLayout54.xml"/><Relationship Id="rId10" Type="http://schemas.openxmlformats.org/officeDocument/2006/relationships/slideLayout" Target="../slideLayouts/slideLayout55.xml"/><Relationship Id="rId11" Type="http://schemas.openxmlformats.org/officeDocument/2006/relationships/slideLayout" Target="../slideLayouts/slideLayout56.xml"/><Relationship Id="rId12" Type="http://schemas.openxmlformats.org/officeDocument/2006/relationships/theme" Target="../theme/theme7.xml"/></Relationships>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35" name="Rectangle 15"/>
          <p:cNvSpPr>
            <a:spLocks noChangeArrowheads="1"/>
          </p:cNvSpPr>
          <p:nvPr userDrawn="1"/>
        </p:nvSpPr>
        <p:spPr bwMode="auto">
          <a:xfrm rot="-5400000">
            <a:off x="-2501900" y="3644900"/>
            <a:ext cx="5715000" cy="711200"/>
          </a:xfrm>
          <a:prstGeom prst="rect">
            <a:avLst/>
          </a:prstGeom>
          <a:gradFill rotWithShape="0">
            <a:gsLst>
              <a:gs pos="0">
                <a:srgbClr val="DDCBE7"/>
              </a:gs>
              <a:gs pos="100000">
                <a:srgbClr val="DDCBE7">
                  <a:gamma/>
                  <a:tint val="0"/>
                  <a:invGamma/>
                </a:srgbClr>
              </a:gs>
            </a:gsLst>
            <a:lin ang="5400000" scaled="1"/>
          </a:gradFill>
          <a:ln w="9525">
            <a:noFill/>
            <a:miter lim="800000"/>
            <a:headEnd/>
            <a:tailEnd/>
          </a:ln>
          <a:effectLst/>
        </p:spPr>
        <p:txBody>
          <a:bodyPr wrap="none" anchor="ctr">
            <a:prstTxWarp prst="textNoShape">
              <a:avLst/>
            </a:prstTxWarp>
          </a:bodyPr>
          <a:lstStyle/>
          <a:p>
            <a:pPr>
              <a:defRPr/>
            </a:pPr>
            <a:endParaRPr lang="en-US" sz="1800">
              <a:latin typeface="Tahoma" pitchFamily="-84" charset="0"/>
            </a:endParaRPr>
          </a:p>
        </p:txBody>
      </p:sp>
      <p:sp>
        <p:nvSpPr>
          <p:cNvPr id="5134" name="Rectangle 14"/>
          <p:cNvSpPr>
            <a:spLocks noChangeArrowheads="1"/>
          </p:cNvSpPr>
          <p:nvPr userDrawn="1"/>
        </p:nvSpPr>
        <p:spPr bwMode="auto">
          <a:xfrm>
            <a:off x="0" y="0"/>
            <a:ext cx="12192000" cy="1143000"/>
          </a:xfrm>
          <a:prstGeom prst="rect">
            <a:avLst/>
          </a:prstGeom>
          <a:gradFill rotWithShape="0">
            <a:gsLst>
              <a:gs pos="0">
                <a:srgbClr val="9900CC"/>
              </a:gs>
              <a:gs pos="100000">
                <a:srgbClr val="FFFFFF"/>
              </a:gs>
            </a:gsLst>
            <a:lin ang="0" scaled="1"/>
          </a:gradFill>
          <a:ln w="9525">
            <a:noFill/>
            <a:miter lim="800000"/>
            <a:headEnd/>
            <a:tailEnd/>
          </a:ln>
          <a:effectLst/>
        </p:spPr>
        <p:txBody>
          <a:bodyPr wrap="none" anchor="ctr">
            <a:prstTxWarp prst="textNoShape">
              <a:avLst/>
            </a:prstTxWarp>
          </a:bodyPr>
          <a:lstStyle/>
          <a:p>
            <a:pPr>
              <a:defRPr/>
            </a:pPr>
            <a:endParaRPr lang="en-US" sz="1800">
              <a:latin typeface="Tahoma" pitchFamily="-84" charset="0"/>
            </a:endParaRPr>
          </a:p>
        </p:txBody>
      </p:sp>
      <p:sp>
        <p:nvSpPr>
          <p:cNvPr id="1028" name="Rectangle 9"/>
          <p:cNvSpPr>
            <a:spLocks noGrp="1" noChangeArrowheads="1"/>
          </p:cNvSpPr>
          <p:nvPr>
            <p:ph type="title"/>
          </p:nvPr>
        </p:nvSpPr>
        <p:spPr bwMode="auto">
          <a:xfrm>
            <a:off x="914400" y="0"/>
            <a:ext cx="10871200" cy="11430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a:t>Click to edit Master title style</a:t>
            </a:r>
          </a:p>
        </p:txBody>
      </p:sp>
      <p:sp>
        <p:nvSpPr>
          <p:cNvPr id="1029" name="Rectangle 10"/>
          <p:cNvSpPr>
            <a:spLocks noGrp="1" noChangeArrowheads="1"/>
          </p:cNvSpPr>
          <p:nvPr>
            <p:ph type="body" idx="1"/>
          </p:nvPr>
        </p:nvSpPr>
        <p:spPr bwMode="auto">
          <a:xfrm>
            <a:off x="914400" y="1524000"/>
            <a:ext cx="10871200" cy="4876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132" name="Rectangle 12"/>
          <p:cNvSpPr>
            <a:spLocks noGrp="1" noChangeArrowheads="1"/>
          </p:cNvSpPr>
          <p:nvPr>
            <p:ph type="ftr" sz="quarter" idx="3"/>
          </p:nvPr>
        </p:nvSpPr>
        <p:spPr bwMode="auto">
          <a:xfrm>
            <a:off x="0" y="6553200"/>
            <a:ext cx="4775200" cy="3048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ctr">
              <a:defRPr sz="1400">
                <a:solidFill>
                  <a:srgbClr val="D0B6DE"/>
                </a:solidFill>
                <a:latin typeface="Tahoma" pitchFamily="-84" charset="0"/>
              </a:defRPr>
            </a:lvl1pPr>
          </a:lstStyle>
          <a:p>
            <a:pPr>
              <a:defRPr/>
            </a:pPr>
            <a:r>
              <a:rPr lang="en-US"/>
              <a:t>CS Agentic Development</a:t>
            </a:r>
          </a:p>
        </p:txBody>
      </p:sp>
      <p:sp>
        <p:nvSpPr>
          <p:cNvPr id="5133" name="Rectangle 13"/>
          <p:cNvSpPr>
            <a:spLocks noGrp="1" noChangeArrowheads="1"/>
          </p:cNvSpPr>
          <p:nvPr>
            <p:ph type="sldNum" sz="quarter" idx="4"/>
          </p:nvPr>
        </p:nvSpPr>
        <p:spPr bwMode="auto">
          <a:xfrm>
            <a:off x="11582400" y="6400800"/>
            <a:ext cx="609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400">
                <a:solidFill>
                  <a:srgbClr val="D0B6DE"/>
                </a:solidFill>
                <a:latin typeface="Tahoma" pitchFamily="-84" charset="0"/>
              </a:defRPr>
            </a:lvl1pPr>
          </a:lstStyle>
          <a:p>
            <a:pPr>
              <a:defRPr/>
            </a:pPr>
            <a:fld id="{623F72AE-F2FC-1C4B-AEBE-5105C7AC914D}" type="slidenum">
              <a:rPr lang="en-US"/>
              <a:pPr>
                <a:defRPr/>
              </a:pPr>
              <a:t>‹#›</a:t>
            </a:fld>
            <a:endParaRPr lang="en-US"/>
          </a:p>
        </p:txBody>
      </p:sp>
    </p:spTree>
    <p:extLst>
      <p:ext uri="{BB962C8B-B14F-4D97-AF65-F5344CB8AC3E}">
        <p14:creationId xmlns:p14="http://schemas.microsoft.com/office/powerpoint/2010/main" val="2554884079"/>
      </p:ext>
    </p:extLst>
  </p:cSld>
  <p:clrMap bg1="lt1" tx1="dk1" bg2="lt2" tx2="dk2" accent1="accent1" accent2="accent2" accent3="accent3" accent4="accent4" accent5="accent5" accent6="accent6" hlink="hlink" folHlink="folHlink"/>
  <p:sldLayoutIdLst>
    <p:sldLayoutId id="2147483755" r:id="rId1"/>
    <p:sldLayoutId id="2147483756" r:id="rId2"/>
    <p:sldLayoutId id="2147483757" r:id="rId3"/>
    <p:sldLayoutId id="2147483758" r:id="rId4"/>
    <p:sldLayoutId id="2147483759" r:id="rId5"/>
    <p:sldLayoutId id="2147483760" r:id="rId6"/>
    <p:sldLayoutId id="2147483761" r:id="rId7"/>
    <p:sldLayoutId id="2147483762" r:id="rId8"/>
    <p:sldLayoutId id="2147483763" r:id="rId9"/>
    <p:sldLayoutId id="2147483764" r:id="rId10"/>
    <p:sldLayoutId id="2147483765" r:id="rId11"/>
  </p:sldLayoutIdLst>
  <p:hf sldNum="0" hdr="0" dt="0"/>
  <p:txStyles>
    <p:titleStyle>
      <a:lvl1pPr algn="l" rtl="0" eaLnBrk="0" fontAlgn="base" hangingPunct="0">
        <a:spcBef>
          <a:spcPct val="0"/>
        </a:spcBef>
        <a:spcAft>
          <a:spcPct val="0"/>
        </a:spcAft>
        <a:defRPr sz="4400" b="1">
          <a:solidFill>
            <a:schemeClr val="tx1"/>
          </a:solidFill>
          <a:latin typeface="+mj-lt"/>
          <a:ea typeface="ＭＳ Ｐゴシック" pitchFamily="-84" charset="-128"/>
          <a:cs typeface="ＭＳ Ｐゴシック" pitchFamily="-84" charset="-128"/>
        </a:defRPr>
      </a:lvl1pPr>
      <a:lvl2pPr algn="l" rtl="0" eaLnBrk="0" fontAlgn="base" hangingPunct="0">
        <a:spcBef>
          <a:spcPct val="0"/>
        </a:spcBef>
        <a:spcAft>
          <a:spcPct val="0"/>
        </a:spcAft>
        <a:defRPr sz="4400" b="1">
          <a:solidFill>
            <a:schemeClr val="tx1"/>
          </a:solidFill>
          <a:latin typeface="Microsoft Sans Serif" charset="0"/>
          <a:ea typeface="ＭＳ Ｐゴシック" pitchFamily="-84" charset="-128"/>
          <a:cs typeface="ＭＳ Ｐゴシック" pitchFamily="-84" charset="-128"/>
        </a:defRPr>
      </a:lvl2pPr>
      <a:lvl3pPr algn="l" rtl="0" eaLnBrk="0" fontAlgn="base" hangingPunct="0">
        <a:spcBef>
          <a:spcPct val="0"/>
        </a:spcBef>
        <a:spcAft>
          <a:spcPct val="0"/>
        </a:spcAft>
        <a:defRPr sz="4400" b="1">
          <a:solidFill>
            <a:schemeClr val="tx1"/>
          </a:solidFill>
          <a:latin typeface="Microsoft Sans Serif" charset="0"/>
          <a:ea typeface="ＭＳ Ｐゴシック" pitchFamily="-84" charset="-128"/>
          <a:cs typeface="ＭＳ Ｐゴシック" pitchFamily="-84" charset="-128"/>
        </a:defRPr>
      </a:lvl3pPr>
      <a:lvl4pPr algn="l" rtl="0" eaLnBrk="0" fontAlgn="base" hangingPunct="0">
        <a:spcBef>
          <a:spcPct val="0"/>
        </a:spcBef>
        <a:spcAft>
          <a:spcPct val="0"/>
        </a:spcAft>
        <a:defRPr sz="4400" b="1">
          <a:solidFill>
            <a:schemeClr val="tx1"/>
          </a:solidFill>
          <a:latin typeface="Microsoft Sans Serif" charset="0"/>
          <a:ea typeface="ＭＳ Ｐゴシック" pitchFamily="-84" charset="-128"/>
          <a:cs typeface="ＭＳ Ｐゴシック" pitchFamily="-84" charset="-128"/>
        </a:defRPr>
      </a:lvl4pPr>
      <a:lvl5pPr algn="l" rtl="0" eaLnBrk="0" fontAlgn="base" hangingPunct="0">
        <a:spcBef>
          <a:spcPct val="0"/>
        </a:spcBef>
        <a:spcAft>
          <a:spcPct val="0"/>
        </a:spcAft>
        <a:defRPr sz="4400" b="1">
          <a:solidFill>
            <a:schemeClr val="tx1"/>
          </a:solidFill>
          <a:latin typeface="Microsoft Sans Serif" charset="0"/>
          <a:ea typeface="ＭＳ Ｐゴシック" pitchFamily="-84" charset="-128"/>
          <a:cs typeface="ＭＳ Ｐゴシック" pitchFamily="-84" charset="-128"/>
        </a:defRPr>
      </a:lvl5pPr>
      <a:lvl6pPr marL="457200" algn="l" rtl="0" fontAlgn="base">
        <a:spcBef>
          <a:spcPct val="0"/>
        </a:spcBef>
        <a:spcAft>
          <a:spcPct val="0"/>
        </a:spcAft>
        <a:defRPr sz="4400" b="1">
          <a:solidFill>
            <a:schemeClr val="tx1"/>
          </a:solidFill>
          <a:latin typeface="Microsoft Sans Serif" charset="0"/>
        </a:defRPr>
      </a:lvl6pPr>
      <a:lvl7pPr marL="914400" algn="l" rtl="0" fontAlgn="base">
        <a:spcBef>
          <a:spcPct val="0"/>
        </a:spcBef>
        <a:spcAft>
          <a:spcPct val="0"/>
        </a:spcAft>
        <a:defRPr sz="4400" b="1">
          <a:solidFill>
            <a:schemeClr val="tx1"/>
          </a:solidFill>
          <a:latin typeface="Microsoft Sans Serif" charset="0"/>
        </a:defRPr>
      </a:lvl7pPr>
      <a:lvl8pPr marL="1371600" algn="l" rtl="0" fontAlgn="base">
        <a:spcBef>
          <a:spcPct val="0"/>
        </a:spcBef>
        <a:spcAft>
          <a:spcPct val="0"/>
        </a:spcAft>
        <a:defRPr sz="4400" b="1">
          <a:solidFill>
            <a:schemeClr val="tx1"/>
          </a:solidFill>
          <a:latin typeface="Microsoft Sans Serif" charset="0"/>
        </a:defRPr>
      </a:lvl8pPr>
      <a:lvl9pPr marL="1828800" algn="l" rtl="0" fontAlgn="base">
        <a:spcBef>
          <a:spcPct val="0"/>
        </a:spcBef>
        <a:spcAft>
          <a:spcPct val="0"/>
        </a:spcAft>
        <a:defRPr sz="4400" b="1">
          <a:solidFill>
            <a:schemeClr val="tx1"/>
          </a:solidFill>
          <a:latin typeface="Microsoft Sans Serif" charset="0"/>
        </a:defRPr>
      </a:lvl9pPr>
    </p:titleStyle>
    <p:bodyStyle>
      <a:lvl1pPr marL="342900" indent="-342900" algn="l" rtl="0" eaLnBrk="0" fontAlgn="base" hangingPunct="0">
        <a:spcBef>
          <a:spcPct val="20000"/>
        </a:spcBef>
        <a:spcAft>
          <a:spcPct val="0"/>
        </a:spcAft>
        <a:buClr>
          <a:schemeClr val="folHlink"/>
        </a:buClr>
        <a:buSzPct val="60000"/>
        <a:buFont typeface="Wingdings" pitchFamily="-106" charset="2"/>
        <a:buChar char="n"/>
        <a:defRPr sz="3200">
          <a:solidFill>
            <a:schemeClr val="tx1"/>
          </a:solidFill>
          <a:latin typeface="+mn-lt"/>
          <a:ea typeface="ＭＳ Ｐゴシック" pitchFamily="-84" charset="-128"/>
          <a:cs typeface="ＭＳ Ｐゴシック" pitchFamily="-84" charset="-128"/>
        </a:defRPr>
      </a:lvl1pPr>
      <a:lvl2pPr marL="742950" indent="-285750" algn="l" rtl="0" eaLnBrk="0" fontAlgn="base" hangingPunct="0">
        <a:spcBef>
          <a:spcPct val="20000"/>
        </a:spcBef>
        <a:spcAft>
          <a:spcPct val="0"/>
        </a:spcAft>
        <a:buClr>
          <a:schemeClr val="hlink"/>
        </a:buClr>
        <a:buSzPct val="55000"/>
        <a:buFont typeface="Wingdings" pitchFamily="-106" charset="2"/>
        <a:buChar char="n"/>
        <a:defRPr sz="2800">
          <a:solidFill>
            <a:schemeClr val="tx1"/>
          </a:solidFill>
          <a:latin typeface="+mn-lt"/>
          <a:ea typeface="ＭＳ Ｐゴシック" charset="-128"/>
        </a:defRPr>
      </a:lvl2pPr>
      <a:lvl3pPr marL="1143000" indent="-228600" algn="l" rtl="0" eaLnBrk="0" fontAlgn="base" hangingPunct="0">
        <a:spcBef>
          <a:spcPct val="20000"/>
        </a:spcBef>
        <a:spcAft>
          <a:spcPct val="0"/>
        </a:spcAft>
        <a:buClr>
          <a:schemeClr val="folHlink"/>
        </a:buClr>
        <a:buSzPct val="50000"/>
        <a:buFont typeface="Wingdings" pitchFamily="-106" charset="2"/>
        <a:buChar char="n"/>
        <a:defRPr sz="2400">
          <a:solidFill>
            <a:schemeClr val="tx1"/>
          </a:solidFill>
          <a:latin typeface="+mn-lt"/>
          <a:ea typeface="ＭＳ Ｐゴシック" charset="-128"/>
        </a:defRPr>
      </a:lvl3pPr>
      <a:lvl4pPr marL="1600200" indent="-228600" algn="l" rtl="0" eaLnBrk="0" fontAlgn="base" hangingPunct="0">
        <a:spcBef>
          <a:spcPct val="20000"/>
        </a:spcBef>
        <a:spcAft>
          <a:spcPct val="0"/>
        </a:spcAft>
        <a:buClr>
          <a:schemeClr val="accent2"/>
        </a:buClr>
        <a:buSzPct val="55000"/>
        <a:buFont typeface="Wingdings" pitchFamily="-106" charset="2"/>
        <a:buChar char="n"/>
        <a:defRPr sz="2000">
          <a:solidFill>
            <a:schemeClr val="tx1"/>
          </a:solidFill>
          <a:latin typeface="+mn-lt"/>
          <a:ea typeface="ＭＳ Ｐゴシック" charset="-128"/>
        </a:defRPr>
      </a:lvl4pPr>
      <a:lvl5pPr marL="2057400" indent="-228600" algn="l" rtl="0" eaLnBrk="0" fontAlgn="base" hangingPunct="0">
        <a:spcBef>
          <a:spcPct val="20000"/>
        </a:spcBef>
        <a:spcAft>
          <a:spcPct val="0"/>
        </a:spcAft>
        <a:buClr>
          <a:schemeClr val="accent1"/>
        </a:buClr>
        <a:buSzPct val="50000"/>
        <a:buFont typeface="Wingdings" pitchFamily="-106" charset="2"/>
        <a:buChar char="n"/>
        <a:defRPr sz="2000">
          <a:solidFill>
            <a:schemeClr val="tx1"/>
          </a:solidFill>
          <a:latin typeface="+mn-lt"/>
          <a:ea typeface="ＭＳ Ｐゴシック" charset="-128"/>
        </a:defRPr>
      </a:lvl5pPr>
      <a:lvl6pPr marL="2514600" indent="-228600" algn="l" rtl="0" fontAlgn="base">
        <a:spcBef>
          <a:spcPct val="20000"/>
        </a:spcBef>
        <a:spcAft>
          <a:spcPct val="0"/>
        </a:spcAft>
        <a:buClr>
          <a:schemeClr val="accent1"/>
        </a:buClr>
        <a:buSzPct val="50000"/>
        <a:buFont typeface="Wingdings" charset="2"/>
        <a:buChar char="n"/>
        <a:defRPr sz="2000">
          <a:solidFill>
            <a:schemeClr val="tx1"/>
          </a:solidFill>
          <a:latin typeface="+mn-lt"/>
          <a:ea typeface="ＭＳ Ｐゴシック" charset="-128"/>
        </a:defRPr>
      </a:lvl6pPr>
      <a:lvl7pPr marL="2971800" indent="-228600" algn="l" rtl="0" fontAlgn="base">
        <a:spcBef>
          <a:spcPct val="20000"/>
        </a:spcBef>
        <a:spcAft>
          <a:spcPct val="0"/>
        </a:spcAft>
        <a:buClr>
          <a:schemeClr val="accent1"/>
        </a:buClr>
        <a:buSzPct val="50000"/>
        <a:buFont typeface="Wingdings" charset="2"/>
        <a:buChar char="n"/>
        <a:defRPr sz="2000">
          <a:solidFill>
            <a:schemeClr val="tx1"/>
          </a:solidFill>
          <a:latin typeface="+mn-lt"/>
          <a:ea typeface="ＭＳ Ｐゴシック" charset="-128"/>
        </a:defRPr>
      </a:lvl7pPr>
      <a:lvl8pPr marL="3429000" indent="-228600" algn="l" rtl="0" fontAlgn="base">
        <a:spcBef>
          <a:spcPct val="20000"/>
        </a:spcBef>
        <a:spcAft>
          <a:spcPct val="0"/>
        </a:spcAft>
        <a:buClr>
          <a:schemeClr val="accent1"/>
        </a:buClr>
        <a:buSzPct val="50000"/>
        <a:buFont typeface="Wingdings" charset="2"/>
        <a:buChar char="n"/>
        <a:defRPr sz="2000">
          <a:solidFill>
            <a:schemeClr val="tx1"/>
          </a:solidFill>
          <a:latin typeface="+mn-lt"/>
          <a:ea typeface="ＭＳ Ｐゴシック" charset="-128"/>
        </a:defRPr>
      </a:lvl8pPr>
      <a:lvl9pPr marL="3886200" indent="-228600" algn="l" rtl="0" fontAlgn="base">
        <a:spcBef>
          <a:spcPct val="20000"/>
        </a:spcBef>
        <a:spcAft>
          <a:spcPct val="0"/>
        </a:spcAft>
        <a:buClr>
          <a:schemeClr val="accent1"/>
        </a:buClr>
        <a:buSzPct val="50000"/>
        <a:buFont typeface="Wingdings" charset="2"/>
        <a:buChar char="n"/>
        <a:defRPr sz="2000">
          <a:solidFill>
            <a:schemeClr val="tx1"/>
          </a:solidFill>
          <a:latin typeface="+mn-lt"/>
          <a:ea typeface="ＭＳ Ｐゴシック" charset="-128"/>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1.xml"/><Relationship Id="rId3" Type="http://schemas.openxmlformats.org/officeDocument/2006/relationships/image" Target="../media/image1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70473" y="1295401"/>
            <a:ext cx="10451054" cy="1737360"/>
          </a:xfrm>
        </p:spPr>
        <p:txBody>
          <a:bodyPr/>
          <a:lstStyle/>
          <a:p>
            <a:r>
              <a:rPr lang="en-US" dirty="0"/>
              <a:t>Intent, Specifications, Realizations, and the Judgments That Connect Them</a:t>
            </a:r>
          </a:p>
        </p:txBody>
      </p:sp>
      <p:sp>
        <p:nvSpPr>
          <p:cNvPr id="4" name="Footer Placeholder 3"/>
          <p:cNvSpPr>
            <a:spLocks noGrp="1"/>
          </p:cNvSpPr>
          <p:nvPr>
            <p:ph type="ftr" sz="quarter" idx="11"/>
          </p:nvPr>
        </p:nvSpPr>
        <p:spPr/>
        <p:txBody>
          <a:bodyPr/>
          <a:lstStyle/>
          <a:p>
            <a:r>
              <a:rPr dirty="0"/>
              <a:t>ASE Principles Module · Lecture 01</a:t>
            </a:r>
          </a:p>
        </p:txBody>
      </p:sp>
      <p:cxnSp>
        <p:nvCxnSpPr>
          <p:cNvPr id="5" name="Connector 4"/>
          <p:cNvCxnSpPr/>
          <p:nvPr/>
        </p:nvCxnSpPr>
        <p:spPr>
          <a:xfrm>
            <a:off x="1920240" y="3429000"/>
            <a:ext cx="8321040" cy="0"/>
          </a:xfrm>
          <a:prstGeom prst="line">
            <a:avLst/>
          </a:prstGeom>
          <a:ln w="28575">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920240" y="4114800"/>
            <a:ext cx="8321040" cy="0"/>
          </a:xfrm>
          <a:prstGeom prst="line">
            <a:avLst/>
          </a:prstGeom>
          <a:ln w="28575">
            <a:solidFill>
              <a:schemeClr val="accent1"/>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430767" y="3570351"/>
            <a:ext cx="9079454" cy="393954"/>
          </a:xfrm>
          <a:prstGeom prst="rect">
            <a:avLst/>
          </a:prstGeom>
          <a:noFill/>
        </p:spPr>
        <p:txBody>
          <a:bodyPr wrap="square" lIns="45720" tIns="27432" rIns="45720" bIns="27432" anchor="ctr">
            <a:spAutoFit/>
          </a:bodyPr>
          <a:lstStyle/>
          <a:p>
            <a:pPr algn="ctr"/>
            <a:r>
              <a:rPr sz="2200" dirty="0">
                <a:latin typeface="Tahoma"/>
              </a:rPr>
              <a:t>Agentic Software Engineering — </a:t>
            </a:r>
            <a:r>
              <a:rPr lang="en-US" sz="2200" dirty="0">
                <a:latin typeface="Tahoma"/>
              </a:rPr>
              <a:t>ASE Principles</a:t>
            </a:r>
            <a:r>
              <a:rPr sz="2200" dirty="0">
                <a:latin typeface="Tahoma"/>
              </a:rPr>
              <a:t> Module, Lecture 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353AD-E3B4-5F11-87CE-19A60B0F411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A7B829E-4A53-CCF2-765C-E47BDC8D324C}"/>
              </a:ext>
            </a:extLst>
          </p:cNvPr>
          <p:cNvSpPr>
            <a:spLocks noGrp="1"/>
          </p:cNvSpPr>
          <p:nvPr>
            <p:ph type="title"/>
          </p:nvPr>
        </p:nvSpPr>
        <p:spPr/>
        <p:txBody>
          <a:bodyPr/>
          <a:lstStyle/>
          <a:p>
            <a:r>
              <a:rPr lang="en-US" sz="3200" dirty="0"/>
              <a:t>Motivation</a:t>
            </a:r>
          </a:p>
        </p:txBody>
      </p:sp>
      <p:sp>
        <p:nvSpPr>
          <p:cNvPr id="3" name="Footer Placeholder 2">
            <a:extLst>
              <a:ext uri="{FF2B5EF4-FFF2-40B4-BE49-F238E27FC236}">
                <a16:creationId xmlns:a16="http://schemas.microsoft.com/office/drawing/2014/main" id="{50A7E0D4-0F30-B1F4-C113-8C53F20244D6}"/>
              </a:ext>
            </a:extLst>
          </p:cNvPr>
          <p:cNvSpPr>
            <a:spLocks noGrp="1"/>
          </p:cNvSpPr>
          <p:nvPr>
            <p:ph type="ftr" sz="quarter" idx="10"/>
          </p:nvPr>
        </p:nvSpPr>
        <p:spPr/>
        <p:txBody>
          <a:bodyPr/>
          <a:lstStyle/>
          <a:p>
            <a:pPr>
              <a:defRPr/>
            </a:pPr>
            <a:r>
              <a:rPr lang="en-US"/>
              <a:t>ASE Principles Module · Lecture 01</a:t>
            </a:r>
          </a:p>
        </p:txBody>
      </p:sp>
      <p:sp>
        <p:nvSpPr>
          <p:cNvPr id="7" name="TextBox 6">
            <a:extLst>
              <a:ext uri="{FF2B5EF4-FFF2-40B4-BE49-F238E27FC236}">
                <a16:creationId xmlns:a16="http://schemas.microsoft.com/office/drawing/2014/main" id="{31757673-6078-2EA6-EDF7-DAF3D2045FCD}"/>
              </a:ext>
            </a:extLst>
          </p:cNvPr>
          <p:cNvSpPr txBox="1"/>
          <p:nvPr/>
        </p:nvSpPr>
        <p:spPr>
          <a:xfrm>
            <a:off x="6590998" y="4343986"/>
            <a:ext cx="5194602" cy="1477328"/>
          </a:xfrm>
          <a:prstGeom prst="rect">
            <a:avLst/>
          </a:prstGeom>
          <a:noFill/>
          <a:ln w="28575">
            <a:solidFill>
              <a:schemeClr val="tx1"/>
            </a:solidFill>
          </a:ln>
        </p:spPr>
        <p:txBody>
          <a:bodyPr wrap="square" rtlCol="0">
            <a:spAutoFit/>
          </a:bodyPr>
          <a:lstStyle/>
          <a:p>
            <a:r>
              <a:rPr sz="1400" b="1" i="0"/>
              <a:t>The question this lecture begins to answer:</a:t>
            </a:r>
          </a:p>
          <a:p>
            <a:pPr>
              <a:spcAft>
                <a:spcPts val="0"/>
              </a:spcAft>
            </a:pPr>
            <a:r>
              <a:rPr sz="1400" b="0" i="0"/>
              <a:t/>
            </a:r>
          </a:p>
          <a:p>
            <a:pPr>
              <a:spcAft>
                <a:spcPts val="0"/>
              </a:spcAft>
            </a:pPr>
            <a:r>
              <a:rPr sz="1400" b="0" i="0"/>
              <a:t>What basic principles can guide us in engineering the development and assurance context?</a:t>
            </a:r>
          </a:p>
        </p:txBody>
      </p:sp>
      <p:pic>
        <p:nvPicPr>
          <p:cNvPr id="8" name="Picture 7">
            <a:extLst>
              <a:ext uri="{FF2B5EF4-FFF2-40B4-BE49-F238E27FC236}">
                <a16:creationId xmlns:a16="http://schemas.microsoft.com/office/drawing/2014/main" id="{6CFCD1F8-7E68-33A2-3BE0-9561F3013A77}"/>
              </a:ext>
            </a:extLst>
          </p:cNvPr>
          <p:cNvPicPr>
            <a:picLocks noChangeAspect="1"/>
          </p:cNvPicPr>
          <p:nvPr/>
        </p:nvPicPr>
        <p:blipFill>
          <a:blip r:embed="rId3"/>
          <a:stretch>
            <a:fillRect/>
          </a:stretch>
        </p:blipFill>
        <p:spPr>
          <a:xfrm>
            <a:off x="895179" y="1385158"/>
            <a:ext cx="5945460" cy="2518997"/>
          </a:xfrm>
          <a:prstGeom prst="rect">
            <a:avLst/>
          </a:prstGeom>
        </p:spPr>
      </p:pic>
      <p:sp>
        <p:nvSpPr>
          <p:cNvPr id="9" name="TextBox 8">
            <a:extLst>
              <a:ext uri="{FF2B5EF4-FFF2-40B4-BE49-F238E27FC236}">
                <a16:creationId xmlns:a16="http://schemas.microsoft.com/office/drawing/2014/main" id="{63CBF88E-5E79-8062-26F4-A4DBC30CD1A4}"/>
              </a:ext>
            </a:extLst>
          </p:cNvPr>
          <p:cNvSpPr txBox="1"/>
          <p:nvPr/>
        </p:nvSpPr>
        <p:spPr>
          <a:xfrm>
            <a:off x="838663" y="4521875"/>
            <a:ext cx="5511337" cy="2031325"/>
          </a:xfrm>
          <a:prstGeom prst="rect">
            <a:avLst/>
          </a:prstGeom>
          <a:noFill/>
        </p:spPr>
        <p:txBody>
          <a:bodyPr wrap="square" rtlCol="0">
            <a:spAutoFit/>
          </a:bodyPr>
          <a:lstStyle/>
          <a:p>
            <a:r>
              <a:rPr sz="1600" b="0" i="0"/>
              <a:t>Human effort will shift</a:t>
            </a:r>
          </a:p>
          <a:p>
            <a:pPr>
              <a:spcAft>
                <a:spcPts val="0"/>
              </a:spcAft>
            </a:pPr>
            <a:r>
              <a:rPr sz="1600" b="0" i="0"/>
              <a:t>…from </a:t>
            </a:r>
            <a:r>
              <a:rPr sz="1600" b="1" i="0"/>
              <a:t>engineering the code</a:t>
            </a:r>
          </a:p>
          <a:p>
            <a:pPr>
              <a:spcAft>
                <a:spcPts val="0"/>
              </a:spcAft>
            </a:pPr>
            <a:r>
              <a:rPr sz="1600" b="0" i="0"/>
              <a:t>…to </a:t>
            </a:r>
            <a:r>
              <a:rPr sz="1600" b="1" i="0"/>
              <a:t>engineering and managing the development and assurance context</a:t>
            </a:r>
          </a:p>
          <a:p>
            <a:pPr>
              <a:spcAft>
                <a:spcPts val="0"/>
              </a:spcAft>
            </a:pPr>
            <a:r>
              <a:rPr sz="1600" b="0" i="0"/>
              <a:t>…to </a:t>
            </a:r>
            <a:r>
              <a:rPr sz="1600" b="1" i="0"/>
              <a:t>engineering layered, composable abstractions</a:t>
            </a:r>
          </a:p>
          <a:p>
            <a:pPr>
              <a:spcAft>
                <a:spcPts val="0"/>
              </a:spcAft>
            </a:pPr>
            <a:r>
              <a:rPr sz="1600" b="0" i="0"/>
              <a:t>…that </a:t>
            </a:r>
            <a:r>
              <a:rPr sz="1600" b="1" i="0"/>
              <a:t>provide direction to agents but also explainability to humans</a:t>
            </a:r>
          </a:p>
        </p:txBody>
      </p:sp>
      <p:sp>
        <p:nvSpPr>
          <p:cNvPr id="2" name="Text Box 151">
            <a:extLst>
              <a:ext uri="{FF2B5EF4-FFF2-40B4-BE49-F238E27FC236}">
                <a16:creationId xmlns:a16="http://schemas.microsoft.com/office/drawing/2014/main" id="{154A665A-AC53-48EC-5689-6B51D8CB8068}"/>
              </a:ext>
            </a:extLst>
          </p:cNvPr>
          <p:cNvSpPr txBox="1">
            <a:spLocks noChangeArrowheads="1"/>
          </p:cNvSpPr>
          <p:nvPr/>
        </p:nvSpPr>
        <p:spPr bwMode="auto">
          <a:xfrm>
            <a:off x="621175" y="4146313"/>
            <a:ext cx="4512931" cy="338554"/>
          </a:xfrm>
          <a:prstGeom prst="rect">
            <a:avLst/>
          </a:prstGeom>
          <a:gradFill rotWithShape="0">
            <a:gsLst>
              <a:gs pos="0">
                <a:schemeClr val="accent2"/>
              </a:gs>
              <a:gs pos="100000">
                <a:srgbClr val="FFFFFF"/>
              </a:gs>
            </a:gsLst>
            <a:lin ang="0" scaled="1"/>
          </a:gradFill>
          <a:ln w="38100">
            <a:noFill/>
            <a:miter lim="800000"/>
            <a:headEnd/>
            <a:tailEnd/>
          </a:ln>
        </p:spPr>
        <p:txBody>
          <a:bodyPr wrap="square" anchor="ctr">
            <a:prstTxWarp prst="textNoShape">
              <a:avLst/>
            </a:prstTxWarp>
            <a:spAutoFit/>
          </a:bodyPr>
          <a:lstStyle/>
          <a:p>
            <a:r>
              <a:rPr lang="en-US" sz="1600" dirty="0"/>
              <a:t>As we move into the future..</a:t>
            </a:r>
          </a:p>
        </p:txBody>
      </p:sp>
    </p:spTree>
    <p:extLst>
      <p:ext uri="{BB962C8B-B14F-4D97-AF65-F5344CB8AC3E}">
        <p14:creationId xmlns:p14="http://schemas.microsoft.com/office/powerpoint/2010/main" val="195977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build="p"/>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Purpose of this lecture</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3</a:t>
            </a:r>
          </a:p>
        </p:txBody>
      </p:sp>
      <p:sp>
        <p:nvSpPr>
          <p:cNvPr id="5" name="Rectangle 4"/>
          <p:cNvSpPr/>
          <p:nvPr/>
        </p:nvSpPr>
        <p:spPr>
          <a:xfrm>
            <a:off x="777240" y="1188720"/>
            <a:ext cx="10972800" cy="566928"/>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18288" bIns="18288"/>
          <a:lstStyle/>
          <a:p>
            <a:pPr algn="l">
              <a:spcAft>
                <a:spcPts val="0"/>
              </a:spcAft>
            </a:pPr>
            <a:r>
              <a:rPr sz="1400" b="0" i="0">
                <a:solidFill>
                  <a:srgbClr val="000000"/>
                </a:solidFill>
              </a:rPr>
              <a:t>A development process is managed when the truth of five judgments can be stated at any commit, with evidence, by someone who did not write the code.</a:t>
            </a:r>
          </a:p>
        </p:txBody>
      </p:sp>
      <p:sp>
        <p:nvSpPr>
          <p:cNvPr id="6" name="TextBox 5"/>
          <p:cNvSpPr txBox="1"/>
          <p:nvPr/>
        </p:nvSpPr>
        <p:spPr>
          <a:xfrm>
            <a:off x="777240" y="1920240"/>
            <a:ext cx="5120640" cy="3566160"/>
          </a:xfrm>
          <a:prstGeom prst="rect">
            <a:avLst/>
          </a:prstGeom>
          <a:noFill/>
        </p:spPr>
        <p:txBody>
          <a:bodyPr wrap="square" lIns="45720" rIns="45720" tIns="27432" bIns="27432">
            <a:spAutoFit/>
          </a:bodyPr>
          <a:lstStyle/>
          <a:p>
            <a:pPr>
              <a:spcAft>
                <a:spcPts val="600"/>
              </a:spcAft>
            </a:pPr>
            <a:r>
              <a:rPr sz="1600" b="1" i="0">
                <a:solidFill>
                  <a:srgbClr val="990099"/>
                </a:solidFill>
              </a:rPr>
              <a:t>Three entities</a:t>
            </a:r>
          </a:p>
          <a:p>
            <a:pPr marL="182880" indent="-182880">
              <a:spcAft>
                <a:spcPts val="500"/>
              </a:spcAft>
              <a:buChar char="•"/>
            </a:pPr>
            <a:r>
              <a:rPr sz="1400" b="1" i="0"/>
              <a:t>Intent</a:t>
            </a:r>
            <a:r>
              <a:rPr sz="1400" b="0" i="0"/>
              <a:t> — what the stakeholders want. Lives in their minds; no file.</a:t>
            </a:r>
          </a:p>
          <a:p>
            <a:pPr marL="182880" indent="-182880">
              <a:spcAft>
                <a:spcPts val="500"/>
              </a:spcAft>
              <a:buChar char="•"/>
            </a:pPr>
            <a:r>
              <a:rPr sz="1400" b="1" i="0"/>
              <a:t>Specifications</a:t>
            </a:r>
            <a:r>
              <a:rPr sz="1400" b="0" i="0"/>
              <a:t> — what the system must do, as identified clauses.</a:t>
            </a:r>
          </a:p>
          <a:p>
            <a:pPr marL="182880" indent="-182880">
              <a:spcAft>
                <a:spcPts val="500"/>
              </a:spcAft>
              <a:buChar char="•"/>
            </a:pPr>
            <a:r>
              <a:rPr sz="1400" b="1" i="0"/>
              <a:t>Realization</a:t>
            </a:r>
            <a:r>
              <a:rPr sz="1400" b="0" i="0"/>
              <a:t> — the code and the tests built to satisfy them.</a:t>
            </a:r>
          </a:p>
        </p:txBody>
      </p:sp>
      <p:sp>
        <p:nvSpPr>
          <p:cNvPr id="7" name="TextBox 6"/>
          <p:cNvSpPr txBox="1"/>
          <p:nvPr/>
        </p:nvSpPr>
        <p:spPr>
          <a:xfrm>
            <a:off x="6126480" y="1920240"/>
            <a:ext cx="5669280" cy="3566160"/>
          </a:xfrm>
          <a:prstGeom prst="rect">
            <a:avLst/>
          </a:prstGeom>
          <a:noFill/>
        </p:spPr>
        <p:txBody>
          <a:bodyPr wrap="square" lIns="45720" rIns="45720" tIns="27432" bIns="27432">
            <a:spAutoFit/>
          </a:bodyPr>
          <a:lstStyle/>
          <a:p>
            <a:pPr>
              <a:spcAft>
                <a:spcPts val="600"/>
              </a:spcAft>
            </a:pPr>
            <a:r>
              <a:rPr sz="1600" b="1" i="0">
                <a:solidFill>
                  <a:srgbClr val="990099"/>
                </a:solidFill>
              </a:rPr>
              <a:t>Five judgments, each a claim tracked commit by commit</a:t>
            </a:r>
          </a:p>
          <a:p>
            <a:pPr marL="182880" indent="-182880">
              <a:spcAft>
                <a:spcPts val="500"/>
              </a:spcAft>
              <a:buChar char="•"/>
            </a:pPr>
            <a:r>
              <a:rPr sz="1400" b="1" i="0"/>
              <a:t>SQ</a:t>
            </a:r>
            <a:r>
              <a:rPr sz="1400" b="0" i="0"/>
              <a:t>  are the specifications well-formed, unambiguous, consistent, complete for their level?</a:t>
            </a:r>
          </a:p>
          <a:p>
            <a:pPr marL="182880" indent="-182880">
              <a:spcAft>
                <a:spcPts val="500"/>
              </a:spcAft>
              <a:buChar char="•"/>
            </a:pPr>
            <a:r>
              <a:rPr sz="1400" b="1" i="0"/>
              <a:t>RQ</a:t>
            </a:r>
            <a:r>
              <a:rPr sz="1400" b="0" i="0"/>
              <a:t>  does the realization lint, collect, and follow the test discipline?</a:t>
            </a:r>
          </a:p>
          <a:p>
            <a:pPr marL="182880" indent="-182880">
              <a:spcAft>
                <a:spcPts val="500"/>
              </a:spcAft>
              <a:buChar char="•"/>
            </a:pPr>
            <a:r>
              <a:rPr sz="1400" b="1" i="0"/>
              <a:t>CONF</a:t>
            </a:r>
            <a:r>
              <a:rPr sz="1400" b="0" i="0"/>
              <a:t>  does the realization satisfy every clause of every specification?</a:t>
            </a:r>
          </a:p>
          <a:p>
            <a:pPr marL="182880" indent="-182880">
              <a:spcAft>
                <a:spcPts val="500"/>
              </a:spcAft>
              <a:buChar char="•"/>
            </a:pPr>
            <a:r>
              <a:rPr sz="1400" b="1" i="0"/>
              <a:t>VAL</a:t>
            </a:r>
            <a:r>
              <a:rPr sz="1400" b="0" i="0"/>
              <a:t>  do the specifications describe what the stakeholders intend?</a:t>
            </a:r>
          </a:p>
          <a:p>
            <a:pPr marL="182880" indent="-182880">
              <a:spcAft>
                <a:spcPts val="500"/>
              </a:spcAft>
              <a:buChar char="•"/>
            </a:pPr>
            <a:r>
              <a:rPr sz="1400" b="1" i="0"/>
              <a:t>TR</a:t>
            </a:r>
            <a:r>
              <a:rPr sz="1400" b="0" i="0"/>
              <a:t>  does every clause carry an identifier, and does every link resolve?</a:t>
            </a:r>
          </a:p>
        </p:txBody>
      </p:sp>
      <p:sp>
        <p:nvSpPr>
          <p:cNvPr id="8" name="TextBox 7"/>
          <p:cNvSpPr txBox="1"/>
          <p:nvPr/>
        </p:nvSpPr>
        <p:spPr>
          <a:xfrm>
            <a:off x="777240" y="4846320"/>
            <a:ext cx="10972800" cy="1371600"/>
          </a:xfrm>
          <a:prstGeom prst="rect">
            <a:avLst/>
          </a:prstGeom>
          <a:noFill/>
        </p:spPr>
        <p:txBody>
          <a:bodyPr wrap="square" lIns="45720" rIns="45720" tIns="27432" bIns="27432">
            <a:spAutoFit/>
          </a:bodyPr>
          <a:lstStyle/>
          <a:p>
            <a:pPr>
              <a:spcAft>
                <a:spcPts val="600"/>
              </a:spcAft>
            </a:pPr>
            <a:r>
              <a:rPr sz="1300" b="1" i="0"/>
              <a:t>Records that make the state visible: </a:t>
            </a:r>
            <a:r>
              <a:rPr sz="1300" b="0" i="0"/>
              <a:t>the ledger (which judgments hold, on what evidence), the development log (what each task did), and the reports each judgment produces.</a:t>
            </a:r>
          </a:p>
          <a:p>
            <a:pPr>
              <a:spcAft>
                <a:spcPts val="600"/>
              </a:spcAft>
            </a:pPr>
            <a:r>
              <a:rPr sz="1300" b="1" i="0"/>
              <a:t>Independent of the kind of system. </a:t>
            </a:r>
            <a:r>
              <a:rPr sz="1300" b="0" i="0"/>
              <a:t>What varies between domains is the forms of specification and the verification methods; later lectures give the details and guidelines.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Where human effort goes when agents write the code</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4</a:t>
            </a:r>
          </a:p>
        </p:txBody>
      </p:sp>
      <p:sp>
        <p:nvSpPr>
          <p:cNvPr id="5" name="Rectangle 4"/>
          <p:cNvSpPr/>
          <p:nvPr/>
        </p:nvSpPr>
        <p:spPr>
          <a:xfrm>
            <a:off x="777240" y="1325880"/>
            <a:ext cx="3108960" cy="68580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300" b="1" i="0">
                <a:solidFill>
                  <a:srgbClr val="000000"/>
                </a:solidFill>
              </a:rPr>
              <a:t>from engineering the code</a:t>
            </a:r>
          </a:p>
        </p:txBody>
      </p:sp>
      <p:sp>
        <p:nvSpPr>
          <p:cNvPr id="6" name="TextBox 5"/>
          <p:cNvSpPr txBox="1"/>
          <p:nvPr/>
        </p:nvSpPr>
        <p:spPr>
          <a:xfrm>
            <a:off x="777240" y="2103120"/>
            <a:ext cx="3108960" cy="1371600"/>
          </a:xfrm>
          <a:prstGeom prst="rect">
            <a:avLst/>
          </a:prstGeom>
          <a:noFill/>
        </p:spPr>
        <p:txBody>
          <a:bodyPr wrap="square" lIns="45720" rIns="45720">
            <a:spAutoFit/>
          </a:bodyPr>
          <a:lstStyle/>
          <a:p>
            <a:pPr>
              <a:spcAft>
                <a:spcPts val="400"/>
              </a:spcAft>
            </a:pPr>
            <a:r>
              <a:rPr sz="1200" b="0" i="0"/>
              <a:t>An agent writes the code quickly and in volume. The person cannot read all of it; their effort must go where an agent cannot replace it.</a:t>
            </a:r>
          </a:p>
        </p:txBody>
      </p:sp>
      <p:cxnSp>
        <p:nvCxnSpPr>
          <p:cNvPr id="7" name="Connector 6"/>
          <p:cNvCxnSpPr/>
          <p:nvPr/>
        </p:nvCxnSpPr>
        <p:spPr>
          <a:xfrm>
            <a:off x="3931920" y="1664208"/>
            <a:ext cx="5486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4526280" y="1325880"/>
            <a:ext cx="3108960" cy="68580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300" b="1" i="0">
                <a:solidFill>
                  <a:srgbClr val="000000"/>
                </a:solidFill>
              </a:rPr>
              <a:t>to engineering and managing the development and assurance context</a:t>
            </a:r>
          </a:p>
        </p:txBody>
      </p:sp>
      <p:sp>
        <p:nvSpPr>
          <p:cNvPr id="9" name="TextBox 8"/>
          <p:cNvSpPr txBox="1"/>
          <p:nvPr/>
        </p:nvSpPr>
        <p:spPr>
          <a:xfrm>
            <a:off x="4526280" y="2103120"/>
            <a:ext cx="3108960" cy="1371600"/>
          </a:xfrm>
          <a:prstGeom prst="rect">
            <a:avLst/>
          </a:prstGeom>
          <a:noFill/>
        </p:spPr>
        <p:txBody>
          <a:bodyPr wrap="square" lIns="45720" rIns="45720">
            <a:spAutoFit/>
          </a:bodyPr>
          <a:lstStyle/>
          <a:p>
            <a:pPr>
              <a:spcAft>
                <a:spcPts val="400"/>
              </a:spcAft>
            </a:pPr>
            <a:r>
              <a:rPr sz="1200" b="0" i="0"/>
              <a:t>What the agent reads and what the person reads back: specifications, rules, verification methods, evidence, records of state. Engineered artifacts with their own quality criteria.</a:t>
            </a:r>
          </a:p>
        </p:txBody>
      </p:sp>
      <p:cxnSp>
        <p:nvCxnSpPr>
          <p:cNvPr id="10" name="Connector 9"/>
          <p:cNvCxnSpPr/>
          <p:nvPr/>
        </p:nvCxnSpPr>
        <p:spPr>
          <a:xfrm>
            <a:off x="7680960" y="1664208"/>
            <a:ext cx="5486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275320" y="1325880"/>
            <a:ext cx="3108960" cy="685800"/>
          </a:xfrm>
          <a:prstGeom prst="rect">
            <a:avLst/>
          </a:prstGeom>
          <a:solidFill>
            <a:srgbClr val="6E1EC6"/>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300" b="1" i="0">
                <a:solidFill>
                  <a:srgbClr val="FFFFFF"/>
                </a:solidFill>
              </a:rPr>
              <a:t>to engineering layered, composable abstractions</a:t>
            </a:r>
          </a:p>
        </p:txBody>
      </p:sp>
      <p:sp>
        <p:nvSpPr>
          <p:cNvPr id="12" name="TextBox 11"/>
          <p:cNvSpPr txBox="1"/>
          <p:nvPr/>
        </p:nvSpPr>
        <p:spPr>
          <a:xfrm>
            <a:off x="8275320" y="2103120"/>
            <a:ext cx="3108960" cy="1371600"/>
          </a:xfrm>
          <a:prstGeom prst="rect">
            <a:avLst/>
          </a:prstGeom>
          <a:noFill/>
        </p:spPr>
        <p:txBody>
          <a:bodyPr wrap="square" lIns="45720" rIns="45720">
            <a:spAutoFit/>
          </a:bodyPr>
          <a:lstStyle/>
          <a:p>
            <a:pPr>
              <a:spcAft>
                <a:spcPts val="400"/>
              </a:spcAft>
            </a:pPr>
            <a:r>
              <a:rPr sz="1200" b="0" i="0"/>
              <a:t>Each layer summarizes the one below; rules say how each layer is checked against the next. Direction for agents; explainability for people.</a:t>
            </a:r>
          </a:p>
        </p:txBody>
      </p:sp>
      <p:sp>
        <p:nvSpPr>
          <p:cNvPr id="13" name="Rectangle 12"/>
          <p:cNvSpPr/>
          <p:nvPr/>
        </p:nvSpPr>
        <p:spPr>
          <a:xfrm>
            <a:off x="3017520" y="3703320"/>
            <a:ext cx="4206240" cy="475488"/>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200" b="1" i="0">
                <a:solidFill>
                  <a:srgbClr val="000000"/>
                </a:solidFill>
              </a:rPr>
              <a:t>Concept of operations</a:t>
            </a:r>
          </a:p>
          <a:p>
            <a:pPr algn="ctr">
              <a:spcAft>
                <a:spcPts val="200"/>
              </a:spcAft>
            </a:pPr>
            <a:r>
              <a:rPr sz="1000" b="0" i="0">
                <a:solidFill>
                  <a:srgbClr val="595959"/>
                </a:solidFill>
              </a:rPr>
              <a:t>purpose, scope, user categories, stories</a:t>
            </a:r>
          </a:p>
        </p:txBody>
      </p:sp>
      <p:sp>
        <p:nvSpPr>
          <p:cNvPr id="14" name="Rectangle 13"/>
          <p:cNvSpPr/>
          <p:nvPr/>
        </p:nvSpPr>
        <p:spPr>
          <a:xfrm>
            <a:off x="3017520" y="4270248"/>
            <a:ext cx="4206240" cy="475488"/>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200" b="1" i="0">
                <a:solidFill>
                  <a:srgbClr val="000000"/>
                </a:solidFill>
              </a:rPr>
              <a:t>Requirements</a:t>
            </a:r>
          </a:p>
          <a:p>
            <a:pPr algn="ctr">
              <a:spcAft>
                <a:spcPts val="200"/>
              </a:spcAft>
            </a:pPr>
            <a:r>
              <a:rPr sz="1000" b="0" i="0">
                <a:solidFill>
                  <a:srgbClr val="595959"/>
                </a:solidFill>
              </a:rPr>
              <a:t>identified clauses with a method</a:t>
            </a:r>
          </a:p>
        </p:txBody>
      </p:sp>
      <p:sp>
        <p:nvSpPr>
          <p:cNvPr id="15" name="Rectangle 14"/>
          <p:cNvSpPr/>
          <p:nvPr/>
        </p:nvSpPr>
        <p:spPr>
          <a:xfrm>
            <a:off x="3017520" y="4837176"/>
            <a:ext cx="4206240" cy="475488"/>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200" b="1" i="0">
                <a:solidFill>
                  <a:srgbClr val="000000"/>
                </a:solidFill>
              </a:rPr>
              <a:t>Contracts and tests</a:t>
            </a:r>
          </a:p>
          <a:p>
            <a:pPr algn="ctr">
              <a:spcAft>
                <a:spcPts val="200"/>
              </a:spcAft>
            </a:pPr>
            <a:r>
              <a:rPr sz="1000" b="0" i="0">
                <a:solidFill>
                  <a:srgbClr val="595959"/>
                </a:solidFill>
              </a:rPr>
              <a:t>executable claims about clauses</a:t>
            </a:r>
          </a:p>
        </p:txBody>
      </p:sp>
      <p:sp>
        <p:nvSpPr>
          <p:cNvPr id="16" name="Rectangle 15"/>
          <p:cNvSpPr/>
          <p:nvPr/>
        </p:nvSpPr>
        <p:spPr>
          <a:xfrm>
            <a:off x="3017520" y="5404104"/>
            <a:ext cx="4206240" cy="475488"/>
          </a:xfrm>
          <a:prstGeom prst="rect">
            <a:avLst/>
          </a:prstGeom>
          <a:solidFill>
            <a:srgbClr val="F2F2F2"/>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200" b="1" i="0">
                <a:solidFill>
                  <a:srgbClr val="000000"/>
                </a:solidFill>
              </a:rPr>
              <a:t>Code</a:t>
            </a:r>
          </a:p>
          <a:p>
            <a:pPr algn="ctr">
              <a:spcAft>
                <a:spcPts val="200"/>
              </a:spcAft>
            </a:pPr>
            <a:r>
              <a:rPr sz="1000" b="0" i="0">
                <a:solidFill>
                  <a:srgbClr val="595959"/>
                </a:solidFill>
              </a:rPr>
              <a:t>the realization</a:t>
            </a:r>
          </a:p>
        </p:txBody>
      </p:sp>
      <p:sp>
        <p:nvSpPr>
          <p:cNvPr id="17" name="Rectangle 16"/>
          <p:cNvSpPr/>
          <p:nvPr/>
        </p:nvSpPr>
        <p:spPr>
          <a:xfrm>
            <a:off x="7498079" y="3703320"/>
            <a:ext cx="2011680" cy="2176272"/>
          </a:xfrm>
          <a:prstGeom prst="rect">
            <a:avLst/>
          </a:prstGeom>
          <a:solidFill>
            <a:srgbClr val="FFF3B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200" b="1" i="0">
                <a:solidFill>
                  <a:srgbClr val="000000"/>
                </a:solidFill>
              </a:rPr>
              <a:t>Rules</a:t>
            </a:r>
          </a:p>
          <a:p>
            <a:pPr algn="ctr">
              <a:spcAft>
                <a:spcPts val="200"/>
              </a:spcAft>
            </a:pPr>
            <a:r>
              <a:rPr sz="1050" b="0" i="0">
                <a:solidFill>
                  <a:srgbClr val="000000"/>
                </a:solidFill>
              </a:rPr>
              <a:t>how each layer is checked against the next; who decides; what evidence</a:t>
            </a:r>
          </a:p>
        </p:txBody>
      </p:sp>
      <p:cxnSp>
        <p:nvCxnSpPr>
          <p:cNvPr id="18" name="Connector 17"/>
          <p:cNvCxnSpPr/>
          <p:nvPr/>
        </p:nvCxnSpPr>
        <p:spPr>
          <a:xfrm>
            <a:off x="2651760" y="3794759"/>
            <a:ext cx="0" cy="2011681"/>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77240" y="4251959"/>
            <a:ext cx="1828800" cy="914400"/>
          </a:xfrm>
          <a:prstGeom prst="rect">
            <a:avLst/>
          </a:prstGeom>
          <a:noFill/>
        </p:spPr>
        <p:txBody>
          <a:bodyPr wrap="square" lIns="45720" rIns="45720">
            <a:spAutoFit/>
          </a:bodyPr>
          <a:lstStyle/>
          <a:p>
            <a:pPr algn="r">
              <a:spcAft>
                <a:spcPts val="400"/>
              </a:spcAft>
            </a:pPr>
            <a:r>
              <a:rPr sz="1100" b="1" i="0">
                <a:solidFill>
                  <a:srgbClr val="6E1EC6"/>
                </a:solidFill>
              </a:rPr>
              <a:t>direction to agents</a:t>
            </a:r>
          </a:p>
          <a:p>
            <a:pPr algn="r">
              <a:spcAft>
                <a:spcPts val="400"/>
              </a:spcAft>
            </a:pPr>
            <a:r>
              <a:rPr sz="1000" b="0" i="0">
                <a:solidFill>
                  <a:srgbClr val="595959"/>
                </a:solidFill>
              </a:rPr>
              <a:t>each layer is the standard its work is judged against</a:t>
            </a:r>
          </a:p>
        </p:txBody>
      </p:sp>
      <p:cxnSp>
        <p:nvCxnSpPr>
          <p:cNvPr id="20" name="Connector 19"/>
          <p:cNvCxnSpPr/>
          <p:nvPr/>
        </p:nvCxnSpPr>
        <p:spPr>
          <a:xfrm flipV="1">
            <a:off x="9829800" y="3794759"/>
            <a:ext cx="0" cy="2011681"/>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966960" y="4251959"/>
            <a:ext cx="1828800" cy="1097280"/>
          </a:xfrm>
          <a:prstGeom prst="rect">
            <a:avLst/>
          </a:prstGeom>
          <a:noFill/>
        </p:spPr>
        <p:txBody>
          <a:bodyPr wrap="square" lIns="45720" rIns="45720">
            <a:spAutoFit/>
          </a:bodyPr>
          <a:lstStyle/>
          <a:p>
            <a:pPr>
              <a:spcAft>
                <a:spcPts val="400"/>
              </a:spcAft>
            </a:pPr>
            <a:r>
              <a:rPr sz="1100" b="1" i="0">
                <a:solidFill>
                  <a:srgbClr val="6E1EC6"/>
                </a:solidFill>
              </a:rPr>
              <a:t>explainability to humans</a:t>
            </a:r>
          </a:p>
          <a:p>
            <a:pPr>
              <a:spcAft>
                <a:spcPts val="400"/>
              </a:spcAft>
            </a:pPr>
            <a:r>
              <a:rPr sz="1000" b="0" i="0">
                <a:solidFill>
                  <a:srgbClr val="595959"/>
                </a:solidFill>
              </a:rPr>
              <a:t>read at the layer you need; trust the summary because conformance between layers is checked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Learning objectives</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5</a:t>
            </a:r>
          </a:p>
        </p:txBody>
      </p:sp>
      <p:sp>
        <p:nvSpPr>
          <p:cNvPr id="5" name="TextBox 4"/>
          <p:cNvSpPr txBox="1"/>
          <p:nvPr/>
        </p:nvSpPr>
        <p:spPr>
          <a:xfrm>
            <a:off x="777240" y="1280160"/>
            <a:ext cx="5486400" cy="5029200"/>
          </a:xfrm>
          <a:prstGeom prst="rect">
            <a:avLst/>
          </a:prstGeom>
          <a:noFill/>
        </p:spPr>
        <p:txBody>
          <a:bodyPr wrap="square" lIns="45720" rIns="45720" tIns="27432" bIns="27432">
            <a:spAutoFit/>
          </a:bodyPr>
          <a:lstStyle/>
          <a:p>
            <a:pPr marL="182880" indent="-182880">
              <a:spcAft>
                <a:spcPts val="700"/>
              </a:spcAft>
              <a:buChar char="1."/>
            </a:pPr>
            <a:r>
              <a:rPr sz="1250" b="0" i="0"/>
              <a:t>Name the three entities and the five judgments, define each as the glossary does, and point at the A0 artifact that holds or evidences each.</a:t>
            </a:r>
          </a:p>
          <a:p>
            <a:pPr marL="182880" indent="-182880">
              <a:spcAft>
                <a:spcPts val="700"/>
              </a:spcAft>
              <a:buChar char="2."/>
            </a:pPr>
            <a:r>
              <a:rPr sz="1250" b="0" i="0"/>
              <a:t>Explain why intent has no artifact, what the purpose statement is instead, and what follows for which judgments an agent can establish alone.</a:t>
            </a:r>
          </a:p>
          <a:p>
            <a:pPr marL="182880" indent="-182880">
              <a:spcAft>
                <a:spcPts val="700"/>
              </a:spcAft>
              <a:buChar char="3."/>
            </a:pPr>
            <a:r>
              <a:rPr sz="1250" b="0" i="0"/>
              <a:t>Describe the clause as the unit of a specification (identifier, method, derivation); distinguish mechanical from judgment clauses and say why it matters when an agent writes code and tests.</a:t>
            </a:r>
          </a:p>
          <a:p>
            <a:pPr marL="182880" indent="-182880">
              <a:spcAft>
                <a:spcPts val="700"/>
              </a:spcAft>
              <a:buChar char="4."/>
            </a:pPr>
            <a:r>
              <a:rPr sz="1250" b="0" i="0"/>
              <a:t>State the five specification-quality properties and check a small specification against them by reading.</a:t>
            </a:r>
          </a:p>
          <a:p>
            <a:pPr marL="182880" indent="-182880">
              <a:spcAft>
                <a:spcPts val="700"/>
              </a:spcAft>
              <a:buChar char="5."/>
            </a:pPr>
            <a:r>
              <a:rPr sz="1250" b="0" i="0"/>
              <a:t>Explain why a passing test suite is not by itself a verification, and name the four conditions of conformance in A0 with the evidence for each.</a:t>
            </a:r>
          </a:p>
        </p:txBody>
      </p:sp>
      <p:sp>
        <p:nvSpPr>
          <p:cNvPr id="6" name="TextBox 5"/>
          <p:cNvSpPr txBox="1"/>
          <p:nvPr/>
        </p:nvSpPr>
        <p:spPr>
          <a:xfrm>
            <a:off x="6446520" y="1280160"/>
            <a:ext cx="5349240" cy="5029200"/>
          </a:xfrm>
          <a:prstGeom prst="rect">
            <a:avLst/>
          </a:prstGeom>
          <a:noFill/>
        </p:spPr>
        <p:txBody>
          <a:bodyPr wrap="square" lIns="45720" rIns="45720" tIns="27432" bIns="27432">
            <a:spAutoFit/>
          </a:bodyPr>
          <a:lstStyle/>
          <a:p>
            <a:pPr marL="182880" indent="-182880">
              <a:spcAft>
                <a:spcPts val="700"/>
              </a:spcAft>
              <a:buChar char="6."/>
            </a:pPr>
            <a:r>
              <a:rPr sz="1250" b="0" i="0"/>
              <a:t>Say what validation asks, who can answer it, and construct a case in which every other judgment holds and validation fails.</a:t>
            </a:r>
          </a:p>
          <a:p>
            <a:pPr marL="182880" indent="-182880">
              <a:spcAft>
                <a:spcPts val="700"/>
              </a:spcAft>
              <a:buChar char="7."/>
            </a:pPr>
            <a:r>
              <a:rPr sz="1250" b="0" i="0"/>
              <a:t>Read a ledger row as a claim with evidence, provenance, and a stale-when condition, and say which rows a given change makes stale.</a:t>
            </a:r>
          </a:p>
          <a:p>
            <a:pPr marL="182880" indent="-182880">
              <a:spcAft>
                <a:spcPts val="700"/>
              </a:spcAft>
              <a:buChar char="8."/>
            </a:pPr>
            <a:r>
              <a:rPr sz="1250" b="0" i="0"/>
              <a:t>Explain what a gate is and why an algorithmic gate before each commit matters when an agent is the one committing.</a:t>
            </a:r>
          </a:p>
          <a:p>
            <a:pPr marL="182880" indent="-182880">
              <a:spcAft>
                <a:spcPts val="700"/>
              </a:spcAft>
              <a:buChar char="9."/>
            </a:pPr>
            <a:r>
              <a:rPr sz="1250" b="0" i="0"/>
              <a:t>Read a development rule in the template form and identify its decider, its evidence, and what happens on failure.</a:t>
            </a:r>
          </a:p>
          <a:p>
            <a:pPr marL="182880" indent="-182880">
              <a:spcAft>
                <a:spcPts val="700"/>
              </a:spcAft>
              <a:buChar char="10."/>
            </a:pPr>
            <a:r>
              <a:rPr sz="1250" b="0" i="0"/>
              <a:t>Identify which elements of A0 can be set up directly in your own project and which need adaptation.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400"/>
              </a:spcAft>
            </a:pPr>
            <a:r>
              <a:rPr sz="3400" b="1" i="0"/>
              <a:t>Part 1 · Entities and judgments</a:t>
            </a:r>
          </a:p>
        </p:txBody>
      </p:sp>
      <p:sp>
        <p:nvSpPr>
          <p:cNvPr id="3" name="Text Placeholder 2"/>
          <p:cNvSpPr>
            <a:spLocks noGrp="1"/>
          </p:cNvSpPr>
          <p:nvPr>
            <p:ph type="body" idx="1"/>
          </p:nvPr>
        </p:nvSpPr>
        <p:spPr/>
        <p:txBody>
          <a:bodyPr/>
          <a:lstStyle/>
          <a:p>
            <a:pPr>
              <a:spcAft>
                <a:spcPts val="400"/>
              </a:spcAft>
            </a:pPr>
            <a:r>
              <a:rPr sz="1800" b="0" i="0">
                <a:solidFill>
                  <a:srgbClr val="595959"/>
                </a:solidFill>
              </a:rPr>
              <a:t>The picture, then one judgment at a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Three entities, five judgments, one ledger</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7</a:t>
            </a:r>
          </a:p>
        </p:txBody>
      </p:sp>
      <p:pic>
        <p:nvPicPr>
          <p:cNvPr id="5" name="Picture 4" descr="stakeholders-icon.png"/>
          <p:cNvPicPr>
            <a:picLocks noChangeAspect="1"/>
          </p:cNvPicPr>
          <p:nvPr/>
        </p:nvPicPr>
        <p:blipFill>
          <a:blip r:embed="rId3"/>
          <a:stretch>
            <a:fillRect/>
          </a:stretch>
        </p:blipFill>
        <p:spPr>
          <a:xfrm>
            <a:off x="3767328" y="1261872"/>
            <a:ext cx="868680" cy="868680"/>
          </a:xfrm>
          <a:prstGeom prst="rect">
            <a:avLst/>
          </a:prstGeom>
        </p:spPr>
      </p:pic>
      <p:sp>
        <p:nvSpPr>
          <p:cNvPr id="6" name="TextBox 5"/>
          <p:cNvSpPr txBox="1"/>
          <p:nvPr/>
        </p:nvSpPr>
        <p:spPr>
          <a:xfrm>
            <a:off x="2971800" y="2103120"/>
            <a:ext cx="2468880" cy="566928"/>
          </a:xfrm>
          <a:prstGeom prst="rect">
            <a:avLst/>
          </a:prstGeom>
          <a:noFill/>
        </p:spPr>
        <p:txBody>
          <a:bodyPr wrap="square" lIns="45720" rIns="45720">
            <a:spAutoFit/>
          </a:bodyPr>
          <a:lstStyle/>
          <a:p>
            <a:pPr algn="ctr">
              <a:spcAft>
                <a:spcPts val="0"/>
              </a:spcAft>
            </a:pPr>
            <a:r>
              <a:rPr sz="1600" b="1" i="0"/>
              <a:t>Intent</a:t>
            </a:r>
          </a:p>
          <a:p>
            <a:pPr algn="ctr">
              <a:spcAft>
                <a:spcPts val="400"/>
              </a:spcAft>
            </a:pPr>
            <a:r>
              <a:rPr sz="1100" b="0" i="0">
                <a:solidFill>
                  <a:srgbClr val="595959"/>
                </a:solidFill>
              </a:rPr>
              <a:t>the stakeholders; no artifact</a:t>
            </a:r>
          </a:p>
        </p:txBody>
      </p:sp>
      <p:sp>
        <p:nvSpPr>
          <p:cNvPr id="7" name="Rectangle 6"/>
          <p:cNvSpPr/>
          <p:nvPr/>
        </p:nvSpPr>
        <p:spPr>
          <a:xfrm>
            <a:off x="3246120" y="306324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0" i="0">
                <a:solidFill>
                  <a:srgbClr val="000000"/>
                </a:solidFill>
              </a:rPr>
              <a:t>Specifications</a:t>
            </a:r>
          </a:p>
        </p:txBody>
      </p:sp>
      <p:sp>
        <p:nvSpPr>
          <p:cNvPr id="8" name="Rectangle 7"/>
          <p:cNvSpPr/>
          <p:nvPr/>
        </p:nvSpPr>
        <p:spPr>
          <a:xfrm>
            <a:off x="3246120" y="489204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0" i="0">
                <a:solidFill>
                  <a:srgbClr val="000000"/>
                </a:solidFill>
              </a:rPr>
              <a:t>Realization</a:t>
            </a:r>
          </a:p>
        </p:txBody>
      </p:sp>
      <p:cxnSp>
        <p:nvCxnSpPr>
          <p:cNvPr id="9" name="Connector 8"/>
          <p:cNvCxnSpPr/>
          <p:nvPr/>
        </p:nvCxnSpPr>
        <p:spPr>
          <a:xfrm>
            <a:off x="4206240" y="2697480"/>
            <a:ext cx="0" cy="365760"/>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26280" y="3840480"/>
            <a:ext cx="0" cy="1051560"/>
          </a:xfrm>
          <a:prstGeom prst="line">
            <a:avLst/>
          </a:prstGeom>
          <a:ln w="19050">
            <a:solidFill>
              <a:srgbClr val="00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66160" y="3840480"/>
            <a:ext cx="0" cy="1051560"/>
          </a:xfrm>
          <a:prstGeom prst="line">
            <a:avLst/>
          </a:prstGeom>
          <a:ln w="15875">
            <a:solidFill>
              <a:srgbClr val="595959"/>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5285232" y="312724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5285232" y="495604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2542032"/>
            <a:ext cx="1737360" cy="457200"/>
          </a:xfrm>
          <a:prstGeom prst="rect">
            <a:avLst/>
          </a:prstGeom>
          <a:noFill/>
        </p:spPr>
        <p:txBody>
          <a:bodyPr wrap="square" lIns="45720" rIns="45720">
            <a:spAutoFit/>
          </a:bodyPr>
          <a:lstStyle/>
          <a:p>
            <a:pPr algn="l">
              <a:spcAft>
                <a:spcPts val="0"/>
              </a:spcAft>
            </a:pPr>
            <a:r>
              <a:rPr sz="1300" b="1" i="0">
                <a:solidFill>
                  <a:srgbClr val="000000"/>
                </a:solidFill>
              </a:rPr>
              <a:t>VAL</a:t>
            </a:r>
          </a:p>
          <a:p>
            <a:pPr algn="l">
              <a:spcAft>
                <a:spcPts val="400"/>
              </a:spcAft>
            </a:pPr>
            <a:r>
              <a:rPr sz="1050" b="0" i="0">
                <a:solidFill>
                  <a:srgbClr val="595959"/>
                </a:solidFill>
              </a:rPr>
              <a:t>validation</a:t>
            </a:r>
          </a:p>
        </p:txBody>
      </p:sp>
      <p:sp>
        <p:nvSpPr>
          <p:cNvPr id="15" name="TextBox 14"/>
          <p:cNvSpPr txBox="1"/>
          <p:nvPr/>
        </p:nvSpPr>
        <p:spPr>
          <a:xfrm>
            <a:off x="4663440" y="4114800"/>
            <a:ext cx="2011680" cy="457200"/>
          </a:xfrm>
          <a:prstGeom prst="rect">
            <a:avLst/>
          </a:prstGeom>
          <a:noFill/>
        </p:spPr>
        <p:txBody>
          <a:bodyPr wrap="square" lIns="45720" rIns="45720">
            <a:spAutoFit/>
          </a:bodyPr>
          <a:lstStyle/>
          <a:p>
            <a:pPr algn="l">
              <a:spcAft>
                <a:spcPts val="0"/>
              </a:spcAft>
            </a:pPr>
            <a:r>
              <a:rPr sz="1300" b="1" i="0">
                <a:solidFill>
                  <a:srgbClr val="000000"/>
                </a:solidFill>
              </a:rPr>
              <a:t>CONF</a:t>
            </a:r>
          </a:p>
          <a:p>
            <a:pPr algn="l">
              <a:spcAft>
                <a:spcPts val="400"/>
              </a:spcAft>
            </a:pPr>
            <a:r>
              <a:rPr sz="1050" b="0" i="0">
                <a:solidFill>
                  <a:srgbClr val="595959"/>
                </a:solidFill>
              </a:rPr>
              <a:t>conformance, by verification</a:t>
            </a:r>
          </a:p>
        </p:txBody>
      </p:sp>
      <p:sp>
        <p:nvSpPr>
          <p:cNvPr id="16" name="TextBox 15"/>
          <p:cNvSpPr txBox="1"/>
          <p:nvPr/>
        </p:nvSpPr>
        <p:spPr>
          <a:xfrm>
            <a:off x="1828800" y="4114800"/>
            <a:ext cx="1645920" cy="457200"/>
          </a:xfrm>
          <a:prstGeom prst="rect">
            <a:avLst/>
          </a:prstGeom>
          <a:noFill/>
        </p:spPr>
        <p:txBody>
          <a:bodyPr wrap="square" lIns="45720" rIns="45720">
            <a:spAutoFit/>
          </a:bodyPr>
          <a:lstStyle/>
          <a:p>
            <a:pPr algn="r">
              <a:spcAft>
                <a:spcPts val="0"/>
              </a:spcAft>
            </a:pPr>
            <a:r>
              <a:rPr sz="1300" b="1" i="0">
                <a:solidFill>
                  <a:srgbClr val="000000"/>
                </a:solidFill>
              </a:rPr>
              <a:t>TR</a:t>
            </a:r>
          </a:p>
          <a:p>
            <a:pPr algn="r">
              <a:spcAft>
                <a:spcPts val="400"/>
              </a:spcAft>
            </a:pPr>
            <a:r>
              <a:rPr sz="1050" b="0" i="0">
                <a:solidFill>
                  <a:srgbClr val="595959"/>
                </a:solidFill>
              </a:rPr>
              <a:t>traceability</a:t>
            </a:r>
          </a:p>
        </p:txBody>
      </p:sp>
      <p:sp>
        <p:nvSpPr>
          <p:cNvPr id="17" name="TextBox 16"/>
          <p:cNvSpPr txBox="1"/>
          <p:nvPr/>
        </p:nvSpPr>
        <p:spPr>
          <a:xfrm>
            <a:off x="5943600" y="3154680"/>
            <a:ext cx="1920240" cy="457200"/>
          </a:xfrm>
          <a:prstGeom prst="rect">
            <a:avLst/>
          </a:prstGeom>
          <a:noFill/>
        </p:spPr>
        <p:txBody>
          <a:bodyPr wrap="square" lIns="45720" rIns="45720">
            <a:spAutoFit/>
          </a:bodyPr>
          <a:lstStyle/>
          <a:p>
            <a:pPr algn="l">
              <a:spcAft>
                <a:spcPts val="0"/>
              </a:spcAft>
            </a:pPr>
            <a:r>
              <a:rPr sz="1300" b="1" i="0">
                <a:solidFill>
                  <a:srgbClr val="000000"/>
                </a:solidFill>
              </a:rPr>
              <a:t>SQ</a:t>
            </a:r>
          </a:p>
          <a:p>
            <a:pPr algn="l">
              <a:spcAft>
                <a:spcPts val="400"/>
              </a:spcAft>
            </a:pPr>
            <a:r>
              <a:rPr sz="1050" b="0" i="0">
                <a:solidFill>
                  <a:srgbClr val="595959"/>
                </a:solidFill>
              </a:rPr>
              <a:t>specification quality</a:t>
            </a:r>
          </a:p>
        </p:txBody>
      </p:sp>
      <p:sp>
        <p:nvSpPr>
          <p:cNvPr id="18" name="TextBox 17"/>
          <p:cNvSpPr txBox="1"/>
          <p:nvPr/>
        </p:nvSpPr>
        <p:spPr>
          <a:xfrm>
            <a:off x="5943600" y="4983480"/>
            <a:ext cx="1920240" cy="457200"/>
          </a:xfrm>
          <a:prstGeom prst="rect">
            <a:avLst/>
          </a:prstGeom>
          <a:noFill/>
        </p:spPr>
        <p:txBody>
          <a:bodyPr wrap="square" lIns="45720" rIns="45720">
            <a:spAutoFit/>
          </a:bodyPr>
          <a:lstStyle/>
          <a:p>
            <a:pPr algn="l">
              <a:spcAft>
                <a:spcPts val="0"/>
              </a:spcAft>
            </a:pPr>
            <a:r>
              <a:rPr sz="1300" b="1" i="0">
                <a:solidFill>
                  <a:srgbClr val="000000"/>
                </a:solidFill>
              </a:rPr>
              <a:t>RQ</a:t>
            </a:r>
          </a:p>
          <a:p>
            <a:pPr algn="l">
              <a:spcAft>
                <a:spcPts val="400"/>
              </a:spcAft>
            </a:pPr>
            <a:r>
              <a:rPr sz="1050" b="0" i="0">
                <a:solidFill>
                  <a:srgbClr val="595959"/>
                </a:solidFill>
              </a:rPr>
              <a:t>realization quality</a:t>
            </a:r>
          </a:p>
        </p:txBody>
      </p:sp>
      <p:graphicFrame>
        <p:nvGraphicFramePr>
          <p:cNvPr id="19" name="Table 18"/>
          <p:cNvGraphicFramePr>
            <a:graphicFrameLocks noGrp="1"/>
          </p:cNvGraphicFramePr>
          <p:nvPr/>
        </p:nvGraphicFramePr>
        <p:xfrm>
          <a:off x="8001000" y="1325880"/>
          <a:ext cx="3794760" cy="1975104"/>
        </p:xfrm>
        <a:graphic>
          <a:graphicData uri="http://schemas.openxmlformats.org/drawingml/2006/table">
            <a:tbl>
              <a:tblPr firstRow="1" bandRow="1">
                <a:tableStyleId>{5C22544A-7EE6-4342-B048-85BDC9FD1C3A}</a:tableStyleId>
              </a:tblPr>
              <a:tblGrid>
                <a:gridCol w="1600200"/>
                <a:gridCol w="914400"/>
                <a:gridCol w="1280160"/>
              </a:tblGrid>
              <a:tr h="329184">
                <a:tc>
                  <a:txBody>
                    <a:bodyPr wrap="square"/>
                    <a:lstStyle/>
                    <a:p>
                      <a:pPr>
                        <a:spcAft>
                          <a:spcPts val="0"/>
                        </a:spcAft>
                      </a:pPr>
                      <a:r>
                        <a:rPr sz="1050" b="1" i="0">
                          <a:solidFill>
                            <a:srgbClr val="FFFFFF"/>
                          </a:solidFill>
                        </a:rPr>
                        <a:t>Judgment</a:t>
                      </a:r>
                    </a:p>
                  </a:txBody>
                  <a:tcPr marL="54864" marR="54864" marT="27432" marB="27432">
                    <a:solidFill>
                      <a:srgbClr val="6E1EC6"/>
                    </a:solidFill>
                  </a:tcPr>
                </a:tc>
                <a:tc>
                  <a:txBody>
                    <a:bodyPr wrap="square"/>
                    <a:lstStyle/>
                    <a:p>
                      <a:pPr>
                        <a:spcAft>
                          <a:spcPts val="0"/>
                        </a:spcAft>
                      </a:pPr>
                      <a:r>
                        <a:rPr sz="1050" b="1" i="0">
                          <a:solidFill>
                            <a:srgbClr val="FFFFFF"/>
                          </a:solidFill>
                        </a:rPr>
                        <a:t>Status</a:t>
                      </a:r>
                    </a:p>
                  </a:txBody>
                  <a:tcPr marL="54864" marR="54864" marT="27432" marB="27432">
                    <a:solidFill>
                      <a:srgbClr val="6E1EC6"/>
                    </a:solidFill>
                  </a:tcPr>
                </a:tc>
                <a:tc>
                  <a:txBody>
                    <a:bodyPr wrap="square"/>
                    <a:lstStyle/>
                    <a:p>
                      <a:pPr>
                        <a:spcAft>
                          <a:spcPts val="0"/>
                        </a:spcAft>
                      </a:pPr>
                      <a:r>
                        <a:rPr sz="1050" b="1" i="0">
                          <a:solidFill>
                            <a:srgbClr val="FFFFFF"/>
                          </a:solidFill>
                        </a:rPr>
                        <a:t>Evidence</a:t>
                      </a:r>
                    </a:p>
                  </a:txBody>
                  <a:tcPr marL="54864" marR="54864" marT="27432" marB="27432">
                    <a:solidFill>
                      <a:srgbClr val="6E1EC6"/>
                    </a:solidFill>
                  </a:tcPr>
                </a:tc>
              </a:tr>
              <a:tr h="329184">
                <a:tc>
                  <a:txBody>
                    <a:bodyPr wrap="square"/>
                    <a:lstStyle/>
                    <a:p>
                      <a:pPr>
                        <a:spcAft>
                          <a:spcPts val="0"/>
                        </a:spcAft>
                      </a:pPr>
                      <a:r>
                        <a:rPr sz="1050" b="0" i="0">
                          <a:solidFill>
                            <a:srgbClr val="000000"/>
                          </a:solidFill>
                        </a:rPr>
                        <a:t>SQ  specification quality</a:t>
                      </a:r>
                    </a:p>
                  </a:txBody>
                  <a:tcPr marL="54864" marR="54864" marT="27432" marB="27432">
                    <a:solidFill>
                      <a:srgbClr val="FFFFFF"/>
                    </a:solidFill>
                  </a:tcPr>
                </a:tc>
                <a:tc>
                  <a:txBody>
                    <a:bodyPr wrap="square"/>
                    <a:lstStyle/>
                    <a:p>
                      <a:pPr>
                        <a:spcAft>
                          <a:spcPts val="0"/>
                        </a:spcAft>
                      </a:pPr>
                      <a:r>
                        <a:rPr sz="1050" b="1" i="0">
                          <a:solidFill>
                            <a:srgbClr val="2E7D32"/>
                          </a:solidFill>
                        </a:rPr>
                        <a:t>established</a:t>
                      </a:r>
                    </a:p>
                  </a:txBody>
                  <a:tcPr marL="54864" marR="54864" marT="27432" marB="27432">
                    <a:solidFill>
                      <a:srgbClr val="DDF2DD"/>
                    </a:solidFill>
                  </a:tcPr>
                </a:tc>
                <a:tc>
                  <a:txBody>
                    <a:bodyPr wrap="square"/>
                    <a:lstStyle/>
                    <a:p>
                      <a:pPr>
                        <a:spcAft>
                          <a:spcPts val="0"/>
                        </a:spcAft>
                      </a:pPr>
                      <a:r>
                        <a:rPr sz="1050" b="0" i="0">
                          <a:solidFill>
                            <a:srgbClr val="000000"/>
                          </a:solidFill>
                        </a:rPr>
                        <a:t>read together</a:t>
                      </a:r>
                    </a:p>
                  </a:txBody>
                  <a:tcPr marL="54864" marR="54864" marT="27432" marB="27432">
                    <a:solidFill>
                      <a:srgbClr val="FFFFFF"/>
                    </a:solidFill>
                  </a:tcPr>
                </a:tc>
              </a:tr>
              <a:tr h="329184">
                <a:tc>
                  <a:txBody>
                    <a:bodyPr wrap="square"/>
                    <a:lstStyle/>
                    <a:p>
                      <a:pPr>
                        <a:spcAft>
                          <a:spcPts val="0"/>
                        </a:spcAft>
                      </a:pPr>
                      <a:r>
                        <a:rPr sz="1050" b="0" i="0">
                          <a:solidFill>
                            <a:srgbClr val="000000"/>
                          </a:solidFill>
                        </a:rPr>
                        <a:t>RQ  realization quality</a:t>
                      </a:r>
                    </a:p>
                  </a:txBody>
                  <a:tcPr marL="54864" marR="54864" marT="27432" marB="27432">
                    <a:solidFill>
                      <a:srgbClr val="F3F0F9"/>
                    </a:solidFill>
                  </a:tcPr>
                </a:tc>
                <a:tc>
                  <a:txBody>
                    <a:bodyPr wrap="square"/>
                    <a:lstStyle/>
                    <a:p>
                      <a:pPr>
                        <a:spcAft>
                          <a:spcPts val="0"/>
                        </a:spcAft>
                      </a:pPr>
                      <a:r>
                        <a:rPr sz="1050" b="1" i="0">
                          <a:solidFill>
                            <a:srgbClr val="2E7D32"/>
                          </a:solidFill>
                        </a:rPr>
                        <a:t>established</a:t>
                      </a:r>
                    </a:p>
                  </a:txBody>
                  <a:tcPr marL="54864" marR="54864" marT="27432" marB="27432">
                    <a:solidFill>
                      <a:srgbClr val="DDF2DD"/>
                    </a:solidFill>
                  </a:tcPr>
                </a:tc>
                <a:tc>
                  <a:txBody>
                    <a:bodyPr wrap="square"/>
                    <a:lstStyle/>
                    <a:p>
                      <a:pPr>
                        <a:spcAft>
                          <a:spcPts val="0"/>
                        </a:spcAft>
                      </a:pPr>
                      <a:r>
                        <a:rPr sz="1050" b="0" i="0">
                          <a:solidFill>
                            <a:srgbClr val="000000"/>
                          </a:solidFill>
                        </a:rPr>
                        <a:t>ruff; collects</a:t>
                      </a:r>
                    </a:p>
                  </a:txBody>
                  <a:tcPr marL="54864" marR="54864" marT="27432" marB="27432">
                    <a:solidFill>
                      <a:srgbClr val="F3F0F9"/>
                    </a:solidFill>
                  </a:tcPr>
                </a:tc>
              </a:tr>
              <a:tr h="329184">
                <a:tc>
                  <a:txBody>
                    <a:bodyPr wrap="square"/>
                    <a:lstStyle/>
                    <a:p>
                      <a:pPr>
                        <a:spcAft>
                          <a:spcPts val="0"/>
                        </a:spcAft>
                      </a:pPr>
                      <a:r>
                        <a:rPr sz="1050" b="0" i="0">
                          <a:solidFill>
                            <a:srgbClr val="000000"/>
                          </a:solidFill>
                        </a:rPr>
                        <a:t>CONF  conformance</a:t>
                      </a:r>
                    </a:p>
                  </a:txBody>
                  <a:tcPr marL="54864" marR="54864" marT="27432" marB="27432">
                    <a:solidFill>
                      <a:srgbClr val="FFFFFF"/>
                    </a:solidFill>
                  </a:tcPr>
                </a:tc>
                <a:tc>
                  <a:txBody>
                    <a:bodyPr wrap="square"/>
                    <a:lstStyle/>
                    <a:p>
                      <a:pPr>
                        <a:spcAft>
                          <a:spcPts val="0"/>
                        </a:spcAft>
                      </a:pPr>
                      <a:r>
                        <a:rPr sz="1050" b="1" i="0">
                          <a:solidFill>
                            <a:srgbClr val="2E7D32"/>
                          </a:solidFill>
                        </a:rPr>
                        <a:t>established</a:t>
                      </a:r>
                    </a:p>
                  </a:txBody>
                  <a:tcPr marL="54864" marR="54864" marT="27432" marB="27432">
                    <a:solidFill>
                      <a:srgbClr val="DDF2DD"/>
                    </a:solidFill>
                  </a:tcPr>
                </a:tc>
                <a:tc>
                  <a:txBody>
                    <a:bodyPr wrap="square"/>
                    <a:lstStyle/>
                    <a:p>
                      <a:pPr>
                        <a:spcAft>
                          <a:spcPts val="0"/>
                        </a:spcAft>
                      </a:pPr>
                      <a:r>
                        <a:rPr sz="1050" b="0" i="0">
                          <a:solidFill>
                            <a:srgbClr val="000000"/>
                          </a:solidFill>
                        </a:rPr>
                        <a:t>tests; two coverages; walked</a:t>
                      </a:r>
                    </a:p>
                  </a:txBody>
                  <a:tcPr marL="54864" marR="54864" marT="27432" marB="27432">
                    <a:solidFill>
                      <a:srgbClr val="FFFFFF"/>
                    </a:solidFill>
                  </a:tcPr>
                </a:tc>
              </a:tr>
              <a:tr h="329184">
                <a:tc>
                  <a:txBody>
                    <a:bodyPr wrap="square"/>
                    <a:lstStyle/>
                    <a:p>
                      <a:pPr>
                        <a:spcAft>
                          <a:spcPts val="0"/>
                        </a:spcAft>
                      </a:pPr>
                      <a:r>
                        <a:rPr sz="1050" b="0" i="0">
                          <a:solidFill>
                            <a:srgbClr val="000000"/>
                          </a:solidFill>
                        </a:rPr>
                        <a:t>VAL  validated</a:t>
                      </a:r>
                    </a:p>
                  </a:txBody>
                  <a:tcPr marL="54864" marR="54864" marT="27432" marB="27432">
                    <a:solidFill>
                      <a:srgbClr val="F3F0F9"/>
                    </a:solidFill>
                  </a:tcPr>
                </a:tc>
                <a:tc>
                  <a:txBody>
                    <a:bodyPr wrap="square"/>
                    <a:lstStyle/>
                    <a:p>
                      <a:pPr>
                        <a:spcAft>
                          <a:spcPts val="0"/>
                        </a:spcAft>
                      </a:pPr>
                      <a:r>
                        <a:rPr sz="1050" b="1" i="0">
                          <a:solidFill>
                            <a:srgbClr val="2E7D32"/>
                          </a:solidFill>
                        </a:rPr>
                        <a:t>established</a:t>
                      </a:r>
                    </a:p>
                  </a:txBody>
                  <a:tcPr marL="54864" marR="54864" marT="27432" marB="27432">
                    <a:solidFill>
                      <a:srgbClr val="DDF2DD"/>
                    </a:solidFill>
                  </a:tcPr>
                </a:tc>
                <a:tc>
                  <a:txBody>
                    <a:bodyPr wrap="square"/>
                    <a:lstStyle/>
                    <a:p>
                      <a:pPr>
                        <a:spcAft>
                          <a:spcPts val="0"/>
                        </a:spcAft>
                      </a:pPr>
                      <a:r>
                        <a:rPr sz="1050" b="0" i="0">
                          <a:solidFill>
                            <a:srgbClr val="000000"/>
                          </a:solidFill>
                        </a:rPr>
                        <a:t>sign-off</a:t>
                      </a:r>
                    </a:p>
                  </a:txBody>
                  <a:tcPr marL="54864" marR="54864" marT="27432" marB="27432">
                    <a:solidFill>
                      <a:srgbClr val="F3F0F9"/>
                    </a:solidFill>
                  </a:tcPr>
                </a:tc>
              </a:tr>
              <a:tr h="329184">
                <a:tc>
                  <a:txBody>
                    <a:bodyPr wrap="square"/>
                    <a:lstStyle/>
                    <a:p>
                      <a:pPr>
                        <a:spcAft>
                          <a:spcPts val="0"/>
                        </a:spcAft>
                      </a:pPr>
                      <a:r>
                        <a:rPr sz="1050" b="0" i="0">
                          <a:solidFill>
                            <a:srgbClr val="000000"/>
                          </a:solidFill>
                        </a:rPr>
                        <a:t>TR  traceable</a:t>
                      </a:r>
                    </a:p>
                  </a:txBody>
                  <a:tcPr marL="54864" marR="54864" marT="27432" marB="27432">
                    <a:solidFill>
                      <a:srgbClr val="FFFFFF"/>
                    </a:solidFill>
                  </a:tcPr>
                </a:tc>
                <a:tc>
                  <a:txBody>
                    <a:bodyPr wrap="square"/>
                    <a:lstStyle/>
                    <a:p>
                      <a:pPr>
                        <a:spcAft>
                          <a:spcPts val="0"/>
                        </a:spcAft>
                      </a:pPr>
                      <a:r>
                        <a:rPr sz="1050" b="1" i="0">
                          <a:solidFill>
                            <a:srgbClr val="2E7D32"/>
                          </a:solidFill>
                        </a:rPr>
                        <a:t>established</a:t>
                      </a:r>
                    </a:p>
                  </a:txBody>
                  <a:tcPr marL="54864" marR="54864" marT="27432" marB="27432">
                    <a:solidFill>
                      <a:srgbClr val="DDF2DD"/>
                    </a:solidFill>
                  </a:tcPr>
                </a:tc>
                <a:tc>
                  <a:txBody>
                    <a:bodyPr wrap="square"/>
                    <a:lstStyle/>
                    <a:p>
                      <a:pPr>
                        <a:spcAft>
                          <a:spcPts val="0"/>
                        </a:spcAft>
                      </a:pPr>
                      <a:r>
                        <a:rPr sz="1050" b="0" i="0">
                          <a:solidFill>
                            <a:srgbClr val="000000"/>
                          </a:solidFill>
                        </a:rPr>
                        <a:t>links resolve</a:t>
                      </a:r>
                    </a:p>
                  </a:txBody>
                  <a:tcPr marL="54864" marR="54864" marT="27432" marB="27432">
                    <a:solidFill>
                      <a:srgbClr val="FFFFFF"/>
                    </a:solidFill>
                  </a:tcPr>
                </a:tc>
              </a:tr>
            </a:tbl>
          </a:graphicData>
        </a:graphic>
      </p:graphicFrame>
      <p:sp>
        <p:nvSpPr>
          <p:cNvPr id="20" name="TextBox 19"/>
          <p:cNvSpPr txBox="1"/>
          <p:nvPr/>
        </p:nvSpPr>
        <p:spPr>
          <a:xfrm>
            <a:off x="8001000" y="3520440"/>
            <a:ext cx="3794760" cy="548640"/>
          </a:xfrm>
          <a:prstGeom prst="rect">
            <a:avLst/>
          </a:prstGeom>
          <a:noFill/>
        </p:spPr>
        <p:txBody>
          <a:bodyPr wrap="square" lIns="45720" rIns="45720">
            <a:spAutoFit/>
          </a:bodyPr>
          <a:lstStyle/>
          <a:p>
            <a:pPr>
              <a:spcAft>
                <a:spcPts val="400"/>
              </a:spcAft>
            </a:pPr>
            <a:r>
              <a:rPr sz="1050" b="0" i="0">
                <a:solidFill>
                  <a:srgbClr val="595959"/>
                </a:solidFill>
              </a:rPr>
              <a:t>The ledger: at a named commit, which judgments hold, on what evidence, and which are stale. Every row carries its provenance.</a:t>
            </a:r>
          </a:p>
        </p:txBody>
      </p:sp>
      <p:sp>
        <p:nvSpPr>
          <p:cNvPr id="21" name="Rectangle 20"/>
          <p:cNvSpPr/>
          <p:nvPr/>
        </p:nvSpPr>
        <p:spPr>
          <a:xfrm>
            <a:off x="8001000" y="4434840"/>
            <a:ext cx="1005840" cy="548640"/>
          </a:xfrm>
          <a:prstGeom prst="rect">
            <a:avLst/>
          </a:prstGeom>
          <a:solidFill>
            <a:srgbClr val="F2F2F2"/>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200" b="0" i="0">
                <a:solidFill>
                  <a:srgbClr val="000000"/>
                </a:solidFill>
              </a:rPr>
              <a:t>work</a:t>
            </a:r>
          </a:p>
        </p:txBody>
      </p:sp>
      <p:cxnSp>
        <p:nvCxnSpPr>
          <p:cNvPr id="22" name="Connector 21"/>
          <p:cNvCxnSpPr/>
          <p:nvPr/>
        </p:nvCxnSpPr>
        <p:spPr>
          <a:xfrm>
            <a:off x="9052560" y="4709160"/>
            <a:ext cx="36576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9464040" y="4297680"/>
            <a:ext cx="1371600" cy="822960"/>
          </a:xfrm>
          <a:prstGeom prst="rect">
            <a:avLst/>
          </a:prstGeom>
          <a:solidFill>
            <a:srgbClr val="FFF3B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200" b="1" i="0">
                <a:solidFill>
                  <a:srgbClr val="000000"/>
                </a:solidFill>
              </a:rPr>
              <a:t>gate</a:t>
            </a:r>
          </a:p>
          <a:p>
            <a:pPr algn="ctr">
              <a:spcAft>
                <a:spcPts val="200"/>
              </a:spcAft>
            </a:pPr>
            <a:r>
              <a:rPr sz="950" b="0" i="0">
                <a:solidFill>
                  <a:srgbClr val="595959"/>
                </a:solidFill>
              </a:rPr>
              <a:t>a program's exit code</a:t>
            </a:r>
          </a:p>
        </p:txBody>
      </p:sp>
      <p:cxnSp>
        <p:nvCxnSpPr>
          <p:cNvPr id="24" name="Connector 23"/>
          <p:cNvCxnSpPr/>
          <p:nvPr/>
        </p:nvCxnSpPr>
        <p:spPr>
          <a:xfrm>
            <a:off x="10881360" y="4709160"/>
            <a:ext cx="36576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11292840" y="4434840"/>
            <a:ext cx="502920" cy="548640"/>
          </a:xfrm>
          <a:prstGeom prst="rect">
            <a:avLst/>
          </a:prstGeom>
          <a:solidFill>
            <a:srgbClr val="F2F2F2"/>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0" i="0">
                <a:solidFill>
                  <a:srgbClr val="000000"/>
                </a:solidFill>
              </a:rPr>
              <a:t>commit</a:t>
            </a:r>
          </a:p>
        </p:txBody>
      </p:sp>
      <p:sp>
        <p:nvSpPr>
          <p:cNvPr id="26" name="TextBox 25"/>
          <p:cNvSpPr txBox="1"/>
          <p:nvPr/>
        </p:nvSpPr>
        <p:spPr>
          <a:xfrm>
            <a:off x="8001000" y="5257800"/>
            <a:ext cx="3794760" cy="731520"/>
          </a:xfrm>
          <a:prstGeom prst="rect">
            <a:avLst/>
          </a:prstGeom>
          <a:noFill/>
        </p:spPr>
        <p:txBody>
          <a:bodyPr wrap="square" lIns="45720" rIns="45720">
            <a:spAutoFit/>
          </a:bodyPr>
          <a:lstStyle/>
          <a:p>
            <a:pPr>
              <a:spcAft>
                <a:spcPts val="400"/>
              </a:spcAft>
            </a:pPr>
            <a:r>
              <a:rPr sz="1050" b="0" i="0">
                <a:solidFill>
                  <a:srgbClr val="595959"/>
                </a:solidFill>
              </a:rPr>
              <a:t>The gate: the mechanical parts of the judgments are decided before every commit; an approval gate is a recorded human decision.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Intent</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8</a:t>
            </a:r>
          </a:p>
        </p:txBody>
      </p:sp>
      <p:pic>
        <p:nvPicPr>
          <p:cNvPr id="5" name="Picture 4" descr="stakeholders-icon.png"/>
          <p:cNvPicPr>
            <a:picLocks noChangeAspect="1"/>
          </p:cNvPicPr>
          <p:nvPr/>
        </p:nvPicPr>
        <p:blipFill>
          <a:blip r:embed="rId3"/>
          <a:stretch>
            <a:fillRect/>
          </a:stretch>
        </p:blipFill>
        <p:spPr>
          <a:xfrm>
            <a:off x="3767328" y="1261872"/>
            <a:ext cx="868680" cy="868680"/>
          </a:xfrm>
          <a:prstGeom prst="rect">
            <a:avLst/>
          </a:prstGeom>
        </p:spPr>
      </p:pic>
      <p:sp>
        <p:nvSpPr>
          <p:cNvPr id="6" name="TextBox 5"/>
          <p:cNvSpPr txBox="1"/>
          <p:nvPr/>
        </p:nvSpPr>
        <p:spPr>
          <a:xfrm>
            <a:off x="2971800" y="2103120"/>
            <a:ext cx="2468880" cy="566928"/>
          </a:xfrm>
          <a:prstGeom prst="rect">
            <a:avLst/>
          </a:prstGeom>
          <a:solidFill>
            <a:srgbClr val="FFCF01"/>
          </a:solidFill>
          <a:ln w="12700">
            <a:solidFill>
              <a:srgbClr val="000000"/>
            </a:solidFill>
          </a:ln>
        </p:spPr>
        <p:txBody>
          <a:bodyPr wrap="square" lIns="45720" rIns="45720">
            <a:spAutoFit/>
          </a:bodyPr>
          <a:lstStyle/>
          <a:p>
            <a:pPr algn="ctr">
              <a:spcAft>
                <a:spcPts val="0"/>
              </a:spcAft>
            </a:pPr>
            <a:r>
              <a:rPr sz="1600" b="1" i="0"/>
              <a:t>Intent</a:t>
            </a:r>
          </a:p>
          <a:p>
            <a:pPr algn="ctr">
              <a:spcAft>
                <a:spcPts val="400"/>
              </a:spcAft>
            </a:pPr>
            <a:r>
              <a:rPr sz="1100" b="0" i="0">
                <a:solidFill>
                  <a:srgbClr val="595959"/>
                </a:solidFill>
              </a:rPr>
              <a:t>the stakeholders; no artifact</a:t>
            </a:r>
          </a:p>
        </p:txBody>
      </p:sp>
      <p:sp>
        <p:nvSpPr>
          <p:cNvPr id="7" name="Rectangle 6"/>
          <p:cNvSpPr/>
          <p:nvPr/>
        </p:nvSpPr>
        <p:spPr>
          <a:xfrm>
            <a:off x="3246120" y="306324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0" i="0">
                <a:solidFill>
                  <a:srgbClr val="000000"/>
                </a:solidFill>
              </a:rPr>
              <a:t>Specifications</a:t>
            </a:r>
          </a:p>
        </p:txBody>
      </p:sp>
      <p:sp>
        <p:nvSpPr>
          <p:cNvPr id="8" name="Rectangle 7"/>
          <p:cNvSpPr/>
          <p:nvPr/>
        </p:nvSpPr>
        <p:spPr>
          <a:xfrm>
            <a:off x="3246120" y="489204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0" i="0">
                <a:solidFill>
                  <a:srgbClr val="000000"/>
                </a:solidFill>
              </a:rPr>
              <a:t>Realization</a:t>
            </a:r>
          </a:p>
        </p:txBody>
      </p:sp>
      <p:cxnSp>
        <p:nvCxnSpPr>
          <p:cNvPr id="9" name="Connector 8"/>
          <p:cNvCxnSpPr/>
          <p:nvPr/>
        </p:nvCxnSpPr>
        <p:spPr>
          <a:xfrm>
            <a:off x="4206240" y="2697480"/>
            <a:ext cx="0" cy="365760"/>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26280" y="3840480"/>
            <a:ext cx="0" cy="1051560"/>
          </a:xfrm>
          <a:prstGeom prst="line">
            <a:avLst/>
          </a:prstGeom>
          <a:ln w="19050">
            <a:solidFill>
              <a:srgbClr val="00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66160" y="3840480"/>
            <a:ext cx="0" cy="1051560"/>
          </a:xfrm>
          <a:prstGeom prst="line">
            <a:avLst/>
          </a:prstGeom>
          <a:ln w="15875">
            <a:solidFill>
              <a:srgbClr val="595959"/>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5285232" y="312724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5285232" y="495604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2542032"/>
            <a:ext cx="1737360" cy="457200"/>
          </a:xfrm>
          <a:prstGeom prst="rect">
            <a:avLst/>
          </a:prstGeom>
          <a:noFill/>
        </p:spPr>
        <p:txBody>
          <a:bodyPr wrap="square" lIns="45720" rIns="45720">
            <a:spAutoFit/>
          </a:bodyPr>
          <a:lstStyle/>
          <a:p>
            <a:pPr algn="l">
              <a:spcAft>
                <a:spcPts val="0"/>
              </a:spcAft>
            </a:pPr>
            <a:r>
              <a:rPr sz="1300" b="1" i="0">
                <a:solidFill>
                  <a:srgbClr val="000000"/>
                </a:solidFill>
              </a:rPr>
              <a:t>VAL</a:t>
            </a:r>
          </a:p>
          <a:p>
            <a:pPr algn="l">
              <a:spcAft>
                <a:spcPts val="400"/>
              </a:spcAft>
            </a:pPr>
            <a:r>
              <a:rPr sz="1050" b="0" i="0">
                <a:solidFill>
                  <a:srgbClr val="595959"/>
                </a:solidFill>
              </a:rPr>
              <a:t>validation</a:t>
            </a:r>
          </a:p>
        </p:txBody>
      </p:sp>
      <p:sp>
        <p:nvSpPr>
          <p:cNvPr id="15" name="TextBox 14"/>
          <p:cNvSpPr txBox="1"/>
          <p:nvPr/>
        </p:nvSpPr>
        <p:spPr>
          <a:xfrm>
            <a:off x="4663440" y="4114800"/>
            <a:ext cx="2011680" cy="457200"/>
          </a:xfrm>
          <a:prstGeom prst="rect">
            <a:avLst/>
          </a:prstGeom>
          <a:noFill/>
        </p:spPr>
        <p:txBody>
          <a:bodyPr wrap="square" lIns="45720" rIns="45720">
            <a:spAutoFit/>
          </a:bodyPr>
          <a:lstStyle/>
          <a:p>
            <a:pPr algn="l">
              <a:spcAft>
                <a:spcPts val="0"/>
              </a:spcAft>
            </a:pPr>
            <a:r>
              <a:rPr sz="1300" b="1" i="0">
                <a:solidFill>
                  <a:srgbClr val="000000"/>
                </a:solidFill>
              </a:rPr>
              <a:t>CONF</a:t>
            </a:r>
          </a:p>
          <a:p>
            <a:pPr algn="l">
              <a:spcAft>
                <a:spcPts val="400"/>
              </a:spcAft>
            </a:pPr>
            <a:r>
              <a:rPr sz="1050" b="0" i="0">
                <a:solidFill>
                  <a:srgbClr val="595959"/>
                </a:solidFill>
              </a:rPr>
              <a:t>conformance, by verification</a:t>
            </a:r>
          </a:p>
        </p:txBody>
      </p:sp>
      <p:sp>
        <p:nvSpPr>
          <p:cNvPr id="16" name="TextBox 15"/>
          <p:cNvSpPr txBox="1"/>
          <p:nvPr/>
        </p:nvSpPr>
        <p:spPr>
          <a:xfrm>
            <a:off x="1828800" y="4114800"/>
            <a:ext cx="1645920" cy="457200"/>
          </a:xfrm>
          <a:prstGeom prst="rect">
            <a:avLst/>
          </a:prstGeom>
          <a:noFill/>
        </p:spPr>
        <p:txBody>
          <a:bodyPr wrap="square" lIns="45720" rIns="45720">
            <a:spAutoFit/>
          </a:bodyPr>
          <a:lstStyle/>
          <a:p>
            <a:pPr algn="r">
              <a:spcAft>
                <a:spcPts val="0"/>
              </a:spcAft>
            </a:pPr>
            <a:r>
              <a:rPr sz="1300" b="1" i="0">
                <a:solidFill>
                  <a:srgbClr val="000000"/>
                </a:solidFill>
              </a:rPr>
              <a:t>TR</a:t>
            </a:r>
          </a:p>
          <a:p>
            <a:pPr algn="r">
              <a:spcAft>
                <a:spcPts val="400"/>
              </a:spcAft>
            </a:pPr>
            <a:r>
              <a:rPr sz="1050" b="0" i="0">
                <a:solidFill>
                  <a:srgbClr val="595959"/>
                </a:solidFill>
              </a:rPr>
              <a:t>traceability</a:t>
            </a:r>
          </a:p>
        </p:txBody>
      </p:sp>
      <p:sp>
        <p:nvSpPr>
          <p:cNvPr id="17" name="TextBox 16"/>
          <p:cNvSpPr txBox="1"/>
          <p:nvPr/>
        </p:nvSpPr>
        <p:spPr>
          <a:xfrm>
            <a:off x="5943600" y="3154680"/>
            <a:ext cx="1920240" cy="457200"/>
          </a:xfrm>
          <a:prstGeom prst="rect">
            <a:avLst/>
          </a:prstGeom>
          <a:noFill/>
        </p:spPr>
        <p:txBody>
          <a:bodyPr wrap="square" lIns="45720" rIns="45720">
            <a:spAutoFit/>
          </a:bodyPr>
          <a:lstStyle/>
          <a:p>
            <a:pPr algn="l">
              <a:spcAft>
                <a:spcPts val="0"/>
              </a:spcAft>
            </a:pPr>
            <a:r>
              <a:rPr sz="1300" b="1" i="0">
                <a:solidFill>
                  <a:srgbClr val="000000"/>
                </a:solidFill>
              </a:rPr>
              <a:t>SQ</a:t>
            </a:r>
          </a:p>
          <a:p>
            <a:pPr algn="l">
              <a:spcAft>
                <a:spcPts val="400"/>
              </a:spcAft>
            </a:pPr>
            <a:r>
              <a:rPr sz="1050" b="0" i="0">
                <a:solidFill>
                  <a:srgbClr val="595959"/>
                </a:solidFill>
              </a:rPr>
              <a:t>specification quality</a:t>
            </a:r>
          </a:p>
        </p:txBody>
      </p:sp>
      <p:sp>
        <p:nvSpPr>
          <p:cNvPr id="18" name="TextBox 17"/>
          <p:cNvSpPr txBox="1"/>
          <p:nvPr/>
        </p:nvSpPr>
        <p:spPr>
          <a:xfrm>
            <a:off x="5943600" y="4983480"/>
            <a:ext cx="1920240" cy="457200"/>
          </a:xfrm>
          <a:prstGeom prst="rect">
            <a:avLst/>
          </a:prstGeom>
          <a:noFill/>
        </p:spPr>
        <p:txBody>
          <a:bodyPr wrap="square" lIns="45720" rIns="45720">
            <a:spAutoFit/>
          </a:bodyPr>
          <a:lstStyle/>
          <a:p>
            <a:pPr algn="l">
              <a:spcAft>
                <a:spcPts val="0"/>
              </a:spcAft>
            </a:pPr>
            <a:r>
              <a:rPr sz="1300" b="1" i="0">
                <a:solidFill>
                  <a:srgbClr val="000000"/>
                </a:solidFill>
              </a:rPr>
              <a:t>RQ</a:t>
            </a:r>
          </a:p>
          <a:p>
            <a:pPr algn="l">
              <a:spcAft>
                <a:spcPts val="400"/>
              </a:spcAft>
            </a:pPr>
            <a:r>
              <a:rPr sz="1050" b="0" i="0">
                <a:solidFill>
                  <a:srgbClr val="595959"/>
                </a:solidFill>
              </a:rPr>
              <a:t>realization quality</a:t>
            </a:r>
          </a:p>
        </p:txBody>
      </p:sp>
      <p:sp>
        <p:nvSpPr>
          <p:cNvPr id="19" name="Rectangle 18"/>
          <p:cNvSpPr/>
          <p:nvPr/>
        </p:nvSpPr>
        <p:spPr>
          <a:xfrm>
            <a:off x="8001000" y="1325880"/>
            <a:ext cx="3794760" cy="160020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What it is</a:t>
            </a:r>
          </a:p>
          <a:p>
            <a:pPr algn="l" marL="182880" indent="-182880">
              <a:spcAft>
                <a:spcPts val="200"/>
              </a:spcAft>
              <a:buChar char="•"/>
            </a:pPr>
            <a:r>
              <a:rPr sz="1200" b="0" i="0">
                <a:solidFill>
                  <a:srgbClr val="000000"/>
                </a:solidFill>
              </a:rPr>
              <a:t>Lives in the stakeholders' minds; never fully written down.</a:t>
            </a:r>
          </a:p>
          <a:p>
            <a:pPr algn="l" marL="182880" indent="-182880">
              <a:spcAft>
                <a:spcPts val="200"/>
              </a:spcAft>
              <a:buChar char="•"/>
            </a:pPr>
            <a:r>
              <a:rPr sz="1200" b="0" i="0">
                <a:solidFill>
                  <a:srgbClr val="000000"/>
                </a:solidFill>
              </a:rPr>
              <a:t>A person cannot enumerate everything they want, and recognizes some of it only when it is missing.</a:t>
            </a:r>
          </a:p>
          <a:p>
            <a:pPr algn="l" marL="182880" indent="-182880">
              <a:spcAft>
                <a:spcPts val="200"/>
              </a:spcAft>
              <a:buChar char="•"/>
            </a:pPr>
            <a:r>
              <a:rPr sz="1200" b="0" i="0">
                <a:solidFill>
                  <a:srgbClr val="000000"/>
                </a:solidFill>
              </a:rPr>
              <a:t>Consulted only by asking a person: "is this what you want?"</a:t>
            </a:r>
          </a:p>
        </p:txBody>
      </p:sp>
      <p:sp>
        <p:nvSpPr>
          <p:cNvPr id="20" name="Rectangle 19"/>
          <p:cNvSpPr/>
          <p:nvPr/>
        </p:nvSpPr>
        <p:spPr>
          <a:xfrm>
            <a:off x="8001000" y="3108960"/>
            <a:ext cx="3794760" cy="160020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In the repository</a:t>
            </a:r>
          </a:p>
          <a:p>
            <a:pPr algn="l" marL="182880" indent="-182880">
              <a:spcAft>
                <a:spcPts val="200"/>
              </a:spcAft>
              <a:buChar char="•"/>
            </a:pPr>
            <a:r>
              <a:rPr sz="1200" b="0" i="0">
                <a:solidFill>
                  <a:srgbClr val="000000"/>
                </a:solidFill>
              </a:rPr>
              <a:t>No file called intent.</a:t>
            </a:r>
          </a:p>
          <a:p>
            <a:pPr algn="l" marL="182880" indent="-182880">
              <a:spcAft>
                <a:spcPts val="200"/>
              </a:spcAft>
              <a:buChar char="•"/>
            </a:pPr>
            <a:r>
              <a:rPr sz="1200" b="0" i="0">
                <a:solidFill>
                  <a:srgbClr val="000000"/>
                </a:solidFill>
              </a:rPr>
              <a:t>The purpose statement that opens the concept of operations is the nearest written thing.</a:t>
            </a:r>
          </a:p>
          <a:p>
            <a:pPr algn="l" marL="182880" indent="-182880">
              <a:spcAft>
                <a:spcPts val="200"/>
              </a:spcAft>
              <a:buChar char="•"/>
            </a:pPr>
            <a:r>
              <a:rPr sz="1200" b="0" i="0">
                <a:solidFill>
                  <a:srgbClr val="000000"/>
                </a:solidFill>
              </a:rPr>
              <a:t>An engineering artifact, agreed and audited; not a transcript of what anyone said.</a:t>
            </a:r>
          </a:p>
        </p:txBody>
      </p:sp>
      <p:sp>
        <p:nvSpPr>
          <p:cNvPr id="21" name="Rectangle 20"/>
          <p:cNvSpPr/>
          <p:nvPr/>
        </p:nvSpPr>
        <p:spPr>
          <a:xfrm>
            <a:off x="8001000" y="4892040"/>
            <a:ext cx="3794760" cy="137160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Consequence</a:t>
            </a:r>
          </a:p>
          <a:p>
            <a:pPr algn="l" marL="182880" indent="-182880">
              <a:spcAft>
                <a:spcPts val="200"/>
              </a:spcAft>
              <a:buChar char="•"/>
            </a:pPr>
            <a:r>
              <a:rPr sz="1200" b="0" i="0">
                <a:solidFill>
                  <a:srgbClr val="000000"/>
                </a:solidFill>
              </a:rPr>
              <a:t>An agent has no access to intent except through a person.</a:t>
            </a:r>
          </a:p>
          <a:p>
            <a:pPr algn="l" marL="182880" indent="-182880">
              <a:spcAft>
                <a:spcPts val="200"/>
              </a:spcAft>
              <a:buChar char="•"/>
            </a:pPr>
            <a:r>
              <a:rPr sz="1200" b="0" i="0">
                <a:solidFill>
                  <a:srgbClr val="000000"/>
                </a:solidFill>
              </a:rPr>
              <a:t>So one judgment, validation, is reserved to a person; and intent stays out of the set of artifacts.</a:t>
            </a:r>
          </a:p>
        </p:txBody>
      </p:sp>
      <p:cxnSp>
        <p:nvCxnSpPr>
          <p:cNvPr id="22" name="Connector 21"/>
          <p:cNvCxnSpPr/>
          <p:nvPr/>
        </p:nvCxnSpPr>
        <p:spPr>
          <a:xfrm flipH="1">
            <a:off x="5440680" y="2011680"/>
            <a:ext cx="2560320" cy="365760"/>
          </a:xfrm>
          <a:prstGeom prst="line">
            <a:avLst/>
          </a:prstGeom>
          <a:ln w="19050">
            <a:solidFill>
              <a:srgbClr val="C0000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Specifications</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9</a:t>
            </a:r>
          </a:p>
        </p:txBody>
      </p:sp>
      <p:pic>
        <p:nvPicPr>
          <p:cNvPr id="5" name="Picture 4" descr="stakeholders-icon.png"/>
          <p:cNvPicPr>
            <a:picLocks noChangeAspect="1"/>
          </p:cNvPicPr>
          <p:nvPr/>
        </p:nvPicPr>
        <p:blipFill>
          <a:blip r:embed="rId3"/>
          <a:stretch>
            <a:fillRect/>
          </a:stretch>
        </p:blipFill>
        <p:spPr>
          <a:xfrm>
            <a:off x="3767328" y="1261872"/>
            <a:ext cx="868680" cy="868680"/>
          </a:xfrm>
          <a:prstGeom prst="rect">
            <a:avLst/>
          </a:prstGeom>
        </p:spPr>
      </p:pic>
      <p:sp>
        <p:nvSpPr>
          <p:cNvPr id="6" name="TextBox 5"/>
          <p:cNvSpPr txBox="1"/>
          <p:nvPr/>
        </p:nvSpPr>
        <p:spPr>
          <a:xfrm>
            <a:off x="2971800" y="2103120"/>
            <a:ext cx="2468880" cy="566928"/>
          </a:xfrm>
          <a:prstGeom prst="rect">
            <a:avLst/>
          </a:prstGeom>
          <a:noFill/>
        </p:spPr>
        <p:txBody>
          <a:bodyPr wrap="square" lIns="45720" rIns="45720">
            <a:spAutoFit/>
          </a:bodyPr>
          <a:lstStyle/>
          <a:p>
            <a:pPr algn="ctr">
              <a:spcAft>
                <a:spcPts val="0"/>
              </a:spcAft>
            </a:pPr>
            <a:r>
              <a:rPr sz="1600" b="1" i="0"/>
              <a:t>Intent</a:t>
            </a:r>
          </a:p>
          <a:p>
            <a:pPr algn="ctr">
              <a:spcAft>
                <a:spcPts val="400"/>
              </a:spcAft>
            </a:pPr>
            <a:r>
              <a:rPr sz="1100" b="0" i="0">
                <a:solidFill>
                  <a:srgbClr val="595959"/>
                </a:solidFill>
              </a:rPr>
              <a:t>the stakeholders; no artifact</a:t>
            </a:r>
          </a:p>
        </p:txBody>
      </p:sp>
      <p:sp>
        <p:nvSpPr>
          <p:cNvPr id="7" name="Rectangle 6"/>
          <p:cNvSpPr/>
          <p:nvPr/>
        </p:nvSpPr>
        <p:spPr>
          <a:xfrm>
            <a:off x="3246120" y="3063240"/>
            <a:ext cx="1920240" cy="777240"/>
          </a:xfrm>
          <a:prstGeom prst="rect">
            <a:avLst/>
          </a:prstGeom>
          <a:solidFill>
            <a:srgbClr val="FFCF01"/>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1" i="0">
                <a:solidFill>
                  <a:srgbClr val="000000"/>
                </a:solidFill>
              </a:rPr>
              <a:t>Specifications</a:t>
            </a:r>
          </a:p>
        </p:txBody>
      </p:sp>
      <p:sp>
        <p:nvSpPr>
          <p:cNvPr id="8" name="Rectangle 7"/>
          <p:cNvSpPr/>
          <p:nvPr/>
        </p:nvSpPr>
        <p:spPr>
          <a:xfrm>
            <a:off x="3246120" y="489204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0" i="0">
                <a:solidFill>
                  <a:srgbClr val="000000"/>
                </a:solidFill>
              </a:rPr>
              <a:t>Realization</a:t>
            </a:r>
          </a:p>
        </p:txBody>
      </p:sp>
      <p:cxnSp>
        <p:nvCxnSpPr>
          <p:cNvPr id="9" name="Connector 8"/>
          <p:cNvCxnSpPr/>
          <p:nvPr/>
        </p:nvCxnSpPr>
        <p:spPr>
          <a:xfrm>
            <a:off x="4206240" y="2697480"/>
            <a:ext cx="0" cy="365760"/>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26280" y="3840480"/>
            <a:ext cx="0" cy="1051560"/>
          </a:xfrm>
          <a:prstGeom prst="line">
            <a:avLst/>
          </a:prstGeom>
          <a:ln w="19050">
            <a:solidFill>
              <a:srgbClr val="00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66160" y="3840480"/>
            <a:ext cx="0" cy="1051560"/>
          </a:xfrm>
          <a:prstGeom prst="line">
            <a:avLst/>
          </a:prstGeom>
          <a:ln w="15875">
            <a:solidFill>
              <a:srgbClr val="595959"/>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5285232" y="312724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5285232" y="495604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2542032"/>
            <a:ext cx="1737360" cy="457200"/>
          </a:xfrm>
          <a:prstGeom prst="rect">
            <a:avLst/>
          </a:prstGeom>
          <a:noFill/>
        </p:spPr>
        <p:txBody>
          <a:bodyPr wrap="square" lIns="45720" rIns="45720">
            <a:spAutoFit/>
          </a:bodyPr>
          <a:lstStyle/>
          <a:p>
            <a:pPr algn="l">
              <a:spcAft>
                <a:spcPts val="0"/>
              </a:spcAft>
            </a:pPr>
            <a:r>
              <a:rPr sz="1300" b="1" i="0">
                <a:solidFill>
                  <a:srgbClr val="000000"/>
                </a:solidFill>
              </a:rPr>
              <a:t>VAL</a:t>
            </a:r>
          </a:p>
          <a:p>
            <a:pPr algn="l">
              <a:spcAft>
                <a:spcPts val="400"/>
              </a:spcAft>
            </a:pPr>
            <a:r>
              <a:rPr sz="1050" b="0" i="0">
                <a:solidFill>
                  <a:srgbClr val="595959"/>
                </a:solidFill>
              </a:rPr>
              <a:t>validation</a:t>
            </a:r>
          </a:p>
        </p:txBody>
      </p:sp>
      <p:sp>
        <p:nvSpPr>
          <p:cNvPr id="15" name="TextBox 14"/>
          <p:cNvSpPr txBox="1"/>
          <p:nvPr/>
        </p:nvSpPr>
        <p:spPr>
          <a:xfrm>
            <a:off x="4663440" y="4114800"/>
            <a:ext cx="2011680" cy="457200"/>
          </a:xfrm>
          <a:prstGeom prst="rect">
            <a:avLst/>
          </a:prstGeom>
          <a:noFill/>
        </p:spPr>
        <p:txBody>
          <a:bodyPr wrap="square" lIns="45720" rIns="45720">
            <a:spAutoFit/>
          </a:bodyPr>
          <a:lstStyle/>
          <a:p>
            <a:pPr algn="l">
              <a:spcAft>
                <a:spcPts val="0"/>
              </a:spcAft>
            </a:pPr>
            <a:r>
              <a:rPr sz="1300" b="1" i="0">
                <a:solidFill>
                  <a:srgbClr val="000000"/>
                </a:solidFill>
              </a:rPr>
              <a:t>CONF</a:t>
            </a:r>
          </a:p>
          <a:p>
            <a:pPr algn="l">
              <a:spcAft>
                <a:spcPts val="400"/>
              </a:spcAft>
            </a:pPr>
            <a:r>
              <a:rPr sz="1050" b="0" i="0">
                <a:solidFill>
                  <a:srgbClr val="595959"/>
                </a:solidFill>
              </a:rPr>
              <a:t>conformance, by verification</a:t>
            </a:r>
          </a:p>
        </p:txBody>
      </p:sp>
      <p:sp>
        <p:nvSpPr>
          <p:cNvPr id="16" name="TextBox 15"/>
          <p:cNvSpPr txBox="1"/>
          <p:nvPr/>
        </p:nvSpPr>
        <p:spPr>
          <a:xfrm>
            <a:off x="1828800" y="4114800"/>
            <a:ext cx="1645920" cy="457200"/>
          </a:xfrm>
          <a:prstGeom prst="rect">
            <a:avLst/>
          </a:prstGeom>
          <a:noFill/>
        </p:spPr>
        <p:txBody>
          <a:bodyPr wrap="square" lIns="45720" rIns="45720">
            <a:spAutoFit/>
          </a:bodyPr>
          <a:lstStyle/>
          <a:p>
            <a:pPr algn="r">
              <a:spcAft>
                <a:spcPts val="0"/>
              </a:spcAft>
            </a:pPr>
            <a:r>
              <a:rPr sz="1300" b="1" i="0">
                <a:solidFill>
                  <a:srgbClr val="000000"/>
                </a:solidFill>
              </a:rPr>
              <a:t>TR</a:t>
            </a:r>
          </a:p>
          <a:p>
            <a:pPr algn="r">
              <a:spcAft>
                <a:spcPts val="400"/>
              </a:spcAft>
            </a:pPr>
            <a:r>
              <a:rPr sz="1050" b="0" i="0">
                <a:solidFill>
                  <a:srgbClr val="595959"/>
                </a:solidFill>
              </a:rPr>
              <a:t>traceability</a:t>
            </a:r>
          </a:p>
        </p:txBody>
      </p:sp>
      <p:sp>
        <p:nvSpPr>
          <p:cNvPr id="17" name="TextBox 16"/>
          <p:cNvSpPr txBox="1"/>
          <p:nvPr/>
        </p:nvSpPr>
        <p:spPr>
          <a:xfrm>
            <a:off x="5943600" y="3154680"/>
            <a:ext cx="1920240" cy="457200"/>
          </a:xfrm>
          <a:prstGeom prst="rect">
            <a:avLst/>
          </a:prstGeom>
          <a:noFill/>
        </p:spPr>
        <p:txBody>
          <a:bodyPr wrap="square" lIns="45720" rIns="45720">
            <a:spAutoFit/>
          </a:bodyPr>
          <a:lstStyle/>
          <a:p>
            <a:pPr algn="l">
              <a:spcAft>
                <a:spcPts val="0"/>
              </a:spcAft>
            </a:pPr>
            <a:r>
              <a:rPr sz="1300" b="1" i="0">
                <a:solidFill>
                  <a:srgbClr val="000000"/>
                </a:solidFill>
              </a:rPr>
              <a:t>SQ</a:t>
            </a:r>
          </a:p>
          <a:p>
            <a:pPr algn="l">
              <a:spcAft>
                <a:spcPts val="400"/>
              </a:spcAft>
            </a:pPr>
            <a:r>
              <a:rPr sz="1050" b="0" i="0">
                <a:solidFill>
                  <a:srgbClr val="595959"/>
                </a:solidFill>
              </a:rPr>
              <a:t>specification quality</a:t>
            </a:r>
          </a:p>
        </p:txBody>
      </p:sp>
      <p:sp>
        <p:nvSpPr>
          <p:cNvPr id="18" name="TextBox 17"/>
          <p:cNvSpPr txBox="1"/>
          <p:nvPr/>
        </p:nvSpPr>
        <p:spPr>
          <a:xfrm>
            <a:off x="5943600" y="4983480"/>
            <a:ext cx="1920240" cy="457200"/>
          </a:xfrm>
          <a:prstGeom prst="rect">
            <a:avLst/>
          </a:prstGeom>
          <a:noFill/>
        </p:spPr>
        <p:txBody>
          <a:bodyPr wrap="square" lIns="45720" rIns="45720">
            <a:spAutoFit/>
          </a:bodyPr>
          <a:lstStyle/>
          <a:p>
            <a:pPr algn="l">
              <a:spcAft>
                <a:spcPts val="0"/>
              </a:spcAft>
            </a:pPr>
            <a:r>
              <a:rPr sz="1300" b="1" i="0">
                <a:solidFill>
                  <a:srgbClr val="000000"/>
                </a:solidFill>
              </a:rPr>
              <a:t>RQ</a:t>
            </a:r>
          </a:p>
          <a:p>
            <a:pPr algn="l">
              <a:spcAft>
                <a:spcPts val="400"/>
              </a:spcAft>
            </a:pPr>
            <a:r>
              <a:rPr sz="1050" b="0" i="0">
                <a:solidFill>
                  <a:srgbClr val="595959"/>
                </a:solidFill>
              </a:rPr>
              <a:t>realization quality</a:t>
            </a:r>
          </a:p>
        </p:txBody>
      </p:sp>
      <p:sp>
        <p:nvSpPr>
          <p:cNvPr id="19" name="Rectangle 18"/>
          <p:cNvSpPr/>
          <p:nvPr/>
        </p:nvSpPr>
        <p:spPr>
          <a:xfrm>
            <a:off x="8001000" y="1325880"/>
            <a:ext cx="3794760" cy="205740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Forms in A0</a:t>
            </a:r>
          </a:p>
          <a:p>
            <a:pPr algn="l" marL="182880" indent="-182880">
              <a:spcAft>
                <a:spcPts val="200"/>
              </a:spcAft>
              <a:buChar char="•"/>
            </a:pPr>
            <a:r>
              <a:rPr sz="1200" b="0" i="0">
                <a:solidFill>
                  <a:srgbClr val="000000"/>
                </a:solidFill>
              </a:rPr>
              <a:t>Concept of operations: purpose, scope and terms, user categories, user stories</a:t>
            </a:r>
          </a:p>
          <a:p>
            <a:pPr algn="l" marL="182880" indent="-182880">
              <a:spcAft>
                <a:spcPts val="200"/>
              </a:spcAft>
              <a:buChar char="•"/>
            </a:pPr>
            <a:r>
              <a:rPr sz="1200" b="0" i="0">
                <a:solidFill>
                  <a:srgbClr val="000000"/>
                </a:solidFill>
              </a:rPr>
              <a:t>Requirements: identified clauses, each with a method</a:t>
            </a:r>
          </a:p>
          <a:p>
            <a:pPr algn="l" marL="182880" indent="-182880">
              <a:spcAft>
                <a:spcPts val="200"/>
              </a:spcAft>
              <a:buChar char="•"/>
            </a:pPr>
            <a:r>
              <a:rPr sz="1100" b="0" i="0">
                <a:solidFill>
                  <a:srgbClr val="000000"/>
                </a:solidFill>
              </a:rPr>
              <a:t>Later: glossary, architecture, data format, contracts, state machines, sequence charts</a:t>
            </a:r>
          </a:p>
        </p:txBody>
      </p:sp>
      <p:sp>
        <p:nvSpPr>
          <p:cNvPr id="20" name="Rectangle 19"/>
          <p:cNvSpPr/>
          <p:nvPr/>
        </p:nvSpPr>
        <p:spPr>
          <a:xfrm>
            <a:off x="8001000" y="3566160"/>
            <a:ext cx="3794760" cy="146304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Role</a:t>
            </a:r>
          </a:p>
          <a:p>
            <a:pPr algn="l" marL="182880" indent="-182880">
              <a:spcAft>
                <a:spcPts val="200"/>
              </a:spcAft>
              <a:buChar char="•"/>
            </a:pPr>
            <a:r>
              <a:rPr sz="1200" b="0" i="0">
                <a:solidFill>
                  <a:srgbClr val="000000"/>
                </a:solidFill>
              </a:rPr>
              <a:t>Captures intent (should conform to it)</a:t>
            </a:r>
          </a:p>
          <a:p>
            <a:pPr algn="l" marL="182880" indent="-182880">
              <a:spcAft>
                <a:spcPts val="200"/>
              </a:spcAft>
              <a:buChar char="•"/>
            </a:pPr>
            <a:r>
              <a:rPr sz="1200" b="0" i="0">
                <a:solidFill>
                  <a:srgbClr val="000000"/>
                </a:solidFill>
              </a:rPr>
              <a:t>Directs the work: what the agent is told to build</a:t>
            </a:r>
          </a:p>
          <a:p>
            <a:pPr algn="l" marL="182880" indent="-182880">
              <a:spcAft>
                <a:spcPts val="200"/>
              </a:spcAft>
              <a:buChar char="•"/>
            </a:pPr>
            <a:r>
              <a:rPr sz="1200" b="0" i="0">
                <a:solidFill>
                  <a:srgbClr val="000000"/>
                </a:solidFill>
              </a:rPr>
              <a:t>Summarizes the system; an abstraction of the realization</a:t>
            </a:r>
          </a:p>
        </p:txBody>
      </p:sp>
      <p:sp>
        <p:nvSpPr>
          <p:cNvPr id="21" name="Rectangle 20"/>
          <p:cNvSpPr/>
          <p:nvPr/>
        </p:nvSpPr>
        <p:spPr>
          <a:xfrm>
            <a:off x="8001000" y="5212080"/>
            <a:ext cx="3794760" cy="105156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The unit is the clause</a:t>
            </a:r>
          </a:p>
          <a:p>
            <a:pPr algn="l">
              <a:spcAft>
                <a:spcPts val="200"/>
              </a:spcAft>
            </a:pPr>
            <a:r>
              <a:rPr sz="1200" b="1" i="0">
                <a:solidFill>
                  <a:srgbClr val="000000"/>
                </a:solidFill>
              </a:rPr>
              <a:t>identifier · verification method · derived from</a:t>
            </a:r>
          </a:p>
        </p:txBody>
      </p:sp>
      <p:cxnSp>
        <p:nvCxnSpPr>
          <p:cNvPr id="22" name="Connector 21"/>
          <p:cNvCxnSpPr/>
          <p:nvPr/>
        </p:nvCxnSpPr>
        <p:spPr>
          <a:xfrm flipH="1">
            <a:off x="5212080" y="2286000"/>
            <a:ext cx="2788920" cy="1005840"/>
          </a:xfrm>
          <a:prstGeom prst="line">
            <a:avLst/>
          </a:prstGeom>
          <a:ln w="19050">
            <a:solidFill>
              <a:srgbClr val="C0000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Specification quality (SQ)</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10</a:t>
            </a:r>
          </a:p>
        </p:txBody>
      </p:sp>
      <p:pic>
        <p:nvPicPr>
          <p:cNvPr id="5" name="Picture 4" descr="stakeholders-icon.png"/>
          <p:cNvPicPr>
            <a:picLocks noChangeAspect="1"/>
          </p:cNvPicPr>
          <p:nvPr/>
        </p:nvPicPr>
        <p:blipFill>
          <a:blip r:embed="rId3"/>
          <a:stretch>
            <a:fillRect/>
          </a:stretch>
        </p:blipFill>
        <p:spPr>
          <a:xfrm>
            <a:off x="3767328" y="1261872"/>
            <a:ext cx="868680" cy="868680"/>
          </a:xfrm>
          <a:prstGeom prst="rect">
            <a:avLst/>
          </a:prstGeom>
        </p:spPr>
      </p:pic>
      <p:sp>
        <p:nvSpPr>
          <p:cNvPr id="6" name="TextBox 5"/>
          <p:cNvSpPr txBox="1"/>
          <p:nvPr/>
        </p:nvSpPr>
        <p:spPr>
          <a:xfrm>
            <a:off x="2971800" y="2103120"/>
            <a:ext cx="2468880" cy="566928"/>
          </a:xfrm>
          <a:prstGeom prst="rect">
            <a:avLst/>
          </a:prstGeom>
          <a:noFill/>
        </p:spPr>
        <p:txBody>
          <a:bodyPr wrap="square" lIns="45720" rIns="45720">
            <a:spAutoFit/>
          </a:bodyPr>
          <a:lstStyle/>
          <a:p>
            <a:pPr algn="ctr">
              <a:spcAft>
                <a:spcPts val="0"/>
              </a:spcAft>
            </a:pPr>
            <a:r>
              <a:rPr sz="1600" b="1" i="0"/>
              <a:t>Intent</a:t>
            </a:r>
          </a:p>
          <a:p>
            <a:pPr algn="ctr">
              <a:spcAft>
                <a:spcPts val="400"/>
              </a:spcAft>
            </a:pPr>
            <a:r>
              <a:rPr sz="1100" b="0" i="0">
                <a:solidFill>
                  <a:srgbClr val="595959"/>
                </a:solidFill>
              </a:rPr>
              <a:t>the stakeholders; no artifact</a:t>
            </a:r>
          </a:p>
        </p:txBody>
      </p:sp>
      <p:sp>
        <p:nvSpPr>
          <p:cNvPr id="7" name="Rectangle 6"/>
          <p:cNvSpPr/>
          <p:nvPr/>
        </p:nvSpPr>
        <p:spPr>
          <a:xfrm>
            <a:off x="3246120" y="306324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0" i="0">
                <a:solidFill>
                  <a:srgbClr val="000000"/>
                </a:solidFill>
              </a:rPr>
              <a:t>Specifications</a:t>
            </a:r>
          </a:p>
        </p:txBody>
      </p:sp>
      <p:sp>
        <p:nvSpPr>
          <p:cNvPr id="8" name="Rectangle 7"/>
          <p:cNvSpPr/>
          <p:nvPr/>
        </p:nvSpPr>
        <p:spPr>
          <a:xfrm>
            <a:off x="3246120" y="489204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0" i="0">
                <a:solidFill>
                  <a:srgbClr val="000000"/>
                </a:solidFill>
              </a:rPr>
              <a:t>Realization</a:t>
            </a:r>
          </a:p>
        </p:txBody>
      </p:sp>
      <p:cxnSp>
        <p:nvCxnSpPr>
          <p:cNvPr id="9" name="Connector 8"/>
          <p:cNvCxnSpPr/>
          <p:nvPr/>
        </p:nvCxnSpPr>
        <p:spPr>
          <a:xfrm>
            <a:off x="4206240" y="2697480"/>
            <a:ext cx="0" cy="365760"/>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26280" y="3840480"/>
            <a:ext cx="0" cy="1051560"/>
          </a:xfrm>
          <a:prstGeom prst="line">
            <a:avLst/>
          </a:prstGeom>
          <a:ln w="19050">
            <a:solidFill>
              <a:srgbClr val="00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66160" y="3840480"/>
            <a:ext cx="0" cy="1051560"/>
          </a:xfrm>
          <a:prstGeom prst="line">
            <a:avLst/>
          </a:prstGeom>
          <a:ln w="15875">
            <a:solidFill>
              <a:srgbClr val="595959"/>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5285232" y="3127248"/>
            <a:ext cx="566928" cy="640080"/>
          </a:xfrm>
          <a:prstGeom prst="uturnArrow">
            <a:avLst/>
          </a:prstGeom>
          <a:solidFill>
            <a:srgbClr val="6E1E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5285232" y="495604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2542032"/>
            <a:ext cx="1737360" cy="457200"/>
          </a:xfrm>
          <a:prstGeom prst="rect">
            <a:avLst/>
          </a:prstGeom>
          <a:noFill/>
        </p:spPr>
        <p:txBody>
          <a:bodyPr wrap="square" lIns="45720" rIns="45720">
            <a:spAutoFit/>
          </a:bodyPr>
          <a:lstStyle/>
          <a:p>
            <a:pPr algn="l">
              <a:spcAft>
                <a:spcPts val="0"/>
              </a:spcAft>
            </a:pPr>
            <a:r>
              <a:rPr sz="1300" b="1" i="0">
                <a:solidFill>
                  <a:srgbClr val="000000"/>
                </a:solidFill>
              </a:rPr>
              <a:t>VAL</a:t>
            </a:r>
          </a:p>
          <a:p>
            <a:pPr algn="l">
              <a:spcAft>
                <a:spcPts val="400"/>
              </a:spcAft>
            </a:pPr>
            <a:r>
              <a:rPr sz="1050" b="0" i="0">
                <a:solidFill>
                  <a:srgbClr val="595959"/>
                </a:solidFill>
              </a:rPr>
              <a:t>validation</a:t>
            </a:r>
          </a:p>
        </p:txBody>
      </p:sp>
      <p:sp>
        <p:nvSpPr>
          <p:cNvPr id="15" name="TextBox 14"/>
          <p:cNvSpPr txBox="1"/>
          <p:nvPr/>
        </p:nvSpPr>
        <p:spPr>
          <a:xfrm>
            <a:off x="4663440" y="4114800"/>
            <a:ext cx="2011680" cy="457200"/>
          </a:xfrm>
          <a:prstGeom prst="rect">
            <a:avLst/>
          </a:prstGeom>
          <a:noFill/>
        </p:spPr>
        <p:txBody>
          <a:bodyPr wrap="square" lIns="45720" rIns="45720">
            <a:spAutoFit/>
          </a:bodyPr>
          <a:lstStyle/>
          <a:p>
            <a:pPr algn="l">
              <a:spcAft>
                <a:spcPts val="0"/>
              </a:spcAft>
            </a:pPr>
            <a:r>
              <a:rPr sz="1300" b="1" i="0">
                <a:solidFill>
                  <a:srgbClr val="000000"/>
                </a:solidFill>
              </a:rPr>
              <a:t>CONF</a:t>
            </a:r>
          </a:p>
          <a:p>
            <a:pPr algn="l">
              <a:spcAft>
                <a:spcPts val="400"/>
              </a:spcAft>
            </a:pPr>
            <a:r>
              <a:rPr sz="1050" b="0" i="0">
                <a:solidFill>
                  <a:srgbClr val="595959"/>
                </a:solidFill>
              </a:rPr>
              <a:t>conformance, by verification</a:t>
            </a:r>
          </a:p>
        </p:txBody>
      </p:sp>
      <p:sp>
        <p:nvSpPr>
          <p:cNvPr id="16" name="TextBox 15"/>
          <p:cNvSpPr txBox="1"/>
          <p:nvPr/>
        </p:nvSpPr>
        <p:spPr>
          <a:xfrm>
            <a:off x="1828800" y="4114800"/>
            <a:ext cx="1645920" cy="457200"/>
          </a:xfrm>
          <a:prstGeom prst="rect">
            <a:avLst/>
          </a:prstGeom>
          <a:noFill/>
        </p:spPr>
        <p:txBody>
          <a:bodyPr wrap="square" lIns="45720" rIns="45720">
            <a:spAutoFit/>
          </a:bodyPr>
          <a:lstStyle/>
          <a:p>
            <a:pPr algn="r">
              <a:spcAft>
                <a:spcPts val="0"/>
              </a:spcAft>
            </a:pPr>
            <a:r>
              <a:rPr sz="1300" b="1" i="0">
                <a:solidFill>
                  <a:srgbClr val="000000"/>
                </a:solidFill>
              </a:rPr>
              <a:t>TR</a:t>
            </a:r>
          </a:p>
          <a:p>
            <a:pPr algn="r">
              <a:spcAft>
                <a:spcPts val="400"/>
              </a:spcAft>
            </a:pPr>
            <a:r>
              <a:rPr sz="1050" b="0" i="0">
                <a:solidFill>
                  <a:srgbClr val="595959"/>
                </a:solidFill>
              </a:rPr>
              <a:t>traceability</a:t>
            </a:r>
          </a:p>
        </p:txBody>
      </p:sp>
      <p:sp>
        <p:nvSpPr>
          <p:cNvPr id="17" name="TextBox 16"/>
          <p:cNvSpPr txBox="1"/>
          <p:nvPr/>
        </p:nvSpPr>
        <p:spPr>
          <a:xfrm>
            <a:off x="5943600" y="3154680"/>
            <a:ext cx="1920240" cy="457200"/>
          </a:xfrm>
          <a:prstGeom prst="rect">
            <a:avLst/>
          </a:prstGeom>
          <a:solidFill>
            <a:srgbClr val="FFF3B0"/>
          </a:solidFill>
          <a:ln w="12700">
            <a:solidFill>
              <a:srgbClr val="000000"/>
            </a:solidFill>
          </a:ln>
        </p:spPr>
        <p:txBody>
          <a:bodyPr wrap="square" lIns="45720" rIns="45720">
            <a:spAutoFit/>
          </a:bodyPr>
          <a:lstStyle/>
          <a:p>
            <a:pPr algn="l">
              <a:spcAft>
                <a:spcPts val="0"/>
              </a:spcAft>
            </a:pPr>
            <a:r>
              <a:rPr sz="1300" b="1" i="0">
                <a:solidFill>
                  <a:srgbClr val="6E1EC6"/>
                </a:solidFill>
              </a:rPr>
              <a:t>SQ</a:t>
            </a:r>
          </a:p>
          <a:p>
            <a:pPr algn="l">
              <a:spcAft>
                <a:spcPts val="400"/>
              </a:spcAft>
            </a:pPr>
            <a:r>
              <a:rPr sz="1050" b="0" i="0">
                <a:solidFill>
                  <a:srgbClr val="595959"/>
                </a:solidFill>
              </a:rPr>
              <a:t>specification quality</a:t>
            </a:r>
          </a:p>
        </p:txBody>
      </p:sp>
      <p:sp>
        <p:nvSpPr>
          <p:cNvPr id="18" name="TextBox 17"/>
          <p:cNvSpPr txBox="1"/>
          <p:nvPr/>
        </p:nvSpPr>
        <p:spPr>
          <a:xfrm>
            <a:off x="5943600" y="4983480"/>
            <a:ext cx="1920240" cy="457200"/>
          </a:xfrm>
          <a:prstGeom prst="rect">
            <a:avLst/>
          </a:prstGeom>
          <a:noFill/>
        </p:spPr>
        <p:txBody>
          <a:bodyPr wrap="square" lIns="45720" rIns="45720">
            <a:spAutoFit/>
          </a:bodyPr>
          <a:lstStyle/>
          <a:p>
            <a:pPr algn="l">
              <a:spcAft>
                <a:spcPts val="0"/>
              </a:spcAft>
            </a:pPr>
            <a:r>
              <a:rPr sz="1300" b="1" i="0">
                <a:solidFill>
                  <a:srgbClr val="000000"/>
                </a:solidFill>
              </a:rPr>
              <a:t>RQ</a:t>
            </a:r>
          </a:p>
          <a:p>
            <a:pPr algn="l">
              <a:spcAft>
                <a:spcPts val="400"/>
              </a:spcAft>
            </a:pPr>
            <a:r>
              <a:rPr sz="1050" b="0" i="0">
                <a:solidFill>
                  <a:srgbClr val="595959"/>
                </a:solidFill>
              </a:rPr>
              <a:t>realization quality</a:t>
            </a:r>
          </a:p>
        </p:txBody>
      </p:sp>
      <p:sp>
        <p:nvSpPr>
          <p:cNvPr id="19" name="Rectangle 18"/>
          <p:cNvSpPr/>
          <p:nvPr/>
        </p:nvSpPr>
        <p:spPr>
          <a:xfrm>
            <a:off x="8001000" y="1325880"/>
            <a:ext cx="3794760" cy="283464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250" b="1" i="0">
                <a:solidFill>
                  <a:srgbClr val="000000"/>
                </a:solidFill>
              </a:rPr>
              <a:t>The question SQ asks</a:t>
            </a:r>
          </a:p>
          <a:p>
            <a:pPr algn="l" marL="182880" indent="-182880">
              <a:spcAft>
                <a:spcPts val="200"/>
              </a:spcAft>
              <a:buChar char="•"/>
            </a:pPr>
            <a:r>
              <a:rPr sz="1150" b="1" i="0">
                <a:solidFill>
                  <a:srgbClr val="000000"/>
                </a:solidFill>
              </a:rPr>
              <a:t>Well-formed</a:t>
            </a:r>
            <a:r>
              <a:rPr sz="1150" b="0" i="0">
                <a:solidFill>
                  <a:srgbClr val="000000"/>
                </a:solidFill>
              </a:rPr>
              <a:t> — every clause has an identifier and a method, in a form a program can read</a:t>
            </a:r>
          </a:p>
          <a:p>
            <a:pPr algn="l" marL="182880" indent="-182880">
              <a:spcAft>
                <a:spcPts val="200"/>
              </a:spcAft>
              <a:buChar char="•"/>
            </a:pPr>
            <a:r>
              <a:rPr sz="1150" b="1" i="0">
                <a:solidFill>
                  <a:srgbClr val="000000"/>
                </a:solidFill>
              </a:rPr>
              <a:t>Unambiguous</a:t>
            </a:r>
            <a:r>
              <a:rPr sz="1150" b="0" i="0">
                <a:solidFill>
                  <a:srgbClr val="000000"/>
                </a:solidFill>
              </a:rPr>
              <a:t> — one reading, so a verifier reaches yes or no</a:t>
            </a:r>
          </a:p>
          <a:p>
            <a:pPr algn="l" marL="182880" indent="-182880">
              <a:spcAft>
                <a:spcPts val="200"/>
              </a:spcAft>
              <a:buChar char="•"/>
            </a:pPr>
            <a:r>
              <a:rPr sz="1150" b="1" i="0">
                <a:solidFill>
                  <a:srgbClr val="000000"/>
                </a:solidFill>
              </a:rPr>
              <a:t>Internally consistent</a:t>
            </a:r>
            <a:r>
              <a:rPr sz="1150" b="0" i="0">
                <a:solidFill>
                  <a:srgbClr val="000000"/>
                </a:solidFill>
              </a:rPr>
              <a:t> — no two clauses contradict</a:t>
            </a:r>
          </a:p>
          <a:p>
            <a:pPr algn="l" marL="182880" indent="-182880">
              <a:spcAft>
                <a:spcPts val="200"/>
              </a:spcAft>
              <a:buChar char="•"/>
            </a:pPr>
            <a:r>
              <a:rPr sz="1150" b="1" i="0">
                <a:solidFill>
                  <a:srgbClr val="000000"/>
                </a:solidFill>
              </a:rPr>
              <a:t>Externally consistent</a:t>
            </a:r>
            <a:r>
              <a:rPr sz="1150" b="0" i="0">
                <a:solidFill>
                  <a:srgbClr val="000000"/>
                </a:solidFill>
              </a:rPr>
              <a:t> — the documents of the family agree; the same terms in the same sense</a:t>
            </a:r>
          </a:p>
          <a:p>
            <a:pPr algn="l" marL="182880" indent="-182880">
              <a:spcAft>
                <a:spcPts val="200"/>
              </a:spcAft>
              <a:buChar char="•"/>
            </a:pPr>
            <a:r>
              <a:rPr sz="1150" b="1" i="0">
                <a:solidFill>
                  <a:srgbClr val="000000"/>
                </a:solidFill>
              </a:rPr>
              <a:t>Complete for its level</a:t>
            </a:r>
            <a:r>
              <a:rPr sz="1150" b="0" i="0">
                <a:solidFill>
                  <a:srgbClr val="000000"/>
                </a:solidFill>
              </a:rPr>
              <a:t> — nothing missing at the chosen abstraction</a:t>
            </a:r>
          </a:p>
        </p:txBody>
      </p:sp>
      <p:sp>
        <p:nvSpPr>
          <p:cNvPr id="20" name="Rectangle 19"/>
          <p:cNvSpPr/>
          <p:nvPr/>
        </p:nvSpPr>
        <p:spPr>
          <a:xfrm>
            <a:off x="8001000" y="4343400"/>
            <a:ext cx="3794760" cy="192024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250" b="1" i="0">
                <a:solidFill>
                  <a:srgbClr val="000000"/>
                </a:solidFill>
              </a:rPr>
              <a:t>And</a:t>
            </a:r>
          </a:p>
          <a:p>
            <a:pPr algn="l" marL="182880" indent="-182880">
              <a:spcAft>
                <a:spcPts val="200"/>
              </a:spcAft>
              <a:buChar char="•"/>
            </a:pPr>
            <a:r>
              <a:rPr sz="1150" b="0" i="0">
                <a:solidFill>
                  <a:srgbClr val="000000"/>
                </a:solidFill>
              </a:rPr>
              <a:t>Traceability is tracked as its own judgment, TR</a:t>
            </a:r>
          </a:p>
          <a:p>
            <a:pPr algn="l" marL="182880" indent="-182880">
              <a:spcAft>
                <a:spcPts val="200"/>
              </a:spcAft>
              <a:buChar char="•"/>
            </a:pPr>
            <a:r>
              <a:rPr sz="1150" b="0" i="0">
                <a:solidFill>
                  <a:srgbClr val="000000"/>
                </a:solidFill>
              </a:rPr>
              <a:t>In A0: a person reads the seven clauses together and records it (rule SQ-1)</a:t>
            </a:r>
          </a:p>
          <a:p>
            <a:pPr algn="l" marL="182880" indent="-182880">
              <a:spcAft>
                <a:spcPts val="200"/>
              </a:spcAft>
              <a:buChar char="•"/>
            </a:pPr>
            <a:r>
              <a:rPr sz="1150" b="0" i="0">
                <a:solidFill>
                  <a:srgbClr val="000000"/>
                </a:solidFill>
              </a:rPr>
              <a:t>Next lecture: the audit as a procedure, by a person, then an agent, then a skill, on gaps placed on purpose</a:t>
            </a:r>
          </a:p>
        </p:txBody>
      </p:sp>
      <p:cxnSp>
        <p:nvCxnSpPr>
          <p:cNvPr id="21" name="Connector 20"/>
          <p:cNvCxnSpPr/>
          <p:nvPr/>
        </p:nvCxnSpPr>
        <p:spPr>
          <a:xfrm flipH="1">
            <a:off x="5897880" y="2926080"/>
            <a:ext cx="2103120" cy="502920"/>
          </a:xfrm>
          <a:prstGeom prst="line">
            <a:avLst/>
          </a:prstGeom>
          <a:ln w="19050">
            <a:solidFill>
              <a:srgbClr val="C0000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Realization, and realization quality (RQ)</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11</a:t>
            </a:r>
          </a:p>
        </p:txBody>
      </p:sp>
      <p:pic>
        <p:nvPicPr>
          <p:cNvPr id="5" name="Picture 4" descr="stakeholders-icon.png"/>
          <p:cNvPicPr>
            <a:picLocks noChangeAspect="1"/>
          </p:cNvPicPr>
          <p:nvPr/>
        </p:nvPicPr>
        <p:blipFill>
          <a:blip r:embed="rId3"/>
          <a:stretch>
            <a:fillRect/>
          </a:stretch>
        </p:blipFill>
        <p:spPr>
          <a:xfrm>
            <a:off x="3767328" y="1261872"/>
            <a:ext cx="868680" cy="868680"/>
          </a:xfrm>
          <a:prstGeom prst="rect">
            <a:avLst/>
          </a:prstGeom>
        </p:spPr>
      </p:pic>
      <p:sp>
        <p:nvSpPr>
          <p:cNvPr id="6" name="TextBox 5"/>
          <p:cNvSpPr txBox="1"/>
          <p:nvPr/>
        </p:nvSpPr>
        <p:spPr>
          <a:xfrm>
            <a:off x="2971800" y="2103120"/>
            <a:ext cx="2468880" cy="566928"/>
          </a:xfrm>
          <a:prstGeom prst="rect">
            <a:avLst/>
          </a:prstGeom>
          <a:noFill/>
        </p:spPr>
        <p:txBody>
          <a:bodyPr wrap="square" lIns="45720" rIns="45720">
            <a:spAutoFit/>
          </a:bodyPr>
          <a:lstStyle/>
          <a:p>
            <a:pPr algn="ctr">
              <a:spcAft>
                <a:spcPts val="0"/>
              </a:spcAft>
            </a:pPr>
            <a:r>
              <a:rPr sz="1600" b="1" i="0"/>
              <a:t>Intent</a:t>
            </a:r>
          </a:p>
          <a:p>
            <a:pPr algn="ctr">
              <a:spcAft>
                <a:spcPts val="400"/>
              </a:spcAft>
            </a:pPr>
            <a:r>
              <a:rPr sz="1100" b="0" i="0">
                <a:solidFill>
                  <a:srgbClr val="595959"/>
                </a:solidFill>
              </a:rPr>
              <a:t>the stakeholders; no artifact</a:t>
            </a:r>
          </a:p>
        </p:txBody>
      </p:sp>
      <p:sp>
        <p:nvSpPr>
          <p:cNvPr id="7" name="Rectangle 6"/>
          <p:cNvSpPr/>
          <p:nvPr/>
        </p:nvSpPr>
        <p:spPr>
          <a:xfrm>
            <a:off x="3246120" y="306324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0" i="0">
                <a:solidFill>
                  <a:srgbClr val="000000"/>
                </a:solidFill>
              </a:rPr>
              <a:t>Specifications</a:t>
            </a:r>
          </a:p>
        </p:txBody>
      </p:sp>
      <p:sp>
        <p:nvSpPr>
          <p:cNvPr id="8" name="Rectangle 7"/>
          <p:cNvSpPr/>
          <p:nvPr/>
        </p:nvSpPr>
        <p:spPr>
          <a:xfrm>
            <a:off x="3246120" y="4892040"/>
            <a:ext cx="1920240" cy="777240"/>
          </a:xfrm>
          <a:prstGeom prst="rect">
            <a:avLst/>
          </a:prstGeom>
          <a:solidFill>
            <a:srgbClr val="FFCF01"/>
          </a:solidFill>
          <a:ln w="254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1" i="0">
                <a:solidFill>
                  <a:srgbClr val="000000"/>
                </a:solidFill>
              </a:rPr>
              <a:t>Realization</a:t>
            </a:r>
          </a:p>
        </p:txBody>
      </p:sp>
      <p:cxnSp>
        <p:nvCxnSpPr>
          <p:cNvPr id="9" name="Connector 8"/>
          <p:cNvCxnSpPr/>
          <p:nvPr/>
        </p:nvCxnSpPr>
        <p:spPr>
          <a:xfrm>
            <a:off x="4206240" y="2697480"/>
            <a:ext cx="0" cy="365760"/>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26280" y="3840480"/>
            <a:ext cx="0" cy="1051560"/>
          </a:xfrm>
          <a:prstGeom prst="line">
            <a:avLst/>
          </a:prstGeom>
          <a:ln w="19050">
            <a:solidFill>
              <a:srgbClr val="00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66160" y="3840480"/>
            <a:ext cx="0" cy="1051560"/>
          </a:xfrm>
          <a:prstGeom prst="line">
            <a:avLst/>
          </a:prstGeom>
          <a:ln w="15875">
            <a:solidFill>
              <a:srgbClr val="595959"/>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5285232" y="312724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5285232" y="495604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2542032"/>
            <a:ext cx="1737360" cy="457200"/>
          </a:xfrm>
          <a:prstGeom prst="rect">
            <a:avLst/>
          </a:prstGeom>
          <a:noFill/>
        </p:spPr>
        <p:txBody>
          <a:bodyPr wrap="square" lIns="45720" rIns="45720">
            <a:spAutoFit/>
          </a:bodyPr>
          <a:lstStyle/>
          <a:p>
            <a:pPr algn="l">
              <a:spcAft>
                <a:spcPts val="0"/>
              </a:spcAft>
            </a:pPr>
            <a:r>
              <a:rPr sz="1300" b="1" i="0">
                <a:solidFill>
                  <a:srgbClr val="000000"/>
                </a:solidFill>
              </a:rPr>
              <a:t>VAL</a:t>
            </a:r>
          </a:p>
          <a:p>
            <a:pPr algn="l">
              <a:spcAft>
                <a:spcPts val="400"/>
              </a:spcAft>
            </a:pPr>
            <a:r>
              <a:rPr sz="1050" b="0" i="0">
                <a:solidFill>
                  <a:srgbClr val="595959"/>
                </a:solidFill>
              </a:rPr>
              <a:t>validation</a:t>
            </a:r>
          </a:p>
        </p:txBody>
      </p:sp>
      <p:sp>
        <p:nvSpPr>
          <p:cNvPr id="15" name="TextBox 14"/>
          <p:cNvSpPr txBox="1"/>
          <p:nvPr/>
        </p:nvSpPr>
        <p:spPr>
          <a:xfrm>
            <a:off x="4663440" y="4114800"/>
            <a:ext cx="2011680" cy="457200"/>
          </a:xfrm>
          <a:prstGeom prst="rect">
            <a:avLst/>
          </a:prstGeom>
          <a:noFill/>
        </p:spPr>
        <p:txBody>
          <a:bodyPr wrap="square" lIns="45720" rIns="45720">
            <a:spAutoFit/>
          </a:bodyPr>
          <a:lstStyle/>
          <a:p>
            <a:pPr algn="l">
              <a:spcAft>
                <a:spcPts val="0"/>
              </a:spcAft>
            </a:pPr>
            <a:r>
              <a:rPr sz="1300" b="1" i="0">
                <a:solidFill>
                  <a:srgbClr val="000000"/>
                </a:solidFill>
              </a:rPr>
              <a:t>CONF</a:t>
            </a:r>
          </a:p>
          <a:p>
            <a:pPr algn="l">
              <a:spcAft>
                <a:spcPts val="400"/>
              </a:spcAft>
            </a:pPr>
            <a:r>
              <a:rPr sz="1050" b="0" i="0">
                <a:solidFill>
                  <a:srgbClr val="595959"/>
                </a:solidFill>
              </a:rPr>
              <a:t>conformance, by verification</a:t>
            </a:r>
          </a:p>
        </p:txBody>
      </p:sp>
      <p:sp>
        <p:nvSpPr>
          <p:cNvPr id="16" name="TextBox 15"/>
          <p:cNvSpPr txBox="1"/>
          <p:nvPr/>
        </p:nvSpPr>
        <p:spPr>
          <a:xfrm>
            <a:off x="1828800" y="4114800"/>
            <a:ext cx="1645920" cy="457200"/>
          </a:xfrm>
          <a:prstGeom prst="rect">
            <a:avLst/>
          </a:prstGeom>
          <a:noFill/>
        </p:spPr>
        <p:txBody>
          <a:bodyPr wrap="square" lIns="45720" rIns="45720">
            <a:spAutoFit/>
          </a:bodyPr>
          <a:lstStyle/>
          <a:p>
            <a:pPr algn="r">
              <a:spcAft>
                <a:spcPts val="0"/>
              </a:spcAft>
            </a:pPr>
            <a:r>
              <a:rPr sz="1300" b="1" i="0">
                <a:solidFill>
                  <a:srgbClr val="000000"/>
                </a:solidFill>
              </a:rPr>
              <a:t>TR</a:t>
            </a:r>
          </a:p>
          <a:p>
            <a:pPr algn="r">
              <a:spcAft>
                <a:spcPts val="400"/>
              </a:spcAft>
            </a:pPr>
            <a:r>
              <a:rPr sz="1050" b="0" i="0">
                <a:solidFill>
                  <a:srgbClr val="595959"/>
                </a:solidFill>
              </a:rPr>
              <a:t>traceability</a:t>
            </a:r>
          </a:p>
        </p:txBody>
      </p:sp>
      <p:sp>
        <p:nvSpPr>
          <p:cNvPr id="17" name="TextBox 16"/>
          <p:cNvSpPr txBox="1"/>
          <p:nvPr/>
        </p:nvSpPr>
        <p:spPr>
          <a:xfrm>
            <a:off x="5943600" y="3154680"/>
            <a:ext cx="1920240" cy="457200"/>
          </a:xfrm>
          <a:prstGeom prst="rect">
            <a:avLst/>
          </a:prstGeom>
          <a:noFill/>
        </p:spPr>
        <p:txBody>
          <a:bodyPr wrap="square" lIns="45720" rIns="45720">
            <a:spAutoFit/>
          </a:bodyPr>
          <a:lstStyle/>
          <a:p>
            <a:pPr algn="l">
              <a:spcAft>
                <a:spcPts val="0"/>
              </a:spcAft>
            </a:pPr>
            <a:r>
              <a:rPr sz="1300" b="1" i="0">
                <a:solidFill>
                  <a:srgbClr val="000000"/>
                </a:solidFill>
              </a:rPr>
              <a:t>SQ</a:t>
            </a:r>
          </a:p>
          <a:p>
            <a:pPr algn="l">
              <a:spcAft>
                <a:spcPts val="400"/>
              </a:spcAft>
            </a:pPr>
            <a:r>
              <a:rPr sz="1050" b="0" i="0">
                <a:solidFill>
                  <a:srgbClr val="595959"/>
                </a:solidFill>
              </a:rPr>
              <a:t>specification quality</a:t>
            </a:r>
          </a:p>
        </p:txBody>
      </p:sp>
      <p:sp>
        <p:nvSpPr>
          <p:cNvPr id="18" name="TextBox 17"/>
          <p:cNvSpPr txBox="1"/>
          <p:nvPr/>
        </p:nvSpPr>
        <p:spPr>
          <a:xfrm>
            <a:off x="5943600" y="4983480"/>
            <a:ext cx="1920240" cy="457200"/>
          </a:xfrm>
          <a:prstGeom prst="rect">
            <a:avLst/>
          </a:prstGeom>
          <a:noFill/>
        </p:spPr>
        <p:txBody>
          <a:bodyPr wrap="square" lIns="45720" rIns="45720">
            <a:spAutoFit/>
          </a:bodyPr>
          <a:lstStyle/>
          <a:p>
            <a:pPr algn="l">
              <a:spcAft>
                <a:spcPts val="0"/>
              </a:spcAft>
            </a:pPr>
            <a:r>
              <a:rPr sz="1300" b="1" i="0">
                <a:solidFill>
                  <a:srgbClr val="000000"/>
                </a:solidFill>
              </a:rPr>
              <a:t>RQ</a:t>
            </a:r>
          </a:p>
          <a:p>
            <a:pPr algn="l">
              <a:spcAft>
                <a:spcPts val="400"/>
              </a:spcAft>
            </a:pPr>
            <a:r>
              <a:rPr sz="1050" b="0" i="0">
                <a:solidFill>
                  <a:srgbClr val="595959"/>
                </a:solidFill>
              </a:rPr>
              <a:t>realization quality</a:t>
            </a:r>
          </a:p>
        </p:txBody>
      </p:sp>
      <p:sp>
        <p:nvSpPr>
          <p:cNvPr id="19" name="Rectangle 18"/>
          <p:cNvSpPr/>
          <p:nvPr/>
        </p:nvSpPr>
        <p:spPr>
          <a:xfrm>
            <a:off x="8001000" y="1325880"/>
            <a:ext cx="3794760" cy="182880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Realization</a:t>
            </a:r>
          </a:p>
          <a:p>
            <a:pPr algn="l" marL="182880" indent="-182880">
              <a:spcAft>
                <a:spcPts val="200"/>
              </a:spcAft>
              <a:buChar char="•"/>
            </a:pPr>
            <a:r>
              <a:rPr sz="1200" b="0" i="0">
                <a:solidFill>
                  <a:srgbClr val="000000"/>
                </a:solidFill>
              </a:rPr>
              <a:t>An artifact built to satisfy a specification; code, tests, a document, a configuration</a:t>
            </a:r>
          </a:p>
          <a:p>
            <a:pPr algn="l" marL="182880" indent="-182880">
              <a:spcAft>
                <a:spcPts val="200"/>
              </a:spcAft>
              <a:buChar char="•"/>
            </a:pPr>
            <a:r>
              <a:rPr sz="1200" b="0" i="0">
                <a:solidFill>
                  <a:srgbClr val="000000"/>
                </a:solidFill>
              </a:rPr>
              <a:t>The code and the test suite are both realization</a:t>
            </a:r>
          </a:p>
          <a:p>
            <a:pPr algn="l" marL="182880" indent="-182880">
              <a:spcAft>
                <a:spcPts val="200"/>
              </a:spcAft>
              <a:buChar char="•"/>
            </a:pPr>
            <a:r>
              <a:rPr sz="1200" b="0" i="0">
                <a:solidFill>
                  <a:srgbClr val="000000"/>
                </a:solidFill>
              </a:rPr>
              <a:t>One specification, many realizations: another language, another design, the same clauses</a:t>
            </a:r>
          </a:p>
        </p:txBody>
      </p:sp>
      <p:sp>
        <p:nvSpPr>
          <p:cNvPr id="20" name="Rectangle 19"/>
          <p:cNvSpPr/>
          <p:nvPr/>
        </p:nvSpPr>
        <p:spPr>
          <a:xfrm>
            <a:off x="8001000" y="3337560"/>
            <a:ext cx="3794760" cy="292608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RQ: can the realization be checked at all?</a:t>
            </a:r>
          </a:p>
          <a:p>
            <a:pPr algn="l" marL="182880" indent="-182880">
              <a:spcAft>
                <a:spcPts val="200"/>
              </a:spcAft>
              <a:buChar char="•"/>
            </a:pPr>
            <a:r>
              <a:rPr sz="1200" b="0" i="0">
                <a:solidFill>
                  <a:srgbClr val="000000"/>
                </a:solidFill>
              </a:rPr>
              <a:t>Lints: ruff finds a class of mistakes more cheaply than any test</a:t>
            </a:r>
          </a:p>
          <a:p>
            <a:pPr algn="l" marL="182880" indent="-182880">
              <a:spcAft>
                <a:spcPts val="200"/>
              </a:spcAft>
              <a:buChar char="•"/>
            </a:pPr>
            <a:r>
              <a:rPr sz="1200" b="0" i="0">
                <a:solidFill>
                  <a:srgbClr val="000000"/>
                </a:solidFill>
              </a:rPr>
              <a:t>Collects: every test file imports; every marker is declared</a:t>
            </a:r>
          </a:p>
          <a:p>
            <a:pPr algn="l" marL="182880" indent="-182880">
              <a:spcAft>
                <a:spcPts val="200"/>
              </a:spcAft>
              <a:buChar char="•"/>
            </a:pPr>
            <a:r>
              <a:rPr sz="1200" b="0" i="0">
                <a:solidFill>
                  <a:srgbClr val="000000"/>
                </a:solidFill>
              </a:rPr>
              <a:t>Test discipline: a test can fail; asserts no looser than its clause; sets up by construction</a:t>
            </a:r>
          </a:p>
          <a:p>
            <a:pPr algn="l" marL="182880" indent="-182880">
              <a:spcAft>
                <a:spcPts val="200"/>
              </a:spcAft>
              <a:buChar char="•"/>
            </a:pPr>
            <a:r>
              <a:rPr sz="1200" b="0" i="0">
                <a:solidFill>
                  <a:srgbClr val="000000"/>
                </a:solidFill>
              </a:rPr>
              <a:t>Structure judged appropriate (reviewed; later versions)</a:t>
            </a:r>
          </a:p>
          <a:p>
            <a:pPr algn="l" marL="182880" indent="-182880">
              <a:spcAft>
                <a:spcPts val="200"/>
              </a:spcAft>
              <a:buChar char="•"/>
            </a:pPr>
            <a:r>
              <a:rPr sz="1200" b="1" i="0">
                <a:solidFill>
                  <a:srgbClr val="000000"/>
                </a:solidFill>
              </a:rPr>
              <a:t>Kept separate from CONF: a suite that does not collect gives no conformance evidence at 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Conformance (CONF), by verification</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12</a:t>
            </a:r>
          </a:p>
        </p:txBody>
      </p:sp>
      <p:pic>
        <p:nvPicPr>
          <p:cNvPr id="5" name="Picture 4" descr="stakeholders-icon.png"/>
          <p:cNvPicPr>
            <a:picLocks noChangeAspect="1"/>
          </p:cNvPicPr>
          <p:nvPr/>
        </p:nvPicPr>
        <p:blipFill>
          <a:blip r:embed="rId3"/>
          <a:stretch>
            <a:fillRect/>
          </a:stretch>
        </p:blipFill>
        <p:spPr>
          <a:xfrm>
            <a:off x="3767328" y="1261872"/>
            <a:ext cx="868680" cy="868680"/>
          </a:xfrm>
          <a:prstGeom prst="rect">
            <a:avLst/>
          </a:prstGeom>
        </p:spPr>
      </p:pic>
      <p:sp>
        <p:nvSpPr>
          <p:cNvPr id="6" name="TextBox 5"/>
          <p:cNvSpPr txBox="1"/>
          <p:nvPr/>
        </p:nvSpPr>
        <p:spPr>
          <a:xfrm>
            <a:off x="2971800" y="2103120"/>
            <a:ext cx="2468880" cy="566928"/>
          </a:xfrm>
          <a:prstGeom prst="rect">
            <a:avLst/>
          </a:prstGeom>
          <a:noFill/>
        </p:spPr>
        <p:txBody>
          <a:bodyPr wrap="square" lIns="45720" rIns="45720">
            <a:spAutoFit/>
          </a:bodyPr>
          <a:lstStyle/>
          <a:p>
            <a:pPr algn="ctr">
              <a:spcAft>
                <a:spcPts val="0"/>
              </a:spcAft>
            </a:pPr>
            <a:r>
              <a:rPr sz="1600" b="1" i="0"/>
              <a:t>Intent</a:t>
            </a:r>
          </a:p>
          <a:p>
            <a:pPr algn="ctr">
              <a:spcAft>
                <a:spcPts val="400"/>
              </a:spcAft>
            </a:pPr>
            <a:r>
              <a:rPr sz="1100" b="0" i="0">
                <a:solidFill>
                  <a:srgbClr val="595959"/>
                </a:solidFill>
              </a:rPr>
              <a:t>the stakeholders; no artifact</a:t>
            </a:r>
          </a:p>
        </p:txBody>
      </p:sp>
      <p:sp>
        <p:nvSpPr>
          <p:cNvPr id="7" name="Rectangle 6"/>
          <p:cNvSpPr/>
          <p:nvPr/>
        </p:nvSpPr>
        <p:spPr>
          <a:xfrm>
            <a:off x="3246120" y="306324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0" i="0">
                <a:solidFill>
                  <a:srgbClr val="000000"/>
                </a:solidFill>
              </a:rPr>
              <a:t>Specifications</a:t>
            </a:r>
          </a:p>
        </p:txBody>
      </p:sp>
      <p:sp>
        <p:nvSpPr>
          <p:cNvPr id="8" name="Rectangle 7"/>
          <p:cNvSpPr/>
          <p:nvPr/>
        </p:nvSpPr>
        <p:spPr>
          <a:xfrm>
            <a:off x="3246120" y="489204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0" i="0">
                <a:solidFill>
                  <a:srgbClr val="000000"/>
                </a:solidFill>
              </a:rPr>
              <a:t>Realization</a:t>
            </a:r>
          </a:p>
        </p:txBody>
      </p:sp>
      <p:cxnSp>
        <p:nvCxnSpPr>
          <p:cNvPr id="9" name="Connector 8"/>
          <p:cNvCxnSpPr/>
          <p:nvPr/>
        </p:nvCxnSpPr>
        <p:spPr>
          <a:xfrm>
            <a:off x="4206240" y="2697480"/>
            <a:ext cx="0" cy="365760"/>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26280" y="3840480"/>
            <a:ext cx="0" cy="1051560"/>
          </a:xfrm>
          <a:prstGeom prst="line">
            <a:avLst/>
          </a:prstGeom>
          <a:ln w="38100">
            <a:solidFill>
              <a:srgbClr val="6E1EC6"/>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66160" y="3840480"/>
            <a:ext cx="0" cy="1051560"/>
          </a:xfrm>
          <a:prstGeom prst="line">
            <a:avLst/>
          </a:prstGeom>
          <a:ln w="15875">
            <a:solidFill>
              <a:srgbClr val="595959"/>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5285232" y="312724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5285232" y="495604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2542032"/>
            <a:ext cx="1737360" cy="457200"/>
          </a:xfrm>
          <a:prstGeom prst="rect">
            <a:avLst/>
          </a:prstGeom>
          <a:noFill/>
        </p:spPr>
        <p:txBody>
          <a:bodyPr wrap="square" lIns="45720" rIns="45720">
            <a:spAutoFit/>
          </a:bodyPr>
          <a:lstStyle/>
          <a:p>
            <a:pPr algn="l">
              <a:spcAft>
                <a:spcPts val="0"/>
              </a:spcAft>
            </a:pPr>
            <a:r>
              <a:rPr sz="1300" b="1" i="0">
                <a:solidFill>
                  <a:srgbClr val="000000"/>
                </a:solidFill>
              </a:rPr>
              <a:t>VAL</a:t>
            </a:r>
          </a:p>
          <a:p>
            <a:pPr algn="l">
              <a:spcAft>
                <a:spcPts val="400"/>
              </a:spcAft>
            </a:pPr>
            <a:r>
              <a:rPr sz="1050" b="0" i="0">
                <a:solidFill>
                  <a:srgbClr val="595959"/>
                </a:solidFill>
              </a:rPr>
              <a:t>validation</a:t>
            </a:r>
          </a:p>
        </p:txBody>
      </p:sp>
      <p:sp>
        <p:nvSpPr>
          <p:cNvPr id="15" name="TextBox 14"/>
          <p:cNvSpPr txBox="1"/>
          <p:nvPr/>
        </p:nvSpPr>
        <p:spPr>
          <a:xfrm>
            <a:off x="4663440" y="4114800"/>
            <a:ext cx="2011680" cy="457200"/>
          </a:xfrm>
          <a:prstGeom prst="rect">
            <a:avLst/>
          </a:prstGeom>
          <a:solidFill>
            <a:srgbClr val="FFF3B0"/>
          </a:solidFill>
          <a:ln w="12700">
            <a:solidFill>
              <a:srgbClr val="000000"/>
            </a:solidFill>
          </a:ln>
        </p:spPr>
        <p:txBody>
          <a:bodyPr wrap="square" lIns="45720" rIns="45720">
            <a:spAutoFit/>
          </a:bodyPr>
          <a:lstStyle/>
          <a:p>
            <a:pPr algn="l">
              <a:spcAft>
                <a:spcPts val="0"/>
              </a:spcAft>
            </a:pPr>
            <a:r>
              <a:rPr sz="1300" b="1" i="0">
                <a:solidFill>
                  <a:srgbClr val="6E1EC6"/>
                </a:solidFill>
              </a:rPr>
              <a:t>CONF</a:t>
            </a:r>
          </a:p>
          <a:p>
            <a:pPr algn="l">
              <a:spcAft>
                <a:spcPts val="400"/>
              </a:spcAft>
            </a:pPr>
            <a:r>
              <a:rPr sz="1050" b="0" i="0">
                <a:solidFill>
                  <a:srgbClr val="595959"/>
                </a:solidFill>
              </a:rPr>
              <a:t>conformance, by verification</a:t>
            </a:r>
          </a:p>
        </p:txBody>
      </p:sp>
      <p:sp>
        <p:nvSpPr>
          <p:cNvPr id="16" name="TextBox 15"/>
          <p:cNvSpPr txBox="1"/>
          <p:nvPr/>
        </p:nvSpPr>
        <p:spPr>
          <a:xfrm>
            <a:off x="1828800" y="4114800"/>
            <a:ext cx="1645920" cy="457200"/>
          </a:xfrm>
          <a:prstGeom prst="rect">
            <a:avLst/>
          </a:prstGeom>
          <a:noFill/>
        </p:spPr>
        <p:txBody>
          <a:bodyPr wrap="square" lIns="45720" rIns="45720">
            <a:spAutoFit/>
          </a:bodyPr>
          <a:lstStyle/>
          <a:p>
            <a:pPr algn="r">
              <a:spcAft>
                <a:spcPts val="0"/>
              </a:spcAft>
            </a:pPr>
            <a:r>
              <a:rPr sz="1300" b="1" i="0">
                <a:solidFill>
                  <a:srgbClr val="000000"/>
                </a:solidFill>
              </a:rPr>
              <a:t>TR</a:t>
            </a:r>
          </a:p>
          <a:p>
            <a:pPr algn="r">
              <a:spcAft>
                <a:spcPts val="400"/>
              </a:spcAft>
            </a:pPr>
            <a:r>
              <a:rPr sz="1050" b="0" i="0">
                <a:solidFill>
                  <a:srgbClr val="595959"/>
                </a:solidFill>
              </a:rPr>
              <a:t>traceability</a:t>
            </a:r>
          </a:p>
        </p:txBody>
      </p:sp>
      <p:sp>
        <p:nvSpPr>
          <p:cNvPr id="17" name="TextBox 16"/>
          <p:cNvSpPr txBox="1"/>
          <p:nvPr/>
        </p:nvSpPr>
        <p:spPr>
          <a:xfrm>
            <a:off x="5943600" y="3154680"/>
            <a:ext cx="1920240" cy="457200"/>
          </a:xfrm>
          <a:prstGeom prst="rect">
            <a:avLst/>
          </a:prstGeom>
          <a:noFill/>
        </p:spPr>
        <p:txBody>
          <a:bodyPr wrap="square" lIns="45720" rIns="45720">
            <a:spAutoFit/>
          </a:bodyPr>
          <a:lstStyle/>
          <a:p>
            <a:pPr algn="l">
              <a:spcAft>
                <a:spcPts val="0"/>
              </a:spcAft>
            </a:pPr>
            <a:r>
              <a:rPr sz="1300" b="1" i="0">
                <a:solidFill>
                  <a:srgbClr val="000000"/>
                </a:solidFill>
              </a:rPr>
              <a:t>SQ</a:t>
            </a:r>
          </a:p>
          <a:p>
            <a:pPr algn="l">
              <a:spcAft>
                <a:spcPts val="400"/>
              </a:spcAft>
            </a:pPr>
            <a:r>
              <a:rPr sz="1050" b="0" i="0">
                <a:solidFill>
                  <a:srgbClr val="595959"/>
                </a:solidFill>
              </a:rPr>
              <a:t>specification quality</a:t>
            </a:r>
          </a:p>
        </p:txBody>
      </p:sp>
      <p:sp>
        <p:nvSpPr>
          <p:cNvPr id="18" name="TextBox 17"/>
          <p:cNvSpPr txBox="1"/>
          <p:nvPr/>
        </p:nvSpPr>
        <p:spPr>
          <a:xfrm>
            <a:off x="5943600" y="4983480"/>
            <a:ext cx="1920240" cy="457200"/>
          </a:xfrm>
          <a:prstGeom prst="rect">
            <a:avLst/>
          </a:prstGeom>
          <a:noFill/>
        </p:spPr>
        <p:txBody>
          <a:bodyPr wrap="square" lIns="45720" rIns="45720">
            <a:spAutoFit/>
          </a:bodyPr>
          <a:lstStyle/>
          <a:p>
            <a:pPr algn="l">
              <a:spcAft>
                <a:spcPts val="0"/>
              </a:spcAft>
            </a:pPr>
            <a:r>
              <a:rPr sz="1300" b="1" i="0">
                <a:solidFill>
                  <a:srgbClr val="000000"/>
                </a:solidFill>
              </a:rPr>
              <a:t>RQ</a:t>
            </a:r>
          </a:p>
          <a:p>
            <a:pPr algn="l">
              <a:spcAft>
                <a:spcPts val="400"/>
              </a:spcAft>
            </a:pPr>
            <a:r>
              <a:rPr sz="1050" b="0" i="0">
                <a:solidFill>
                  <a:srgbClr val="595959"/>
                </a:solidFill>
              </a:rPr>
              <a:t>realization quality</a:t>
            </a:r>
          </a:p>
        </p:txBody>
      </p:sp>
      <p:sp>
        <p:nvSpPr>
          <p:cNvPr id="19" name="Rectangle 18"/>
          <p:cNvSpPr/>
          <p:nvPr/>
        </p:nvSpPr>
        <p:spPr>
          <a:xfrm>
            <a:off x="8001000" y="1325880"/>
            <a:ext cx="3794760" cy="118872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Does the realization conform?</a:t>
            </a:r>
          </a:p>
          <a:p>
            <a:pPr algn="l" marL="182880" indent="-182880">
              <a:spcAft>
                <a:spcPts val="200"/>
              </a:spcAft>
              <a:buChar char="•"/>
            </a:pPr>
            <a:r>
              <a:rPr sz="1200" b="0" i="0">
                <a:solidFill>
                  <a:srgbClr val="000000"/>
                </a:solidFill>
              </a:rPr>
              <a:t>Conformance: R satisfies every property S states; yes or no, on the pair</a:t>
            </a:r>
          </a:p>
          <a:p>
            <a:pPr algn="l" marL="182880" indent="-182880">
              <a:spcAft>
                <a:spcPts val="200"/>
              </a:spcAft>
              <a:buChar char="•"/>
            </a:pPr>
            <a:r>
              <a:rPr sz="1200" b="0" i="0">
                <a:solidFill>
                  <a:srgbClr val="000000"/>
                </a:solidFill>
              </a:rPr>
              <a:t>Verification: trying to confirm it; the result is evidence with a scope</a:t>
            </a:r>
          </a:p>
        </p:txBody>
      </p:sp>
      <p:sp>
        <p:nvSpPr>
          <p:cNvPr id="20" name="Rectangle 19"/>
          <p:cNvSpPr/>
          <p:nvPr/>
        </p:nvSpPr>
        <p:spPr>
          <a:xfrm>
            <a:off x="8001000" y="2697480"/>
            <a:ext cx="3794760" cy="201168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Four conditions in A0</a:t>
            </a:r>
          </a:p>
          <a:p>
            <a:pPr algn="l" marL="182880" indent="-182880">
              <a:spcAft>
                <a:spcPts val="200"/>
              </a:spcAft>
              <a:buChar char="•"/>
            </a:pPr>
            <a:r>
              <a:rPr sz="1200" b="0" i="0">
                <a:solidFill>
                  <a:srgbClr val="000000"/>
                </a:solidFill>
              </a:rPr>
              <a:t>Every test passes</a:t>
            </a:r>
          </a:p>
          <a:p>
            <a:pPr algn="l" marL="182880" indent="-182880">
              <a:spcAft>
                <a:spcPts val="200"/>
              </a:spcAft>
              <a:buChar char="•"/>
            </a:pPr>
            <a:r>
              <a:rPr sz="1200" b="0" i="0">
                <a:solidFill>
                  <a:srgbClr val="000000"/>
                </a:solidFill>
              </a:rPr>
              <a:t>Requirements coverage: every test clause has a passing test</a:t>
            </a:r>
          </a:p>
          <a:p>
            <a:pPr algn="l" marL="182880" indent="-182880">
              <a:spcAft>
                <a:spcPts val="200"/>
              </a:spcAft>
              <a:buChar char="•"/>
            </a:pPr>
            <a:r>
              <a:rPr sz="1200" b="0" i="0">
                <a:solidFill>
                  <a:srgbClr val="000000"/>
                </a:solidFill>
              </a:rPr>
              <a:t>Structural coverage: every branch exercised</a:t>
            </a:r>
          </a:p>
          <a:p>
            <a:pPr algn="l" marL="182880" indent="-182880">
              <a:spcAft>
                <a:spcPts val="200"/>
              </a:spcAft>
              <a:buChar char="•"/>
            </a:pPr>
            <a:r>
              <a:rPr sz="1200" b="0" i="0">
                <a:solidFill>
                  <a:srgbClr val="000000"/>
                </a:solidFill>
              </a:rPr>
              <a:t>Every judgment clause has been walked</a:t>
            </a:r>
          </a:p>
        </p:txBody>
      </p:sp>
      <p:sp>
        <p:nvSpPr>
          <p:cNvPr id="21" name="Rectangle 20"/>
          <p:cNvSpPr/>
          <p:nvPr/>
        </p:nvSpPr>
        <p:spPr>
          <a:xfrm>
            <a:off x="8001000" y="4892040"/>
            <a:ext cx="3794760" cy="137160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200" b="1" i="0">
                <a:solidFill>
                  <a:srgbClr val="000000"/>
                </a:solidFill>
              </a:rPr>
              <a:t>Who decides</a:t>
            </a:r>
          </a:p>
          <a:p>
            <a:pPr algn="l" marL="182880" indent="-182880">
              <a:spcAft>
                <a:spcPts val="200"/>
              </a:spcAft>
              <a:buChar char="•"/>
            </a:pPr>
            <a:r>
              <a:rPr sz="1100" b="0" i="0">
                <a:solidFill>
                  <a:srgbClr val="000000"/>
                </a:solidFill>
              </a:rPr>
              <a:t>Decided by programs (pytest, the report plugin, pytest-cov) and by a person</a:t>
            </a:r>
          </a:p>
          <a:p>
            <a:pPr algn="l" marL="182880" indent="-182880">
              <a:spcAft>
                <a:spcPts val="200"/>
              </a:spcAft>
              <a:buChar char="•"/>
            </a:pPr>
            <a:r>
              <a:rPr sz="1100" b="0" i="0">
                <a:solidFill>
                  <a:srgbClr val="000000"/>
                </a:solidFill>
              </a:rPr>
              <a:t>Three kinds of verifier: human, agent, algorithmic</a:t>
            </a:r>
          </a:p>
          <a:p>
            <a:pPr algn="l" marL="182880" indent="-182880">
              <a:spcAft>
                <a:spcPts val="200"/>
              </a:spcAft>
              <a:buChar char="•"/>
            </a:pPr>
            <a:r>
              <a:rPr sz="1100" b="0" i="0">
                <a:solidFill>
                  <a:srgbClr val="000000"/>
                </a:solidFill>
              </a:rPr>
              <a:t>A verifier can be wrong; the ledger records which one made each claim</a:t>
            </a:r>
          </a:p>
        </p:txBody>
      </p:sp>
      <p:cxnSp>
        <p:nvCxnSpPr>
          <p:cNvPr id="22" name="Connector 21"/>
          <p:cNvCxnSpPr/>
          <p:nvPr/>
        </p:nvCxnSpPr>
        <p:spPr>
          <a:xfrm flipH="1">
            <a:off x="6675120" y="3566160"/>
            <a:ext cx="1325880" cy="777240"/>
          </a:xfrm>
          <a:prstGeom prst="line">
            <a:avLst/>
          </a:prstGeom>
          <a:ln w="19050">
            <a:solidFill>
              <a:srgbClr val="C0000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Validation (VAL)</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13</a:t>
            </a:r>
          </a:p>
        </p:txBody>
      </p:sp>
      <p:pic>
        <p:nvPicPr>
          <p:cNvPr id="5" name="Picture 4" descr="stakeholders-icon.png"/>
          <p:cNvPicPr>
            <a:picLocks noChangeAspect="1"/>
          </p:cNvPicPr>
          <p:nvPr/>
        </p:nvPicPr>
        <p:blipFill>
          <a:blip r:embed="rId3"/>
          <a:stretch>
            <a:fillRect/>
          </a:stretch>
        </p:blipFill>
        <p:spPr>
          <a:xfrm>
            <a:off x="3767328" y="1261872"/>
            <a:ext cx="868680" cy="868680"/>
          </a:xfrm>
          <a:prstGeom prst="rect">
            <a:avLst/>
          </a:prstGeom>
        </p:spPr>
      </p:pic>
      <p:sp>
        <p:nvSpPr>
          <p:cNvPr id="6" name="TextBox 5"/>
          <p:cNvSpPr txBox="1"/>
          <p:nvPr/>
        </p:nvSpPr>
        <p:spPr>
          <a:xfrm>
            <a:off x="2971800" y="2103120"/>
            <a:ext cx="2468880" cy="566928"/>
          </a:xfrm>
          <a:prstGeom prst="rect">
            <a:avLst/>
          </a:prstGeom>
          <a:noFill/>
        </p:spPr>
        <p:txBody>
          <a:bodyPr wrap="square" lIns="45720" rIns="45720">
            <a:spAutoFit/>
          </a:bodyPr>
          <a:lstStyle/>
          <a:p>
            <a:pPr algn="ctr">
              <a:spcAft>
                <a:spcPts val="0"/>
              </a:spcAft>
            </a:pPr>
            <a:r>
              <a:rPr sz="1600" b="1" i="0"/>
              <a:t>Intent</a:t>
            </a:r>
          </a:p>
          <a:p>
            <a:pPr algn="ctr">
              <a:spcAft>
                <a:spcPts val="400"/>
              </a:spcAft>
            </a:pPr>
            <a:r>
              <a:rPr sz="1100" b="0" i="0">
                <a:solidFill>
                  <a:srgbClr val="595959"/>
                </a:solidFill>
              </a:rPr>
              <a:t>the stakeholders; no artifact</a:t>
            </a:r>
          </a:p>
        </p:txBody>
      </p:sp>
      <p:sp>
        <p:nvSpPr>
          <p:cNvPr id="7" name="Rectangle 6"/>
          <p:cNvSpPr/>
          <p:nvPr/>
        </p:nvSpPr>
        <p:spPr>
          <a:xfrm>
            <a:off x="3246120" y="306324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0" i="0">
                <a:solidFill>
                  <a:srgbClr val="000000"/>
                </a:solidFill>
              </a:rPr>
              <a:t>Specifications</a:t>
            </a:r>
          </a:p>
        </p:txBody>
      </p:sp>
      <p:sp>
        <p:nvSpPr>
          <p:cNvPr id="8" name="Rectangle 7"/>
          <p:cNvSpPr/>
          <p:nvPr/>
        </p:nvSpPr>
        <p:spPr>
          <a:xfrm>
            <a:off x="3246120" y="489204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0" i="0">
                <a:solidFill>
                  <a:srgbClr val="000000"/>
                </a:solidFill>
              </a:rPr>
              <a:t>Realization</a:t>
            </a:r>
          </a:p>
        </p:txBody>
      </p:sp>
      <p:cxnSp>
        <p:nvCxnSpPr>
          <p:cNvPr id="9" name="Connector 8"/>
          <p:cNvCxnSpPr/>
          <p:nvPr/>
        </p:nvCxnSpPr>
        <p:spPr>
          <a:xfrm>
            <a:off x="4206240" y="2697480"/>
            <a:ext cx="0" cy="365760"/>
          </a:xfrm>
          <a:prstGeom prst="line">
            <a:avLst/>
          </a:prstGeom>
          <a:ln w="38100">
            <a:solidFill>
              <a:srgbClr val="6E1EC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26280" y="3840480"/>
            <a:ext cx="0" cy="1051560"/>
          </a:xfrm>
          <a:prstGeom prst="line">
            <a:avLst/>
          </a:prstGeom>
          <a:ln w="19050">
            <a:solidFill>
              <a:srgbClr val="00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66160" y="3840480"/>
            <a:ext cx="0" cy="1051560"/>
          </a:xfrm>
          <a:prstGeom prst="line">
            <a:avLst/>
          </a:prstGeom>
          <a:ln w="15875">
            <a:solidFill>
              <a:srgbClr val="595959"/>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5285232" y="312724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5285232" y="495604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2542032"/>
            <a:ext cx="1737360" cy="457200"/>
          </a:xfrm>
          <a:prstGeom prst="rect">
            <a:avLst/>
          </a:prstGeom>
          <a:solidFill>
            <a:srgbClr val="FFF3B0"/>
          </a:solidFill>
          <a:ln w="12700">
            <a:solidFill>
              <a:srgbClr val="000000"/>
            </a:solidFill>
          </a:ln>
        </p:spPr>
        <p:txBody>
          <a:bodyPr wrap="square" lIns="45720" rIns="45720">
            <a:spAutoFit/>
          </a:bodyPr>
          <a:lstStyle/>
          <a:p>
            <a:pPr algn="l">
              <a:spcAft>
                <a:spcPts val="0"/>
              </a:spcAft>
            </a:pPr>
            <a:r>
              <a:rPr sz="1300" b="1" i="0">
                <a:solidFill>
                  <a:srgbClr val="6E1EC6"/>
                </a:solidFill>
              </a:rPr>
              <a:t>VAL</a:t>
            </a:r>
          </a:p>
          <a:p>
            <a:pPr algn="l">
              <a:spcAft>
                <a:spcPts val="400"/>
              </a:spcAft>
            </a:pPr>
            <a:r>
              <a:rPr sz="1050" b="0" i="0">
                <a:solidFill>
                  <a:srgbClr val="595959"/>
                </a:solidFill>
              </a:rPr>
              <a:t>validation</a:t>
            </a:r>
          </a:p>
        </p:txBody>
      </p:sp>
      <p:sp>
        <p:nvSpPr>
          <p:cNvPr id="15" name="TextBox 14"/>
          <p:cNvSpPr txBox="1"/>
          <p:nvPr/>
        </p:nvSpPr>
        <p:spPr>
          <a:xfrm>
            <a:off x="4663440" y="4114800"/>
            <a:ext cx="2011680" cy="457200"/>
          </a:xfrm>
          <a:prstGeom prst="rect">
            <a:avLst/>
          </a:prstGeom>
          <a:noFill/>
        </p:spPr>
        <p:txBody>
          <a:bodyPr wrap="square" lIns="45720" rIns="45720">
            <a:spAutoFit/>
          </a:bodyPr>
          <a:lstStyle/>
          <a:p>
            <a:pPr algn="l">
              <a:spcAft>
                <a:spcPts val="0"/>
              </a:spcAft>
            </a:pPr>
            <a:r>
              <a:rPr sz="1300" b="1" i="0">
                <a:solidFill>
                  <a:srgbClr val="000000"/>
                </a:solidFill>
              </a:rPr>
              <a:t>CONF</a:t>
            </a:r>
          </a:p>
          <a:p>
            <a:pPr algn="l">
              <a:spcAft>
                <a:spcPts val="400"/>
              </a:spcAft>
            </a:pPr>
            <a:r>
              <a:rPr sz="1050" b="0" i="0">
                <a:solidFill>
                  <a:srgbClr val="595959"/>
                </a:solidFill>
              </a:rPr>
              <a:t>conformance, by verification</a:t>
            </a:r>
          </a:p>
        </p:txBody>
      </p:sp>
      <p:sp>
        <p:nvSpPr>
          <p:cNvPr id="16" name="TextBox 15"/>
          <p:cNvSpPr txBox="1"/>
          <p:nvPr/>
        </p:nvSpPr>
        <p:spPr>
          <a:xfrm>
            <a:off x="1828800" y="4114800"/>
            <a:ext cx="1645920" cy="457200"/>
          </a:xfrm>
          <a:prstGeom prst="rect">
            <a:avLst/>
          </a:prstGeom>
          <a:noFill/>
        </p:spPr>
        <p:txBody>
          <a:bodyPr wrap="square" lIns="45720" rIns="45720">
            <a:spAutoFit/>
          </a:bodyPr>
          <a:lstStyle/>
          <a:p>
            <a:pPr algn="r">
              <a:spcAft>
                <a:spcPts val="0"/>
              </a:spcAft>
            </a:pPr>
            <a:r>
              <a:rPr sz="1300" b="1" i="0">
                <a:solidFill>
                  <a:srgbClr val="000000"/>
                </a:solidFill>
              </a:rPr>
              <a:t>TR</a:t>
            </a:r>
          </a:p>
          <a:p>
            <a:pPr algn="r">
              <a:spcAft>
                <a:spcPts val="400"/>
              </a:spcAft>
            </a:pPr>
            <a:r>
              <a:rPr sz="1050" b="0" i="0">
                <a:solidFill>
                  <a:srgbClr val="595959"/>
                </a:solidFill>
              </a:rPr>
              <a:t>traceability</a:t>
            </a:r>
          </a:p>
        </p:txBody>
      </p:sp>
      <p:sp>
        <p:nvSpPr>
          <p:cNvPr id="17" name="TextBox 16"/>
          <p:cNvSpPr txBox="1"/>
          <p:nvPr/>
        </p:nvSpPr>
        <p:spPr>
          <a:xfrm>
            <a:off x="5943600" y="3154680"/>
            <a:ext cx="1920240" cy="457200"/>
          </a:xfrm>
          <a:prstGeom prst="rect">
            <a:avLst/>
          </a:prstGeom>
          <a:noFill/>
        </p:spPr>
        <p:txBody>
          <a:bodyPr wrap="square" lIns="45720" rIns="45720">
            <a:spAutoFit/>
          </a:bodyPr>
          <a:lstStyle/>
          <a:p>
            <a:pPr algn="l">
              <a:spcAft>
                <a:spcPts val="0"/>
              </a:spcAft>
            </a:pPr>
            <a:r>
              <a:rPr sz="1300" b="1" i="0">
                <a:solidFill>
                  <a:srgbClr val="000000"/>
                </a:solidFill>
              </a:rPr>
              <a:t>SQ</a:t>
            </a:r>
          </a:p>
          <a:p>
            <a:pPr algn="l">
              <a:spcAft>
                <a:spcPts val="400"/>
              </a:spcAft>
            </a:pPr>
            <a:r>
              <a:rPr sz="1050" b="0" i="0">
                <a:solidFill>
                  <a:srgbClr val="595959"/>
                </a:solidFill>
              </a:rPr>
              <a:t>specification quality</a:t>
            </a:r>
          </a:p>
        </p:txBody>
      </p:sp>
      <p:sp>
        <p:nvSpPr>
          <p:cNvPr id="18" name="TextBox 17"/>
          <p:cNvSpPr txBox="1"/>
          <p:nvPr/>
        </p:nvSpPr>
        <p:spPr>
          <a:xfrm>
            <a:off x="5943600" y="4983480"/>
            <a:ext cx="1920240" cy="457200"/>
          </a:xfrm>
          <a:prstGeom prst="rect">
            <a:avLst/>
          </a:prstGeom>
          <a:noFill/>
        </p:spPr>
        <p:txBody>
          <a:bodyPr wrap="square" lIns="45720" rIns="45720">
            <a:spAutoFit/>
          </a:bodyPr>
          <a:lstStyle/>
          <a:p>
            <a:pPr algn="l">
              <a:spcAft>
                <a:spcPts val="0"/>
              </a:spcAft>
            </a:pPr>
            <a:r>
              <a:rPr sz="1300" b="1" i="0">
                <a:solidFill>
                  <a:srgbClr val="000000"/>
                </a:solidFill>
              </a:rPr>
              <a:t>RQ</a:t>
            </a:r>
          </a:p>
          <a:p>
            <a:pPr algn="l">
              <a:spcAft>
                <a:spcPts val="400"/>
              </a:spcAft>
            </a:pPr>
            <a:r>
              <a:rPr sz="1050" b="0" i="0">
                <a:solidFill>
                  <a:srgbClr val="595959"/>
                </a:solidFill>
              </a:rPr>
              <a:t>realization quality</a:t>
            </a:r>
          </a:p>
        </p:txBody>
      </p:sp>
      <p:sp>
        <p:nvSpPr>
          <p:cNvPr id="19" name="Rectangle 18"/>
          <p:cNvSpPr/>
          <p:nvPr/>
        </p:nvSpPr>
        <p:spPr>
          <a:xfrm>
            <a:off x="8001000" y="1325880"/>
            <a:ext cx="3794760" cy="146304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Do the specifications describe what is intended?</a:t>
            </a:r>
          </a:p>
          <a:p>
            <a:pPr algn="l" marL="182880" indent="-182880">
              <a:spcAft>
                <a:spcPts val="200"/>
              </a:spcAft>
              <a:buChar char="•"/>
            </a:pPr>
            <a:r>
              <a:rPr sz="1200" b="0" i="0">
                <a:solidFill>
                  <a:srgbClr val="000000"/>
                </a:solidFill>
              </a:rPr>
              <a:t>Verification compares two artifacts, both in the repository</a:t>
            </a:r>
          </a:p>
          <a:p>
            <a:pPr algn="l" marL="182880" indent="-182880">
              <a:spcAft>
                <a:spcPts val="200"/>
              </a:spcAft>
              <a:buChar char="•"/>
            </a:pPr>
            <a:r>
              <a:rPr sz="1200" b="0" i="0">
                <a:solidFill>
                  <a:srgbClr val="000000"/>
                </a:solidFill>
              </a:rPr>
              <a:t>Validation compares an artifact with what is in a person's mind, which is not</a:t>
            </a:r>
          </a:p>
        </p:txBody>
      </p:sp>
      <p:sp>
        <p:nvSpPr>
          <p:cNvPr id="20" name="Rectangle 19"/>
          <p:cNvSpPr/>
          <p:nvPr/>
        </p:nvSpPr>
        <p:spPr>
          <a:xfrm>
            <a:off x="8001000" y="2971800"/>
            <a:ext cx="3794760" cy="146304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How it is decided</a:t>
            </a:r>
          </a:p>
          <a:p>
            <a:pPr algn="l" marL="182880" indent="-182880">
              <a:spcAft>
                <a:spcPts val="200"/>
              </a:spcAft>
              <a:buChar char="•"/>
            </a:pPr>
            <a:r>
              <a:rPr sz="1200" b="0" i="0">
                <a:solidFill>
                  <a:srgbClr val="000000"/>
                </a:solidFill>
              </a:rPr>
              <a:t>Only a person can decide it</a:t>
            </a:r>
          </a:p>
          <a:p>
            <a:pPr algn="l" marL="182880" indent="-182880">
              <a:spcAft>
                <a:spcPts val="200"/>
              </a:spcAft>
              <a:buChar char="•"/>
            </a:pPr>
            <a:r>
              <a:rPr sz="1200" b="0" i="0">
                <a:solidFill>
                  <a:srgbClr val="000000"/>
                </a:solidFill>
              </a:rPr>
              <a:t>Recorded as a sign-off: who, in which role, when, on which version</a:t>
            </a:r>
          </a:p>
          <a:p>
            <a:pPr algn="l" marL="182880" indent="-182880">
              <a:spcAft>
                <a:spcPts val="200"/>
              </a:spcAft>
              <a:buChar char="•"/>
            </a:pPr>
            <a:r>
              <a:rPr sz="1200" b="0" i="0">
                <a:solidFill>
                  <a:srgbClr val="000000"/>
                </a:solidFill>
              </a:rPr>
              <a:t>Usually by reading the stories or walking the operations</a:t>
            </a:r>
          </a:p>
        </p:txBody>
      </p:sp>
      <p:sp>
        <p:nvSpPr>
          <p:cNvPr id="21" name="Rectangle 20"/>
          <p:cNvSpPr/>
          <p:nvPr/>
        </p:nvSpPr>
        <p:spPr>
          <a:xfrm>
            <a:off x="8001000" y="4617720"/>
            <a:ext cx="3794760" cy="164592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Why it is a separate row</a:t>
            </a:r>
          </a:p>
          <a:p>
            <a:pPr algn="l" marL="182880" indent="-182880">
              <a:spcAft>
                <a:spcPts val="200"/>
              </a:spcAft>
              <a:buChar char="•"/>
            </a:pPr>
            <a:r>
              <a:rPr sz="1200" b="0" i="0">
                <a:solidFill>
                  <a:srgbClr val="000000"/>
                </a:solidFill>
              </a:rPr>
              <a:t>It can fail while SQ, RQ, CONF, and TR all hold: a wrong specification, realized correctly</a:t>
            </a:r>
          </a:p>
          <a:p>
            <a:pPr algn="l" marL="182880" indent="-182880">
              <a:spcAft>
                <a:spcPts val="200"/>
              </a:spcAft>
              <a:buChar char="•"/>
            </a:pPr>
            <a:r>
              <a:rPr sz="1200" b="0" i="0">
                <a:solidFill>
                  <a:srgbClr val="000000"/>
                </a:solidFill>
              </a:rPr>
              <a:t>It goes stale when a stakeholder changes their mind, even if no file changed</a:t>
            </a:r>
          </a:p>
        </p:txBody>
      </p:sp>
      <p:cxnSp>
        <p:nvCxnSpPr>
          <p:cNvPr id="22" name="Connector 21"/>
          <p:cNvCxnSpPr/>
          <p:nvPr/>
        </p:nvCxnSpPr>
        <p:spPr>
          <a:xfrm flipH="1">
            <a:off x="6080760" y="2103120"/>
            <a:ext cx="1920240" cy="731520"/>
          </a:xfrm>
          <a:prstGeom prst="line">
            <a:avLst/>
          </a:prstGeom>
          <a:ln w="19050">
            <a:solidFill>
              <a:srgbClr val="C0000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Traceability (TR)</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14</a:t>
            </a:r>
          </a:p>
        </p:txBody>
      </p:sp>
      <p:pic>
        <p:nvPicPr>
          <p:cNvPr id="5" name="Picture 4" descr="stakeholders-icon.png"/>
          <p:cNvPicPr>
            <a:picLocks noChangeAspect="1"/>
          </p:cNvPicPr>
          <p:nvPr/>
        </p:nvPicPr>
        <p:blipFill>
          <a:blip r:embed="rId3"/>
          <a:stretch>
            <a:fillRect/>
          </a:stretch>
        </p:blipFill>
        <p:spPr>
          <a:xfrm>
            <a:off x="3767328" y="1261872"/>
            <a:ext cx="868680" cy="868680"/>
          </a:xfrm>
          <a:prstGeom prst="rect">
            <a:avLst/>
          </a:prstGeom>
        </p:spPr>
      </p:pic>
      <p:sp>
        <p:nvSpPr>
          <p:cNvPr id="6" name="TextBox 5"/>
          <p:cNvSpPr txBox="1"/>
          <p:nvPr/>
        </p:nvSpPr>
        <p:spPr>
          <a:xfrm>
            <a:off x="2971800" y="2103120"/>
            <a:ext cx="2468880" cy="566928"/>
          </a:xfrm>
          <a:prstGeom prst="rect">
            <a:avLst/>
          </a:prstGeom>
          <a:noFill/>
        </p:spPr>
        <p:txBody>
          <a:bodyPr wrap="square" lIns="45720" rIns="45720">
            <a:spAutoFit/>
          </a:bodyPr>
          <a:lstStyle/>
          <a:p>
            <a:pPr algn="ctr">
              <a:spcAft>
                <a:spcPts val="0"/>
              </a:spcAft>
            </a:pPr>
            <a:r>
              <a:rPr sz="1600" b="1" i="0"/>
              <a:t>Intent</a:t>
            </a:r>
          </a:p>
          <a:p>
            <a:pPr algn="ctr">
              <a:spcAft>
                <a:spcPts val="400"/>
              </a:spcAft>
            </a:pPr>
            <a:r>
              <a:rPr sz="1100" b="0" i="0">
                <a:solidFill>
                  <a:srgbClr val="595959"/>
                </a:solidFill>
              </a:rPr>
              <a:t>the stakeholders; no artifact</a:t>
            </a:r>
          </a:p>
        </p:txBody>
      </p:sp>
      <p:sp>
        <p:nvSpPr>
          <p:cNvPr id="7" name="Rectangle 6"/>
          <p:cNvSpPr/>
          <p:nvPr/>
        </p:nvSpPr>
        <p:spPr>
          <a:xfrm>
            <a:off x="3246120" y="306324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0" i="0">
                <a:solidFill>
                  <a:srgbClr val="000000"/>
                </a:solidFill>
              </a:rPr>
              <a:t>Specifications</a:t>
            </a:r>
          </a:p>
        </p:txBody>
      </p:sp>
      <p:sp>
        <p:nvSpPr>
          <p:cNvPr id="8" name="Rectangle 7"/>
          <p:cNvSpPr/>
          <p:nvPr/>
        </p:nvSpPr>
        <p:spPr>
          <a:xfrm>
            <a:off x="3246120" y="4892040"/>
            <a:ext cx="1920240" cy="7772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600" b="0" i="0">
                <a:solidFill>
                  <a:srgbClr val="000000"/>
                </a:solidFill>
              </a:rPr>
              <a:t>Realization</a:t>
            </a:r>
          </a:p>
        </p:txBody>
      </p:sp>
      <p:cxnSp>
        <p:nvCxnSpPr>
          <p:cNvPr id="9" name="Connector 8"/>
          <p:cNvCxnSpPr/>
          <p:nvPr/>
        </p:nvCxnSpPr>
        <p:spPr>
          <a:xfrm>
            <a:off x="4206240" y="2697480"/>
            <a:ext cx="0" cy="365760"/>
          </a:xfrm>
          <a:prstGeom prst="line">
            <a:avLst/>
          </a:prstGeom>
          <a:ln w="1905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526280" y="3840480"/>
            <a:ext cx="0" cy="1051560"/>
          </a:xfrm>
          <a:prstGeom prst="line">
            <a:avLst/>
          </a:prstGeom>
          <a:ln w="19050">
            <a:solidFill>
              <a:srgbClr val="00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66160" y="3840480"/>
            <a:ext cx="0" cy="1051560"/>
          </a:xfrm>
          <a:prstGeom prst="line">
            <a:avLst/>
          </a:prstGeom>
          <a:ln w="31750">
            <a:solidFill>
              <a:srgbClr val="6E1EC6"/>
            </a:solidFill>
            <a:prstDash val="dash"/>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 name="U-Turn Arrow 11"/>
          <p:cNvSpPr/>
          <p:nvPr/>
        </p:nvSpPr>
        <p:spPr>
          <a:xfrm rot="16200000">
            <a:off x="5285232" y="312724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Turn Arrow 12"/>
          <p:cNvSpPr/>
          <p:nvPr/>
        </p:nvSpPr>
        <p:spPr>
          <a:xfrm rot="16200000">
            <a:off x="5285232" y="4956048"/>
            <a:ext cx="566928" cy="640080"/>
          </a:xfrm>
          <a:prstGeom prst="uturnArrow">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400" y="2542032"/>
            <a:ext cx="1737360" cy="457200"/>
          </a:xfrm>
          <a:prstGeom prst="rect">
            <a:avLst/>
          </a:prstGeom>
          <a:noFill/>
        </p:spPr>
        <p:txBody>
          <a:bodyPr wrap="square" lIns="45720" rIns="45720">
            <a:spAutoFit/>
          </a:bodyPr>
          <a:lstStyle/>
          <a:p>
            <a:pPr algn="l">
              <a:spcAft>
                <a:spcPts val="0"/>
              </a:spcAft>
            </a:pPr>
            <a:r>
              <a:rPr sz="1300" b="1" i="0">
                <a:solidFill>
                  <a:srgbClr val="000000"/>
                </a:solidFill>
              </a:rPr>
              <a:t>VAL</a:t>
            </a:r>
          </a:p>
          <a:p>
            <a:pPr algn="l">
              <a:spcAft>
                <a:spcPts val="400"/>
              </a:spcAft>
            </a:pPr>
            <a:r>
              <a:rPr sz="1050" b="0" i="0">
                <a:solidFill>
                  <a:srgbClr val="595959"/>
                </a:solidFill>
              </a:rPr>
              <a:t>validation</a:t>
            </a:r>
          </a:p>
        </p:txBody>
      </p:sp>
      <p:sp>
        <p:nvSpPr>
          <p:cNvPr id="15" name="TextBox 14"/>
          <p:cNvSpPr txBox="1"/>
          <p:nvPr/>
        </p:nvSpPr>
        <p:spPr>
          <a:xfrm>
            <a:off x="4663440" y="4114800"/>
            <a:ext cx="2011680" cy="457200"/>
          </a:xfrm>
          <a:prstGeom prst="rect">
            <a:avLst/>
          </a:prstGeom>
          <a:noFill/>
        </p:spPr>
        <p:txBody>
          <a:bodyPr wrap="square" lIns="45720" rIns="45720">
            <a:spAutoFit/>
          </a:bodyPr>
          <a:lstStyle/>
          <a:p>
            <a:pPr algn="l">
              <a:spcAft>
                <a:spcPts val="0"/>
              </a:spcAft>
            </a:pPr>
            <a:r>
              <a:rPr sz="1300" b="1" i="0">
                <a:solidFill>
                  <a:srgbClr val="000000"/>
                </a:solidFill>
              </a:rPr>
              <a:t>CONF</a:t>
            </a:r>
          </a:p>
          <a:p>
            <a:pPr algn="l">
              <a:spcAft>
                <a:spcPts val="400"/>
              </a:spcAft>
            </a:pPr>
            <a:r>
              <a:rPr sz="1050" b="0" i="0">
                <a:solidFill>
                  <a:srgbClr val="595959"/>
                </a:solidFill>
              </a:rPr>
              <a:t>conformance, by verification</a:t>
            </a:r>
          </a:p>
        </p:txBody>
      </p:sp>
      <p:sp>
        <p:nvSpPr>
          <p:cNvPr id="16" name="TextBox 15"/>
          <p:cNvSpPr txBox="1"/>
          <p:nvPr/>
        </p:nvSpPr>
        <p:spPr>
          <a:xfrm>
            <a:off x="1828800" y="4114800"/>
            <a:ext cx="1645920" cy="457200"/>
          </a:xfrm>
          <a:prstGeom prst="rect">
            <a:avLst/>
          </a:prstGeom>
          <a:solidFill>
            <a:srgbClr val="FFF3B0"/>
          </a:solidFill>
          <a:ln w="12700">
            <a:solidFill>
              <a:srgbClr val="000000"/>
            </a:solidFill>
          </a:ln>
        </p:spPr>
        <p:txBody>
          <a:bodyPr wrap="square" lIns="45720" rIns="45720">
            <a:spAutoFit/>
          </a:bodyPr>
          <a:lstStyle/>
          <a:p>
            <a:pPr algn="r">
              <a:spcAft>
                <a:spcPts val="0"/>
              </a:spcAft>
            </a:pPr>
            <a:r>
              <a:rPr sz="1300" b="1" i="0">
                <a:solidFill>
                  <a:srgbClr val="6E1EC6"/>
                </a:solidFill>
              </a:rPr>
              <a:t>TR</a:t>
            </a:r>
          </a:p>
          <a:p>
            <a:pPr algn="r">
              <a:spcAft>
                <a:spcPts val="400"/>
              </a:spcAft>
            </a:pPr>
            <a:r>
              <a:rPr sz="1050" b="0" i="0">
                <a:solidFill>
                  <a:srgbClr val="595959"/>
                </a:solidFill>
              </a:rPr>
              <a:t>traceability</a:t>
            </a:r>
          </a:p>
        </p:txBody>
      </p:sp>
      <p:sp>
        <p:nvSpPr>
          <p:cNvPr id="17" name="TextBox 16"/>
          <p:cNvSpPr txBox="1"/>
          <p:nvPr/>
        </p:nvSpPr>
        <p:spPr>
          <a:xfrm>
            <a:off x="5943600" y="3154680"/>
            <a:ext cx="1920240" cy="457200"/>
          </a:xfrm>
          <a:prstGeom prst="rect">
            <a:avLst/>
          </a:prstGeom>
          <a:noFill/>
        </p:spPr>
        <p:txBody>
          <a:bodyPr wrap="square" lIns="45720" rIns="45720">
            <a:spAutoFit/>
          </a:bodyPr>
          <a:lstStyle/>
          <a:p>
            <a:pPr algn="l">
              <a:spcAft>
                <a:spcPts val="0"/>
              </a:spcAft>
            </a:pPr>
            <a:r>
              <a:rPr sz="1300" b="1" i="0">
                <a:solidFill>
                  <a:srgbClr val="000000"/>
                </a:solidFill>
              </a:rPr>
              <a:t>SQ</a:t>
            </a:r>
          </a:p>
          <a:p>
            <a:pPr algn="l">
              <a:spcAft>
                <a:spcPts val="400"/>
              </a:spcAft>
            </a:pPr>
            <a:r>
              <a:rPr sz="1050" b="0" i="0">
                <a:solidFill>
                  <a:srgbClr val="595959"/>
                </a:solidFill>
              </a:rPr>
              <a:t>specification quality</a:t>
            </a:r>
          </a:p>
        </p:txBody>
      </p:sp>
      <p:sp>
        <p:nvSpPr>
          <p:cNvPr id="18" name="TextBox 17"/>
          <p:cNvSpPr txBox="1"/>
          <p:nvPr/>
        </p:nvSpPr>
        <p:spPr>
          <a:xfrm>
            <a:off x="5943600" y="4983480"/>
            <a:ext cx="1920240" cy="457200"/>
          </a:xfrm>
          <a:prstGeom prst="rect">
            <a:avLst/>
          </a:prstGeom>
          <a:noFill/>
        </p:spPr>
        <p:txBody>
          <a:bodyPr wrap="square" lIns="45720" rIns="45720">
            <a:spAutoFit/>
          </a:bodyPr>
          <a:lstStyle/>
          <a:p>
            <a:pPr algn="l">
              <a:spcAft>
                <a:spcPts val="0"/>
              </a:spcAft>
            </a:pPr>
            <a:r>
              <a:rPr sz="1300" b="1" i="0">
                <a:solidFill>
                  <a:srgbClr val="000000"/>
                </a:solidFill>
              </a:rPr>
              <a:t>RQ</a:t>
            </a:r>
          </a:p>
          <a:p>
            <a:pPr algn="l">
              <a:spcAft>
                <a:spcPts val="400"/>
              </a:spcAft>
            </a:pPr>
            <a:r>
              <a:rPr sz="1050" b="0" i="0">
                <a:solidFill>
                  <a:srgbClr val="595959"/>
                </a:solidFill>
              </a:rPr>
              <a:t>realization quality</a:t>
            </a:r>
          </a:p>
        </p:txBody>
      </p:sp>
      <p:sp>
        <p:nvSpPr>
          <p:cNvPr id="19" name="Rectangle 18"/>
          <p:cNvSpPr/>
          <p:nvPr/>
        </p:nvSpPr>
        <p:spPr>
          <a:xfrm>
            <a:off x="8001000" y="1325880"/>
            <a:ext cx="3794760" cy="192024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What TR asks</a:t>
            </a:r>
          </a:p>
          <a:p>
            <a:pPr algn="l" marL="182880" indent="-182880">
              <a:spcAft>
                <a:spcPts val="200"/>
              </a:spcAft>
              <a:buChar char="•"/>
            </a:pPr>
            <a:r>
              <a:rPr sz="1200" b="0" i="0">
                <a:solidFill>
                  <a:srgbClr val="000000"/>
                </a:solidFill>
              </a:rPr>
              <a:t>Every clause carries an identifier</a:t>
            </a:r>
          </a:p>
          <a:p>
            <a:pPr algn="l" marL="182880" indent="-182880">
              <a:spcAft>
                <a:spcPts val="200"/>
              </a:spcAft>
              <a:buChar char="•"/>
            </a:pPr>
            <a:r>
              <a:rPr sz="1200" b="0" i="0">
                <a:solidFill>
                  <a:srgbClr val="000000"/>
                </a:solidFill>
              </a:rPr>
              <a:t>Every link resolves, in both directions:</a:t>
            </a:r>
          </a:p>
          <a:p>
            <a:pPr algn="l" marL="438912" indent="-182880">
              <a:spcAft>
                <a:spcPts val="200"/>
              </a:spcAft>
              <a:buChar char="–"/>
            </a:pPr>
            <a:r>
              <a:rPr sz="1200" b="0" i="0">
                <a:solidFill>
                  <a:srgbClr val="000000"/>
                </a:solidFill>
              </a:rPr>
              <a:t>story → requirement → test → report row → ledger row</a:t>
            </a:r>
          </a:p>
        </p:txBody>
      </p:sp>
      <p:sp>
        <p:nvSpPr>
          <p:cNvPr id="20" name="Rectangle 19"/>
          <p:cNvSpPr/>
          <p:nvPr/>
        </p:nvSpPr>
        <p:spPr>
          <a:xfrm>
            <a:off x="8001000" y="3429000"/>
            <a:ext cx="3794760" cy="132588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Decided by</a:t>
            </a:r>
          </a:p>
          <a:p>
            <a:pPr algn="l" marL="182880" indent="-182880">
              <a:spcAft>
                <a:spcPts val="200"/>
              </a:spcAft>
              <a:buChar char="•"/>
            </a:pPr>
            <a:r>
              <a:rPr sz="1200" b="0" i="0">
                <a:solidFill>
                  <a:srgbClr val="000000"/>
                </a:solidFill>
              </a:rPr>
              <a:t>The markers: a program lists any it cannot resolve</a:t>
            </a:r>
          </a:p>
          <a:p>
            <a:pPr algn="l" marL="182880" indent="-182880">
              <a:spcAft>
                <a:spcPts val="200"/>
              </a:spcAft>
              <a:buChar char="•"/>
            </a:pPr>
            <a:r>
              <a:rPr sz="1200" b="0" i="0">
                <a:solidFill>
                  <a:srgbClr val="000000"/>
                </a:solidFill>
              </a:rPr>
              <a:t>The "derived from" fields: a person, with SQ</a:t>
            </a:r>
          </a:p>
        </p:txBody>
      </p:sp>
      <p:sp>
        <p:nvSpPr>
          <p:cNvPr id="21" name="Rectangle 20"/>
          <p:cNvSpPr/>
          <p:nvPr/>
        </p:nvSpPr>
        <p:spPr>
          <a:xfrm>
            <a:off x="8001000" y="4937760"/>
            <a:ext cx="3794760" cy="132588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Why its own row</a:t>
            </a:r>
          </a:p>
          <a:p>
            <a:pPr algn="l" marL="182880" indent="-182880">
              <a:spcAft>
                <a:spcPts val="200"/>
              </a:spcAft>
              <a:buChar char="•"/>
            </a:pPr>
            <a:r>
              <a:rPr sz="1200" b="0" i="0">
                <a:solidFill>
                  <a:srgbClr val="000000"/>
                </a:solidFill>
              </a:rPr>
              <a:t>Cheap to keep established; the other four rows depend on it clause by clause</a:t>
            </a:r>
          </a:p>
          <a:p>
            <a:pPr algn="l" marL="182880" indent="-182880">
              <a:spcAft>
                <a:spcPts val="200"/>
              </a:spcAft>
              <a:buChar char="•"/>
            </a:pPr>
            <a:r>
              <a:rPr sz="1200" b="0" i="0">
                <a:solidFill>
                  <a:srgbClr val="000000"/>
                </a:solidFill>
              </a:rPr>
              <a:t>Identifiers are the vocabulary a person, an agent, and a program share: REQ-1 means one sentence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400"/>
              </a:spcAft>
            </a:pPr>
            <a:r>
              <a:rPr sz="3400" b="1" i="0"/>
              <a:t>Part 2 · The judgments on a real system</a:t>
            </a:r>
          </a:p>
        </p:txBody>
      </p:sp>
      <p:sp>
        <p:nvSpPr>
          <p:cNvPr id="3" name="Text Placeholder 2"/>
          <p:cNvSpPr>
            <a:spLocks noGrp="1"/>
          </p:cNvSpPr>
          <p:nvPr>
            <p:ph type="body" idx="1"/>
          </p:nvPr>
        </p:nvSpPr>
        <p:spPr/>
        <p:txBody>
          <a:bodyPr/>
          <a:lstStyle/>
          <a:p>
            <a:pPr>
              <a:spcAft>
                <a:spcPts val="400"/>
              </a:spcAft>
            </a:pPr>
            <a:r>
              <a:rPr sz="1800" b="0" i="0">
                <a:solidFill>
                  <a:srgbClr val="595959"/>
                </a:solidFill>
              </a:rPr>
              <a:t>Message guard, version A0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example: a message guard</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16</a:t>
            </a:r>
          </a:p>
        </p:txBody>
      </p:sp>
      <p:sp>
        <p:nvSpPr>
          <p:cNvPr id="5" name="TextBox 4"/>
          <p:cNvSpPr txBox="1"/>
          <p:nvPr/>
        </p:nvSpPr>
        <p:spPr>
          <a:xfrm>
            <a:off x="777240" y="1325880"/>
            <a:ext cx="5394960" cy="4937760"/>
          </a:xfrm>
          <a:prstGeom prst="rect">
            <a:avLst/>
          </a:prstGeom>
          <a:noFill/>
        </p:spPr>
        <p:txBody>
          <a:bodyPr wrap="square" lIns="45720" rIns="45720" tIns="27432" bIns="27432">
            <a:spAutoFit/>
          </a:bodyPr>
          <a:lstStyle/>
          <a:p>
            <a:pPr marL="182880" indent="-182880">
              <a:spcAft>
                <a:spcPts val="700"/>
              </a:spcAft>
              <a:buChar char="•"/>
            </a:pPr>
            <a:r>
              <a:rPr sz="1300" b="0" i="0"/>
              <a:t>A protected enclave produces messages of differing sensitivity; some must reach a less trusted network outside</a:t>
            </a:r>
          </a:p>
          <a:p>
            <a:pPr marL="182880" indent="-182880">
              <a:spcAft>
                <a:spcPts val="700"/>
              </a:spcAft>
              <a:buChar char="•"/>
            </a:pPr>
            <a:r>
              <a:rPr sz="1300" b="0" i="0"/>
              <a:t>The guard sits on the boundary and decides, one message at a time, whether a message may leave</a:t>
            </a:r>
          </a:p>
          <a:p>
            <a:pPr marL="182880" indent="-182880">
              <a:spcAft>
                <a:spcPts val="700"/>
              </a:spcAft>
              <a:buChar char="•"/>
            </a:pPr>
            <a:r>
              <a:rPr sz="1300" b="1" i="0"/>
              <a:t>A message: </a:t>
            </a:r>
            <a:r>
              <a:rPr sz="1300" b="0" i="0"/>
              <a:t>a security level (Public, Restricted, Critical) and an integer payload</a:t>
            </a:r>
          </a:p>
          <a:p>
            <a:pPr marL="182880" indent="-182880">
              <a:spcAft>
                <a:spcPts val="700"/>
              </a:spcAft>
              <a:buChar char="•"/>
            </a:pPr>
            <a:r>
              <a:rPr sz="1300" b="1" i="0"/>
              <a:t>Version A0: </a:t>
            </a:r>
            <a:r>
              <a:rPr sz="1300" b="0" i="0"/>
              <a:t>one stage, </a:t>
            </a:r>
            <a:r>
              <a:rPr sz="1300" b="0" i="0">
                <a:latin typeface="Courier New"/>
              </a:rPr>
              <a:t>filter</a:t>
            </a:r>
            <a:r>
              <a:rPr sz="1300" b="0" i="0"/>
              <a:t>. A Critical message is dropped; any other message passes unchanged</a:t>
            </a:r>
          </a:p>
          <a:p>
            <a:pPr marL="182880" indent="-182880">
              <a:spcAft>
                <a:spcPts val="700"/>
              </a:spcAft>
              <a:buChar char="•"/>
            </a:pPr>
            <a:r>
              <a:rPr sz="1300" b="0" i="0"/>
              <a:t>Chosen because it is small (the working file is ten lines), its shape is realistic (a boundary, a responsible stakeholder, a wrong outcome that matters), and it grows: a second stage, a record of what was stopped, a policy change, sessions, a message format</a:t>
            </a:r>
          </a:p>
          <a:p>
            <a:pPr marL="182880" indent="-182880">
              <a:spcAft>
                <a:spcPts val="700"/>
              </a:spcAft>
              <a:buChar char="•"/>
            </a:pPr>
            <a:r>
              <a:rPr sz="1200" b="0" i="0">
                <a:solidFill>
                  <a:srgbClr val="595959"/>
                </a:solidFill>
              </a:rPr>
              <a:t>Python counterpart of the HAMR Simple Network Guard for seL4</a:t>
            </a:r>
          </a:p>
        </p:txBody>
      </p:sp>
      <p:sp>
        <p:nvSpPr>
          <p:cNvPr id="6" name="Rectangle 5"/>
          <p:cNvSpPr/>
          <p:nvPr/>
        </p:nvSpPr>
        <p:spPr>
          <a:xfrm>
            <a:off x="6583680" y="2011680"/>
            <a:ext cx="1371600" cy="731520"/>
          </a:xfrm>
          <a:prstGeom prst="rect">
            <a:avLst/>
          </a:prstGeom>
          <a:solidFill>
            <a:srgbClr val="F2F2F2"/>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200" b="0" i="0">
                <a:solidFill>
                  <a:srgbClr val="000000"/>
                </a:solidFill>
              </a:rPr>
              <a:t>sender
(enclave)</a:t>
            </a:r>
          </a:p>
        </p:txBody>
      </p:sp>
      <p:cxnSp>
        <p:nvCxnSpPr>
          <p:cNvPr id="7" name="Connector 6"/>
          <p:cNvCxnSpPr/>
          <p:nvPr/>
        </p:nvCxnSpPr>
        <p:spPr>
          <a:xfrm>
            <a:off x="8001000" y="2377440"/>
            <a:ext cx="64008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818120" y="1554480"/>
            <a:ext cx="1463040" cy="411480"/>
          </a:xfrm>
          <a:prstGeom prst="rect">
            <a:avLst/>
          </a:prstGeom>
          <a:noFill/>
        </p:spPr>
        <p:txBody>
          <a:bodyPr wrap="square" lIns="45720" rIns="45720">
            <a:spAutoFit/>
          </a:bodyPr>
          <a:lstStyle/>
          <a:p>
            <a:pPr>
              <a:spcAft>
                <a:spcPts val="400"/>
              </a:spcAft>
            </a:pPr>
            <a:r>
              <a:rPr sz="950" b="0" i="0">
                <a:solidFill>
                  <a:srgbClr val="595959"/>
                </a:solidFill>
                <a:latin typeface="Courier New"/>
              </a:rPr>
              <a:t>Message(level, payload)</a:t>
            </a:r>
          </a:p>
        </p:txBody>
      </p:sp>
      <p:sp>
        <p:nvSpPr>
          <p:cNvPr id="9" name="Rectangle 8"/>
          <p:cNvSpPr/>
          <p:nvPr/>
        </p:nvSpPr>
        <p:spPr>
          <a:xfrm>
            <a:off x="8686800" y="1874519"/>
            <a:ext cx="1737360" cy="10058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300" b="1" i="0">
                <a:solidFill>
                  <a:srgbClr val="000000"/>
                </a:solidFill>
              </a:rPr>
              <a:t>guard</a:t>
            </a:r>
          </a:p>
          <a:p>
            <a:pPr algn="ctr">
              <a:spcAft>
                <a:spcPts val="200"/>
              </a:spcAft>
            </a:pPr>
            <a:r>
              <a:rPr sz="1200" b="0" i="0">
                <a:solidFill>
                  <a:srgbClr val="000000"/>
                </a:solidFill>
                <a:latin typeface="Courier New"/>
              </a:rPr>
              <a:t>filter</a:t>
            </a:r>
          </a:p>
        </p:txBody>
      </p:sp>
      <p:cxnSp>
        <p:nvCxnSpPr>
          <p:cNvPr id="10" name="Connector 9"/>
          <p:cNvCxnSpPr/>
          <p:nvPr/>
        </p:nvCxnSpPr>
        <p:spPr>
          <a:xfrm>
            <a:off x="10469880" y="2148840"/>
            <a:ext cx="64008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1155680" y="1965960"/>
            <a:ext cx="640080" cy="365760"/>
          </a:xfrm>
          <a:prstGeom prst="rect">
            <a:avLst/>
          </a:prstGeom>
          <a:noFill/>
        </p:spPr>
        <p:txBody>
          <a:bodyPr wrap="square" lIns="45720" rIns="45720">
            <a:spAutoFit/>
          </a:bodyPr>
          <a:lstStyle/>
          <a:p>
            <a:pPr>
              <a:spcAft>
                <a:spcPts val="400"/>
              </a:spcAft>
            </a:pPr>
            <a:r>
              <a:rPr sz="1200" b="1" i="0">
                <a:solidFill>
                  <a:srgbClr val="2E7D32"/>
                </a:solidFill>
              </a:rPr>
              <a:t>pass</a:t>
            </a:r>
          </a:p>
        </p:txBody>
      </p:sp>
      <p:cxnSp>
        <p:nvCxnSpPr>
          <p:cNvPr id="12" name="Connector 11"/>
          <p:cNvCxnSpPr/>
          <p:nvPr/>
        </p:nvCxnSpPr>
        <p:spPr>
          <a:xfrm>
            <a:off x="10469880" y="2606040"/>
            <a:ext cx="64008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1155680" y="2423160"/>
            <a:ext cx="640080" cy="365760"/>
          </a:xfrm>
          <a:prstGeom prst="rect">
            <a:avLst/>
          </a:prstGeom>
          <a:noFill/>
        </p:spPr>
        <p:txBody>
          <a:bodyPr wrap="square" lIns="45720" rIns="45720">
            <a:spAutoFit/>
          </a:bodyPr>
          <a:lstStyle/>
          <a:p>
            <a:pPr>
              <a:spcAft>
                <a:spcPts val="400"/>
              </a:spcAft>
            </a:pPr>
            <a:r>
              <a:rPr sz="1200" b="1" i="0">
                <a:solidFill>
                  <a:srgbClr val="C00000"/>
                </a:solidFill>
              </a:rPr>
              <a:t>drop</a:t>
            </a:r>
          </a:p>
        </p:txBody>
      </p:sp>
      <p:graphicFrame>
        <p:nvGraphicFramePr>
          <p:cNvPr id="14" name="Table 13"/>
          <p:cNvGraphicFramePr>
            <a:graphicFrameLocks noGrp="1"/>
          </p:cNvGraphicFramePr>
          <p:nvPr/>
        </p:nvGraphicFramePr>
        <p:xfrm>
          <a:off x="6583680" y="3383280"/>
          <a:ext cx="5212080" cy="1170432"/>
        </p:xfrm>
        <a:graphic>
          <a:graphicData uri="http://schemas.openxmlformats.org/drawingml/2006/table">
            <a:tbl>
              <a:tblPr firstRow="1" bandRow="1">
                <a:tableStyleId>{5C22544A-7EE6-4342-B048-85BDC9FD1C3A}</a:tableStyleId>
              </a:tblPr>
              <a:tblGrid>
                <a:gridCol w="1371600"/>
                <a:gridCol w="2103120"/>
                <a:gridCol w="1737360"/>
              </a:tblGrid>
              <a:tr h="292608">
                <a:tc>
                  <a:txBody>
                    <a:bodyPr wrap="square"/>
                    <a:lstStyle/>
                    <a:p>
                      <a:pPr>
                        <a:spcAft>
                          <a:spcPts val="0"/>
                        </a:spcAft>
                      </a:pPr>
                      <a:r>
                        <a:rPr sz="1200" b="1" i="0">
                          <a:solidFill>
                            <a:srgbClr val="FFFFFF"/>
                          </a:solidFill>
                        </a:rPr>
                        <a:t>Level</a:t>
                      </a:r>
                    </a:p>
                  </a:txBody>
                  <a:tcPr marL="54864" marR="54864" marT="27432" marB="27432">
                    <a:solidFill>
                      <a:srgbClr val="6E1EC6"/>
                    </a:solidFill>
                  </a:tcPr>
                </a:tc>
                <a:tc>
                  <a:txBody>
                    <a:bodyPr wrap="square"/>
                    <a:lstStyle/>
                    <a:p>
                      <a:pPr>
                        <a:spcAft>
                          <a:spcPts val="0"/>
                        </a:spcAft>
                      </a:pPr>
                      <a:r>
                        <a:rPr sz="1200" b="1" i="0">
                          <a:solidFill>
                            <a:srgbClr val="FFFFFF"/>
                          </a:solidFill>
                        </a:rPr>
                        <a:t>A0 behavior</a:t>
                      </a:r>
                    </a:p>
                  </a:txBody>
                  <a:tcPr marL="54864" marR="54864" marT="27432" marB="27432">
                    <a:solidFill>
                      <a:srgbClr val="6E1EC6"/>
                    </a:solidFill>
                  </a:tcPr>
                </a:tc>
                <a:tc>
                  <a:txBody>
                    <a:bodyPr wrap="square"/>
                    <a:lstStyle/>
                    <a:p>
                      <a:pPr>
                        <a:spcAft>
                          <a:spcPts val="0"/>
                        </a:spcAft>
                      </a:pPr>
                      <a:r>
                        <a:rPr sz="1200" b="1" i="0">
                          <a:solidFill>
                            <a:srgbClr val="FFFFFF"/>
                          </a:solidFill>
                        </a:rPr>
                        <a:t>HAMR requirement</a:t>
                      </a:r>
                    </a:p>
                  </a:txBody>
                  <a:tcPr marL="54864" marR="54864" marT="27432" marB="27432">
                    <a:solidFill>
                      <a:srgbClr val="6E1EC6"/>
                    </a:solidFill>
                  </a:tcPr>
                </a:tc>
              </a:tr>
              <a:tr h="292608">
                <a:tc>
                  <a:txBody>
                    <a:bodyPr wrap="square"/>
                    <a:lstStyle/>
                    <a:p>
                      <a:pPr>
                        <a:spcAft>
                          <a:spcPts val="0"/>
                        </a:spcAft>
                      </a:pPr>
                      <a:r>
                        <a:rPr sz="1200" b="0" i="0">
                          <a:solidFill>
                            <a:srgbClr val="000000"/>
                          </a:solidFill>
                        </a:rPr>
                        <a:t>Public</a:t>
                      </a:r>
                    </a:p>
                  </a:txBody>
                  <a:tcPr marL="54864" marR="54864" marT="27432" marB="27432">
                    <a:solidFill>
                      <a:srgbClr val="FFFFFF"/>
                    </a:solidFill>
                  </a:tcPr>
                </a:tc>
                <a:tc>
                  <a:txBody>
                    <a:bodyPr wrap="square"/>
                    <a:lstStyle/>
                    <a:p>
                      <a:pPr>
                        <a:spcAft>
                          <a:spcPts val="0"/>
                        </a:spcAft>
                      </a:pPr>
                      <a:r>
                        <a:rPr sz="1200" b="0" i="0">
                          <a:solidFill>
                            <a:srgbClr val="000000"/>
                          </a:solidFill>
                        </a:rPr>
                        <a:t>passes unchanged</a:t>
                      </a:r>
                    </a:p>
                  </a:txBody>
                  <a:tcPr marL="54864" marR="54864" marT="27432" marB="27432">
                    <a:solidFill>
                      <a:srgbClr val="FFFFFF"/>
                    </a:solidFill>
                  </a:tcPr>
                </a:tc>
                <a:tc>
                  <a:txBody>
                    <a:bodyPr wrap="square"/>
                    <a:lstStyle/>
                    <a:p>
                      <a:pPr>
                        <a:spcAft>
                          <a:spcPts val="0"/>
                        </a:spcAft>
                      </a:pPr>
                      <a:r>
                        <a:rPr sz="1200" b="0" i="0">
                          <a:solidFill>
                            <a:srgbClr val="000000"/>
                          </a:solidFill>
                        </a:rPr>
                        <a:t>Req_P</a:t>
                      </a:r>
                    </a:p>
                  </a:txBody>
                  <a:tcPr marL="54864" marR="54864" marT="27432" marB="27432">
                    <a:solidFill>
                      <a:srgbClr val="FFFFFF"/>
                    </a:solidFill>
                  </a:tcPr>
                </a:tc>
              </a:tr>
              <a:tr h="292608">
                <a:tc>
                  <a:txBody>
                    <a:bodyPr wrap="square"/>
                    <a:lstStyle/>
                    <a:p>
                      <a:pPr>
                        <a:spcAft>
                          <a:spcPts val="0"/>
                        </a:spcAft>
                      </a:pPr>
                      <a:r>
                        <a:rPr sz="1200" b="0" i="0">
                          <a:solidFill>
                            <a:srgbClr val="000000"/>
                          </a:solidFill>
                        </a:rPr>
                        <a:t>Restricted</a:t>
                      </a:r>
                    </a:p>
                  </a:txBody>
                  <a:tcPr marL="54864" marR="54864" marT="27432" marB="27432">
                    <a:solidFill>
                      <a:srgbClr val="F3F0F9"/>
                    </a:solidFill>
                  </a:tcPr>
                </a:tc>
                <a:tc>
                  <a:txBody>
                    <a:bodyPr wrap="square"/>
                    <a:lstStyle/>
                    <a:p>
                      <a:pPr>
                        <a:spcAft>
                          <a:spcPts val="0"/>
                        </a:spcAft>
                      </a:pPr>
                      <a:r>
                        <a:rPr sz="1200" b="0" i="0">
                          <a:solidFill>
                            <a:srgbClr val="000000"/>
                          </a:solidFill>
                        </a:rPr>
                        <a:t>passes unchanged</a:t>
                      </a:r>
                    </a:p>
                  </a:txBody>
                  <a:tcPr marL="54864" marR="54864" marT="27432" marB="27432">
                    <a:solidFill>
                      <a:srgbClr val="F3F0F9"/>
                    </a:solidFill>
                  </a:tcPr>
                </a:tc>
                <a:tc>
                  <a:txBody>
                    <a:bodyPr wrap="square"/>
                    <a:lstStyle/>
                    <a:p>
                      <a:pPr>
                        <a:spcAft>
                          <a:spcPts val="0"/>
                        </a:spcAft>
                      </a:pPr>
                      <a:r>
                        <a:rPr sz="1200" b="0" i="0">
                          <a:solidFill>
                            <a:srgbClr val="000000"/>
                          </a:solidFill>
                        </a:rPr>
                        <a:t>Req_R_1</a:t>
                      </a:r>
                    </a:p>
                  </a:txBody>
                  <a:tcPr marL="54864" marR="54864" marT="27432" marB="27432">
                    <a:solidFill>
                      <a:srgbClr val="F3F0F9"/>
                    </a:solidFill>
                  </a:tcPr>
                </a:tc>
              </a:tr>
              <a:tr h="292608">
                <a:tc>
                  <a:txBody>
                    <a:bodyPr wrap="square"/>
                    <a:lstStyle/>
                    <a:p>
                      <a:pPr>
                        <a:spcAft>
                          <a:spcPts val="0"/>
                        </a:spcAft>
                      </a:pPr>
                      <a:r>
                        <a:rPr sz="1200" b="0" i="0">
                          <a:solidFill>
                            <a:srgbClr val="000000"/>
                          </a:solidFill>
                        </a:rPr>
                        <a:t>Critical</a:t>
                      </a:r>
                    </a:p>
                  </a:txBody>
                  <a:tcPr marL="54864" marR="54864" marT="27432" marB="27432">
                    <a:solidFill>
                      <a:srgbClr val="FFFFFF"/>
                    </a:solidFill>
                  </a:tcPr>
                </a:tc>
                <a:tc>
                  <a:txBody>
                    <a:bodyPr wrap="square"/>
                    <a:lstStyle/>
                    <a:p>
                      <a:pPr>
                        <a:spcAft>
                          <a:spcPts val="0"/>
                        </a:spcAft>
                      </a:pPr>
                      <a:r>
                        <a:rPr sz="1200" b="0" i="0">
                          <a:solidFill>
                            <a:srgbClr val="000000"/>
                          </a:solidFill>
                        </a:rPr>
                        <a:t>dropped: no output</a:t>
                      </a:r>
                    </a:p>
                  </a:txBody>
                  <a:tcPr marL="54864" marR="54864" marT="27432" marB="27432">
                    <a:solidFill>
                      <a:srgbClr val="FFFFFF"/>
                    </a:solidFill>
                  </a:tcPr>
                </a:tc>
                <a:tc>
                  <a:txBody>
                    <a:bodyPr wrap="square"/>
                    <a:lstStyle/>
                    <a:p>
                      <a:pPr>
                        <a:spcAft>
                          <a:spcPts val="0"/>
                        </a:spcAft>
                      </a:pPr>
                      <a:r>
                        <a:rPr sz="1200" b="0" i="0">
                          <a:solidFill>
                            <a:srgbClr val="000000"/>
                          </a:solidFill>
                        </a:rPr>
                        <a:t>Req_C</a:t>
                      </a:r>
                    </a:p>
                  </a:txBody>
                  <a:tcPr marL="54864" marR="54864" marT="27432" marB="27432">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question the code cannot answer</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17</a:t>
            </a:r>
          </a:p>
        </p:txBody>
      </p:sp>
      <p:sp>
        <p:nvSpPr>
          <p:cNvPr id="5" name="TextBox 4"/>
          <p:cNvSpPr txBox="1"/>
          <p:nvPr/>
        </p:nvSpPr>
        <p:spPr>
          <a:xfrm>
            <a:off x="777240" y="1325880"/>
            <a:ext cx="6949440" cy="2011680"/>
          </a:xfrm>
          <a:prstGeom prst="rect">
            <a:avLst/>
          </a:prstGeom>
          <a:solidFill>
            <a:srgbClr val="F2F2F2"/>
          </a:solidFill>
          <a:ln w="12700">
            <a:solidFill>
              <a:srgbClr val="BFBFBF"/>
            </a:solidFill>
          </a:ln>
        </p:spPr>
        <p:txBody>
          <a:bodyPr wrap="square" tIns="91440" bIns="91440">
            <a:spAutoFit/>
          </a:bodyPr>
          <a:lstStyle/>
          <a:p>
            <a:pPr>
              <a:spcAft>
                <a:spcPts val="0"/>
              </a:spcAft>
            </a:pPr>
            <a:r>
              <a:rPr sz="1000" b="0" i="0">
                <a:latin typeface="Courier New"/>
              </a:rPr>
              <a:t>"""The filter stage: pass or drop a message by its security level (REQ-1 to REQ-3)."""</a:t>
            </a:r>
          </a:p>
          <a:p>
            <a:pPr>
              <a:spcAft>
                <a:spcPts val="0"/>
              </a:spcAft>
            </a:pPr>
            <a:r>
              <a:rPr sz="1000" b="0" i="0">
                <a:latin typeface="Courier New"/>
              </a:rPr>
              <a:t> </a:t>
            </a:r>
          </a:p>
          <a:p>
            <a:pPr>
              <a:spcAft>
                <a:spcPts val="0"/>
              </a:spcAft>
            </a:pPr>
            <a:r>
              <a:rPr sz="1000" b="0" i="0">
                <a:latin typeface="Courier New"/>
              </a:rPr>
              <a:t>from guard.message import Message, SecurityLevel</a:t>
            </a:r>
          </a:p>
          <a:p>
            <a:pPr>
              <a:spcAft>
                <a:spcPts val="0"/>
              </a:spcAft>
            </a:pPr>
            <a:r>
              <a:rPr sz="1000" b="0" i="0">
                <a:latin typeface="Courier New"/>
              </a:rPr>
              <a:t> </a:t>
            </a:r>
          </a:p>
          <a:p>
            <a:pPr>
              <a:spcAft>
                <a:spcPts val="0"/>
              </a:spcAft>
            </a:pPr>
            <a:r>
              <a:rPr sz="1000" b="0" i="0">
                <a:latin typeface="Courier New"/>
              </a:rPr>
              <a:t> </a:t>
            </a:r>
          </a:p>
          <a:p>
            <a:pPr>
              <a:spcAft>
                <a:spcPts val="0"/>
              </a:spcAft>
            </a:pPr>
            <a:r>
              <a:rPr sz="1000" b="0" i="0">
                <a:latin typeface="Courier New"/>
              </a:rPr>
              <a:t>def filter_message(message: Message) -&gt; Message | None:</a:t>
            </a:r>
          </a:p>
          <a:p>
            <a:pPr>
              <a:spcAft>
                <a:spcPts val="0"/>
              </a:spcAft>
            </a:pPr>
            <a:r>
              <a:rPr sz="1000" b="0" i="0">
                <a:latin typeface="Courier New"/>
              </a:rPr>
              <a:t>    """Return the message unchanged if it may leave the enclave, or None if it is dropped."""</a:t>
            </a:r>
          </a:p>
          <a:p>
            <a:pPr>
              <a:spcAft>
                <a:spcPts val="0"/>
              </a:spcAft>
            </a:pPr>
            <a:r>
              <a:rPr sz="1000" b="0" i="0">
                <a:latin typeface="Courier New"/>
              </a:rPr>
              <a:t>    if message.level is SecurityLevel.CRITICAL:</a:t>
            </a:r>
          </a:p>
          <a:p>
            <a:pPr>
              <a:spcAft>
                <a:spcPts val="0"/>
              </a:spcAft>
            </a:pPr>
            <a:r>
              <a:rPr sz="1000" b="0" i="0">
                <a:latin typeface="Courier New"/>
              </a:rPr>
              <a:t>        return None  # REQ-1</a:t>
            </a:r>
          </a:p>
          <a:p>
            <a:pPr>
              <a:spcAft>
                <a:spcPts val="0"/>
              </a:spcAft>
            </a:pPr>
            <a:r>
              <a:rPr sz="1000" b="0" i="0">
                <a:latin typeface="Courier New"/>
              </a:rPr>
              <a:t>    return message  # REQ-2, REQ-3</a:t>
            </a:r>
          </a:p>
        </p:txBody>
      </p:sp>
      <p:sp>
        <p:nvSpPr>
          <p:cNvPr id="6" name="TextBox 5"/>
          <p:cNvSpPr txBox="1"/>
          <p:nvPr/>
        </p:nvSpPr>
        <p:spPr>
          <a:xfrm>
            <a:off x="777240" y="3383280"/>
            <a:ext cx="6949440" cy="274320"/>
          </a:xfrm>
          <a:prstGeom prst="rect">
            <a:avLst/>
          </a:prstGeom>
          <a:noFill/>
        </p:spPr>
        <p:txBody>
          <a:bodyPr wrap="square" lIns="45720" rIns="45720">
            <a:spAutoFit/>
          </a:bodyPr>
          <a:lstStyle/>
          <a:p>
            <a:pPr>
              <a:spcAft>
                <a:spcPts val="400"/>
              </a:spcAft>
            </a:pPr>
            <a:r>
              <a:rPr sz="1000" b="0" i="0">
                <a:solidFill>
                  <a:srgbClr val="595959"/>
                </a:solidFill>
                <a:latin typeface="Courier New"/>
              </a:rPr>
              <a:t>guard/filter.py, the whole file</a:t>
            </a:r>
          </a:p>
        </p:txBody>
      </p:sp>
      <p:sp>
        <p:nvSpPr>
          <p:cNvPr id="7" name="Rectangle 6"/>
          <p:cNvSpPr/>
          <p:nvPr/>
        </p:nvSpPr>
        <p:spPr>
          <a:xfrm>
            <a:off x="8001000" y="1325880"/>
            <a:ext cx="3794760" cy="233172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Three things the code does not say</a:t>
            </a:r>
          </a:p>
          <a:p>
            <a:pPr algn="l" marL="182880" indent="-182880">
              <a:spcAft>
                <a:spcPts val="200"/>
              </a:spcAft>
              <a:buChar char="•"/>
            </a:pPr>
            <a:r>
              <a:rPr sz="1200" b="1" i="0">
                <a:solidFill>
                  <a:srgbClr val="000000"/>
                </a:solidFill>
              </a:rPr>
              <a:t>What was asked for</a:t>
            </a:r>
            <a:r>
              <a:rPr sz="1200" b="0" i="0">
                <a:solidFill>
                  <a:srgbClr val="000000"/>
                </a:solidFill>
              </a:rPr>
              <a:t> — which levels were meant to be stopped</a:t>
            </a:r>
          </a:p>
          <a:p>
            <a:pPr algn="l" marL="182880" indent="-182880">
              <a:spcAft>
                <a:spcPts val="200"/>
              </a:spcAft>
              <a:buChar char="•"/>
            </a:pPr>
            <a:r>
              <a:rPr sz="1200" b="1" i="0">
                <a:solidFill>
                  <a:srgbClr val="000000"/>
                </a:solidFill>
              </a:rPr>
              <a:t>What was promised</a:t>
            </a:r>
            <a:r>
              <a:rPr sz="1200" b="0" i="0">
                <a:solidFill>
                  <a:srgbClr val="000000"/>
                </a:solidFill>
              </a:rPr>
              <a:t> — a statement someone responsible agreed to</a:t>
            </a:r>
          </a:p>
          <a:p>
            <a:pPr algn="l" marL="182880" indent="-182880">
              <a:spcAft>
                <a:spcPts val="200"/>
              </a:spcAft>
              <a:buChar char="•"/>
            </a:pPr>
            <a:r>
              <a:rPr sz="1200" b="1" i="0">
                <a:solidFill>
                  <a:srgbClr val="000000"/>
                </a:solidFill>
              </a:rPr>
              <a:t>Whether the promise was checked</a:t>
            </a:r>
            <a:r>
              <a:rPr sz="1200" b="0" i="0">
                <a:solidFill>
                  <a:srgbClr val="000000"/>
                </a:solidFill>
              </a:rPr>
              <a:t> — by what, and when</a:t>
            </a:r>
          </a:p>
          <a:p>
            <a:pPr algn="l">
              <a:spcAft>
                <a:spcPts val="200"/>
              </a:spcAft>
            </a:pPr>
            <a:r>
              <a:rPr sz="1100" b="0" i="1">
                <a:solidFill>
                  <a:srgbClr val="000000"/>
                </a:solidFill>
              </a:rPr>
              <a:t>The code would look exactly like this if Restricted messages were meant to be stopped too.</a:t>
            </a:r>
          </a:p>
        </p:txBody>
      </p:sp>
      <p:sp>
        <p:nvSpPr>
          <p:cNvPr id="8" name="Rectangle 7"/>
          <p:cNvSpPr/>
          <p:nvPr/>
        </p:nvSpPr>
        <p:spPr>
          <a:xfrm>
            <a:off x="777240" y="3977639"/>
            <a:ext cx="10972800" cy="77724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18288" bIns="18288"/>
          <a:lstStyle/>
          <a:p>
            <a:pPr algn="l">
              <a:spcAft>
                <a:spcPts val="0"/>
              </a:spcAft>
            </a:pPr>
            <a:r>
              <a:rPr sz="1300" b="0" i="0">
                <a:solidFill>
                  <a:srgbClr val="000000"/>
                </a:solidFill>
              </a:rPr>
              <a:t>With an agent writing the code, the person reads the specification, the evidence of conformance, and the record of whether that evidence is current. An agent's description of its own work is not evidence about the work.</a:t>
            </a:r>
          </a:p>
        </p:txBody>
      </p:sp>
      <p:sp>
        <p:nvSpPr>
          <p:cNvPr id="9" name="TextBox 8"/>
          <p:cNvSpPr txBox="1"/>
          <p:nvPr/>
        </p:nvSpPr>
        <p:spPr>
          <a:xfrm>
            <a:off x="777240" y="4937760"/>
            <a:ext cx="10972800" cy="1097280"/>
          </a:xfrm>
          <a:prstGeom prst="rect">
            <a:avLst/>
          </a:prstGeom>
          <a:noFill/>
        </p:spPr>
        <p:txBody>
          <a:bodyPr wrap="square" lIns="45720" rIns="45720" tIns="27432" bIns="27432">
            <a:spAutoFit/>
          </a:bodyPr>
          <a:lstStyle/>
          <a:p>
            <a:pPr marL="182880" indent="-182880">
              <a:spcAft>
                <a:spcPts val="500"/>
              </a:spcAft>
              <a:buChar char="•"/>
            </a:pPr>
            <a:r>
              <a:rPr sz="1300" b="0" i="0"/>
              <a:t>When those three exist and can be trusted, a person can direct the work, review it, and take responsibility for code they have not read line by line.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Version A0, by category</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18</a:t>
            </a:r>
          </a:p>
        </p:txBody>
      </p:sp>
      <p:graphicFrame>
        <p:nvGraphicFramePr>
          <p:cNvPr id="5" name="Table 4"/>
          <p:cNvGraphicFramePr>
            <a:graphicFrameLocks noGrp="1"/>
          </p:cNvGraphicFramePr>
          <p:nvPr/>
        </p:nvGraphicFramePr>
        <p:xfrm>
          <a:off x="777240" y="1325880"/>
          <a:ext cx="11018520" cy="3657600"/>
        </p:xfrm>
        <a:graphic>
          <a:graphicData uri="http://schemas.openxmlformats.org/drawingml/2006/table">
            <a:tbl>
              <a:tblPr firstRow="1" bandRow="1">
                <a:tableStyleId>{5C22544A-7EE6-4342-B048-85BDC9FD1C3A}</a:tableStyleId>
              </a:tblPr>
              <a:tblGrid>
                <a:gridCol w="1828800"/>
                <a:gridCol w="4572000"/>
                <a:gridCol w="4617720"/>
              </a:tblGrid>
              <a:tr h="457200">
                <a:tc>
                  <a:txBody>
                    <a:bodyPr wrap="square"/>
                    <a:lstStyle/>
                    <a:p>
                      <a:pPr>
                        <a:spcAft>
                          <a:spcPts val="0"/>
                        </a:spcAft>
                      </a:pPr>
                      <a:r>
                        <a:rPr sz="1200" b="1" i="0">
                          <a:solidFill>
                            <a:srgbClr val="FFFFFF"/>
                          </a:solidFill>
                        </a:rPr>
                        <a:t>Category</a:t>
                      </a:r>
                    </a:p>
                  </a:txBody>
                  <a:tcPr marL="54864" marR="54864" marT="27432" marB="27432">
                    <a:solidFill>
                      <a:srgbClr val="6E1EC6"/>
                    </a:solidFill>
                  </a:tcPr>
                </a:tc>
                <a:tc>
                  <a:txBody>
                    <a:bodyPr wrap="square"/>
                    <a:lstStyle/>
                    <a:p>
                      <a:pPr>
                        <a:spcAft>
                          <a:spcPts val="0"/>
                        </a:spcAft>
                      </a:pPr>
                      <a:r>
                        <a:rPr sz="1200" b="1" i="0">
                          <a:solidFill>
                            <a:srgbClr val="FFFFFF"/>
                          </a:solidFill>
                        </a:rPr>
                        <a:t>Files</a:t>
                      </a:r>
                    </a:p>
                  </a:txBody>
                  <a:tcPr marL="54864" marR="54864" marT="27432" marB="27432">
                    <a:solidFill>
                      <a:srgbClr val="6E1EC6"/>
                    </a:solidFill>
                  </a:tcPr>
                </a:tc>
                <a:tc>
                  <a:txBody>
                    <a:bodyPr wrap="square"/>
                    <a:lstStyle/>
                    <a:p>
                      <a:pPr>
                        <a:spcAft>
                          <a:spcPts val="0"/>
                        </a:spcAft>
                      </a:pPr>
                      <a:r>
                        <a:rPr sz="1200" b="1" i="0">
                          <a:solidFill>
                            <a:srgbClr val="FFFFFF"/>
                          </a:solidFill>
                        </a:rPr>
                        <a:t>Role</a:t>
                      </a:r>
                    </a:p>
                  </a:txBody>
                  <a:tcPr marL="54864" marR="54864" marT="27432" marB="27432">
                    <a:solidFill>
                      <a:srgbClr val="6E1EC6"/>
                    </a:solidFill>
                  </a:tcPr>
                </a:tc>
              </a:tr>
              <a:tr h="457200">
                <a:tc>
                  <a:txBody>
                    <a:bodyPr wrap="square"/>
                    <a:lstStyle/>
                    <a:p>
                      <a:pPr>
                        <a:spcAft>
                          <a:spcPts val="0"/>
                        </a:spcAft>
                      </a:pPr>
                      <a:r>
                        <a:rPr sz="1200" b="0" i="0">
                          <a:solidFill>
                            <a:srgbClr val="000000"/>
                          </a:solidFill>
                        </a:rPr>
                        <a:t>Intent</a:t>
                      </a:r>
                    </a:p>
                  </a:txBody>
                  <a:tcPr marL="54864" marR="54864" marT="27432" marB="27432">
                    <a:solidFill>
                      <a:srgbClr val="FFFFFF"/>
                    </a:solidFill>
                  </a:tcPr>
                </a:tc>
                <a:tc>
                  <a:txBody>
                    <a:bodyPr wrap="square"/>
                    <a:lstStyle/>
                    <a:p>
                      <a:pPr>
                        <a:spcAft>
                          <a:spcPts val="0"/>
                        </a:spcAft>
                      </a:pPr>
                      <a:r>
                        <a:rPr sz="1200" b="0" i="0">
                          <a:solidFill>
                            <a:srgbClr val="000000"/>
                          </a:solidFill>
                        </a:rPr>
                        <a:t>none</a:t>
                      </a:r>
                    </a:p>
                  </a:txBody>
                  <a:tcPr marL="54864" marR="54864" marT="27432" marB="27432">
                    <a:solidFill>
                      <a:srgbClr val="FFFFFF"/>
                    </a:solidFill>
                  </a:tcPr>
                </a:tc>
                <a:tc>
                  <a:txBody>
                    <a:bodyPr wrap="square"/>
                    <a:lstStyle/>
                    <a:p>
                      <a:pPr>
                        <a:spcAft>
                          <a:spcPts val="0"/>
                        </a:spcAft>
                      </a:pPr>
                      <a:r>
                        <a:rPr sz="1200" b="0" i="0">
                          <a:solidFill>
                            <a:srgbClr val="000000"/>
                          </a:solidFill>
                        </a:rPr>
                        <a:t>lives with the stakeholders; consulted through a person</a:t>
                      </a:r>
                    </a:p>
                  </a:txBody>
                  <a:tcPr marL="54864" marR="54864" marT="27432" marB="27432">
                    <a:solidFill>
                      <a:srgbClr val="FFFFFF"/>
                    </a:solidFill>
                  </a:tcPr>
                </a:tc>
              </a:tr>
              <a:tr h="457200">
                <a:tc>
                  <a:txBody>
                    <a:bodyPr wrap="square"/>
                    <a:lstStyle/>
                    <a:p>
                      <a:pPr>
                        <a:spcAft>
                          <a:spcPts val="0"/>
                        </a:spcAft>
                      </a:pPr>
                      <a:r>
                        <a:rPr sz="1200" b="0" i="0">
                          <a:solidFill>
                            <a:srgbClr val="000000"/>
                          </a:solidFill>
                        </a:rPr>
                        <a:t>Specifications</a:t>
                      </a:r>
                    </a:p>
                  </a:txBody>
                  <a:tcPr marL="54864" marR="54864" marT="27432" marB="27432">
                    <a:solidFill>
                      <a:srgbClr val="F3F0F9"/>
                    </a:solidFill>
                  </a:tcPr>
                </a:tc>
                <a:tc>
                  <a:txBody>
                    <a:bodyPr wrap="square"/>
                    <a:lstStyle/>
                    <a:p>
                      <a:pPr>
                        <a:spcAft>
                          <a:spcPts val="0"/>
                        </a:spcAft>
                      </a:pPr>
                      <a:r>
                        <a:rPr sz="1200" b="0" i="0">
                          <a:solidFill>
                            <a:srgbClr val="000000"/>
                          </a:solidFill>
                        </a:rPr>
                        <a:t>specs/conops.md · specs/requirements.md</a:t>
                      </a:r>
                    </a:p>
                  </a:txBody>
                  <a:tcPr marL="54864" marR="54864" marT="27432" marB="27432">
                    <a:solidFill>
                      <a:srgbClr val="F3F0F9"/>
                    </a:solidFill>
                  </a:tcPr>
                </a:tc>
                <a:tc>
                  <a:txBody>
                    <a:bodyPr wrap="square"/>
                    <a:lstStyle/>
                    <a:p>
                      <a:pPr>
                        <a:spcAft>
                          <a:spcPts val="0"/>
                        </a:spcAft>
                      </a:pPr>
                      <a:r>
                        <a:rPr sz="1200" b="0" i="0">
                          <a:solidFill>
                            <a:srgbClr val="000000"/>
                          </a:solidFill>
                        </a:rPr>
                        <a:t>what the system must do, as identified clauses</a:t>
                      </a:r>
                    </a:p>
                  </a:txBody>
                  <a:tcPr marL="54864" marR="54864" marT="27432" marB="27432">
                    <a:solidFill>
                      <a:srgbClr val="F3F0F9"/>
                    </a:solidFill>
                  </a:tcPr>
                </a:tc>
              </a:tr>
              <a:tr h="457200">
                <a:tc>
                  <a:txBody>
                    <a:bodyPr wrap="square"/>
                    <a:lstStyle/>
                    <a:p>
                      <a:pPr>
                        <a:spcAft>
                          <a:spcPts val="0"/>
                        </a:spcAft>
                      </a:pPr>
                      <a:r>
                        <a:rPr sz="1200" b="0" i="0">
                          <a:solidFill>
                            <a:srgbClr val="000000"/>
                          </a:solidFill>
                        </a:rPr>
                        <a:t>Realization</a:t>
                      </a:r>
                    </a:p>
                  </a:txBody>
                  <a:tcPr marL="54864" marR="54864" marT="27432" marB="27432">
                    <a:solidFill>
                      <a:srgbClr val="FFFFFF"/>
                    </a:solidFill>
                  </a:tcPr>
                </a:tc>
                <a:tc>
                  <a:txBody>
                    <a:bodyPr wrap="square"/>
                    <a:lstStyle/>
                    <a:p>
                      <a:pPr>
                        <a:spcAft>
                          <a:spcPts val="0"/>
                        </a:spcAft>
                      </a:pPr>
                      <a:r>
                        <a:rPr sz="1200" b="0" i="0">
                          <a:solidFill>
                            <a:srgbClr val="000000"/>
                          </a:solidFill>
                        </a:rPr>
                        <a:t>guard/ (the code) · tests/ (the suite)</a:t>
                      </a:r>
                    </a:p>
                  </a:txBody>
                  <a:tcPr marL="54864" marR="54864" marT="27432" marB="27432">
                    <a:solidFill>
                      <a:srgbClr val="FFFFFF"/>
                    </a:solidFill>
                  </a:tcPr>
                </a:tc>
                <a:tc>
                  <a:txBody>
                    <a:bodyPr wrap="square"/>
                    <a:lstStyle/>
                    <a:p>
                      <a:pPr>
                        <a:spcAft>
                          <a:spcPts val="0"/>
                        </a:spcAft>
                      </a:pPr>
                      <a:r>
                        <a:rPr sz="1200" b="0" i="0">
                          <a:solidFill>
                            <a:srgbClr val="000000"/>
                          </a:solidFill>
                        </a:rPr>
                        <a:t>what was built, and the executable claims about it</a:t>
                      </a:r>
                    </a:p>
                  </a:txBody>
                  <a:tcPr marL="54864" marR="54864" marT="27432" marB="27432">
                    <a:solidFill>
                      <a:srgbClr val="FFFFFF"/>
                    </a:solidFill>
                  </a:tcPr>
                </a:tc>
              </a:tr>
              <a:tr h="457200">
                <a:tc>
                  <a:txBody>
                    <a:bodyPr wrap="square"/>
                    <a:lstStyle/>
                    <a:p>
                      <a:pPr>
                        <a:spcAft>
                          <a:spcPts val="0"/>
                        </a:spcAft>
                      </a:pPr>
                      <a:r>
                        <a:rPr sz="1200" b="0" i="0">
                          <a:solidFill>
                            <a:srgbClr val="000000"/>
                          </a:solidFill>
                        </a:rPr>
                        <a:t>Development rules</a:t>
                      </a:r>
                    </a:p>
                  </a:txBody>
                  <a:tcPr marL="54864" marR="54864" marT="27432" marB="27432">
                    <a:solidFill>
                      <a:srgbClr val="F3F0F9"/>
                    </a:solidFill>
                  </a:tcPr>
                </a:tc>
                <a:tc>
                  <a:txBody>
                    <a:bodyPr wrap="square"/>
                    <a:lstStyle/>
                    <a:p>
                      <a:pPr>
                        <a:spcAft>
                          <a:spcPts val="0"/>
                        </a:spcAft>
                      </a:pPr>
                      <a:r>
                        <a:rPr sz="1200" b="0" i="0">
                          <a:solidFill>
                            <a:srgbClr val="000000"/>
                          </a:solidFill>
                        </a:rPr>
                        <a:t>process/rules.md</a:t>
                      </a:r>
                    </a:p>
                  </a:txBody>
                  <a:tcPr marL="54864" marR="54864" marT="27432" marB="27432">
                    <a:solidFill>
                      <a:srgbClr val="F3F0F9"/>
                    </a:solidFill>
                  </a:tcPr>
                </a:tc>
                <a:tc>
                  <a:txBody>
                    <a:bodyPr wrap="square"/>
                    <a:lstStyle/>
                    <a:p>
                      <a:pPr>
                        <a:spcAft>
                          <a:spcPts val="0"/>
                        </a:spcAft>
                      </a:pPr>
                      <a:r>
                        <a:rPr sz="1200" b="0" i="0">
                          <a:solidFill>
                            <a:srgbClr val="000000"/>
                          </a:solidFill>
                        </a:rPr>
                        <a:t>how each judgment is established and when it must hold</a:t>
                      </a:r>
                    </a:p>
                  </a:txBody>
                  <a:tcPr marL="54864" marR="54864" marT="27432" marB="27432">
                    <a:solidFill>
                      <a:srgbClr val="F3F0F9"/>
                    </a:solidFill>
                  </a:tcPr>
                </a:tc>
              </a:tr>
              <a:tr h="457200">
                <a:tc>
                  <a:txBody>
                    <a:bodyPr wrap="square"/>
                    <a:lstStyle/>
                    <a:p>
                      <a:pPr>
                        <a:spcAft>
                          <a:spcPts val="0"/>
                        </a:spcAft>
                      </a:pPr>
                      <a:r>
                        <a:rPr sz="1200" b="0" i="0">
                          <a:solidFill>
                            <a:srgbClr val="000000"/>
                          </a:solidFill>
                        </a:rPr>
                        <a:t>Reports</a:t>
                      </a:r>
                    </a:p>
                  </a:txBody>
                  <a:tcPr marL="54864" marR="54864" marT="27432" marB="27432">
                    <a:solidFill>
                      <a:srgbClr val="FFFFFF"/>
                    </a:solidFill>
                  </a:tcPr>
                </a:tc>
                <a:tc>
                  <a:txBody>
                    <a:bodyPr wrap="square"/>
                    <a:lstStyle/>
                    <a:p>
                      <a:pPr>
                        <a:spcAft>
                          <a:spcPts val="0"/>
                        </a:spcAft>
                      </a:pPr>
                      <a:r>
                        <a:rPr sz="1200" b="0" i="0">
                          <a:solidFill>
                            <a:srgbClr val="000000"/>
                          </a:solidFill>
                        </a:rPr>
                        <a:t>reports/ledger.md · dev-log.md · walkthrough.md · conformance.md (generated)</a:t>
                      </a:r>
                    </a:p>
                  </a:txBody>
                  <a:tcPr marL="54864" marR="54864" marT="27432" marB="27432">
                    <a:solidFill>
                      <a:srgbClr val="FFFFFF"/>
                    </a:solidFill>
                  </a:tcPr>
                </a:tc>
                <a:tc>
                  <a:txBody>
                    <a:bodyPr wrap="square"/>
                    <a:lstStyle/>
                    <a:p>
                      <a:pPr>
                        <a:spcAft>
                          <a:spcPts val="0"/>
                        </a:spcAft>
                      </a:pPr>
                      <a:r>
                        <a:rPr sz="1200" b="0" i="0">
                          <a:solidFill>
                            <a:srgbClr val="000000"/>
                          </a:solidFill>
                        </a:rPr>
                        <a:t>the development state, readable without reading the code</a:t>
                      </a:r>
                    </a:p>
                  </a:txBody>
                  <a:tcPr marL="54864" marR="54864" marT="27432" marB="27432">
                    <a:solidFill>
                      <a:srgbClr val="FFFFFF"/>
                    </a:solidFill>
                  </a:tcPr>
                </a:tc>
              </a:tr>
              <a:tr h="457200">
                <a:tc>
                  <a:txBody>
                    <a:bodyPr wrap="square"/>
                    <a:lstStyle/>
                    <a:p>
                      <a:pPr>
                        <a:spcAft>
                          <a:spcPts val="0"/>
                        </a:spcAft>
                      </a:pPr>
                      <a:r>
                        <a:rPr sz="1200" b="0" i="0">
                          <a:solidFill>
                            <a:srgbClr val="000000"/>
                          </a:solidFill>
                        </a:rPr>
                        <a:t>Technology</a:t>
                      </a:r>
                    </a:p>
                  </a:txBody>
                  <a:tcPr marL="54864" marR="54864" marT="27432" marB="27432">
                    <a:solidFill>
                      <a:srgbClr val="F3F0F9"/>
                    </a:solidFill>
                  </a:tcPr>
                </a:tc>
                <a:tc>
                  <a:txBody>
                    <a:bodyPr wrap="square"/>
                    <a:lstStyle/>
                    <a:p>
                      <a:pPr>
                        <a:spcAft>
                          <a:spcPts val="0"/>
                        </a:spcAft>
                      </a:pPr>
                      <a:r>
                        <a:rPr sz="1200" b="0" i="0">
                          <a:solidFill>
                            <a:srgbClr val="000000"/>
                          </a:solidFill>
                        </a:rPr>
                        <a:t>pyproject.toml · uv.lock</a:t>
                      </a:r>
                    </a:p>
                  </a:txBody>
                  <a:tcPr marL="54864" marR="54864" marT="27432" marB="27432">
                    <a:solidFill>
                      <a:srgbClr val="F3F0F9"/>
                    </a:solidFill>
                  </a:tcPr>
                </a:tc>
                <a:tc>
                  <a:txBody>
                    <a:bodyPr wrap="square"/>
                    <a:lstStyle/>
                    <a:p>
                      <a:pPr>
                        <a:spcAft>
                          <a:spcPts val="0"/>
                        </a:spcAft>
                      </a:pPr>
                      <a:r>
                        <a:rPr sz="1200" b="0" i="0">
                          <a:solidFill>
                            <a:srgbClr val="000000"/>
                          </a:solidFill>
                        </a:rPr>
                        <a:t>Python 3.12+; pytest, pytest-cov, ruff; managed by uv</a:t>
                      </a:r>
                    </a:p>
                  </a:txBody>
                  <a:tcPr marL="54864" marR="54864" marT="27432" marB="27432">
                    <a:solidFill>
                      <a:srgbClr val="F3F0F9"/>
                    </a:solidFill>
                  </a:tcPr>
                </a:tc>
              </a:tr>
              <a:tr h="457200">
                <a:tc>
                  <a:txBody>
                    <a:bodyPr wrap="square"/>
                    <a:lstStyle/>
                    <a:p>
                      <a:pPr>
                        <a:spcAft>
                          <a:spcPts val="0"/>
                        </a:spcAft>
                      </a:pPr>
                      <a:r>
                        <a:rPr sz="1200" b="0" i="0">
                          <a:solidFill>
                            <a:srgbClr val="000000"/>
                          </a:solidFill>
                        </a:rPr>
                        <a:t>Support</a:t>
                      </a:r>
                    </a:p>
                  </a:txBody>
                  <a:tcPr marL="54864" marR="54864" marT="27432" marB="27432">
                    <a:solidFill>
                      <a:srgbClr val="FFFFFF"/>
                    </a:solidFill>
                  </a:tcPr>
                </a:tc>
                <a:tc>
                  <a:txBody>
                    <a:bodyPr wrap="square"/>
                    <a:lstStyle/>
                    <a:p>
                      <a:pPr>
                        <a:spcAft>
                          <a:spcPts val="0"/>
                        </a:spcAft>
                      </a:pPr>
                      <a:r>
                        <a:rPr sz="1200" b="0" i="0">
                          <a:solidFill>
                            <a:srgbClr val="000000"/>
                          </a:solidFill>
                        </a:rPr>
                        <a:t>tools/gate.sh · tools/walk.py</a:t>
                      </a:r>
                    </a:p>
                  </a:txBody>
                  <a:tcPr marL="54864" marR="54864" marT="27432" marB="27432">
                    <a:solidFill>
                      <a:srgbClr val="FFFFFF"/>
                    </a:solidFill>
                  </a:tcPr>
                </a:tc>
                <a:tc>
                  <a:txBody>
                    <a:bodyPr wrap="square"/>
                    <a:lstStyle/>
                    <a:p>
                      <a:pPr>
                        <a:spcAft>
                          <a:spcPts val="0"/>
                        </a:spcAft>
                      </a:pPr>
                      <a:r>
                        <a:rPr sz="1200" b="0" i="0">
                          <a:solidFill>
                            <a:srgbClr val="000000"/>
                          </a:solidFill>
                        </a:rPr>
                        <a:t>the gate command; a helper for walking a scenario; neither realizes a clause</a:t>
                      </a:r>
                    </a:p>
                  </a:txBody>
                  <a:tcPr marL="54864" marR="54864" marT="27432" marB="27432">
                    <a:solidFill>
                      <a:srgbClr val="FFFFFF"/>
                    </a:solidFill>
                  </a:tcPr>
                </a:tc>
              </a:tr>
            </a:tbl>
          </a:graphicData>
        </a:graphic>
      </p:graphicFrame>
      <p:sp>
        <p:nvSpPr>
          <p:cNvPr id="6" name="Rectangle 5"/>
          <p:cNvSpPr/>
          <p:nvPr/>
        </p:nvSpPr>
        <p:spPr>
          <a:xfrm>
            <a:off x="777240" y="5257800"/>
            <a:ext cx="10972800" cy="45720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18288" bIns="18288"/>
          <a:lstStyle/>
          <a:p>
            <a:pPr algn="l">
              <a:spcAft>
                <a:spcPts val="0"/>
              </a:spcAft>
            </a:pPr>
            <a:r>
              <a:rPr sz="1400" b="0" i="0">
                <a:solidFill>
                  <a:srgbClr val="000000"/>
                </a:solidFill>
              </a:rPr>
              <a:t>Every entity and every judgment in Part 1 is now a file or a row that can be opened.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Intent in A0: the purpose statement</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19</a:t>
            </a:r>
          </a:p>
        </p:txBody>
      </p:sp>
      <p:sp>
        <p:nvSpPr>
          <p:cNvPr id="5" name="Rectangle 4"/>
          <p:cNvSpPr/>
          <p:nvPr/>
        </p:nvSpPr>
        <p:spPr>
          <a:xfrm>
            <a:off x="777240" y="1325880"/>
            <a:ext cx="7223760" cy="1554480"/>
          </a:xfrm>
          <a:prstGeom prst="rect">
            <a:avLst/>
          </a:prstGeom>
          <a:solidFill>
            <a:srgbClr val="FFF3B0"/>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27432" bIns="27432"/>
          <a:lstStyle/>
          <a:p>
            <a:pPr algn="l">
              <a:spcAft>
                <a:spcPts val="200"/>
              </a:spcAft>
            </a:pPr>
            <a:r>
              <a:rPr sz="1300" b="0" i="1">
                <a:solidFill>
                  <a:srgbClr val="000000"/>
                </a:solidFill>
              </a:rPr>
              <a:t>An organization keeps a protected enclave whose systems produce messages of differing sensitivity, and it needs some of those messages to reach a less trusted network outside the enclave. The message guard sits on that boundary and decides, one message at a time, whether a message may leave. Nothing leaves the enclave except through the guard.</a:t>
            </a:r>
          </a:p>
        </p:txBody>
      </p:sp>
      <p:sp>
        <p:nvSpPr>
          <p:cNvPr id="6" name="TextBox 5"/>
          <p:cNvSpPr txBox="1"/>
          <p:nvPr/>
        </p:nvSpPr>
        <p:spPr>
          <a:xfrm>
            <a:off x="777240" y="2926080"/>
            <a:ext cx="7223760" cy="274320"/>
          </a:xfrm>
          <a:prstGeom prst="rect">
            <a:avLst/>
          </a:prstGeom>
          <a:noFill/>
        </p:spPr>
        <p:txBody>
          <a:bodyPr wrap="square" lIns="45720" rIns="45720">
            <a:spAutoFit/>
          </a:bodyPr>
          <a:lstStyle/>
          <a:p>
            <a:pPr>
              <a:spcAft>
                <a:spcPts val="400"/>
              </a:spcAft>
            </a:pPr>
            <a:r>
              <a:rPr sz="1000" b="0" i="0">
                <a:solidFill>
                  <a:srgbClr val="595959"/>
                </a:solidFill>
                <a:latin typeface="Courier New"/>
              </a:rPr>
              <a:t>specs/conops.md, section 1, first paragraph</a:t>
            </a:r>
          </a:p>
        </p:txBody>
      </p:sp>
      <p:sp>
        <p:nvSpPr>
          <p:cNvPr id="7" name="TextBox 6"/>
          <p:cNvSpPr txBox="1"/>
          <p:nvPr/>
        </p:nvSpPr>
        <p:spPr>
          <a:xfrm>
            <a:off x="8229600" y="1325880"/>
            <a:ext cx="3566160" cy="4937760"/>
          </a:xfrm>
          <a:prstGeom prst="rect">
            <a:avLst/>
          </a:prstGeom>
          <a:noFill/>
        </p:spPr>
        <p:txBody>
          <a:bodyPr wrap="square" lIns="45720" rIns="45720" tIns="27432" bIns="27432">
            <a:spAutoFit/>
          </a:bodyPr>
          <a:lstStyle/>
          <a:p>
            <a:pPr>
              <a:spcAft>
                <a:spcPts val="600"/>
              </a:spcAft>
            </a:pPr>
            <a:r>
              <a:rPr sz="1350" b="1" i="0">
                <a:solidFill>
                  <a:srgbClr val="990099"/>
                </a:solidFill>
              </a:rPr>
              <a:t>What it is and is not</a:t>
            </a:r>
          </a:p>
          <a:p>
            <a:pPr marL="182880" indent="-182880">
              <a:spcAft>
                <a:spcPts val="800"/>
              </a:spcAft>
              <a:buChar char="•"/>
            </a:pPr>
            <a:r>
              <a:rPr sz="1250" b="0" i="0"/>
              <a:t>A short text the stakeholders revised until they agreed</a:t>
            </a:r>
          </a:p>
          <a:p>
            <a:pPr marL="182880" indent="-182880">
              <a:spcAft>
                <a:spcPts val="800"/>
              </a:spcAft>
              <a:buChar char="•"/>
            </a:pPr>
            <a:r>
              <a:rPr sz="1250" b="0" i="0"/>
              <a:t>An engineering artifact: a clause others derive from, checked for consistency with the rest</a:t>
            </a:r>
          </a:p>
          <a:p>
            <a:pPr marL="182880" indent="-182880">
              <a:spcAft>
                <a:spcPts val="800"/>
              </a:spcAft>
              <a:buChar char="•"/>
            </a:pPr>
            <a:r>
              <a:rPr sz="1250" b="0" i="0"/>
              <a:t>Not a transcript; a transcript is reference material and is not checked</a:t>
            </a:r>
          </a:p>
          <a:p>
            <a:pPr marL="182880" indent="-182880">
              <a:spcAft>
                <a:spcPts val="800"/>
              </a:spcAft>
              <a:buChar char="•"/>
            </a:pPr>
            <a:r>
              <a:rPr sz="1250" b="0" i="0"/>
              <a:t>No file called intent anywhere in v0</a:t>
            </a:r>
          </a:p>
          <a:p>
            <a:pPr marL="182880" indent="-182880">
              <a:spcAft>
                <a:spcPts val="800"/>
              </a:spcAft>
              <a:buChar char="•"/>
            </a:pPr>
            <a:r>
              <a:rPr sz="1250" b="0" i="0"/>
              <a:t>The sign-off that validates it is in reports/walkthrough.md</a:t>
            </a:r>
          </a:p>
        </p:txBody>
      </p:sp>
      <p:sp>
        <p:nvSpPr>
          <p:cNvPr id="8" name="TextBox 7"/>
          <p:cNvSpPr txBox="1"/>
          <p:nvPr/>
        </p:nvSpPr>
        <p:spPr>
          <a:xfrm>
            <a:off x="777240" y="3383280"/>
            <a:ext cx="7223760" cy="2011680"/>
          </a:xfrm>
          <a:prstGeom prst="rect">
            <a:avLst/>
          </a:prstGeom>
          <a:noFill/>
        </p:spPr>
        <p:txBody>
          <a:bodyPr wrap="square" lIns="45720" rIns="45720" tIns="27432" bIns="27432">
            <a:spAutoFit/>
          </a:bodyPr>
          <a:lstStyle/>
          <a:p>
            <a:pPr>
              <a:spcAft>
                <a:spcPts val="500"/>
              </a:spcAft>
            </a:pPr>
            <a:r>
              <a:rPr sz="1300" b="1" i="0"/>
              <a:t>How it was obtained </a:t>
            </a:r>
            <a:r>
              <a:rPr sz="1300" b="0" i="0"/>
              <a:t>from the stakeholders, and how the stories were, is the next lecture: elicitation on version A1. In A0 they are given as already agreed.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specifications in A0: a family of two</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20</a:t>
            </a:r>
          </a:p>
        </p:txBody>
      </p:sp>
      <p:sp>
        <p:nvSpPr>
          <p:cNvPr id="5" name="TextBox 4"/>
          <p:cNvSpPr txBox="1"/>
          <p:nvPr/>
        </p:nvSpPr>
        <p:spPr>
          <a:xfrm>
            <a:off x="777240" y="1325880"/>
            <a:ext cx="5486400" cy="4846320"/>
          </a:xfrm>
          <a:prstGeom prst="rect">
            <a:avLst/>
          </a:prstGeom>
          <a:noFill/>
        </p:spPr>
        <p:txBody>
          <a:bodyPr wrap="square" lIns="45720" rIns="45720" tIns="27432" bIns="27432">
            <a:spAutoFit/>
          </a:bodyPr>
          <a:lstStyle/>
          <a:p>
            <a:pPr>
              <a:spcAft>
                <a:spcPts val="600"/>
              </a:spcAft>
            </a:pPr>
            <a:r>
              <a:rPr sz="1400" b="1" i="0">
                <a:solidFill>
                  <a:srgbClr val="990099"/>
                </a:solidFill>
              </a:rPr>
              <a:t>specs/conops.md — the concept of operations</a:t>
            </a:r>
          </a:p>
          <a:p>
            <a:pPr marL="182880" indent="-182880">
              <a:spcAft>
                <a:spcPts val="700"/>
              </a:spcAft>
              <a:buChar char="•"/>
            </a:pPr>
            <a:r>
              <a:rPr sz="1250" b="1" i="0"/>
              <a:t>1  Purpose</a:t>
            </a:r>
            <a:r>
              <a:rPr sz="1250" b="0" i="0"/>
              <a:t> — the agreed purpose statement</a:t>
            </a:r>
          </a:p>
          <a:p>
            <a:pPr marL="182880" indent="-182880">
              <a:spcAft>
                <a:spcPts val="700"/>
              </a:spcAft>
              <a:buChar char="•"/>
            </a:pPr>
            <a:r>
              <a:rPr sz="1250" b="1" i="0"/>
              <a:t>2  Scope and system boundary</a:t>
            </a:r>
            <a:r>
              <a:rPr sz="1250" b="0" i="0"/>
              <a:t> — a library function: one message in, that message or nothing out; outside: transport, authentication, how levels are assigned, any record of drops; </a:t>
            </a:r>
            <a:r>
              <a:rPr sz="1250" b="1" i="0"/>
              <a:t>Terms</a:t>
            </a:r>
            <a:r>
              <a:rPr sz="1250" b="0" i="0"/>
              <a:t>: message, security level, payload, pass, drop, filter</a:t>
            </a:r>
          </a:p>
          <a:p>
            <a:pPr marL="182880" indent="-182880">
              <a:spcAft>
                <a:spcPts val="700"/>
              </a:spcAft>
              <a:buChar char="•"/>
            </a:pPr>
            <a:r>
              <a:rPr sz="1250" b="1" i="0"/>
              <a:t>3  User categories</a:t>
            </a:r>
            <a:r>
              <a:rPr sz="1250" b="0" i="0"/>
              <a:t> — message sender; security officer</a:t>
            </a:r>
          </a:p>
          <a:p>
            <a:pPr marL="182880" indent="-182880">
              <a:spcAft>
                <a:spcPts val="700"/>
              </a:spcAft>
              <a:buChar char="•"/>
            </a:pPr>
            <a:r>
              <a:rPr sz="1250" b="1" i="0"/>
              <a:t>4  User stories</a:t>
            </a:r>
            <a:r>
              <a:rPr sz="1250" b="0" i="0"/>
              <a:t> — US-1, US-2, US-3, each with an example message, each marked </a:t>
            </a:r>
            <a:r>
              <a:rPr sz="1250" b="0" i="1"/>
              <a:t>walkthrough (human)</a:t>
            </a:r>
          </a:p>
          <a:p>
            <a:pPr marL="182880" indent="-182880">
              <a:spcAft>
                <a:spcPts val="700"/>
              </a:spcAft>
              <a:buChar char="•"/>
            </a:pPr>
            <a:r>
              <a:rPr sz="1250" b="1" i="0"/>
              <a:t>5  Sign-off</a:t>
            </a:r>
            <a:r>
              <a:rPr sz="1250" b="0" i="0"/>
              <a:t> — a pointer to the record</a:t>
            </a:r>
          </a:p>
        </p:txBody>
      </p:sp>
      <p:sp>
        <p:nvSpPr>
          <p:cNvPr id="6" name="TextBox 5"/>
          <p:cNvSpPr txBox="1"/>
          <p:nvPr/>
        </p:nvSpPr>
        <p:spPr>
          <a:xfrm>
            <a:off x="6492240" y="1325880"/>
            <a:ext cx="5303520" cy="4846320"/>
          </a:xfrm>
          <a:prstGeom prst="rect">
            <a:avLst/>
          </a:prstGeom>
          <a:noFill/>
        </p:spPr>
        <p:txBody>
          <a:bodyPr wrap="square" lIns="45720" rIns="45720" tIns="27432" bIns="27432">
            <a:spAutoFit/>
          </a:bodyPr>
          <a:lstStyle/>
          <a:p>
            <a:pPr>
              <a:spcAft>
                <a:spcPts val="600"/>
              </a:spcAft>
            </a:pPr>
            <a:r>
              <a:rPr sz="1400" b="1" i="0">
                <a:solidFill>
                  <a:srgbClr val="990099"/>
                </a:solidFill>
              </a:rPr>
              <a:t>specs/requirements.md — the requirements</a:t>
            </a:r>
          </a:p>
          <a:p>
            <a:pPr marL="182880" indent="-182880">
              <a:spcAft>
                <a:spcPts val="700"/>
              </a:spcAft>
              <a:buChar char="•"/>
            </a:pPr>
            <a:r>
              <a:rPr sz="1250" b="1" i="0"/>
              <a:t>REQ-0</a:t>
            </a:r>
            <a:r>
              <a:rPr sz="1250" b="0" i="0"/>
              <a:t>  a message is a level, one of three, and an integer payload; it does not change after creation</a:t>
            </a:r>
          </a:p>
          <a:p>
            <a:pPr marL="182880" indent="-182880">
              <a:spcAft>
                <a:spcPts val="700"/>
              </a:spcAft>
              <a:buChar char="•"/>
            </a:pPr>
            <a:r>
              <a:rPr sz="1250" b="1" i="0"/>
              <a:t>REQ-1</a:t>
            </a:r>
            <a:r>
              <a:rPr sz="1250" b="0" i="0"/>
              <a:t>  the filter drops every Critical message: no output</a:t>
            </a:r>
          </a:p>
          <a:p>
            <a:pPr marL="182880" indent="-182880">
              <a:spcAft>
                <a:spcPts val="700"/>
              </a:spcAft>
              <a:buChar char="•"/>
            </a:pPr>
            <a:r>
              <a:rPr sz="1250" b="1" i="0"/>
              <a:t>REQ-2</a:t>
            </a:r>
            <a:r>
              <a:rPr sz="1250" b="0" i="0"/>
              <a:t>  the filter passes every Restricted message unchanged</a:t>
            </a:r>
          </a:p>
          <a:p>
            <a:pPr marL="182880" indent="-182880">
              <a:spcAft>
                <a:spcPts val="700"/>
              </a:spcAft>
              <a:buChar char="•"/>
            </a:pPr>
            <a:r>
              <a:rPr sz="1250" b="1" i="0"/>
              <a:t>REQ-3</a:t>
            </a:r>
            <a:r>
              <a:rPr sz="1250" b="0" i="0"/>
              <a:t>  the filter passes every Public message unchanged</a:t>
            </a:r>
          </a:p>
          <a:p>
            <a:pPr>
              <a:spcAft>
                <a:spcPts val="700"/>
              </a:spcAft>
            </a:pPr>
            <a:r>
              <a:rPr sz="1200" b="0" i="1">
                <a:solidFill>
                  <a:srgbClr val="595959"/>
                </a:solidFill>
              </a:rPr>
              <a:t>each marked test; each names the story or term it derives from</a:t>
            </a:r>
          </a:p>
        </p:txBody>
      </p:sp>
      <p:sp>
        <p:nvSpPr>
          <p:cNvPr id="7" name="Rectangle 6"/>
          <p:cNvSpPr/>
          <p:nvPr/>
        </p:nvSpPr>
        <p:spPr>
          <a:xfrm>
            <a:off x="777240" y="5440680"/>
            <a:ext cx="10972800" cy="45720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18288" bIns="18288"/>
          <a:lstStyle/>
          <a:p>
            <a:pPr algn="l">
              <a:spcAft>
                <a:spcPts val="0"/>
              </a:spcAft>
            </a:pPr>
            <a:r>
              <a:rPr sz="1400" b="0" i="0">
                <a:solidFill>
                  <a:srgbClr val="000000"/>
                </a:solidFill>
              </a:rPr>
              <a:t>A family: two documents of different kinds that govern one system and must agree with each other.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clause is the unit</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21</a:t>
            </a:r>
          </a:p>
        </p:txBody>
      </p:sp>
      <p:sp>
        <p:nvSpPr>
          <p:cNvPr id="5" name="TextBox 4"/>
          <p:cNvSpPr txBox="1"/>
          <p:nvPr/>
        </p:nvSpPr>
        <p:spPr>
          <a:xfrm>
            <a:off x="777240" y="1325880"/>
            <a:ext cx="6858000" cy="1737360"/>
          </a:xfrm>
          <a:prstGeom prst="rect">
            <a:avLst/>
          </a:prstGeom>
          <a:solidFill>
            <a:srgbClr val="F2F2F2"/>
          </a:solidFill>
          <a:ln w="12700">
            <a:solidFill>
              <a:srgbClr val="BFBFBF"/>
            </a:solidFill>
          </a:ln>
        </p:spPr>
        <p:txBody>
          <a:bodyPr wrap="square" tIns="91440" bIns="91440">
            <a:spAutoFit/>
          </a:bodyPr>
          <a:lstStyle/>
          <a:p>
            <a:pPr>
              <a:spcAft>
                <a:spcPts val="0"/>
              </a:spcAft>
            </a:pPr>
            <a:r>
              <a:rPr sz="1050" b="0" i="0">
                <a:latin typeface="Courier New"/>
              </a:rPr>
              <a:t>**US-1** · Method: walkthrough (human) · User category: message sender</a:t>
            </a:r>
          </a:p>
          <a:p>
            <a:pPr>
              <a:spcAft>
                <a:spcPts val="0"/>
              </a:spcAft>
            </a:pPr>
            <a:r>
              <a:rPr sz="1050" b="0" i="0">
                <a:latin typeface="Courier New"/>
              </a:rPr>
              <a:t> </a:t>
            </a:r>
          </a:p>
          <a:p>
            <a:pPr>
              <a:spcAft>
                <a:spcPts val="0"/>
              </a:spcAft>
            </a:pPr>
            <a:r>
              <a:rPr sz="1050" b="0" i="0">
                <a:latin typeface="Courier New"/>
              </a:rPr>
              <a:t>As a message sender, when I send a Public message, I expect it to</a:t>
            </a:r>
          </a:p>
          <a:p>
            <a:pPr>
              <a:spcAft>
                <a:spcPts val="0"/>
              </a:spcAft>
            </a:pPr>
            <a:r>
              <a:rPr sz="1050" b="0" i="0">
                <a:latin typeface="Courier New"/>
              </a:rPr>
              <a:t>arrive outside the enclave unchanged.</a:t>
            </a:r>
          </a:p>
          <a:p>
            <a:pPr>
              <a:spcAft>
                <a:spcPts val="0"/>
              </a:spcAft>
            </a:pPr>
            <a:r>
              <a:rPr sz="1050" b="0" i="0">
                <a:latin typeface="Courier New"/>
              </a:rPr>
              <a:t> </a:t>
            </a:r>
          </a:p>
          <a:p>
            <a:pPr>
              <a:spcAft>
                <a:spcPts val="0"/>
              </a:spcAft>
            </a:pPr>
            <a:r>
              <a:rPr sz="1050" b="0" i="0">
                <a:latin typeface="Courier New"/>
              </a:rPr>
              <a:t>Example: the guard is given (Public, 42); it outputs (Public, 42).</a:t>
            </a:r>
          </a:p>
        </p:txBody>
      </p:sp>
      <p:sp>
        <p:nvSpPr>
          <p:cNvPr id="6" name="TextBox 5"/>
          <p:cNvSpPr txBox="1"/>
          <p:nvPr/>
        </p:nvSpPr>
        <p:spPr>
          <a:xfrm>
            <a:off x="777240" y="3200400"/>
            <a:ext cx="6858000" cy="1143000"/>
          </a:xfrm>
          <a:prstGeom prst="rect">
            <a:avLst/>
          </a:prstGeom>
          <a:solidFill>
            <a:srgbClr val="F2F2F2"/>
          </a:solidFill>
          <a:ln w="12700">
            <a:solidFill>
              <a:srgbClr val="BFBFBF"/>
            </a:solidFill>
          </a:ln>
        </p:spPr>
        <p:txBody>
          <a:bodyPr wrap="square" tIns="91440" bIns="91440">
            <a:spAutoFit/>
          </a:bodyPr>
          <a:lstStyle/>
          <a:p>
            <a:pPr>
              <a:spcAft>
                <a:spcPts val="0"/>
              </a:spcAft>
            </a:pPr>
            <a:r>
              <a:rPr sz="1050" b="0" i="0">
                <a:latin typeface="Courier New"/>
              </a:rPr>
              <a:t>**REQ-1** · Method: test · Derived from: US-3</a:t>
            </a:r>
          </a:p>
          <a:p>
            <a:pPr>
              <a:spcAft>
                <a:spcPts val="0"/>
              </a:spcAft>
            </a:pPr>
            <a:r>
              <a:rPr sz="1050" b="0" i="0">
                <a:latin typeface="Courier New"/>
              </a:rPr>
              <a:t> </a:t>
            </a:r>
          </a:p>
          <a:p>
            <a:pPr>
              <a:spcAft>
                <a:spcPts val="0"/>
              </a:spcAft>
            </a:pPr>
            <a:r>
              <a:rPr sz="1050" b="0" i="0">
                <a:latin typeface="Courier New"/>
              </a:rPr>
              <a:t>The filter drops every message whose security level is Critical:</a:t>
            </a:r>
          </a:p>
          <a:p>
            <a:pPr>
              <a:spcAft>
                <a:spcPts val="0"/>
              </a:spcAft>
            </a:pPr>
            <a:r>
              <a:rPr sz="1050" b="0" i="0">
                <a:latin typeface="Courier New"/>
              </a:rPr>
              <a:t>for such a message it produces no output.</a:t>
            </a:r>
          </a:p>
        </p:txBody>
      </p:sp>
      <p:sp>
        <p:nvSpPr>
          <p:cNvPr id="7" name="Rectangle 6"/>
          <p:cNvSpPr/>
          <p:nvPr/>
        </p:nvSpPr>
        <p:spPr>
          <a:xfrm>
            <a:off x="8001000" y="1325880"/>
            <a:ext cx="3794760" cy="137160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250" b="1" i="0">
                <a:solidFill>
                  <a:srgbClr val="000000"/>
                </a:solidFill>
              </a:rPr>
              <a:t>Identifier</a:t>
            </a:r>
          </a:p>
          <a:p>
            <a:pPr algn="l" marL="182880" indent="-182880">
              <a:spcAft>
                <a:spcPts val="200"/>
              </a:spcAft>
              <a:buChar char="•"/>
            </a:pPr>
            <a:r>
              <a:rPr sz="1150" b="0" i="0">
                <a:solidFill>
                  <a:srgbClr val="000000"/>
                </a:solidFill>
              </a:rPr>
              <a:t>What a report cites. A person, an agent, and a program all say REQ-1 and mean the same sentence, so their reports compare.</a:t>
            </a:r>
          </a:p>
        </p:txBody>
      </p:sp>
      <p:sp>
        <p:nvSpPr>
          <p:cNvPr id="8" name="Rectangle 7"/>
          <p:cNvSpPr/>
          <p:nvPr/>
        </p:nvSpPr>
        <p:spPr>
          <a:xfrm>
            <a:off x="8001000" y="2880360"/>
            <a:ext cx="3794760" cy="173736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250" b="1" i="0">
                <a:solidFill>
                  <a:srgbClr val="000000"/>
                </a:solidFill>
              </a:rPr>
              <a:t>Verification method</a:t>
            </a:r>
          </a:p>
          <a:p>
            <a:pPr algn="l" marL="182880" indent="-182880">
              <a:spcAft>
                <a:spcPts val="200"/>
              </a:spcAft>
              <a:buChar char="•"/>
            </a:pPr>
            <a:r>
              <a:rPr sz="1150" b="0" i="0">
                <a:solidFill>
                  <a:srgbClr val="000000"/>
                </a:solidFill>
              </a:rPr>
              <a:t>How the clause is verified, so who can verify it. test: a program decides. walkthrough: a person exercises the system and judges.</a:t>
            </a:r>
          </a:p>
          <a:p>
            <a:pPr algn="l" marL="182880" indent="-182880">
              <a:spcAft>
                <a:spcPts val="200"/>
              </a:spcAft>
              <a:buChar char="•"/>
            </a:pPr>
            <a:r>
              <a:rPr sz="1150" b="0" i="0">
                <a:solidFill>
                  <a:srgbClr val="000000"/>
                </a:solidFill>
              </a:rPr>
              <a:t>Recorded on the clause, not in the verifier's head.</a:t>
            </a:r>
          </a:p>
        </p:txBody>
      </p:sp>
      <p:sp>
        <p:nvSpPr>
          <p:cNvPr id="9" name="Rectangle 8"/>
          <p:cNvSpPr/>
          <p:nvPr/>
        </p:nvSpPr>
        <p:spPr>
          <a:xfrm>
            <a:off x="8001000" y="4800600"/>
            <a:ext cx="3794760" cy="146304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250" b="1" i="0">
                <a:solidFill>
                  <a:srgbClr val="000000"/>
                </a:solidFill>
              </a:rPr>
              <a:t>Derived from</a:t>
            </a:r>
          </a:p>
          <a:p>
            <a:pPr algn="l" marL="182880" indent="-182880">
              <a:spcAft>
                <a:spcPts val="200"/>
              </a:spcAft>
              <a:buChar char="•"/>
            </a:pPr>
            <a:r>
              <a:rPr sz="1150" b="0" i="0">
                <a:solidFill>
                  <a:srgbClr val="000000"/>
                </a:solidFill>
              </a:rPr>
              <a:t>Links a requirement to the story or term it refines. Every requirement traces back to something a stakeholder wanted; every story forward to what makes it precise.</a:t>
            </a:r>
          </a:p>
        </p:txBody>
      </p:sp>
      <p:sp>
        <p:nvSpPr>
          <p:cNvPr id="10" name="TextBox 9"/>
          <p:cNvSpPr txBox="1"/>
          <p:nvPr/>
        </p:nvSpPr>
        <p:spPr>
          <a:xfrm>
            <a:off x="777240" y="4480560"/>
            <a:ext cx="6858000" cy="1737360"/>
          </a:xfrm>
          <a:prstGeom prst="rect">
            <a:avLst/>
          </a:prstGeom>
          <a:noFill/>
        </p:spPr>
        <p:txBody>
          <a:bodyPr wrap="square" lIns="45720" rIns="45720">
            <a:spAutoFit/>
          </a:bodyPr>
          <a:lstStyle/>
          <a:p>
            <a:pPr>
              <a:spcAft>
                <a:spcPts val="400"/>
              </a:spcAft>
            </a:pPr>
            <a:r>
              <a:rPr sz="1200" b="0" i="0">
                <a:solidFill>
                  <a:srgbClr val="595959"/>
                </a:solidFill>
              </a:rPr>
              <a:t>What the specifications leave open on purpose: how a message reaches the guard, how its level was assigned, what happens to a dropped message. Outside the boundary; the realization is free there.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Mechanical clauses and judgment clauses</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22</a:t>
            </a:r>
          </a:p>
        </p:txBody>
      </p:sp>
      <p:graphicFrame>
        <p:nvGraphicFramePr>
          <p:cNvPr id="5" name="Table 4"/>
          <p:cNvGraphicFramePr>
            <a:graphicFrameLocks noGrp="1"/>
          </p:cNvGraphicFramePr>
          <p:nvPr/>
        </p:nvGraphicFramePr>
        <p:xfrm>
          <a:off x="777240" y="1325880"/>
          <a:ext cx="11018520" cy="2514600"/>
        </p:xfrm>
        <a:graphic>
          <a:graphicData uri="http://schemas.openxmlformats.org/drawingml/2006/table">
            <a:tbl>
              <a:tblPr firstRow="1" bandRow="1">
                <a:tableStyleId>{5C22544A-7EE6-4342-B048-85BDC9FD1C3A}</a:tableStyleId>
              </a:tblPr>
              <a:tblGrid>
                <a:gridCol w="1828800"/>
                <a:gridCol w="4937760"/>
                <a:gridCol w="2194560"/>
                <a:gridCol w="2057400"/>
              </a:tblGrid>
              <a:tr h="502920">
                <a:tc>
                  <a:txBody>
                    <a:bodyPr wrap="square"/>
                    <a:lstStyle/>
                    <a:p>
                      <a:pPr>
                        <a:spcAft>
                          <a:spcPts val="0"/>
                        </a:spcAft>
                      </a:pPr>
                      <a:r>
                        <a:rPr sz="1200" b="1" i="0">
                          <a:solidFill>
                            <a:srgbClr val="FFFFFF"/>
                          </a:solidFill>
                        </a:rPr>
                        <a:t>Method</a:t>
                      </a:r>
                    </a:p>
                  </a:txBody>
                  <a:tcPr marL="54864" marR="54864" marT="27432" marB="27432">
                    <a:solidFill>
                      <a:srgbClr val="6E1EC6"/>
                    </a:solidFill>
                  </a:tcPr>
                </a:tc>
                <a:tc>
                  <a:txBody>
                    <a:bodyPr wrap="square"/>
                    <a:lstStyle/>
                    <a:p>
                      <a:pPr>
                        <a:spcAft>
                          <a:spcPts val="0"/>
                        </a:spcAft>
                      </a:pPr>
                      <a:r>
                        <a:rPr sz="1200" b="1" i="0">
                          <a:solidFill>
                            <a:srgbClr val="FFFFFF"/>
                          </a:solidFill>
                        </a:rPr>
                        <a:t>Who decides</a:t>
                      </a:r>
                    </a:p>
                  </a:txBody>
                  <a:tcPr marL="54864" marR="54864" marT="27432" marB="27432">
                    <a:solidFill>
                      <a:srgbClr val="6E1EC6"/>
                    </a:solidFill>
                  </a:tcPr>
                </a:tc>
                <a:tc>
                  <a:txBody>
                    <a:bodyPr wrap="square"/>
                    <a:lstStyle/>
                    <a:p>
                      <a:pPr>
                        <a:spcAft>
                          <a:spcPts val="0"/>
                        </a:spcAft>
                      </a:pPr>
                      <a:r>
                        <a:rPr sz="1200" b="1" i="0">
                          <a:solidFill>
                            <a:srgbClr val="FFFFFF"/>
                          </a:solidFill>
                        </a:rPr>
                        <a:t>In A0</a:t>
                      </a:r>
                    </a:p>
                  </a:txBody>
                  <a:tcPr marL="54864" marR="54864" marT="27432" marB="27432">
                    <a:solidFill>
                      <a:srgbClr val="6E1EC6"/>
                    </a:solidFill>
                  </a:tcPr>
                </a:tc>
                <a:tc>
                  <a:txBody>
                    <a:bodyPr wrap="square"/>
                    <a:lstStyle/>
                    <a:p>
                      <a:pPr>
                        <a:spcAft>
                          <a:spcPts val="0"/>
                        </a:spcAft>
                      </a:pPr>
                      <a:r>
                        <a:rPr sz="1200" b="1" i="0">
                          <a:solidFill>
                            <a:srgbClr val="FFFFFF"/>
                          </a:solidFill>
                        </a:rPr>
                        <a:t>Can stand in a gate</a:t>
                      </a:r>
                    </a:p>
                  </a:txBody>
                  <a:tcPr marL="54864" marR="54864" marT="27432" marB="27432">
                    <a:solidFill>
                      <a:srgbClr val="6E1EC6"/>
                    </a:solidFill>
                  </a:tcPr>
                </a:tc>
              </a:tr>
              <a:tr h="502920">
                <a:tc>
                  <a:txBody>
                    <a:bodyPr wrap="square"/>
                    <a:lstStyle/>
                    <a:p>
                      <a:pPr>
                        <a:spcAft>
                          <a:spcPts val="0"/>
                        </a:spcAft>
                      </a:pPr>
                      <a:r>
                        <a:rPr sz="1200" b="0" i="0">
                          <a:solidFill>
                            <a:srgbClr val="000000"/>
                          </a:solidFill>
                        </a:rPr>
                        <a:t>test</a:t>
                      </a:r>
                    </a:p>
                  </a:txBody>
                  <a:tcPr marL="54864" marR="54864" marT="27432" marB="27432">
                    <a:solidFill>
                      <a:srgbClr val="FFFFFF"/>
                    </a:solidFill>
                  </a:tcPr>
                </a:tc>
                <a:tc>
                  <a:txBody>
                    <a:bodyPr wrap="square"/>
                    <a:lstStyle/>
                    <a:p>
                      <a:pPr>
                        <a:spcAft>
                          <a:spcPts val="0"/>
                        </a:spcAft>
                      </a:pPr>
                      <a:r>
                        <a:rPr sz="1200" b="0" i="0">
                          <a:solidFill>
                            <a:srgbClr val="000000"/>
                          </a:solidFill>
                        </a:rPr>
                        <a:t>a program: a test cites the clause and passes or fails</a:t>
                      </a:r>
                    </a:p>
                  </a:txBody>
                  <a:tcPr marL="54864" marR="54864" marT="27432" marB="27432">
                    <a:solidFill>
                      <a:srgbClr val="FFFFFF"/>
                    </a:solidFill>
                  </a:tcPr>
                </a:tc>
                <a:tc>
                  <a:txBody>
                    <a:bodyPr wrap="square"/>
                    <a:lstStyle/>
                    <a:p>
                      <a:pPr>
                        <a:spcAft>
                          <a:spcPts val="0"/>
                        </a:spcAft>
                      </a:pPr>
                      <a:r>
                        <a:rPr sz="1200" b="0" i="0">
                          <a:solidFill>
                            <a:srgbClr val="000000"/>
                          </a:solidFill>
                        </a:rPr>
                        <a:t>REQ-0 to REQ-3</a:t>
                      </a:r>
                    </a:p>
                  </a:txBody>
                  <a:tcPr marL="54864" marR="54864" marT="27432" marB="27432">
                    <a:solidFill>
                      <a:srgbClr val="FFFFFF"/>
                    </a:solidFill>
                  </a:tcPr>
                </a:tc>
                <a:tc>
                  <a:txBody>
                    <a:bodyPr wrap="square"/>
                    <a:lstStyle/>
                    <a:p>
                      <a:pPr>
                        <a:spcAft>
                          <a:spcPts val="0"/>
                        </a:spcAft>
                      </a:pPr>
                      <a:r>
                        <a:rPr sz="1200" b="0" i="0">
                          <a:solidFill>
                            <a:srgbClr val="000000"/>
                          </a:solidFill>
                        </a:rPr>
                        <a:t>yes</a:t>
                      </a:r>
                    </a:p>
                  </a:txBody>
                  <a:tcPr marL="54864" marR="54864" marT="27432" marB="27432">
                    <a:solidFill>
                      <a:srgbClr val="FFFFFF"/>
                    </a:solidFill>
                  </a:tcPr>
                </a:tc>
              </a:tr>
              <a:tr h="502920">
                <a:tc>
                  <a:txBody>
                    <a:bodyPr wrap="square"/>
                    <a:lstStyle/>
                    <a:p>
                      <a:pPr>
                        <a:spcAft>
                          <a:spcPts val="0"/>
                        </a:spcAft>
                      </a:pPr>
                      <a:r>
                        <a:rPr sz="1200" b="0" i="0">
                          <a:solidFill>
                            <a:srgbClr val="000000"/>
                          </a:solidFill>
                        </a:rPr>
                        <a:t>walkthrough</a:t>
                      </a:r>
                    </a:p>
                  </a:txBody>
                  <a:tcPr marL="54864" marR="54864" marT="27432" marB="27432">
                    <a:solidFill>
                      <a:srgbClr val="F3F0F9"/>
                    </a:solidFill>
                  </a:tcPr>
                </a:tc>
                <a:tc>
                  <a:txBody>
                    <a:bodyPr wrap="square"/>
                    <a:lstStyle/>
                    <a:p>
                      <a:pPr>
                        <a:spcAft>
                          <a:spcPts val="0"/>
                        </a:spcAft>
                      </a:pPr>
                      <a:r>
                        <a:rPr sz="1200" b="0" i="0">
                          <a:solidFill>
                            <a:srgbClr val="000000"/>
                          </a:solidFill>
                        </a:rPr>
                        <a:t>a person exercises the system along the scenario and judges</a:t>
                      </a:r>
                    </a:p>
                  </a:txBody>
                  <a:tcPr marL="54864" marR="54864" marT="27432" marB="27432">
                    <a:solidFill>
                      <a:srgbClr val="F3F0F9"/>
                    </a:solidFill>
                  </a:tcPr>
                </a:tc>
                <a:tc>
                  <a:txBody>
                    <a:bodyPr wrap="square"/>
                    <a:lstStyle/>
                    <a:p>
                      <a:pPr>
                        <a:spcAft>
                          <a:spcPts val="0"/>
                        </a:spcAft>
                      </a:pPr>
                      <a:r>
                        <a:rPr sz="1200" b="0" i="0">
                          <a:solidFill>
                            <a:srgbClr val="000000"/>
                          </a:solidFill>
                        </a:rPr>
                        <a:t>US-1 to US-3</a:t>
                      </a:r>
                    </a:p>
                  </a:txBody>
                  <a:tcPr marL="54864" marR="54864" marT="27432" marB="27432">
                    <a:solidFill>
                      <a:srgbClr val="F3F0F9"/>
                    </a:solidFill>
                  </a:tcPr>
                </a:tc>
                <a:tc>
                  <a:txBody>
                    <a:bodyPr wrap="square"/>
                    <a:lstStyle/>
                    <a:p>
                      <a:pPr>
                        <a:spcAft>
                          <a:spcPts val="0"/>
                        </a:spcAft>
                      </a:pPr>
                      <a:r>
                        <a:rPr sz="1200" b="0" i="0">
                          <a:solidFill>
                            <a:srgbClr val="000000"/>
                          </a:solidFill>
                        </a:rPr>
                        <a:t>no</a:t>
                      </a:r>
                    </a:p>
                  </a:txBody>
                  <a:tcPr marL="54864" marR="54864" marT="27432" marB="27432">
                    <a:solidFill>
                      <a:srgbClr val="F3F0F9"/>
                    </a:solidFill>
                  </a:tcPr>
                </a:tc>
              </a:tr>
              <a:tr h="502920">
                <a:tc>
                  <a:txBody>
                    <a:bodyPr wrap="square"/>
                    <a:lstStyle/>
                    <a:p>
                      <a:pPr>
                        <a:spcAft>
                          <a:spcPts val="0"/>
                        </a:spcAft>
                      </a:pPr>
                      <a:r>
                        <a:rPr sz="1200" b="0" i="0">
                          <a:solidFill>
                            <a:srgbClr val="000000"/>
                          </a:solidFill>
                        </a:rPr>
                        <a:t>analysis (later)</a:t>
                      </a:r>
                    </a:p>
                  </a:txBody>
                  <a:tcPr marL="54864" marR="54864" marT="27432" marB="27432">
                    <a:solidFill>
                      <a:srgbClr val="FFFFFF"/>
                    </a:solidFill>
                  </a:tcPr>
                </a:tc>
                <a:tc>
                  <a:txBody>
                    <a:bodyPr wrap="square"/>
                    <a:lstStyle/>
                    <a:p>
                      <a:pPr>
                        <a:spcAft>
                          <a:spcPts val="0"/>
                        </a:spcAft>
                      </a:pPr>
                      <a:r>
                        <a:rPr sz="1200" b="0" i="0">
                          <a:solidFill>
                            <a:srgbClr val="000000"/>
                          </a:solidFill>
                        </a:rPr>
                        <a:t>a program, by examining the artifact rather than running it: type checker, import rule, schema validator</a:t>
                      </a:r>
                    </a:p>
                  </a:txBody>
                  <a:tcPr marL="54864" marR="54864" marT="27432" marB="27432">
                    <a:solidFill>
                      <a:srgbClr val="FFFFFF"/>
                    </a:solidFill>
                  </a:tcPr>
                </a:tc>
                <a:tc>
                  <a:txBody>
                    <a:bodyPr wrap="square"/>
                    <a:lstStyle/>
                    <a:p>
                      <a:pPr>
                        <a:spcAft>
                          <a:spcPts val="0"/>
                        </a:spcAft>
                      </a:pPr>
                      <a:r>
                        <a:rPr sz="1200" b="0" i="0">
                          <a:solidFill>
                            <a:srgbClr val="000000"/>
                          </a:solidFill>
                        </a:rPr>
                        <a:t>version A2</a:t>
                      </a:r>
                    </a:p>
                  </a:txBody>
                  <a:tcPr marL="54864" marR="54864" marT="27432" marB="27432">
                    <a:solidFill>
                      <a:srgbClr val="FFFFFF"/>
                    </a:solidFill>
                  </a:tcPr>
                </a:tc>
                <a:tc>
                  <a:txBody>
                    <a:bodyPr wrap="square"/>
                    <a:lstStyle/>
                    <a:p>
                      <a:pPr>
                        <a:spcAft>
                          <a:spcPts val="0"/>
                        </a:spcAft>
                      </a:pPr>
                      <a:r>
                        <a:rPr sz="1200" b="0" i="0">
                          <a:solidFill>
                            <a:srgbClr val="000000"/>
                          </a:solidFill>
                        </a:rPr>
                        <a:t>yes</a:t>
                      </a:r>
                    </a:p>
                  </a:txBody>
                  <a:tcPr marL="54864" marR="54864" marT="27432" marB="27432">
                    <a:solidFill>
                      <a:srgbClr val="FFFFFF"/>
                    </a:solidFill>
                  </a:tcPr>
                </a:tc>
              </a:tr>
              <a:tr h="502920">
                <a:tc>
                  <a:txBody>
                    <a:bodyPr wrap="square"/>
                    <a:lstStyle/>
                    <a:p>
                      <a:pPr>
                        <a:spcAft>
                          <a:spcPts val="0"/>
                        </a:spcAft>
                      </a:pPr>
                      <a:r>
                        <a:rPr sz="1200" b="0" i="0">
                          <a:solidFill>
                            <a:srgbClr val="000000"/>
                          </a:solidFill>
                        </a:rPr>
                        <a:t>review (later)</a:t>
                      </a:r>
                    </a:p>
                  </a:txBody>
                  <a:tcPr marL="54864" marR="54864" marT="27432" marB="27432">
                    <a:solidFill>
                      <a:srgbClr val="F3F0F9"/>
                    </a:solidFill>
                  </a:tcPr>
                </a:tc>
                <a:tc>
                  <a:txBody>
                    <a:bodyPr wrap="square"/>
                    <a:lstStyle/>
                    <a:p>
                      <a:pPr>
                        <a:spcAft>
                          <a:spcPts val="0"/>
                        </a:spcAft>
                      </a:pPr>
                      <a:r>
                        <a:rPr sz="1200" b="0" i="0">
                          <a:solidFill>
                            <a:srgbClr val="000000"/>
                          </a:solidFill>
                        </a:rPr>
                        <a:t>a reader, from the text: a person or an agent</a:t>
                      </a:r>
                    </a:p>
                  </a:txBody>
                  <a:tcPr marL="54864" marR="54864" marT="27432" marB="27432">
                    <a:solidFill>
                      <a:srgbClr val="F3F0F9"/>
                    </a:solidFill>
                  </a:tcPr>
                </a:tc>
                <a:tc>
                  <a:txBody>
                    <a:bodyPr wrap="square"/>
                    <a:lstStyle/>
                    <a:p>
                      <a:pPr>
                        <a:spcAft>
                          <a:spcPts val="0"/>
                        </a:spcAft>
                      </a:pPr>
                      <a:r>
                        <a:rPr sz="1200" b="0" i="0">
                          <a:solidFill>
                            <a:srgbClr val="000000"/>
                          </a:solidFill>
                        </a:rPr>
                        <a:t>version A2</a:t>
                      </a:r>
                    </a:p>
                  </a:txBody>
                  <a:tcPr marL="54864" marR="54864" marT="27432" marB="27432">
                    <a:solidFill>
                      <a:srgbClr val="F3F0F9"/>
                    </a:solidFill>
                  </a:tcPr>
                </a:tc>
                <a:tc>
                  <a:txBody>
                    <a:bodyPr wrap="square"/>
                    <a:lstStyle/>
                    <a:p>
                      <a:pPr>
                        <a:spcAft>
                          <a:spcPts val="0"/>
                        </a:spcAft>
                      </a:pPr>
                      <a:r>
                        <a:rPr sz="1200" b="0" i="0">
                          <a:solidFill>
                            <a:srgbClr val="000000"/>
                          </a:solidFill>
                        </a:rPr>
                        <a:t>no</a:t>
                      </a:r>
                    </a:p>
                  </a:txBody>
                  <a:tcPr marL="54864" marR="54864" marT="27432" marB="27432">
                    <a:solidFill>
                      <a:srgbClr val="F3F0F9"/>
                    </a:solidFill>
                  </a:tcPr>
                </a:tc>
              </a:tr>
            </a:tbl>
          </a:graphicData>
        </a:graphic>
      </p:graphicFrame>
      <p:sp>
        <p:nvSpPr>
          <p:cNvPr id="6" name="Rectangle 5"/>
          <p:cNvSpPr/>
          <p:nvPr/>
        </p:nvSpPr>
        <p:spPr>
          <a:xfrm>
            <a:off x="777240" y="4114800"/>
            <a:ext cx="10972800" cy="6400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18288" bIns="18288"/>
          <a:lstStyle/>
          <a:p>
            <a:pPr algn="l">
              <a:spcAft>
                <a:spcPts val="0"/>
              </a:spcAft>
            </a:pPr>
            <a:r>
              <a:rPr sz="1300" b="0" i="0">
                <a:solidFill>
                  <a:srgbClr val="000000"/>
                </a:solidFill>
              </a:rPr>
              <a:t>Mechanical: a program can decide it. Judgment: it needs a reader. A clause that cannot be made mechanical is marked as such, never silently left unchecked.</a:t>
            </a:r>
          </a:p>
        </p:txBody>
      </p:sp>
      <p:sp>
        <p:nvSpPr>
          <p:cNvPr id="7" name="TextBox 6"/>
          <p:cNvSpPr txBox="1"/>
          <p:nvPr/>
        </p:nvSpPr>
        <p:spPr>
          <a:xfrm>
            <a:off x="777240" y="4937760"/>
            <a:ext cx="10972800" cy="1280160"/>
          </a:xfrm>
          <a:prstGeom prst="rect">
            <a:avLst/>
          </a:prstGeom>
          <a:noFill/>
        </p:spPr>
        <p:txBody>
          <a:bodyPr wrap="square" lIns="45720" rIns="45720" tIns="27432" bIns="27432">
            <a:spAutoFit/>
          </a:bodyPr>
          <a:lstStyle/>
          <a:p>
            <a:pPr marL="182880" indent="-182880">
              <a:spcAft>
                <a:spcPts val="600"/>
              </a:spcAft>
              <a:buChar char="•"/>
            </a:pPr>
            <a:r>
              <a:rPr sz="1300" b="0" i="0"/>
              <a:t>A mechanical clause is checked at every commit by a program nobody has to remember to run; a judgment clause costs a person's attention each time</a:t>
            </a:r>
          </a:p>
          <a:p>
            <a:pPr marL="182880" indent="-182880">
              <a:spcAft>
                <a:spcPts val="600"/>
              </a:spcAft>
              <a:buChar char="•"/>
            </a:pPr>
            <a:r>
              <a:rPr sz="1300" b="0" i="0"/>
              <a:t>When an agent writes the code and the tests, push clauses toward mechanical, and keep the pressure visible on the clause itself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Specification quality on A0</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23</a:t>
            </a:r>
          </a:p>
        </p:txBody>
      </p:sp>
      <p:graphicFrame>
        <p:nvGraphicFramePr>
          <p:cNvPr id="5" name="Table 4"/>
          <p:cNvGraphicFramePr>
            <a:graphicFrameLocks noGrp="1"/>
          </p:cNvGraphicFramePr>
          <p:nvPr/>
        </p:nvGraphicFramePr>
        <p:xfrm>
          <a:off x="777240" y="1325880"/>
          <a:ext cx="11018520" cy="3401568"/>
        </p:xfrm>
        <a:graphic>
          <a:graphicData uri="http://schemas.openxmlformats.org/drawingml/2006/table">
            <a:tbl>
              <a:tblPr firstRow="1" bandRow="1">
                <a:tableStyleId>{5C22544A-7EE6-4342-B048-85BDC9FD1C3A}</a:tableStyleId>
              </a:tblPr>
              <a:tblGrid>
                <a:gridCol w="1828800"/>
                <a:gridCol w="3657600"/>
                <a:gridCol w="5532120"/>
              </a:tblGrid>
              <a:tr h="566928">
                <a:tc>
                  <a:txBody>
                    <a:bodyPr wrap="square"/>
                    <a:lstStyle/>
                    <a:p>
                      <a:pPr>
                        <a:spcAft>
                          <a:spcPts val="0"/>
                        </a:spcAft>
                      </a:pPr>
                      <a:r>
                        <a:rPr sz="1150" b="1" i="0">
                          <a:solidFill>
                            <a:srgbClr val="FFFFFF"/>
                          </a:solidFill>
                        </a:rPr>
                        <a:t>Property</a:t>
                      </a:r>
                    </a:p>
                  </a:txBody>
                  <a:tcPr marL="54864" marR="54864" marT="27432" marB="27432">
                    <a:solidFill>
                      <a:srgbClr val="6E1EC6"/>
                    </a:solidFill>
                  </a:tcPr>
                </a:tc>
                <a:tc>
                  <a:txBody>
                    <a:bodyPr wrap="square"/>
                    <a:lstStyle/>
                    <a:p>
                      <a:pPr>
                        <a:spcAft>
                          <a:spcPts val="0"/>
                        </a:spcAft>
                      </a:pPr>
                      <a:r>
                        <a:rPr sz="1150" b="1" i="0">
                          <a:solidFill>
                            <a:srgbClr val="FFFFFF"/>
                          </a:solidFill>
                        </a:rPr>
                        <a:t>Means</a:t>
                      </a:r>
                    </a:p>
                  </a:txBody>
                  <a:tcPr marL="54864" marR="54864" marT="27432" marB="27432">
                    <a:solidFill>
                      <a:srgbClr val="6E1EC6"/>
                    </a:solidFill>
                  </a:tcPr>
                </a:tc>
                <a:tc>
                  <a:txBody>
                    <a:bodyPr wrap="square"/>
                    <a:lstStyle/>
                    <a:p>
                      <a:pPr>
                        <a:spcAft>
                          <a:spcPts val="0"/>
                        </a:spcAft>
                      </a:pPr>
                      <a:r>
                        <a:rPr sz="1150" b="1" i="0">
                          <a:solidFill>
                            <a:srgbClr val="FFFFFF"/>
                          </a:solidFill>
                        </a:rPr>
                        <a:t>Where to look in A0</a:t>
                      </a:r>
                    </a:p>
                  </a:txBody>
                  <a:tcPr marL="54864" marR="54864" marT="27432" marB="27432">
                    <a:solidFill>
                      <a:srgbClr val="6E1EC6"/>
                    </a:solidFill>
                  </a:tcPr>
                </a:tc>
              </a:tr>
              <a:tr h="566928">
                <a:tc>
                  <a:txBody>
                    <a:bodyPr wrap="square"/>
                    <a:lstStyle/>
                    <a:p>
                      <a:pPr>
                        <a:spcAft>
                          <a:spcPts val="0"/>
                        </a:spcAft>
                      </a:pPr>
                      <a:r>
                        <a:rPr sz="1150" b="0" i="0">
                          <a:solidFill>
                            <a:srgbClr val="000000"/>
                          </a:solidFill>
                        </a:rPr>
                        <a:t>Well-formed</a:t>
                      </a:r>
                    </a:p>
                  </a:txBody>
                  <a:tcPr marL="54864" marR="54864" marT="27432" marB="27432">
                    <a:solidFill>
                      <a:srgbClr val="FFFFFF"/>
                    </a:solidFill>
                  </a:tcPr>
                </a:tc>
                <a:tc>
                  <a:txBody>
                    <a:bodyPr wrap="square"/>
                    <a:lstStyle/>
                    <a:p>
                      <a:pPr>
                        <a:spcAft>
                          <a:spcPts val="0"/>
                        </a:spcAft>
                      </a:pPr>
                      <a:r>
                        <a:rPr sz="1150" b="0" i="0">
                          <a:solidFill>
                            <a:srgbClr val="000000"/>
                          </a:solidFill>
                        </a:rPr>
                        <a:t>every clause has an identifier and a method, in a form a program can read</a:t>
                      </a:r>
                    </a:p>
                  </a:txBody>
                  <a:tcPr marL="54864" marR="54864" marT="27432" marB="27432">
                    <a:solidFill>
                      <a:srgbClr val="FFFFFF"/>
                    </a:solidFill>
                  </a:tcPr>
                </a:tc>
                <a:tc>
                  <a:txBody>
                    <a:bodyPr wrap="square"/>
                    <a:lstStyle/>
                    <a:p>
                      <a:pPr>
                        <a:spcAft>
                          <a:spcPts val="0"/>
                        </a:spcAft>
                      </a:pPr>
                      <a:r>
                        <a:rPr sz="1150" b="0" i="0">
                          <a:solidFill>
                            <a:srgbClr val="000000"/>
                          </a:solidFill>
                        </a:rPr>
                        <a:t>the header line **REQ-1** · Method: test; the report plugin parses exactly that</a:t>
                      </a:r>
                    </a:p>
                  </a:txBody>
                  <a:tcPr marL="54864" marR="54864" marT="27432" marB="27432">
                    <a:solidFill>
                      <a:srgbClr val="FFFFFF"/>
                    </a:solidFill>
                  </a:tcPr>
                </a:tc>
              </a:tr>
              <a:tr h="566928">
                <a:tc>
                  <a:txBody>
                    <a:bodyPr wrap="square"/>
                    <a:lstStyle/>
                    <a:p>
                      <a:pPr>
                        <a:spcAft>
                          <a:spcPts val="0"/>
                        </a:spcAft>
                      </a:pPr>
                      <a:r>
                        <a:rPr sz="1150" b="0" i="0">
                          <a:solidFill>
                            <a:srgbClr val="000000"/>
                          </a:solidFill>
                        </a:rPr>
                        <a:t>Unambiguous</a:t>
                      </a:r>
                    </a:p>
                  </a:txBody>
                  <a:tcPr marL="54864" marR="54864" marT="27432" marB="27432">
                    <a:solidFill>
                      <a:srgbClr val="F3F0F9"/>
                    </a:solidFill>
                  </a:tcPr>
                </a:tc>
                <a:tc>
                  <a:txBody>
                    <a:bodyPr wrap="square"/>
                    <a:lstStyle/>
                    <a:p>
                      <a:pPr>
                        <a:spcAft>
                          <a:spcPts val="0"/>
                        </a:spcAft>
                      </a:pPr>
                      <a:r>
                        <a:rPr sz="1150" b="0" i="0">
                          <a:solidFill>
                            <a:srgbClr val="000000"/>
                          </a:solidFill>
                        </a:rPr>
                        <a:t>one reading, so a verifier reaches yes or no</a:t>
                      </a:r>
                    </a:p>
                  </a:txBody>
                  <a:tcPr marL="54864" marR="54864" marT="27432" marB="27432">
                    <a:solidFill>
                      <a:srgbClr val="F3F0F9"/>
                    </a:solidFill>
                  </a:tcPr>
                </a:tc>
                <a:tc>
                  <a:txBody>
                    <a:bodyPr wrap="square"/>
                    <a:lstStyle/>
                    <a:p>
                      <a:pPr>
                        <a:spcAft>
                          <a:spcPts val="0"/>
                        </a:spcAft>
                      </a:pPr>
                      <a:r>
                        <a:rPr sz="1150" b="0" i="0">
                          <a:solidFill>
                            <a:srgbClr val="000000"/>
                          </a:solidFill>
                        </a:rPr>
                        <a:t>REQ-1 says what drop means in the same sentence. REQ-2 says "unchanged": is equality of level and payload the only reading?</a:t>
                      </a:r>
                    </a:p>
                  </a:txBody>
                  <a:tcPr marL="54864" marR="54864" marT="27432" marB="27432">
                    <a:solidFill>
                      <a:srgbClr val="F3F0F9"/>
                    </a:solidFill>
                  </a:tcPr>
                </a:tc>
              </a:tr>
              <a:tr h="566928">
                <a:tc>
                  <a:txBody>
                    <a:bodyPr wrap="square"/>
                    <a:lstStyle/>
                    <a:p>
                      <a:pPr>
                        <a:spcAft>
                          <a:spcPts val="0"/>
                        </a:spcAft>
                      </a:pPr>
                      <a:r>
                        <a:rPr sz="1150" b="0" i="0">
                          <a:solidFill>
                            <a:srgbClr val="000000"/>
                          </a:solidFill>
                        </a:rPr>
                        <a:t>Internally consistent</a:t>
                      </a:r>
                    </a:p>
                  </a:txBody>
                  <a:tcPr marL="54864" marR="54864" marT="27432" marB="27432">
                    <a:solidFill>
                      <a:srgbClr val="FFFFFF"/>
                    </a:solidFill>
                  </a:tcPr>
                </a:tc>
                <a:tc>
                  <a:txBody>
                    <a:bodyPr wrap="square"/>
                    <a:lstStyle/>
                    <a:p>
                      <a:pPr>
                        <a:spcAft>
                          <a:spcPts val="0"/>
                        </a:spcAft>
                      </a:pPr>
                      <a:r>
                        <a:rPr sz="1150" b="0" i="0">
                          <a:solidFill>
                            <a:srgbClr val="000000"/>
                          </a:solidFill>
                        </a:rPr>
                        <a:t>no two clauses contradict</a:t>
                      </a:r>
                    </a:p>
                  </a:txBody>
                  <a:tcPr marL="54864" marR="54864" marT="27432" marB="27432">
                    <a:solidFill>
                      <a:srgbClr val="FFFFFF"/>
                    </a:solidFill>
                  </a:tcPr>
                </a:tc>
                <a:tc>
                  <a:txBody>
                    <a:bodyPr wrap="square"/>
                    <a:lstStyle/>
                    <a:p>
                      <a:pPr>
                        <a:spcAft>
                          <a:spcPts val="0"/>
                        </a:spcAft>
                      </a:pPr>
                      <a:r>
                        <a:rPr sz="1150" b="0" i="0">
                          <a:solidFill>
                            <a:srgbClr val="000000"/>
                          </a:solidFill>
                        </a:rPr>
                        <a:t>REQ-1 to REQ-3 give each level one outcome; "every message is passed" would contradict REQ-1</a:t>
                      </a:r>
                    </a:p>
                  </a:txBody>
                  <a:tcPr marL="54864" marR="54864" marT="27432" marB="27432">
                    <a:solidFill>
                      <a:srgbClr val="FFFFFF"/>
                    </a:solidFill>
                  </a:tcPr>
                </a:tc>
              </a:tr>
              <a:tr h="566928">
                <a:tc>
                  <a:txBody>
                    <a:bodyPr wrap="square"/>
                    <a:lstStyle/>
                    <a:p>
                      <a:pPr>
                        <a:spcAft>
                          <a:spcPts val="0"/>
                        </a:spcAft>
                      </a:pPr>
                      <a:r>
                        <a:rPr sz="1150" b="0" i="0">
                          <a:solidFill>
                            <a:srgbClr val="000000"/>
                          </a:solidFill>
                        </a:rPr>
                        <a:t>Externally consistent</a:t>
                      </a:r>
                    </a:p>
                  </a:txBody>
                  <a:tcPr marL="54864" marR="54864" marT="27432" marB="27432">
                    <a:solidFill>
                      <a:srgbClr val="F3F0F9"/>
                    </a:solidFill>
                  </a:tcPr>
                </a:tc>
                <a:tc>
                  <a:txBody>
                    <a:bodyPr wrap="square"/>
                    <a:lstStyle/>
                    <a:p>
                      <a:pPr>
                        <a:spcAft>
                          <a:spcPts val="0"/>
                        </a:spcAft>
                      </a:pPr>
                      <a:r>
                        <a:rPr sz="1150" b="0" i="0">
                          <a:solidFill>
                            <a:srgbClr val="000000"/>
                          </a:solidFill>
                        </a:rPr>
                        <a:t>the family agrees; same terms, same sense</a:t>
                      </a:r>
                    </a:p>
                  </a:txBody>
                  <a:tcPr marL="54864" marR="54864" marT="27432" marB="27432">
                    <a:solidFill>
                      <a:srgbClr val="F3F0F9"/>
                    </a:solidFill>
                  </a:tcPr>
                </a:tc>
                <a:tc>
                  <a:txBody>
                    <a:bodyPr wrap="square"/>
                    <a:lstStyle/>
                    <a:p>
                      <a:pPr>
                        <a:spcAft>
                          <a:spcPts val="0"/>
                        </a:spcAft>
                      </a:pPr>
                      <a:r>
                        <a:rPr sz="1150" b="0" i="0">
                          <a:solidFill>
                            <a:srgbClr val="000000"/>
                          </a:solidFill>
                        </a:rPr>
                        <a:t>every REQ derives from a story or a term; Public, Restricted, Critical, pass, drop mean the same in both files</a:t>
                      </a:r>
                    </a:p>
                  </a:txBody>
                  <a:tcPr marL="54864" marR="54864" marT="27432" marB="27432">
                    <a:solidFill>
                      <a:srgbClr val="F3F0F9"/>
                    </a:solidFill>
                  </a:tcPr>
                </a:tc>
              </a:tr>
              <a:tr h="566928">
                <a:tc>
                  <a:txBody>
                    <a:bodyPr wrap="square"/>
                    <a:lstStyle/>
                    <a:p>
                      <a:pPr>
                        <a:spcAft>
                          <a:spcPts val="0"/>
                        </a:spcAft>
                      </a:pPr>
                      <a:r>
                        <a:rPr sz="1150" b="0" i="0">
                          <a:solidFill>
                            <a:srgbClr val="000000"/>
                          </a:solidFill>
                        </a:rPr>
                        <a:t>Complete for its level</a:t>
                      </a:r>
                    </a:p>
                  </a:txBody>
                  <a:tcPr marL="54864" marR="54864" marT="27432" marB="27432">
                    <a:solidFill>
                      <a:srgbClr val="FFFFFF"/>
                    </a:solidFill>
                  </a:tcPr>
                </a:tc>
                <a:tc>
                  <a:txBody>
                    <a:bodyPr wrap="square"/>
                    <a:lstStyle/>
                    <a:p>
                      <a:pPr>
                        <a:spcAft>
                          <a:spcPts val="0"/>
                        </a:spcAft>
                      </a:pPr>
                      <a:r>
                        <a:rPr sz="1150" b="0" i="0">
                          <a:solidFill>
                            <a:srgbClr val="000000"/>
                          </a:solidFill>
                        </a:rPr>
                        <a:t>nothing missing at the chosen abstraction</a:t>
                      </a:r>
                    </a:p>
                  </a:txBody>
                  <a:tcPr marL="54864" marR="54864" marT="27432" marB="27432">
                    <a:solidFill>
                      <a:srgbClr val="FFFFFF"/>
                    </a:solidFill>
                  </a:tcPr>
                </a:tc>
                <a:tc>
                  <a:txBody>
                    <a:bodyPr wrap="square"/>
                    <a:lstStyle/>
                    <a:p>
                      <a:pPr>
                        <a:spcAft>
                          <a:spcPts val="0"/>
                        </a:spcAft>
                      </a:pPr>
                      <a:r>
                        <a:rPr sz="1150" b="0" i="0">
                          <a:solidFill>
                            <a:srgbClr val="000000"/>
                          </a:solidFill>
                        </a:rPr>
                        <a:t>three levels, three requirements; transport is outside the boundary, not a gap</a:t>
                      </a:r>
                    </a:p>
                  </a:txBody>
                  <a:tcPr marL="54864" marR="54864" marT="27432" marB="27432">
                    <a:solidFill>
                      <a:srgbClr val="FFFFFF"/>
                    </a:solidFill>
                  </a:tcPr>
                </a:tc>
              </a:tr>
            </a:tbl>
          </a:graphicData>
        </a:graphic>
      </p:graphicFrame>
      <p:sp>
        <p:nvSpPr>
          <p:cNvPr id="6" name="TextBox 5"/>
          <p:cNvSpPr txBox="1"/>
          <p:nvPr/>
        </p:nvSpPr>
        <p:spPr>
          <a:xfrm>
            <a:off x="777240" y="4892040"/>
            <a:ext cx="10972800" cy="1371600"/>
          </a:xfrm>
          <a:prstGeom prst="rect">
            <a:avLst/>
          </a:prstGeom>
          <a:noFill/>
        </p:spPr>
        <p:txBody>
          <a:bodyPr wrap="square" lIns="45720" rIns="45720" tIns="27432" bIns="27432">
            <a:spAutoFit/>
          </a:bodyPr>
          <a:lstStyle/>
          <a:p>
            <a:pPr marL="182880" indent="-182880">
              <a:spcAft>
                <a:spcPts val="500"/>
              </a:spcAft>
              <a:buChar char="•"/>
            </a:pPr>
            <a:r>
              <a:rPr sz="1250" b="1" i="0"/>
              <a:t>Established in A0 by rule SQ-1: </a:t>
            </a:r>
            <a:r>
              <a:rPr sz="1250" b="0" i="0"/>
              <a:t>a person read the seven clauses together and recorded who, when, and which clauses in the ledger's SQ row.</a:t>
            </a:r>
          </a:p>
          <a:p>
            <a:pPr marL="182880" indent="-182880">
              <a:spcAft>
                <a:spcPts val="500"/>
              </a:spcAft>
              <a:buChar char="•"/>
            </a:pPr>
            <a:r>
              <a:rPr sz="1250" b="1" i="0"/>
              <a:t>Next lecture: </a:t>
            </a:r>
            <a:r>
              <a:rPr sz="1250" b="0" i="0"/>
              <a:t>the audit as a procedure, on a specification with gaps placed in it on purpose; the form in which gaps are reported and ruled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realization</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24</a:t>
            </a:r>
          </a:p>
        </p:txBody>
      </p:sp>
      <p:sp>
        <p:nvSpPr>
          <p:cNvPr id="5" name="TextBox 4"/>
          <p:cNvSpPr txBox="1"/>
          <p:nvPr/>
        </p:nvSpPr>
        <p:spPr>
          <a:xfrm>
            <a:off x="777240" y="1325880"/>
            <a:ext cx="6035040" cy="3200400"/>
          </a:xfrm>
          <a:prstGeom prst="rect">
            <a:avLst/>
          </a:prstGeom>
          <a:solidFill>
            <a:srgbClr val="F2F2F2"/>
          </a:solidFill>
          <a:ln w="12700">
            <a:solidFill>
              <a:srgbClr val="BFBFBF"/>
            </a:solidFill>
          </a:ln>
        </p:spPr>
        <p:txBody>
          <a:bodyPr wrap="square" tIns="91440" bIns="91440">
            <a:spAutoFit/>
          </a:bodyPr>
          <a:lstStyle/>
          <a:p>
            <a:pPr>
              <a:spcAft>
                <a:spcPts val="0"/>
              </a:spcAft>
            </a:pPr>
            <a:r>
              <a:rPr sz="1050" b="0" i="0">
                <a:latin typeface="Courier New"/>
              </a:rPr>
              <a:t>class SecurityLevel(Enum):</a:t>
            </a:r>
          </a:p>
          <a:p>
            <a:pPr>
              <a:spcAft>
                <a:spcPts val="0"/>
              </a:spcAft>
            </a:pPr>
            <a:r>
              <a:rPr sz="1050" b="0" i="0">
                <a:latin typeface="Courier New"/>
              </a:rPr>
              <a:t>    PUBLIC = "Public"</a:t>
            </a:r>
          </a:p>
          <a:p>
            <a:pPr>
              <a:spcAft>
                <a:spcPts val="0"/>
              </a:spcAft>
            </a:pPr>
            <a:r>
              <a:rPr sz="1050" b="0" i="0">
                <a:latin typeface="Courier New"/>
              </a:rPr>
              <a:t>    RESTRICTED = "Restricted"</a:t>
            </a:r>
          </a:p>
          <a:p>
            <a:pPr>
              <a:spcAft>
                <a:spcPts val="0"/>
              </a:spcAft>
            </a:pPr>
            <a:r>
              <a:rPr sz="1050" b="0" i="0">
                <a:latin typeface="Courier New"/>
              </a:rPr>
              <a:t>    CRITICAL = "Critical"</a:t>
            </a:r>
          </a:p>
          <a:p>
            <a:pPr>
              <a:spcAft>
                <a:spcPts val="0"/>
              </a:spcAft>
            </a:pPr>
            <a:r>
              <a:rPr sz="1050" b="0" i="0">
                <a:latin typeface="Courier New"/>
              </a:rPr>
              <a:t> </a:t>
            </a:r>
          </a:p>
          <a:p>
            <a:pPr>
              <a:spcAft>
                <a:spcPts val="0"/>
              </a:spcAft>
            </a:pPr>
            <a:r>
              <a:rPr sz="1050" b="0" i="0">
                <a:latin typeface="Courier New"/>
              </a:rPr>
              <a:t> </a:t>
            </a:r>
          </a:p>
          <a:p>
            <a:pPr>
              <a:spcAft>
                <a:spcPts val="0"/>
              </a:spcAft>
            </a:pPr>
            <a:r>
              <a:rPr sz="1050" b="0" i="0">
                <a:latin typeface="Courier New"/>
              </a:rPr>
              <a:t>@dataclass(frozen=True)</a:t>
            </a:r>
          </a:p>
          <a:p>
            <a:pPr>
              <a:spcAft>
                <a:spcPts val="0"/>
              </a:spcAft>
            </a:pPr>
            <a:r>
              <a:rPr sz="1050" b="0" i="0">
                <a:latin typeface="Courier New"/>
              </a:rPr>
              <a:t>class Message:</a:t>
            </a:r>
          </a:p>
          <a:p>
            <a:pPr>
              <a:spcAft>
                <a:spcPts val="0"/>
              </a:spcAft>
            </a:pPr>
            <a:r>
              <a:rPr sz="1050" b="0" i="0">
                <a:latin typeface="Courier New"/>
              </a:rPr>
              <a:t>    level: SecurityLevel</a:t>
            </a:r>
          </a:p>
          <a:p>
            <a:pPr>
              <a:spcAft>
                <a:spcPts val="0"/>
              </a:spcAft>
            </a:pPr>
            <a:r>
              <a:rPr sz="1050" b="0" i="0">
                <a:latin typeface="Courier New"/>
              </a:rPr>
              <a:t>    payload: int</a:t>
            </a:r>
          </a:p>
          <a:p>
            <a:pPr>
              <a:spcAft>
                <a:spcPts val="0"/>
              </a:spcAft>
            </a:pPr>
            <a:r>
              <a:rPr sz="1050" b="0" i="0">
                <a:latin typeface="Courier New"/>
              </a:rPr>
              <a:t> </a:t>
            </a:r>
          </a:p>
          <a:p>
            <a:pPr>
              <a:spcAft>
                <a:spcPts val="0"/>
              </a:spcAft>
            </a:pPr>
            <a:r>
              <a:rPr sz="1050" b="0" i="0">
                <a:latin typeface="Courier New"/>
              </a:rPr>
              <a:t>    def __post_init__(self) -&gt; None:</a:t>
            </a:r>
          </a:p>
          <a:p>
            <a:pPr>
              <a:spcAft>
                <a:spcPts val="0"/>
              </a:spcAft>
            </a:pPr>
            <a:r>
              <a:rPr sz="1050" b="0" i="0">
                <a:latin typeface="Courier New"/>
              </a:rPr>
              <a:t>        if not isinstance(self.level, SecurityLevel):</a:t>
            </a:r>
          </a:p>
          <a:p>
            <a:pPr>
              <a:spcAft>
                <a:spcPts val="0"/>
              </a:spcAft>
            </a:pPr>
            <a:r>
              <a:rPr sz="1050" b="0" i="0">
                <a:latin typeface="Courier New"/>
              </a:rPr>
              <a:t>            raise TypeError(...)</a:t>
            </a:r>
          </a:p>
          <a:p>
            <a:pPr>
              <a:spcAft>
                <a:spcPts val="0"/>
              </a:spcAft>
            </a:pPr>
            <a:r>
              <a:rPr sz="1050" b="0" i="0">
                <a:latin typeface="Courier New"/>
              </a:rPr>
              <a:t>        if not isinstance(self.payload, int):</a:t>
            </a:r>
          </a:p>
          <a:p>
            <a:pPr>
              <a:spcAft>
                <a:spcPts val="0"/>
              </a:spcAft>
            </a:pPr>
            <a:r>
              <a:rPr sz="1050" b="0" i="0">
                <a:latin typeface="Courier New"/>
              </a:rPr>
              <a:t>            raise TypeError(...)</a:t>
            </a:r>
          </a:p>
        </p:txBody>
      </p:sp>
      <p:sp>
        <p:nvSpPr>
          <p:cNvPr id="6" name="TextBox 5"/>
          <p:cNvSpPr txBox="1"/>
          <p:nvPr/>
        </p:nvSpPr>
        <p:spPr>
          <a:xfrm>
            <a:off x="777240" y="4572000"/>
            <a:ext cx="6035040" cy="274320"/>
          </a:xfrm>
          <a:prstGeom prst="rect">
            <a:avLst/>
          </a:prstGeom>
          <a:noFill/>
        </p:spPr>
        <p:txBody>
          <a:bodyPr wrap="square" lIns="45720" rIns="45720">
            <a:spAutoFit/>
          </a:bodyPr>
          <a:lstStyle/>
          <a:p>
            <a:pPr>
              <a:spcAft>
                <a:spcPts val="400"/>
              </a:spcAft>
            </a:pPr>
            <a:r>
              <a:rPr sz="1000" b="0" i="0">
                <a:solidFill>
                  <a:srgbClr val="595959"/>
                </a:solidFill>
                <a:latin typeface="Courier New"/>
              </a:rPr>
              <a:t>guard/message.py (abridged): REQ-0 made concrete</a:t>
            </a:r>
          </a:p>
        </p:txBody>
      </p:sp>
      <p:sp>
        <p:nvSpPr>
          <p:cNvPr id="7" name="TextBox 6"/>
          <p:cNvSpPr txBox="1"/>
          <p:nvPr/>
        </p:nvSpPr>
        <p:spPr>
          <a:xfrm>
            <a:off x="7086600" y="1325880"/>
            <a:ext cx="4709160" cy="1371600"/>
          </a:xfrm>
          <a:prstGeom prst="rect">
            <a:avLst/>
          </a:prstGeom>
          <a:solidFill>
            <a:srgbClr val="F2F2F2"/>
          </a:solidFill>
          <a:ln w="12700">
            <a:solidFill>
              <a:srgbClr val="BFBFBF"/>
            </a:solidFill>
          </a:ln>
        </p:spPr>
        <p:txBody>
          <a:bodyPr wrap="square" tIns="91440" bIns="91440">
            <a:spAutoFit/>
          </a:bodyPr>
          <a:lstStyle/>
          <a:p>
            <a:pPr>
              <a:spcAft>
                <a:spcPts val="0"/>
              </a:spcAft>
            </a:pPr>
            <a:r>
              <a:rPr sz="1000" b="0" i="0">
                <a:latin typeface="Courier New"/>
              </a:rPr>
              <a:t>def filter_message(message: Message) -&gt; Message | None:</a:t>
            </a:r>
          </a:p>
          <a:p>
            <a:pPr>
              <a:spcAft>
                <a:spcPts val="0"/>
              </a:spcAft>
            </a:pPr>
            <a:r>
              <a:rPr sz="1000" b="0" i="0">
                <a:latin typeface="Courier New"/>
              </a:rPr>
              <a:t>    if message.level is SecurityLevel.CRITICAL:</a:t>
            </a:r>
          </a:p>
          <a:p>
            <a:pPr>
              <a:spcAft>
                <a:spcPts val="0"/>
              </a:spcAft>
            </a:pPr>
            <a:r>
              <a:rPr sz="1000" b="0" i="0">
                <a:latin typeface="Courier New"/>
              </a:rPr>
              <a:t>        return None  # REQ-1</a:t>
            </a:r>
          </a:p>
          <a:p>
            <a:pPr>
              <a:spcAft>
                <a:spcPts val="0"/>
              </a:spcAft>
            </a:pPr>
            <a:r>
              <a:rPr sz="1000" b="0" i="0">
                <a:latin typeface="Courier New"/>
              </a:rPr>
              <a:t>    return message  # REQ-2, REQ-3</a:t>
            </a:r>
          </a:p>
        </p:txBody>
      </p:sp>
      <p:sp>
        <p:nvSpPr>
          <p:cNvPr id="8" name="TextBox 7"/>
          <p:cNvSpPr txBox="1"/>
          <p:nvPr/>
        </p:nvSpPr>
        <p:spPr>
          <a:xfrm>
            <a:off x="7086600" y="2743200"/>
            <a:ext cx="4709160" cy="274320"/>
          </a:xfrm>
          <a:prstGeom prst="rect">
            <a:avLst/>
          </a:prstGeom>
          <a:noFill/>
        </p:spPr>
        <p:txBody>
          <a:bodyPr wrap="square" lIns="45720" rIns="45720">
            <a:spAutoFit/>
          </a:bodyPr>
          <a:lstStyle/>
          <a:p>
            <a:pPr>
              <a:spcAft>
                <a:spcPts val="400"/>
              </a:spcAft>
            </a:pPr>
            <a:r>
              <a:rPr sz="1000" b="0" i="0">
                <a:solidFill>
                  <a:srgbClr val="595959"/>
                </a:solidFill>
                <a:latin typeface="Courier New"/>
              </a:rPr>
              <a:t>guard/filter.py: REQ-1 to REQ-3</a:t>
            </a:r>
          </a:p>
        </p:txBody>
      </p:sp>
      <p:sp>
        <p:nvSpPr>
          <p:cNvPr id="9" name="TextBox 8"/>
          <p:cNvSpPr txBox="1"/>
          <p:nvPr/>
        </p:nvSpPr>
        <p:spPr>
          <a:xfrm>
            <a:off x="7086600" y="3200400"/>
            <a:ext cx="4709160" cy="3017520"/>
          </a:xfrm>
          <a:prstGeom prst="rect">
            <a:avLst/>
          </a:prstGeom>
          <a:noFill/>
        </p:spPr>
        <p:txBody>
          <a:bodyPr wrap="square" lIns="45720" rIns="45720" tIns="27432" bIns="27432">
            <a:spAutoFit/>
          </a:bodyPr>
          <a:lstStyle/>
          <a:p>
            <a:pPr marL="182880" indent="-182880">
              <a:spcAft>
                <a:spcPts val="800"/>
              </a:spcAft>
              <a:buChar char="•"/>
            </a:pPr>
            <a:r>
              <a:rPr sz="1250" b="0" i="0"/>
              <a:t>The code and the test suite are both realization: both are built to satisfy the specifications</a:t>
            </a:r>
          </a:p>
          <a:p>
            <a:pPr marL="182880" indent="-182880">
              <a:spcAft>
                <a:spcPts val="800"/>
              </a:spcAft>
              <a:buChar char="•"/>
            </a:pPr>
            <a:r>
              <a:rPr sz="1250" b="0" i="0"/>
              <a:t>One specification, many realizations: a different program in a different language that drops Critical and passes the rest realizes the same clauses</a:t>
            </a:r>
          </a:p>
          <a:p>
            <a:pPr marL="182880" indent="-182880">
              <a:spcAft>
                <a:spcPts val="800"/>
              </a:spcAft>
              <a:buChar char="•"/>
            </a:pPr>
            <a:r>
              <a:rPr sz="1250" b="0" i="0"/>
              <a:t>Under thirty lines of code; the specifications, rules, and reports are over three hundred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Tests as executable specification</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25</a:t>
            </a:r>
          </a:p>
        </p:txBody>
      </p:sp>
      <p:sp>
        <p:nvSpPr>
          <p:cNvPr id="5" name="TextBox 4"/>
          <p:cNvSpPr txBox="1"/>
          <p:nvPr/>
        </p:nvSpPr>
        <p:spPr>
          <a:xfrm>
            <a:off x="777240" y="1325880"/>
            <a:ext cx="6675120" cy="3337560"/>
          </a:xfrm>
          <a:prstGeom prst="rect">
            <a:avLst/>
          </a:prstGeom>
          <a:solidFill>
            <a:srgbClr val="F2F2F2"/>
          </a:solidFill>
          <a:ln w="12700">
            <a:solidFill>
              <a:srgbClr val="BFBFBF"/>
            </a:solidFill>
          </a:ln>
        </p:spPr>
        <p:txBody>
          <a:bodyPr wrap="square" tIns="91440" bIns="91440">
            <a:spAutoFit/>
          </a:bodyPr>
          <a:lstStyle/>
          <a:p>
            <a:pPr>
              <a:spcAft>
                <a:spcPts val="0"/>
              </a:spcAft>
            </a:pPr>
            <a:r>
              <a:rPr sz="1050" b="0" i="0">
                <a:latin typeface="Courier New"/>
              </a:rPr>
              <a:t>@pytest.mark.req("REQ-1")</a:t>
            </a:r>
          </a:p>
          <a:p>
            <a:pPr>
              <a:spcAft>
                <a:spcPts val="0"/>
              </a:spcAft>
            </a:pPr>
            <a:r>
              <a:rPr sz="1050" b="0" i="0">
                <a:latin typeface="Courier New"/>
              </a:rPr>
              <a:t>@pytest.mark.parametrize("payload", [0, 100, -5])</a:t>
            </a:r>
          </a:p>
          <a:p>
            <a:pPr>
              <a:spcAft>
                <a:spcPts val="0"/>
              </a:spcAft>
            </a:pPr>
            <a:r>
              <a:rPr sz="1050" b="0" i="0">
                <a:latin typeface="Courier New"/>
              </a:rPr>
              <a:t>def test_critical_is_dropped(payload):</a:t>
            </a:r>
          </a:p>
          <a:p>
            <a:pPr>
              <a:spcAft>
                <a:spcPts val="0"/>
              </a:spcAft>
            </a:pPr>
            <a:r>
              <a:rPr sz="1050" b="0" i="0">
                <a:latin typeface="Courier New"/>
              </a:rPr>
              <a:t>    assert filter_message(Message(SecurityLevel.CRITICAL, payload)) is None</a:t>
            </a:r>
          </a:p>
          <a:p>
            <a:pPr>
              <a:spcAft>
                <a:spcPts val="0"/>
              </a:spcAft>
            </a:pPr>
            <a:r>
              <a:rPr sz="1050" b="0" i="0">
                <a:latin typeface="Courier New"/>
              </a:rPr>
              <a:t> </a:t>
            </a:r>
          </a:p>
          <a:p>
            <a:pPr>
              <a:spcAft>
                <a:spcPts val="0"/>
              </a:spcAft>
            </a:pPr>
            <a:r>
              <a:rPr sz="1050" b="0" i="0">
                <a:latin typeface="Courier New"/>
              </a:rPr>
              <a:t> </a:t>
            </a:r>
          </a:p>
          <a:p>
            <a:pPr>
              <a:spcAft>
                <a:spcPts val="0"/>
              </a:spcAft>
            </a:pPr>
            <a:r>
              <a:rPr sz="1050" b="0" i="0">
                <a:latin typeface="Courier New"/>
              </a:rPr>
              <a:t>@pytest.mark.req("REQ-2")</a:t>
            </a:r>
          </a:p>
          <a:p>
            <a:pPr>
              <a:spcAft>
                <a:spcPts val="0"/>
              </a:spcAft>
            </a:pPr>
            <a:r>
              <a:rPr sz="1050" b="0" i="0">
                <a:latin typeface="Courier New"/>
              </a:rPr>
              <a:t>def test_restricted_passes_unchanged():</a:t>
            </a:r>
          </a:p>
          <a:p>
            <a:pPr>
              <a:spcAft>
                <a:spcPts val="0"/>
              </a:spcAft>
            </a:pPr>
            <a:r>
              <a:rPr sz="1050" b="0" i="0">
                <a:latin typeface="Courier New"/>
              </a:rPr>
              <a:t>    message = Message(SecurityLevel.RESTRICTED, 7)</a:t>
            </a:r>
          </a:p>
          <a:p>
            <a:pPr>
              <a:spcAft>
                <a:spcPts val="0"/>
              </a:spcAft>
            </a:pPr>
            <a:r>
              <a:rPr sz="1050" b="0" i="0">
                <a:latin typeface="Courier New"/>
              </a:rPr>
              <a:t>    assert filter_message(message) == message</a:t>
            </a:r>
          </a:p>
          <a:p>
            <a:pPr>
              <a:spcAft>
                <a:spcPts val="0"/>
              </a:spcAft>
            </a:pPr>
            <a:r>
              <a:rPr sz="1050" b="0" i="0">
                <a:latin typeface="Courier New"/>
              </a:rPr>
              <a:t> </a:t>
            </a:r>
          </a:p>
          <a:p>
            <a:pPr>
              <a:spcAft>
                <a:spcPts val="0"/>
              </a:spcAft>
            </a:pPr>
            <a:r>
              <a:rPr sz="1050" b="0" i="0">
                <a:latin typeface="Courier New"/>
              </a:rPr>
              <a:t> </a:t>
            </a:r>
          </a:p>
          <a:p>
            <a:pPr>
              <a:spcAft>
                <a:spcPts val="0"/>
              </a:spcAft>
            </a:pPr>
            <a:r>
              <a:rPr sz="1050" b="0" i="0">
                <a:latin typeface="Courier New"/>
              </a:rPr>
              <a:t>@pytest.mark.req("REQ-3")</a:t>
            </a:r>
          </a:p>
          <a:p>
            <a:pPr>
              <a:spcAft>
                <a:spcPts val="0"/>
              </a:spcAft>
            </a:pPr>
            <a:r>
              <a:rPr sz="1050" b="0" i="0">
                <a:latin typeface="Courier New"/>
              </a:rPr>
              <a:t>def test_public_passes_unchanged():</a:t>
            </a:r>
          </a:p>
          <a:p>
            <a:pPr>
              <a:spcAft>
                <a:spcPts val="0"/>
              </a:spcAft>
            </a:pPr>
            <a:r>
              <a:rPr sz="1050" b="0" i="0">
                <a:latin typeface="Courier New"/>
              </a:rPr>
              <a:t>    message = Message(SecurityLevel.PUBLIC, 42)</a:t>
            </a:r>
          </a:p>
          <a:p>
            <a:pPr>
              <a:spcAft>
                <a:spcPts val="0"/>
              </a:spcAft>
            </a:pPr>
            <a:r>
              <a:rPr sz="1050" b="0" i="0">
                <a:latin typeface="Courier New"/>
              </a:rPr>
              <a:t>    assert filter_message(message) == message</a:t>
            </a:r>
          </a:p>
        </p:txBody>
      </p:sp>
      <p:sp>
        <p:nvSpPr>
          <p:cNvPr id="6" name="TextBox 5"/>
          <p:cNvSpPr txBox="1"/>
          <p:nvPr/>
        </p:nvSpPr>
        <p:spPr>
          <a:xfrm>
            <a:off x="777240" y="4709160"/>
            <a:ext cx="6675120" cy="274320"/>
          </a:xfrm>
          <a:prstGeom prst="rect">
            <a:avLst/>
          </a:prstGeom>
          <a:noFill/>
        </p:spPr>
        <p:txBody>
          <a:bodyPr wrap="square" lIns="45720" rIns="45720">
            <a:spAutoFit/>
          </a:bodyPr>
          <a:lstStyle/>
          <a:p>
            <a:pPr>
              <a:spcAft>
                <a:spcPts val="400"/>
              </a:spcAft>
            </a:pPr>
            <a:r>
              <a:rPr sz="1000" b="0" i="0">
                <a:solidFill>
                  <a:srgbClr val="595959"/>
                </a:solidFill>
                <a:latin typeface="Courier New"/>
              </a:rPr>
              <a:t>tests/test_filter.py</a:t>
            </a:r>
          </a:p>
        </p:txBody>
      </p:sp>
      <p:sp>
        <p:nvSpPr>
          <p:cNvPr id="7" name="Rectangle 6"/>
          <p:cNvSpPr/>
          <p:nvPr/>
        </p:nvSpPr>
        <p:spPr>
          <a:xfrm>
            <a:off x="7726679" y="1325880"/>
            <a:ext cx="4069080" cy="265176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The marker serves three readers</a:t>
            </a:r>
          </a:p>
          <a:p>
            <a:pPr algn="l" marL="182880" indent="-182880">
              <a:spcAft>
                <a:spcPts val="200"/>
              </a:spcAft>
              <a:buChar char="•"/>
            </a:pPr>
            <a:r>
              <a:rPr sz="1200" b="1" i="0">
                <a:solidFill>
                  <a:srgbClr val="000000"/>
                </a:solidFill>
              </a:rPr>
              <a:t>A program</a:t>
            </a:r>
            <a:r>
              <a:rPr sz="1200" b="0" i="0">
                <a:solidFill>
                  <a:srgbClr val="000000"/>
                </a:solidFill>
              </a:rPr>
              <a:t> computes which clauses have tests and which do not</a:t>
            </a:r>
          </a:p>
          <a:p>
            <a:pPr algn="l" marL="182880" indent="-182880">
              <a:spcAft>
                <a:spcPts val="200"/>
              </a:spcAft>
              <a:buChar char="•"/>
            </a:pPr>
            <a:r>
              <a:rPr sz="1200" b="1" i="0">
                <a:solidFill>
                  <a:srgbClr val="000000"/>
                </a:solidFill>
              </a:rPr>
              <a:t>A person</a:t>
            </a:r>
            <a:r>
              <a:rPr sz="1200" b="0" i="0">
                <a:solidFill>
                  <a:srgbClr val="000000"/>
                </a:solidFill>
              </a:rPr>
              <a:t> who sees the test fail knows which clause is in question without reading the body</a:t>
            </a:r>
          </a:p>
          <a:p>
            <a:pPr algn="l" marL="182880" indent="-182880">
              <a:spcAft>
                <a:spcPts val="200"/>
              </a:spcAft>
              <a:buChar char="•"/>
            </a:pPr>
            <a:r>
              <a:rPr sz="1200" b="1" i="0">
                <a:solidFill>
                  <a:srgbClr val="000000"/>
                </a:solidFill>
              </a:rPr>
              <a:t>An agent</a:t>
            </a:r>
            <a:r>
              <a:rPr sz="1200" b="0" i="0">
                <a:solidFill>
                  <a:srgbClr val="000000"/>
                </a:solidFill>
              </a:rPr>
              <a:t> writing a test must say which clause it is evidence for; a test that exercises code and claims nothing is ruled out</a:t>
            </a:r>
          </a:p>
        </p:txBody>
      </p:sp>
      <p:sp>
        <p:nvSpPr>
          <p:cNvPr id="8" name="Rectangle 7"/>
          <p:cNvSpPr/>
          <p:nvPr/>
        </p:nvSpPr>
        <p:spPr>
          <a:xfrm>
            <a:off x="7726679" y="4160520"/>
            <a:ext cx="4069080" cy="914400"/>
          </a:xfrm>
          <a:prstGeom prst="rect">
            <a:avLst/>
          </a:prstGeom>
          <a:solidFill>
            <a:srgbClr val="FFF3B0"/>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200"/>
              </a:spcAft>
            </a:pPr>
            <a:r>
              <a:rPr sz="1200" b="0" i="0">
                <a:solidFill>
                  <a:srgbClr val="000000"/>
                </a:solidFill>
              </a:rPr>
              <a:t>A test that cites no clause is not allowed in the suite (CONF-1, TR-1).</a:t>
            </a:r>
          </a:p>
        </p:txBody>
      </p:sp>
      <p:cxnSp>
        <p:nvCxnSpPr>
          <p:cNvPr id="9" name="Connector 8"/>
          <p:cNvCxnSpPr/>
          <p:nvPr/>
        </p:nvCxnSpPr>
        <p:spPr>
          <a:xfrm flipH="1" flipV="1">
            <a:off x="3017520" y="1508760"/>
            <a:ext cx="4709159" cy="502920"/>
          </a:xfrm>
          <a:prstGeom prst="line">
            <a:avLst/>
          </a:prstGeom>
          <a:ln w="19050">
            <a:solidFill>
              <a:srgbClr val="C00000"/>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Realization quality (RQ) in A0</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26</a:t>
            </a:r>
          </a:p>
        </p:txBody>
      </p:sp>
      <p:sp>
        <p:nvSpPr>
          <p:cNvPr id="5" name="TextBox 4"/>
          <p:cNvSpPr txBox="1"/>
          <p:nvPr/>
        </p:nvSpPr>
        <p:spPr>
          <a:xfrm>
            <a:off x="777240" y="1325880"/>
            <a:ext cx="5760720" cy="4846320"/>
          </a:xfrm>
          <a:prstGeom prst="rect">
            <a:avLst/>
          </a:prstGeom>
          <a:noFill/>
        </p:spPr>
        <p:txBody>
          <a:bodyPr wrap="square" lIns="45720" rIns="45720" tIns="27432" bIns="27432">
            <a:spAutoFit/>
          </a:bodyPr>
          <a:lstStyle/>
          <a:p>
            <a:pPr>
              <a:spcAft>
                <a:spcPts val="600"/>
              </a:spcAft>
            </a:pPr>
            <a:r>
              <a:rPr sz="1500" b="1" i="0">
                <a:solidFill>
                  <a:srgbClr val="990099"/>
                </a:solidFill>
              </a:rPr>
              <a:t>What RQ asks of A0</a:t>
            </a:r>
          </a:p>
          <a:p>
            <a:pPr marL="182880" indent="-182880">
              <a:spcAft>
                <a:spcPts val="900"/>
              </a:spcAft>
              <a:buChar char="•"/>
            </a:pPr>
            <a:r>
              <a:rPr sz="1300" b="1" i="0">
                <a:latin typeface="Courier New"/>
              </a:rPr>
              <a:t>ruff check</a:t>
            </a:r>
            <a:r>
              <a:rPr sz="1300" b="0" i="0"/>
              <a:t>  unused and undefined names, syntax that will not run: cheaper than any test</a:t>
            </a:r>
          </a:p>
          <a:p>
            <a:pPr marL="182880" indent="-182880">
              <a:spcAft>
                <a:spcPts val="900"/>
              </a:spcAft>
              <a:buChar char="•"/>
            </a:pPr>
            <a:r>
              <a:rPr sz="1300" b="1" i="0">
                <a:latin typeface="Courier New"/>
              </a:rPr>
              <a:t>pytest --collect-only -q --no-cov</a:t>
            </a:r>
            <a:r>
              <a:rPr sz="1300" b="0" i="0"/>
              <a:t>  every test file imports; every marker is declared</a:t>
            </a:r>
          </a:p>
          <a:p>
            <a:pPr marL="182880" indent="-182880">
              <a:spcAft>
                <a:spcPts val="900"/>
              </a:spcAft>
              <a:buChar char="•"/>
            </a:pPr>
            <a:r>
              <a:rPr sz="1300" b="1" i="0"/>
              <a:t>Test discipline</a:t>
            </a:r>
            <a:r>
              <a:rPr sz="1300" b="0" i="0"/>
              <a:t> (reviewed): a test can fail; asserts no more loosely than its clause; sets up inputs by construction, not by reaching into internals</a:t>
            </a:r>
          </a:p>
          <a:p>
            <a:pPr marL="182880" indent="-182880">
              <a:spcAft>
                <a:spcPts val="900"/>
              </a:spcAft>
              <a:buChar char="•"/>
            </a:pPr>
            <a:r>
              <a:rPr sz="1300" b="1" i="0"/>
              <a:t>Structure judged appropriate</a:t>
            </a:r>
            <a:r>
              <a:rPr sz="1300" b="0" i="0"/>
              <a:t>: reviewed in later versions</a:t>
            </a:r>
          </a:p>
        </p:txBody>
      </p:sp>
      <p:graphicFrame>
        <p:nvGraphicFramePr>
          <p:cNvPr id="6" name="Table 5"/>
          <p:cNvGraphicFramePr>
            <a:graphicFrameLocks noGrp="1"/>
          </p:cNvGraphicFramePr>
          <p:nvPr/>
        </p:nvGraphicFramePr>
        <p:xfrm>
          <a:off x="6766560" y="1325880"/>
          <a:ext cx="5029200" cy="3072384"/>
        </p:xfrm>
        <a:graphic>
          <a:graphicData uri="http://schemas.openxmlformats.org/drawingml/2006/table">
            <a:tbl>
              <a:tblPr firstRow="1" bandRow="1">
                <a:tableStyleId>{5C22544A-7EE6-4342-B048-85BDC9FD1C3A}</a:tableStyleId>
              </a:tblPr>
              <a:tblGrid>
                <a:gridCol w="1188720"/>
                <a:gridCol w="3840480"/>
              </a:tblGrid>
              <a:tr h="384048">
                <a:tc>
                  <a:txBody>
                    <a:bodyPr wrap="square"/>
                    <a:lstStyle/>
                    <a:p>
                      <a:pPr>
                        <a:spcAft>
                          <a:spcPts val="0"/>
                        </a:spcAft>
                      </a:pPr>
                      <a:r>
                        <a:rPr sz="1100" b="1" i="0">
                          <a:solidFill>
                            <a:srgbClr val="FFFFFF"/>
                          </a:solidFill>
                        </a:rPr>
                        <a:t>RQ-1</a:t>
                      </a:r>
                    </a:p>
                  </a:txBody>
                  <a:tcPr marL="54864" marR="54864" marT="27432" marB="27432">
                    <a:solidFill>
                      <a:srgbClr val="990099"/>
                    </a:solidFill>
                  </a:tcPr>
                </a:tc>
                <a:tc>
                  <a:txBody>
                    <a:bodyPr wrap="square"/>
                    <a:lstStyle/>
                    <a:p>
                      <a:pPr>
                        <a:spcAft>
                          <a:spcPts val="0"/>
                        </a:spcAft>
                      </a:pPr>
                      <a:r>
                        <a:rPr sz="1100" b="1" i="0">
                          <a:solidFill>
                            <a:srgbClr val="FFFFFF"/>
                          </a:solidFill>
                        </a:rPr>
                        <a:t/>
                      </a:r>
                    </a:p>
                  </a:txBody>
                  <a:tcPr marL="54864" marR="54864" marT="27432" marB="27432">
                    <a:solidFill>
                      <a:srgbClr val="990099"/>
                    </a:solidFill>
                  </a:tcPr>
                </a:tc>
              </a:tr>
              <a:tr h="384048">
                <a:tc>
                  <a:txBody>
                    <a:bodyPr wrap="square"/>
                    <a:lstStyle/>
                    <a:p>
                      <a:pPr>
                        <a:spcAft>
                          <a:spcPts val="0"/>
                        </a:spcAft>
                      </a:pPr>
                      <a:r>
                        <a:rPr sz="1100" b="0" i="0">
                          <a:solidFill>
                            <a:srgbClr val="000000"/>
                          </a:solidFill>
                        </a:rPr>
                        <a:t>Style</a:t>
                      </a:r>
                    </a:p>
                  </a:txBody>
                  <a:tcPr marL="54864" marR="54864" marT="27432" marB="27432">
                    <a:solidFill>
                      <a:srgbClr val="FFFFFF"/>
                    </a:solidFill>
                  </a:tcPr>
                </a:tc>
                <a:tc>
                  <a:txBody>
                    <a:bodyPr wrap="square"/>
                    <a:lstStyle/>
                    <a:p>
                      <a:pPr>
                        <a:spcAft>
                          <a:spcPts val="0"/>
                        </a:spcAft>
                      </a:pPr>
                      <a:r>
                        <a:rPr sz="1100" b="0" i="0">
                          <a:solidFill>
                            <a:srgbClr val="000000"/>
                          </a:solidFill>
                        </a:rPr>
                        <a:t>obligation</a:t>
                      </a:r>
                    </a:p>
                  </a:txBody>
                  <a:tcPr marL="54864" marR="54864" marT="27432" marB="27432">
                    <a:solidFill>
                      <a:srgbClr val="FFFFFF"/>
                    </a:solidFill>
                  </a:tcPr>
                </a:tc>
              </a:tr>
              <a:tr h="384048">
                <a:tc>
                  <a:txBody>
                    <a:bodyPr wrap="square"/>
                    <a:lstStyle/>
                    <a:p>
                      <a:pPr>
                        <a:spcAft>
                          <a:spcPts val="0"/>
                        </a:spcAft>
                      </a:pPr>
                      <a:r>
                        <a:rPr sz="1100" b="0" i="0">
                          <a:solidFill>
                            <a:srgbClr val="000000"/>
                          </a:solidFill>
                        </a:rPr>
                        <a:t>Maintains</a:t>
                      </a:r>
                    </a:p>
                  </a:txBody>
                  <a:tcPr marL="54864" marR="54864" marT="27432" marB="27432">
                    <a:solidFill>
                      <a:srgbClr val="F3F0F9"/>
                    </a:solidFill>
                  </a:tcPr>
                </a:tc>
                <a:tc>
                  <a:txBody>
                    <a:bodyPr wrap="square"/>
                    <a:lstStyle/>
                    <a:p>
                      <a:pPr>
                        <a:spcAft>
                          <a:spcPts val="0"/>
                        </a:spcAft>
                      </a:pPr>
                      <a:r>
                        <a:rPr sz="1100" b="0" i="0">
                          <a:solidFill>
                            <a:srgbClr val="000000"/>
                          </a:solidFill>
                        </a:rPr>
                        <a:t>RQ</a:t>
                      </a:r>
                    </a:p>
                  </a:txBody>
                  <a:tcPr marL="54864" marR="54864" marT="27432" marB="27432">
                    <a:solidFill>
                      <a:srgbClr val="F3F0F9"/>
                    </a:solidFill>
                  </a:tcPr>
                </a:tc>
              </a:tr>
              <a:tr h="384048">
                <a:tc>
                  <a:txBody>
                    <a:bodyPr wrap="square"/>
                    <a:lstStyle/>
                    <a:p>
                      <a:pPr>
                        <a:spcAft>
                          <a:spcPts val="0"/>
                        </a:spcAft>
                      </a:pPr>
                      <a:r>
                        <a:rPr sz="1100" b="0" i="0">
                          <a:solidFill>
                            <a:srgbClr val="000000"/>
                          </a:solidFill>
                        </a:rPr>
                        <a:t>When</a:t>
                      </a:r>
                    </a:p>
                  </a:txBody>
                  <a:tcPr marL="54864" marR="54864" marT="27432" marB="27432">
                    <a:solidFill>
                      <a:srgbClr val="FFFFFF"/>
                    </a:solidFill>
                  </a:tcPr>
                </a:tc>
                <a:tc>
                  <a:txBody>
                    <a:bodyPr wrap="square"/>
                    <a:lstStyle/>
                    <a:p>
                      <a:pPr>
                        <a:spcAft>
                          <a:spcPts val="0"/>
                        </a:spcAft>
                      </a:pPr>
                      <a:r>
                        <a:rPr sz="1100" b="0" i="0">
                          <a:solidFill>
                            <a:srgbClr val="000000"/>
                          </a:solidFill>
                        </a:rPr>
                        <a:t>at every commit; guard/, tests/, tools/</a:t>
                      </a:r>
                    </a:p>
                  </a:txBody>
                  <a:tcPr marL="54864" marR="54864" marT="27432" marB="27432">
                    <a:solidFill>
                      <a:srgbClr val="FFFFFF"/>
                    </a:solidFill>
                  </a:tcPr>
                </a:tc>
              </a:tr>
              <a:tr h="384048">
                <a:tc>
                  <a:txBody>
                    <a:bodyPr wrap="square"/>
                    <a:lstStyle/>
                    <a:p>
                      <a:pPr>
                        <a:spcAft>
                          <a:spcPts val="0"/>
                        </a:spcAft>
                      </a:pPr>
                      <a:r>
                        <a:rPr sz="1100" b="0" i="0">
                          <a:solidFill>
                            <a:srgbClr val="000000"/>
                          </a:solidFill>
                        </a:rPr>
                        <a:t>Statement</a:t>
                      </a:r>
                    </a:p>
                  </a:txBody>
                  <a:tcPr marL="54864" marR="54864" marT="27432" marB="27432">
                    <a:solidFill>
                      <a:srgbClr val="F3F0F9"/>
                    </a:solidFill>
                  </a:tcPr>
                </a:tc>
                <a:tc>
                  <a:txBody>
                    <a:bodyPr wrap="square"/>
                    <a:lstStyle/>
                    <a:p>
                      <a:pPr>
                        <a:spcAft>
                          <a:spcPts val="0"/>
                        </a:spcAft>
                      </a:pPr>
                      <a:r>
                        <a:rPr sz="1100" b="0" i="0">
                          <a:solidFill>
                            <a:srgbClr val="000000"/>
                          </a:solidFill>
                        </a:rPr>
                        <a:t>The realization MUST pass ruff check, and the suite MUST collect without error.</a:t>
                      </a:r>
                    </a:p>
                  </a:txBody>
                  <a:tcPr marL="54864" marR="54864" marT="27432" marB="27432">
                    <a:solidFill>
                      <a:srgbClr val="F3F0F9"/>
                    </a:solidFill>
                  </a:tcPr>
                </a:tc>
              </a:tr>
              <a:tr h="384048">
                <a:tc>
                  <a:txBody>
                    <a:bodyPr wrap="square"/>
                    <a:lstStyle/>
                    <a:p>
                      <a:pPr>
                        <a:spcAft>
                          <a:spcPts val="0"/>
                        </a:spcAft>
                      </a:pPr>
                      <a:r>
                        <a:rPr sz="1100" b="0" i="0">
                          <a:solidFill>
                            <a:srgbClr val="000000"/>
                          </a:solidFill>
                        </a:rPr>
                        <a:t>Decided by</a:t>
                      </a:r>
                    </a:p>
                  </a:txBody>
                  <a:tcPr marL="54864" marR="54864" marT="27432" marB="27432">
                    <a:solidFill>
                      <a:srgbClr val="FFFFFF"/>
                    </a:solidFill>
                  </a:tcPr>
                </a:tc>
                <a:tc>
                  <a:txBody>
                    <a:bodyPr wrap="square"/>
                    <a:lstStyle/>
                    <a:p>
                      <a:pPr>
                        <a:spcAft>
                          <a:spcPts val="0"/>
                        </a:spcAft>
                      </a:pPr>
                      <a:r>
                        <a:rPr sz="1100" b="0" i="0">
                          <a:solidFill>
                            <a:srgbClr val="000000"/>
                          </a:solidFill>
                        </a:rPr>
                        <a:t>analysis: the two commands; a non-zero exit code fails it</a:t>
                      </a:r>
                    </a:p>
                  </a:txBody>
                  <a:tcPr marL="54864" marR="54864" marT="27432" marB="27432">
                    <a:solidFill>
                      <a:srgbClr val="FFFFFF"/>
                    </a:solidFill>
                  </a:tcPr>
                </a:tc>
              </a:tr>
              <a:tr h="384048">
                <a:tc>
                  <a:txBody>
                    <a:bodyPr wrap="square"/>
                    <a:lstStyle/>
                    <a:p>
                      <a:pPr>
                        <a:spcAft>
                          <a:spcPts val="0"/>
                        </a:spcAft>
                      </a:pPr>
                      <a:r>
                        <a:rPr sz="1100" b="0" i="0">
                          <a:solidFill>
                            <a:srgbClr val="000000"/>
                          </a:solidFill>
                        </a:rPr>
                        <a:t>Evidence</a:t>
                      </a:r>
                    </a:p>
                  </a:txBody>
                  <a:tcPr marL="54864" marR="54864" marT="27432" marB="27432">
                    <a:solidFill>
                      <a:srgbClr val="F3F0F9"/>
                    </a:solidFill>
                  </a:tcPr>
                </a:tc>
                <a:tc>
                  <a:txBody>
                    <a:bodyPr wrap="square"/>
                    <a:lstStyle/>
                    <a:p>
                      <a:pPr>
                        <a:spcAft>
                          <a:spcPts val="0"/>
                        </a:spcAft>
                      </a:pPr>
                      <a:r>
                        <a:rPr sz="1100" b="0" i="0">
                          <a:solidFill>
                            <a:srgbClr val="000000"/>
                          </a:solidFill>
                        </a:rPr>
                        <a:t>exit codes, in the dev-log entry of the task</a:t>
                      </a:r>
                    </a:p>
                  </a:txBody>
                  <a:tcPr marL="54864" marR="54864" marT="27432" marB="27432">
                    <a:solidFill>
                      <a:srgbClr val="F3F0F9"/>
                    </a:solidFill>
                  </a:tcPr>
                </a:tc>
              </a:tr>
              <a:tr h="384048">
                <a:tc>
                  <a:txBody>
                    <a:bodyPr wrap="square"/>
                    <a:lstStyle/>
                    <a:p>
                      <a:pPr>
                        <a:spcAft>
                          <a:spcPts val="0"/>
                        </a:spcAft>
                      </a:pPr>
                      <a:r>
                        <a:rPr sz="1100" b="0" i="0">
                          <a:solidFill>
                            <a:srgbClr val="000000"/>
                          </a:solidFill>
                        </a:rPr>
                        <a:t>On failure</a:t>
                      </a:r>
                    </a:p>
                  </a:txBody>
                  <a:tcPr marL="54864" marR="54864" marT="27432" marB="27432">
                    <a:solidFill>
                      <a:srgbClr val="FFFFFF"/>
                    </a:solidFill>
                  </a:tcPr>
                </a:tc>
                <a:tc>
                  <a:txBody>
                    <a:bodyPr wrap="square"/>
                    <a:lstStyle/>
                    <a:p>
                      <a:pPr>
                        <a:spcAft>
                          <a:spcPts val="0"/>
                        </a:spcAft>
                      </a:pPr>
                      <a:r>
                        <a:rPr sz="1100" b="0" i="0">
                          <a:solidFill>
                            <a:srgbClr val="000000"/>
                          </a:solidFill>
                        </a:rPr>
                        <a:t>fixed before the commit (WF-1)</a:t>
                      </a:r>
                    </a:p>
                  </a:txBody>
                  <a:tcPr marL="54864" marR="54864" marT="27432" marB="27432">
                    <a:solidFill>
                      <a:srgbClr val="FFFFFF"/>
                    </a:solidFill>
                  </a:tcPr>
                </a:tc>
              </a:tr>
            </a:tbl>
          </a:graphicData>
        </a:graphic>
      </p:graphicFrame>
      <p:sp>
        <p:nvSpPr>
          <p:cNvPr id="7" name="Rectangle 6"/>
          <p:cNvSpPr/>
          <p:nvPr/>
        </p:nvSpPr>
        <p:spPr>
          <a:xfrm>
            <a:off x="777240" y="5120640"/>
            <a:ext cx="10972800" cy="6400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18288" bIns="18288"/>
          <a:lstStyle/>
          <a:p>
            <a:pPr algn="l">
              <a:spcAft>
                <a:spcPts val="0"/>
              </a:spcAft>
            </a:pPr>
            <a:r>
              <a:rPr sz="1300" b="0" i="0">
                <a:solidFill>
                  <a:srgbClr val="000000"/>
                </a:solidFill>
              </a:rPr>
              <a:t>Why a separate row: a suite that does not collect produces no conformance evidence at all; a module with an undefined name passes every test that does not reach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Conformance is four conditions</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27</a:t>
            </a:r>
          </a:p>
        </p:txBody>
      </p:sp>
      <p:sp>
        <p:nvSpPr>
          <p:cNvPr id="5" name="Rectangle 4"/>
          <p:cNvSpPr/>
          <p:nvPr/>
        </p:nvSpPr>
        <p:spPr>
          <a:xfrm>
            <a:off x="777240" y="1188720"/>
            <a:ext cx="10972800" cy="45720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18288" bIns="18288"/>
          <a:lstStyle/>
          <a:p>
            <a:pPr algn="l">
              <a:spcAft>
                <a:spcPts val="0"/>
              </a:spcAft>
            </a:pPr>
            <a:r>
              <a:rPr sz="1500" b="0" i="0">
                <a:solidFill>
                  <a:srgbClr val="000000"/>
                </a:solidFill>
              </a:rPr>
              <a:t>A passing test suite, on its own, establishes only that the suite's own claims hold.</a:t>
            </a:r>
          </a:p>
        </p:txBody>
      </p:sp>
      <p:sp>
        <p:nvSpPr>
          <p:cNvPr id="6" name="Rectangle 5"/>
          <p:cNvSpPr/>
          <p:nvPr/>
        </p:nvSpPr>
        <p:spPr>
          <a:xfrm>
            <a:off x="777240" y="1920240"/>
            <a:ext cx="2606040" cy="59436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300" b="1" i="0">
                <a:solidFill>
                  <a:srgbClr val="000000"/>
                </a:solidFill>
              </a:rPr>
              <a:t>1  Every test passes</a:t>
            </a:r>
          </a:p>
        </p:txBody>
      </p:sp>
      <p:sp>
        <p:nvSpPr>
          <p:cNvPr id="7" name="TextBox 6"/>
          <p:cNvSpPr txBox="1"/>
          <p:nvPr/>
        </p:nvSpPr>
        <p:spPr>
          <a:xfrm>
            <a:off x="777240" y="2606040"/>
            <a:ext cx="2606040" cy="1005840"/>
          </a:xfrm>
          <a:prstGeom prst="rect">
            <a:avLst/>
          </a:prstGeom>
          <a:noFill/>
        </p:spPr>
        <p:txBody>
          <a:bodyPr wrap="square" lIns="45720" rIns="45720">
            <a:spAutoFit/>
          </a:bodyPr>
          <a:lstStyle/>
          <a:p>
            <a:pPr>
              <a:spcAft>
                <a:spcPts val="400"/>
              </a:spcAft>
            </a:pPr>
            <a:r>
              <a:rPr sz="1200" b="0" i="0"/>
              <a:t>the run itself</a:t>
            </a:r>
          </a:p>
        </p:txBody>
      </p:sp>
      <p:sp>
        <p:nvSpPr>
          <p:cNvPr id="8" name="TextBox 7"/>
          <p:cNvSpPr txBox="1"/>
          <p:nvPr/>
        </p:nvSpPr>
        <p:spPr>
          <a:xfrm>
            <a:off x="777240" y="3611880"/>
            <a:ext cx="2606040" cy="457200"/>
          </a:xfrm>
          <a:prstGeom prst="rect">
            <a:avLst/>
          </a:prstGeom>
          <a:noFill/>
        </p:spPr>
        <p:txBody>
          <a:bodyPr wrap="square" lIns="45720" rIns="45720">
            <a:spAutoFit/>
          </a:bodyPr>
          <a:lstStyle/>
          <a:p>
            <a:pPr>
              <a:spcAft>
                <a:spcPts val="400"/>
              </a:spcAft>
            </a:pPr>
            <a:r>
              <a:rPr sz="1050" b="0" i="0">
                <a:solidFill>
                  <a:srgbClr val="595959"/>
                </a:solidFill>
                <a:latin typeface="Courier New"/>
              </a:rPr>
              <a:t>pytest</a:t>
            </a:r>
          </a:p>
        </p:txBody>
      </p:sp>
      <p:sp>
        <p:nvSpPr>
          <p:cNvPr id="9" name="Rectangle 8"/>
          <p:cNvSpPr/>
          <p:nvPr/>
        </p:nvSpPr>
        <p:spPr>
          <a:xfrm>
            <a:off x="777240" y="4114800"/>
            <a:ext cx="2606040" cy="457200"/>
          </a:xfrm>
          <a:prstGeom prst="rect">
            <a:avLst/>
          </a:prstGeom>
          <a:solidFill>
            <a:srgbClr val="FFF3B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100" b="0" i="0">
                <a:solidFill>
                  <a:srgbClr val="595959"/>
                </a:solidFill>
              </a:rPr>
              <a:t>decided by </a:t>
            </a:r>
            <a:r>
              <a:rPr sz="1100" b="1" i="0">
                <a:solidFill>
                  <a:srgbClr val="000000"/>
                </a:solidFill>
              </a:rPr>
              <a:t>program</a:t>
            </a:r>
          </a:p>
        </p:txBody>
      </p:sp>
      <p:sp>
        <p:nvSpPr>
          <p:cNvPr id="10" name="Rectangle 9"/>
          <p:cNvSpPr/>
          <p:nvPr/>
        </p:nvSpPr>
        <p:spPr>
          <a:xfrm>
            <a:off x="3566160" y="1920240"/>
            <a:ext cx="2606040" cy="59436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300" b="1" i="0">
                <a:solidFill>
                  <a:srgbClr val="000000"/>
                </a:solidFill>
              </a:rPr>
              <a:t>2  Requirements coverage</a:t>
            </a:r>
          </a:p>
        </p:txBody>
      </p:sp>
      <p:sp>
        <p:nvSpPr>
          <p:cNvPr id="11" name="TextBox 10"/>
          <p:cNvSpPr txBox="1"/>
          <p:nvPr/>
        </p:nvSpPr>
        <p:spPr>
          <a:xfrm>
            <a:off x="3566160" y="2606040"/>
            <a:ext cx="2606040" cy="1005840"/>
          </a:xfrm>
          <a:prstGeom prst="rect">
            <a:avLst/>
          </a:prstGeom>
          <a:noFill/>
        </p:spPr>
        <p:txBody>
          <a:bodyPr wrap="square" lIns="45720" rIns="45720">
            <a:spAutoFit/>
          </a:bodyPr>
          <a:lstStyle/>
          <a:p>
            <a:pPr>
              <a:spcAft>
                <a:spcPts val="400"/>
              </a:spcAft>
            </a:pPr>
            <a:r>
              <a:rPr sz="1200" b="0" i="0"/>
              <a:t>every test clause is cited by a passing test</a:t>
            </a:r>
          </a:p>
        </p:txBody>
      </p:sp>
      <p:sp>
        <p:nvSpPr>
          <p:cNvPr id="12" name="TextBox 11"/>
          <p:cNvSpPr txBox="1"/>
          <p:nvPr/>
        </p:nvSpPr>
        <p:spPr>
          <a:xfrm>
            <a:off x="3566160" y="3611880"/>
            <a:ext cx="2606040" cy="457200"/>
          </a:xfrm>
          <a:prstGeom prst="rect">
            <a:avLst/>
          </a:prstGeom>
          <a:noFill/>
        </p:spPr>
        <p:txBody>
          <a:bodyPr wrap="square" lIns="45720" rIns="45720">
            <a:spAutoFit/>
          </a:bodyPr>
          <a:lstStyle/>
          <a:p>
            <a:pPr>
              <a:spcAft>
                <a:spcPts val="400"/>
              </a:spcAft>
            </a:pPr>
            <a:r>
              <a:rPr sz="1050" b="0" i="0">
                <a:solidFill>
                  <a:srgbClr val="595959"/>
                </a:solidFill>
                <a:latin typeface="Courier New"/>
              </a:rPr>
              <a:t>reports/conformance.md</a:t>
            </a:r>
          </a:p>
        </p:txBody>
      </p:sp>
      <p:sp>
        <p:nvSpPr>
          <p:cNvPr id="13" name="Rectangle 12"/>
          <p:cNvSpPr/>
          <p:nvPr/>
        </p:nvSpPr>
        <p:spPr>
          <a:xfrm>
            <a:off x="3566160" y="4114800"/>
            <a:ext cx="2606040" cy="457200"/>
          </a:xfrm>
          <a:prstGeom prst="rect">
            <a:avLst/>
          </a:prstGeom>
          <a:solidFill>
            <a:srgbClr val="FFF3B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100" b="0" i="0">
                <a:solidFill>
                  <a:srgbClr val="595959"/>
                </a:solidFill>
              </a:rPr>
              <a:t>decided by </a:t>
            </a:r>
            <a:r>
              <a:rPr sz="1100" b="1" i="0">
                <a:solidFill>
                  <a:srgbClr val="000000"/>
                </a:solidFill>
              </a:rPr>
              <a:t>program: the plugin</a:t>
            </a:r>
          </a:p>
        </p:txBody>
      </p:sp>
      <p:sp>
        <p:nvSpPr>
          <p:cNvPr id="14" name="Rectangle 13"/>
          <p:cNvSpPr/>
          <p:nvPr/>
        </p:nvSpPr>
        <p:spPr>
          <a:xfrm>
            <a:off x="6355079" y="1920240"/>
            <a:ext cx="2606040" cy="59436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300" b="1" i="0">
                <a:solidFill>
                  <a:srgbClr val="000000"/>
                </a:solidFill>
              </a:rPr>
              <a:t>3  Structural coverage</a:t>
            </a:r>
          </a:p>
        </p:txBody>
      </p:sp>
      <p:sp>
        <p:nvSpPr>
          <p:cNvPr id="15" name="TextBox 14"/>
          <p:cNvSpPr txBox="1"/>
          <p:nvPr/>
        </p:nvSpPr>
        <p:spPr>
          <a:xfrm>
            <a:off x="6355079" y="2606040"/>
            <a:ext cx="2606040" cy="1005840"/>
          </a:xfrm>
          <a:prstGeom prst="rect">
            <a:avLst/>
          </a:prstGeom>
          <a:noFill/>
        </p:spPr>
        <p:txBody>
          <a:bodyPr wrap="square" lIns="45720" rIns="45720">
            <a:spAutoFit/>
          </a:bodyPr>
          <a:lstStyle/>
          <a:p>
            <a:pPr>
              <a:spcAft>
                <a:spcPts val="400"/>
              </a:spcAft>
            </a:pPr>
            <a:r>
              <a:rPr sz="1200" b="0" i="0"/>
              <a:t>every branch of guard/ exercised</a:t>
            </a:r>
          </a:p>
        </p:txBody>
      </p:sp>
      <p:sp>
        <p:nvSpPr>
          <p:cNvPr id="16" name="TextBox 15"/>
          <p:cNvSpPr txBox="1"/>
          <p:nvPr/>
        </p:nvSpPr>
        <p:spPr>
          <a:xfrm>
            <a:off x="6355079" y="3611880"/>
            <a:ext cx="2606040" cy="457200"/>
          </a:xfrm>
          <a:prstGeom prst="rect">
            <a:avLst/>
          </a:prstGeom>
          <a:noFill/>
        </p:spPr>
        <p:txBody>
          <a:bodyPr wrap="square" lIns="45720" rIns="45720">
            <a:spAutoFit/>
          </a:bodyPr>
          <a:lstStyle/>
          <a:p>
            <a:pPr>
              <a:spcAft>
                <a:spcPts val="400"/>
              </a:spcAft>
            </a:pPr>
            <a:r>
              <a:rPr sz="1050" b="0" i="0">
                <a:solidFill>
                  <a:srgbClr val="595959"/>
                </a:solidFill>
                <a:latin typeface="Courier New"/>
              </a:rPr>
              <a:t>the coverage table</a:t>
            </a:r>
          </a:p>
        </p:txBody>
      </p:sp>
      <p:sp>
        <p:nvSpPr>
          <p:cNvPr id="17" name="Rectangle 16"/>
          <p:cNvSpPr/>
          <p:nvPr/>
        </p:nvSpPr>
        <p:spPr>
          <a:xfrm>
            <a:off x="6355079" y="4114800"/>
            <a:ext cx="2606040" cy="457200"/>
          </a:xfrm>
          <a:prstGeom prst="rect">
            <a:avLst/>
          </a:prstGeom>
          <a:solidFill>
            <a:srgbClr val="FFF3B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100" b="0" i="0">
                <a:solidFill>
                  <a:srgbClr val="595959"/>
                </a:solidFill>
              </a:rPr>
              <a:t>decided by </a:t>
            </a:r>
            <a:r>
              <a:rPr sz="1100" b="1" i="0">
                <a:solidFill>
                  <a:srgbClr val="000000"/>
                </a:solidFill>
              </a:rPr>
              <a:t>program: pytest-cov</a:t>
            </a:r>
          </a:p>
        </p:txBody>
      </p:sp>
      <p:sp>
        <p:nvSpPr>
          <p:cNvPr id="18" name="Rectangle 17"/>
          <p:cNvSpPr/>
          <p:nvPr/>
        </p:nvSpPr>
        <p:spPr>
          <a:xfrm>
            <a:off x="9143999" y="1920240"/>
            <a:ext cx="2606040" cy="59436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300" b="1" i="0">
                <a:solidFill>
                  <a:srgbClr val="000000"/>
                </a:solidFill>
              </a:rPr>
              <a:t>4  Judgment clauses walked</a:t>
            </a:r>
          </a:p>
        </p:txBody>
      </p:sp>
      <p:sp>
        <p:nvSpPr>
          <p:cNvPr id="19" name="TextBox 18"/>
          <p:cNvSpPr txBox="1"/>
          <p:nvPr/>
        </p:nvSpPr>
        <p:spPr>
          <a:xfrm>
            <a:off x="9143999" y="2606040"/>
            <a:ext cx="2606040" cy="1005840"/>
          </a:xfrm>
          <a:prstGeom prst="rect">
            <a:avLst/>
          </a:prstGeom>
          <a:noFill/>
        </p:spPr>
        <p:txBody>
          <a:bodyPr wrap="square" lIns="45720" rIns="45720">
            <a:spAutoFit/>
          </a:bodyPr>
          <a:lstStyle/>
          <a:p>
            <a:pPr>
              <a:spcAft>
                <a:spcPts val="400"/>
              </a:spcAft>
            </a:pPr>
            <a:r>
              <a:rPr sz="1200" b="0" i="0"/>
              <a:t>each story exercised by a person in its role</a:t>
            </a:r>
          </a:p>
        </p:txBody>
      </p:sp>
      <p:sp>
        <p:nvSpPr>
          <p:cNvPr id="20" name="TextBox 19"/>
          <p:cNvSpPr txBox="1"/>
          <p:nvPr/>
        </p:nvSpPr>
        <p:spPr>
          <a:xfrm>
            <a:off x="9143999" y="3611880"/>
            <a:ext cx="2606040" cy="457200"/>
          </a:xfrm>
          <a:prstGeom prst="rect">
            <a:avLst/>
          </a:prstGeom>
          <a:noFill/>
        </p:spPr>
        <p:txBody>
          <a:bodyPr wrap="square" lIns="45720" rIns="45720">
            <a:spAutoFit/>
          </a:bodyPr>
          <a:lstStyle/>
          <a:p>
            <a:pPr>
              <a:spcAft>
                <a:spcPts val="400"/>
              </a:spcAft>
            </a:pPr>
            <a:r>
              <a:rPr sz="1050" b="0" i="0">
                <a:solidFill>
                  <a:srgbClr val="595959"/>
                </a:solidFill>
                <a:latin typeface="Courier New"/>
              </a:rPr>
              <a:t>reports/walkthrough.md</a:t>
            </a:r>
          </a:p>
        </p:txBody>
      </p:sp>
      <p:sp>
        <p:nvSpPr>
          <p:cNvPr id="21" name="Rectangle 20"/>
          <p:cNvSpPr/>
          <p:nvPr/>
        </p:nvSpPr>
        <p:spPr>
          <a:xfrm>
            <a:off x="9143999" y="4114800"/>
            <a:ext cx="2606040" cy="457200"/>
          </a:xfrm>
          <a:prstGeom prst="rect">
            <a:avLst/>
          </a:prstGeom>
          <a:solidFill>
            <a:srgbClr val="FFF3B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100" b="0" i="0">
                <a:solidFill>
                  <a:srgbClr val="595959"/>
                </a:solidFill>
              </a:rPr>
              <a:t>decided by </a:t>
            </a:r>
            <a:r>
              <a:rPr sz="1100" b="1" i="0">
                <a:solidFill>
                  <a:srgbClr val="000000"/>
                </a:solidFill>
              </a:rPr>
              <a:t>a person</a:t>
            </a:r>
          </a:p>
        </p:txBody>
      </p:sp>
      <p:sp>
        <p:nvSpPr>
          <p:cNvPr id="22" name="TextBox 21"/>
          <p:cNvSpPr txBox="1"/>
          <p:nvPr/>
        </p:nvSpPr>
        <p:spPr>
          <a:xfrm>
            <a:off x="777240" y="4846320"/>
            <a:ext cx="10972800" cy="1371600"/>
          </a:xfrm>
          <a:prstGeom prst="rect">
            <a:avLst/>
          </a:prstGeom>
          <a:noFill/>
        </p:spPr>
        <p:txBody>
          <a:bodyPr wrap="square" lIns="45720" rIns="45720" tIns="27432" bIns="27432">
            <a:spAutoFit/>
          </a:bodyPr>
          <a:lstStyle/>
          <a:p>
            <a:pPr>
              <a:spcAft>
                <a:spcPts val="600"/>
              </a:spcAft>
            </a:pPr>
            <a:r>
              <a:rPr sz="1300" b="1" i="0">
                <a:solidFill>
                  <a:srgbClr val="990099"/>
                </a:solidFill>
              </a:rPr>
              <a:t>Three ways a green suite misleads</a:t>
            </a:r>
          </a:p>
          <a:p>
            <a:pPr marL="182880" indent="-182880">
              <a:spcAft>
                <a:spcPts val="400"/>
              </a:spcAft>
              <a:buChar char="•"/>
            </a:pPr>
            <a:r>
              <a:rPr sz="1250" b="0" i="0"/>
              <a:t>The suite may contain no test for a clause: green, and the clause is unverified (condition 2)</a:t>
            </a:r>
          </a:p>
          <a:p>
            <a:pPr marL="182880" indent="-182880">
              <a:spcAft>
                <a:spcPts val="400"/>
              </a:spcAft>
              <a:buChar char="•"/>
            </a:pPr>
            <a:r>
              <a:rPr sz="1250" b="0" i="0"/>
              <a:t>The tests may exercise only part of the code: the rest may do anything (condition 3)</a:t>
            </a:r>
          </a:p>
          <a:p>
            <a:pPr marL="182880" indent="-182880">
              <a:spcAft>
                <a:spcPts val="400"/>
              </a:spcAft>
              <a:buChar char="•"/>
            </a:pPr>
            <a:r>
              <a:rPr sz="1250" b="0" i="0"/>
              <a:t>The clauses no test can decide may simply be skipped (condition 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evidence: the conformance report and the coverage table</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28</a:t>
            </a:r>
          </a:p>
        </p:txBody>
      </p:sp>
      <p:graphicFrame>
        <p:nvGraphicFramePr>
          <p:cNvPr id="5" name="Table 4"/>
          <p:cNvGraphicFramePr>
            <a:graphicFrameLocks noGrp="1"/>
          </p:cNvGraphicFramePr>
          <p:nvPr/>
        </p:nvGraphicFramePr>
        <p:xfrm>
          <a:off x="777240" y="1325880"/>
          <a:ext cx="6675120" cy="2633472"/>
        </p:xfrm>
        <a:graphic>
          <a:graphicData uri="http://schemas.openxmlformats.org/drawingml/2006/table">
            <a:tbl>
              <a:tblPr firstRow="1" bandRow="1">
                <a:tableStyleId>{5C22544A-7EE6-4342-B048-85BDC9FD1C3A}</a:tableStyleId>
              </a:tblPr>
              <a:tblGrid>
                <a:gridCol w="822960"/>
                <a:gridCol w="1188720"/>
                <a:gridCol w="3200400"/>
                <a:gridCol w="1463040"/>
              </a:tblGrid>
              <a:tr h="329184">
                <a:tc>
                  <a:txBody>
                    <a:bodyPr wrap="square"/>
                    <a:lstStyle/>
                    <a:p>
                      <a:pPr>
                        <a:spcAft>
                          <a:spcPts val="0"/>
                        </a:spcAft>
                      </a:pPr>
                      <a:r>
                        <a:rPr sz="1100" b="1" i="0">
                          <a:solidFill>
                            <a:srgbClr val="FFFFFF"/>
                          </a:solidFill>
                        </a:rPr>
                        <a:t>Clause</a:t>
                      </a:r>
                    </a:p>
                  </a:txBody>
                  <a:tcPr marL="54864" marR="54864" marT="27432" marB="27432">
                    <a:solidFill>
                      <a:srgbClr val="6E1EC6"/>
                    </a:solidFill>
                  </a:tcPr>
                </a:tc>
                <a:tc>
                  <a:txBody>
                    <a:bodyPr wrap="square"/>
                    <a:lstStyle/>
                    <a:p>
                      <a:pPr>
                        <a:spcAft>
                          <a:spcPts val="0"/>
                        </a:spcAft>
                      </a:pPr>
                      <a:r>
                        <a:rPr sz="1100" b="1" i="0">
                          <a:solidFill>
                            <a:srgbClr val="FFFFFF"/>
                          </a:solidFill>
                        </a:rPr>
                        <a:t>Method</a:t>
                      </a:r>
                    </a:p>
                  </a:txBody>
                  <a:tcPr marL="54864" marR="54864" marT="27432" marB="27432">
                    <a:solidFill>
                      <a:srgbClr val="6E1EC6"/>
                    </a:solidFill>
                  </a:tcPr>
                </a:tc>
                <a:tc>
                  <a:txBody>
                    <a:bodyPr wrap="square"/>
                    <a:lstStyle/>
                    <a:p>
                      <a:pPr>
                        <a:spcAft>
                          <a:spcPts val="0"/>
                        </a:spcAft>
                      </a:pPr>
                      <a:r>
                        <a:rPr sz="1100" b="1" i="0">
                          <a:solidFill>
                            <a:srgbClr val="FFFFFF"/>
                          </a:solidFill>
                        </a:rPr>
                        <a:t>Tests citing it</a:t>
                      </a:r>
                    </a:p>
                  </a:txBody>
                  <a:tcPr marL="54864" marR="54864" marT="27432" marB="27432">
                    <a:solidFill>
                      <a:srgbClr val="6E1EC6"/>
                    </a:solidFill>
                  </a:tcPr>
                </a:tc>
                <a:tc>
                  <a:txBody>
                    <a:bodyPr wrap="square"/>
                    <a:lstStyle/>
                    <a:p>
                      <a:pPr>
                        <a:spcAft>
                          <a:spcPts val="0"/>
                        </a:spcAft>
                      </a:pPr>
                      <a:r>
                        <a:rPr sz="1100" b="1" i="0">
                          <a:solidFill>
                            <a:srgbClr val="FFFFFF"/>
                          </a:solidFill>
                        </a:rPr>
                        <a:t>Status</a:t>
                      </a:r>
                    </a:p>
                  </a:txBody>
                  <a:tcPr marL="54864" marR="54864" marT="27432" marB="27432">
                    <a:solidFill>
                      <a:srgbClr val="6E1EC6"/>
                    </a:solidFill>
                  </a:tcPr>
                </a:tc>
              </a:tr>
              <a:tr h="329184">
                <a:tc>
                  <a:txBody>
                    <a:bodyPr wrap="square"/>
                    <a:lstStyle/>
                    <a:p>
                      <a:pPr>
                        <a:spcAft>
                          <a:spcPts val="0"/>
                        </a:spcAft>
                      </a:pPr>
                      <a:r>
                        <a:rPr sz="1100" b="0" i="0">
                          <a:solidFill>
                            <a:srgbClr val="000000"/>
                          </a:solidFill>
                        </a:rPr>
                        <a:t>US-1</a:t>
                      </a:r>
                    </a:p>
                  </a:txBody>
                  <a:tcPr marL="54864" marR="54864" marT="27432" marB="27432">
                    <a:solidFill>
                      <a:srgbClr val="FFFFFF"/>
                    </a:solidFill>
                  </a:tcPr>
                </a:tc>
                <a:tc>
                  <a:txBody>
                    <a:bodyPr wrap="square"/>
                    <a:lstStyle/>
                    <a:p>
                      <a:pPr>
                        <a:spcAft>
                          <a:spcPts val="0"/>
                        </a:spcAft>
                      </a:pPr>
                      <a:r>
                        <a:rPr sz="1100" b="0" i="0">
                          <a:solidFill>
                            <a:srgbClr val="000000"/>
                          </a:solidFill>
                        </a:rPr>
                        <a:t>walkthrough</a:t>
                      </a:r>
                    </a:p>
                  </a:txBody>
                  <a:tcPr marL="54864" marR="54864" marT="27432" marB="27432">
                    <a:solidFill>
                      <a:srgbClr val="FFFFFF"/>
                    </a:solidFill>
                  </a:tcPr>
                </a:tc>
                <a:tc>
                  <a:txBody>
                    <a:bodyPr wrap="square"/>
                    <a:lstStyle/>
                    <a:p>
                      <a:pPr>
                        <a:spcAft>
                          <a:spcPts val="0"/>
                        </a:spcAft>
                      </a:pPr>
                      <a:r>
                        <a:rPr sz="1100" b="0" i="0">
                          <a:solidFill>
                            <a:srgbClr val="000000"/>
                          </a:solidFill>
                        </a:rPr>
                        <a:t>—</a:t>
                      </a:r>
                    </a:p>
                  </a:txBody>
                  <a:tcPr marL="54864" marR="54864" marT="27432" marB="27432">
                    <a:solidFill>
                      <a:srgbClr val="FFFFFF"/>
                    </a:solidFill>
                  </a:tcPr>
                </a:tc>
                <a:tc>
                  <a:txBody>
                    <a:bodyPr wrap="square"/>
                    <a:lstStyle/>
                    <a:p>
                      <a:pPr>
                        <a:spcAft>
                          <a:spcPts val="0"/>
                        </a:spcAft>
                      </a:pPr>
                      <a:r>
                        <a:rPr sz="1100" b="0" i="0">
                          <a:solidFill>
                            <a:srgbClr val="000000"/>
                          </a:solidFill>
                        </a:rPr>
                        <a:t>see walkthrough.md</a:t>
                      </a:r>
                    </a:p>
                  </a:txBody>
                  <a:tcPr marL="54864" marR="54864" marT="27432" marB="27432">
                    <a:solidFill>
                      <a:srgbClr val="FFFFFF"/>
                    </a:solidFill>
                  </a:tcPr>
                </a:tc>
              </a:tr>
              <a:tr h="329184">
                <a:tc>
                  <a:txBody>
                    <a:bodyPr wrap="square"/>
                    <a:lstStyle/>
                    <a:p>
                      <a:pPr>
                        <a:spcAft>
                          <a:spcPts val="0"/>
                        </a:spcAft>
                      </a:pPr>
                      <a:r>
                        <a:rPr sz="1100" b="0" i="0">
                          <a:solidFill>
                            <a:srgbClr val="000000"/>
                          </a:solidFill>
                        </a:rPr>
                        <a:t>US-2</a:t>
                      </a:r>
                    </a:p>
                  </a:txBody>
                  <a:tcPr marL="54864" marR="54864" marT="27432" marB="27432">
                    <a:solidFill>
                      <a:srgbClr val="F3F0F9"/>
                    </a:solidFill>
                  </a:tcPr>
                </a:tc>
                <a:tc>
                  <a:txBody>
                    <a:bodyPr wrap="square"/>
                    <a:lstStyle/>
                    <a:p>
                      <a:pPr>
                        <a:spcAft>
                          <a:spcPts val="0"/>
                        </a:spcAft>
                      </a:pPr>
                      <a:r>
                        <a:rPr sz="1100" b="0" i="0">
                          <a:solidFill>
                            <a:srgbClr val="000000"/>
                          </a:solidFill>
                        </a:rPr>
                        <a:t>walkthrough</a:t>
                      </a:r>
                    </a:p>
                  </a:txBody>
                  <a:tcPr marL="54864" marR="54864" marT="27432" marB="27432">
                    <a:solidFill>
                      <a:srgbClr val="F3F0F9"/>
                    </a:solidFill>
                  </a:tcPr>
                </a:tc>
                <a:tc>
                  <a:txBody>
                    <a:bodyPr wrap="square"/>
                    <a:lstStyle/>
                    <a:p>
                      <a:pPr>
                        <a:spcAft>
                          <a:spcPts val="0"/>
                        </a:spcAft>
                      </a:pPr>
                      <a:r>
                        <a:rPr sz="1100" b="0" i="0">
                          <a:solidFill>
                            <a:srgbClr val="000000"/>
                          </a:solidFill>
                        </a:rPr>
                        <a:t>—</a:t>
                      </a:r>
                    </a:p>
                  </a:txBody>
                  <a:tcPr marL="54864" marR="54864" marT="27432" marB="27432">
                    <a:solidFill>
                      <a:srgbClr val="F3F0F9"/>
                    </a:solidFill>
                  </a:tcPr>
                </a:tc>
                <a:tc>
                  <a:txBody>
                    <a:bodyPr wrap="square"/>
                    <a:lstStyle/>
                    <a:p>
                      <a:pPr>
                        <a:spcAft>
                          <a:spcPts val="0"/>
                        </a:spcAft>
                      </a:pPr>
                      <a:r>
                        <a:rPr sz="1100" b="0" i="0">
                          <a:solidFill>
                            <a:srgbClr val="000000"/>
                          </a:solidFill>
                        </a:rPr>
                        <a:t>see walkthrough.md</a:t>
                      </a:r>
                    </a:p>
                  </a:txBody>
                  <a:tcPr marL="54864" marR="54864" marT="27432" marB="27432">
                    <a:solidFill>
                      <a:srgbClr val="F3F0F9"/>
                    </a:solidFill>
                  </a:tcPr>
                </a:tc>
              </a:tr>
              <a:tr h="329184">
                <a:tc>
                  <a:txBody>
                    <a:bodyPr wrap="square"/>
                    <a:lstStyle/>
                    <a:p>
                      <a:pPr>
                        <a:spcAft>
                          <a:spcPts val="0"/>
                        </a:spcAft>
                      </a:pPr>
                      <a:r>
                        <a:rPr sz="1100" b="0" i="0">
                          <a:solidFill>
                            <a:srgbClr val="000000"/>
                          </a:solidFill>
                        </a:rPr>
                        <a:t>US-3</a:t>
                      </a:r>
                    </a:p>
                  </a:txBody>
                  <a:tcPr marL="54864" marR="54864" marT="27432" marB="27432">
                    <a:solidFill>
                      <a:srgbClr val="FFFFFF"/>
                    </a:solidFill>
                  </a:tcPr>
                </a:tc>
                <a:tc>
                  <a:txBody>
                    <a:bodyPr wrap="square"/>
                    <a:lstStyle/>
                    <a:p>
                      <a:pPr>
                        <a:spcAft>
                          <a:spcPts val="0"/>
                        </a:spcAft>
                      </a:pPr>
                      <a:r>
                        <a:rPr sz="1100" b="0" i="0">
                          <a:solidFill>
                            <a:srgbClr val="000000"/>
                          </a:solidFill>
                        </a:rPr>
                        <a:t>walkthrough</a:t>
                      </a:r>
                    </a:p>
                  </a:txBody>
                  <a:tcPr marL="54864" marR="54864" marT="27432" marB="27432">
                    <a:solidFill>
                      <a:srgbClr val="FFFFFF"/>
                    </a:solidFill>
                  </a:tcPr>
                </a:tc>
                <a:tc>
                  <a:txBody>
                    <a:bodyPr wrap="square"/>
                    <a:lstStyle/>
                    <a:p>
                      <a:pPr>
                        <a:spcAft>
                          <a:spcPts val="0"/>
                        </a:spcAft>
                      </a:pPr>
                      <a:r>
                        <a:rPr sz="1100" b="0" i="0">
                          <a:solidFill>
                            <a:srgbClr val="000000"/>
                          </a:solidFill>
                        </a:rPr>
                        <a:t>—</a:t>
                      </a:r>
                    </a:p>
                  </a:txBody>
                  <a:tcPr marL="54864" marR="54864" marT="27432" marB="27432">
                    <a:solidFill>
                      <a:srgbClr val="FFFFFF"/>
                    </a:solidFill>
                  </a:tcPr>
                </a:tc>
                <a:tc>
                  <a:txBody>
                    <a:bodyPr wrap="square"/>
                    <a:lstStyle/>
                    <a:p>
                      <a:pPr>
                        <a:spcAft>
                          <a:spcPts val="0"/>
                        </a:spcAft>
                      </a:pPr>
                      <a:r>
                        <a:rPr sz="1100" b="0" i="0">
                          <a:solidFill>
                            <a:srgbClr val="000000"/>
                          </a:solidFill>
                        </a:rPr>
                        <a:t>see walkthrough.md</a:t>
                      </a:r>
                    </a:p>
                  </a:txBody>
                  <a:tcPr marL="54864" marR="54864" marT="27432" marB="27432">
                    <a:solidFill>
                      <a:srgbClr val="FFFFFF"/>
                    </a:solidFill>
                  </a:tcPr>
                </a:tc>
              </a:tr>
              <a:tr h="329184">
                <a:tc>
                  <a:txBody>
                    <a:bodyPr wrap="square"/>
                    <a:lstStyle/>
                    <a:p>
                      <a:pPr>
                        <a:spcAft>
                          <a:spcPts val="0"/>
                        </a:spcAft>
                      </a:pPr>
                      <a:r>
                        <a:rPr sz="1100" b="0" i="0">
                          <a:solidFill>
                            <a:srgbClr val="000000"/>
                          </a:solidFill>
                        </a:rPr>
                        <a:t>REQ-0</a:t>
                      </a:r>
                    </a:p>
                  </a:txBody>
                  <a:tcPr marL="54864" marR="54864" marT="27432" marB="27432">
                    <a:solidFill>
                      <a:srgbClr val="F3F0F9"/>
                    </a:solidFill>
                  </a:tcPr>
                </a:tc>
                <a:tc>
                  <a:txBody>
                    <a:bodyPr wrap="square"/>
                    <a:lstStyle/>
                    <a:p>
                      <a:pPr>
                        <a:spcAft>
                          <a:spcPts val="0"/>
                        </a:spcAft>
                      </a:pPr>
                      <a:r>
                        <a:rPr sz="1100" b="0" i="0">
                          <a:solidFill>
                            <a:srgbClr val="000000"/>
                          </a:solidFill>
                        </a:rPr>
                        <a:t>test</a:t>
                      </a:r>
                    </a:p>
                  </a:txBody>
                  <a:tcPr marL="54864" marR="54864" marT="27432" marB="27432">
                    <a:solidFill>
                      <a:srgbClr val="F3F0F9"/>
                    </a:solidFill>
                  </a:tcPr>
                </a:tc>
                <a:tc>
                  <a:txBody>
                    <a:bodyPr wrap="square"/>
                    <a:lstStyle/>
                    <a:p>
                      <a:pPr>
                        <a:spcAft>
                          <a:spcPts val="0"/>
                        </a:spcAft>
                      </a:pPr>
                      <a:r>
                        <a:rPr sz="1100" b="0" i="0">
                          <a:solidFill>
                            <a:srgbClr val="000000"/>
                          </a:solidFill>
                        </a:rPr>
                        <a:t>five tests in test_message.py</a:t>
                      </a:r>
                    </a:p>
                  </a:txBody>
                  <a:tcPr marL="54864" marR="54864" marT="27432" marB="27432">
                    <a:solidFill>
                      <a:srgbClr val="F3F0F9"/>
                    </a:solidFill>
                  </a:tcPr>
                </a:tc>
                <a:tc>
                  <a:txBody>
                    <a:bodyPr wrap="square"/>
                    <a:lstStyle/>
                    <a:p>
                      <a:pPr>
                        <a:spcAft>
                          <a:spcPts val="0"/>
                        </a:spcAft>
                      </a:pPr>
                      <a:r>
                        <a:rPr sz="1100" b="1" i="0">
                          <a:solidFill>
                            <a:srgbClr val="2E7D32"/>
                          </a:solidFill>
                        </a:rPr>
                        <a:t>pass</a:t>
                      </a:r>
                    </a:p>
                  </a:txBody>
                  <a:tcPr marL="54864" marR="54864" marT="27432" marB="27432">
                    <a:solidFill>
                      <a:srgbClr val="F3F0F9"/>
                    </a:solidFill>
                  </a:tcPr>
                </a:tc>
              </a:tr>
              <a:tr h="329184">
                <a:tc>
                  <a:txBody>
                    <a:bodyPr wrap="square"/>
                    <a:lstStyle/>
                    <a:p>
                      <a:pPr>
                        <a:spcAft>
                          <a:spcPts val="0"/>
                        </a:spcAft>
                      </a:pPr>
                      <a:r>
                        <a:rPr sz="1100" b="0" i="0">
                          <a:solidFill>
                            <a:srgbClr val="000000"/>
                          </a:solidFill>
                        </a:rPr>
                        <a:t>REQ-1</a:t>
                      </a:r>
                    </a:p>
                  </a:txBody>
                  <a:tcPr marL="54864" marR="54864" marT="27432" marB="27432">
                    <a:solidFill>
                      <a:srgbClr val="FFFFFF"/>
                    </a:solidFill>
                  </a:tcPr>
                </a:tc>
                <a:tc>
                  <a:txBody>
                    <a:bodyPr wrap="square"/>
                    <a:lstStyle/>
                    <a:p>
                      <a:pPr>
                        <a:spcAft>
                          <a:spcPts val="0"/>
                        </a:spcAft>
                      </a:pPr>
                      <a:r>
                        <a:rPr sz="1100" b="0" i="0">
                          <a:solidFill>
                            <a:srgbClr val="000000"/>
                          </a:solidFill>
                        </a:rPr>
                        <a:t>test</a:t>
                      </a:r>
                    </a:p>
                  </a:txBody>
                  <a:tcPr marL="54864" marR="54864" marT="27432" marB="27432">
                    <a:solidFill>
                      <a:srgbClr val="FFFFFF"/>
                    </a:solidFill>
                  </a:tcPr>
                </a:tc>
                <a:tc>
                  <a:txBody>
                    <a:bodyPr wrap="square"/>
                    <a:lstStyle/>
                    <a:p>
                      <a:pPr>
                        <a:spcAft>
                          <a:spcPts val="0"/>
                        </a:spcAft>
                      </a:pPr>
                      <a:r>
                        <a:rPr sz="1100" b="0" i="0">
                          <a:solidFill>
                            <a:srgbClr val="000000"/>
                          </a:solidFill>
                        </a:rPr>
                        <a:t>test_critical_is_dropped[0], [100], [-5]</a:t>
                      </a:r>
                    </a:p>
                  </a:txBody>
                  <a:tcPr marL="54864" marR="54864" marT="27432" marB="27432">
                    <a:solidFill>
                      <a:srgbClr val="FFFFFF"/>
                    </a:solidFill>
                  </a:tcPr>
                </a:tc>
                <a:tc>
                  <a:txBody>
                    <a:bodyPr wrap="square"/>
                    <a:lstStyle/>
                    <a:p>
                      <a:pPr>
                        <a:spcAft>
                          <a:spcPts val="0"/>
                        </a:spcAft>
                      </a:pPr>
                      <a:r>
                        <a:rPr sz="1100" b="1" i="0">
                          <a:solidFill>
                            <a:srgbClr val="2E7D32"/>
                          </a:solidFill>
                        </a:rPr>
                        <a:t>pass</a:t>
                      </a:r>
                    </a:p>
                  </a:txBody>
                  <a:tcPr marL="54864" marR="54864" marT="27432" marB="27432">
                    <a:solidFill>
                      <a:srgbClr val="FFFFFF"/>
                    </a:solidFill>
                  </a:tcPr>
                </a:tc>
              </a:tr>
              <a:tr h="329184">
                <a:tc>
                  <a:txBody>
                    <a:bodyPr wrap="square"/>
                    <a:lstStyle/>
                    <a:p>
                      <a:pPr>
                        <a:spcAft>
                          <a:spcPts val="0"/>
                        </a:spcAft>
                      </a:pPr>
                      <a:r>
                        <a:rPr sz="1100" b="0" i="0">
                          <a:solidFill>
                            <a:srgbClr val="000000"/>
                          </a:solidFill>
                        </a:rPr>
                        <a:t>REQ-2</a:t>
                      </a:r>
                    </a:p>
                  </a:txBody>
                  <a:tcPr marL="54864" marR="54864" marT="27432" marB="27432">
                    <a:solidFill>
                      <a:srgbClr val="F3F0F9"/>
                    </a:solidFill>
                  </a:tcPr>
                </a:tc>
                <a:tc>
                  <a:txBody>
                    <a:bodyPr wrap="square"/>
                    <a:lstStyle/>
                    <a:p>
                      <a:pPr>
                        <a:spcAft>
                          <a:spcPts val="0"/>
                        </a:spcAft>
                      </a:pPr>
                      <a:r>
                        <a:rPr sz="1100" b="0" i="0">
                          <a:solidFill>
                            <a:srgbClr val="000000"/>
                          </a:solidFill>
                        </a:rPr>
                        <a:t>test</a:t>
                      </a:r>
                    </a:p>
                  </a:txBody>
                  <a:tcPr marL="54864" marR="54864" marT="27432" marB="27432">
                    <a:solidFill>
                      <a:srgbClr val="F3F0F9"/>
                    </a:solidFill>
                  </a:tcPr>
                </a:tc>
                <a:tc>
                  <a:txBody>
                    <a:bodyPr wrap="square"/>
                    <a:lstStyle/>
                    <a:p>
                      <a:pPr>
                        <a:spcAft>
                          <a:spcPts val="0"/>
                        </a:spcAft>
                      </a:pPr>
                      <a:r>
                        <a:rPr sz="1100" b="0" i="0">
                          <a:solidFill>
                            <a:srgbClr val="000000"/>
                          </a:solidFill>
                        </a:rPr>
                        <a:t>test_restricted_passes_unchanged</a:t>
                      </a:r>
                    </a:p>
                  </a:txBody>
                  <a:tcPr marL="54864" marR="54864" marT="27432" marB="27432">
                    <a:solidFill>
                      <a:srgbClr val="F3F0F9"/>
                    </a:solidFill>
                  </a:tcPr>
                </a:tc>
                <a:tc>
                  <a:txBody>
                    <a:bodyPr wrap="square"/>
                    <a:lstStyle/>
                    <a:p>
                      <a:pPr>
                        <a:spcAft>
                          <a:spcPts val="0"/>
                        </a:spcAft>
                      </a:pPr>
                      <a:r>
                        <a:rPr sz="1100" b="1" i="0">
                          <a:solidFill>
                            <a:srgbClr val="2E7D32"/>
                          </a:solidFill>
                        </a:rPr>
                        <a:t>pass</a:t>
                      </a:r>
                    </a:p>
                  </a:txBody>
                  <a:tcPr marL="54864" marR="54864" marT="27432" marB="27432">
                    <a:solidFill>
                      <a:srgbClr val="F3F0F9"/>
                    </a:solidFill>
                  </a:tcPr>
                </a:tc>
              </a:tr>
              <a:tr h="329184">
                <a:tc>
                  <a:txBody>
                    <a:bodyPr wrap="square"/>
                    <a:lstStyle/>
                    <a:p>
                      <a:pPr>
                        <a:spcAft>
                          <a:spcPts val="0"/>
                        </a:spcAft>
                      </a:pPr>
                      <a:r>
                        <a:rPr sz="1100" b="0" i="0">
                          <a:solidFill>
                            <a:srgbClr val="000000"/>
                          </a:solidFill>
                        </a:rPr>
                        <a:t>REQ-3</a:t>
                      </a:r>
                    </a:p>
                  </a:txBody>
                  <a:tcPr marL="54864" marR="54864" marT="27432" marB="27432">
                    <a:solidFill>
                      <a:srgbClr val="FFFFFF"/>
                    </a:solidFill>
                  </a:tcPr>
                </a:tc>
                <a:tc>
                  <a:txBody>
                    <a:bodyPr wrap="square"/>
                    <a:lstStyle/>
                    <a:p>
                      <a:pPr>
                        <a:spcAft>
                          <a:spcPts val="0"/>
                        </a:spcAft>
                      </a:pPr>
                      <a:r>
                        <a:rPr sz="1100" b="0" i="0">
                          <a:solidFill>
                            <a:srgbClr val="000000"/>
                          </a:solidFill>
                        </a:rPr>
                        <a:t>test</a:t>
                      </a:r>
                    </a:p>
                  </a:txBody>
                  <a:tcPr marL="54864" marR="54864" marT="27432" marB="27432">
                    <a:solidFill>
                      <a:srgbClr val="FFFFFF"/>
                    </a:solidFill>
                  </a:tcPr>
                </a:tc>
                <a:tc>
                  <a:txBody>
                    <a:bodyPr wrap="square"/>
                    <a:lstStyle/>
                    <a:p>
                      <a:pPr>
                        <a:spcAft>
                          <a:spcPts val="0"/>
                        </a:spcAft>
                      </a:pPr>
                      <a:r>
                        <a:rPr sz="1100" b="0" i="0">
                          <a:solidFill>
                            <a:srgbClr val="000000"/>
                          </a:solidFill>
                        </a:rPr>
                        <a:t>test_public_passes_unchanged</a:t>
                      </a:r>
                    </a:p>
                  </a:txBody>
                  <a:tcPr marL="54864" marR="54864" marT="27432" marB="27432">
                    <a:solidFill>
                      <a:srgbClr val="FFFFFF"/>
                    </a:solidFill>
                  </a:tcPr>
                </a:tc>
                <a:tc>
                  <a:txBody>
                    <a:bodyPr wrap="square"/>
                    <a:lstStyle/>
                    <a:p>
                      <a:pPr>
                        <a:spcAft>
                          <a:spcPts val="0"/>
                        </a:spcAft>
                      </a:pPr>
                      <a:r>
                        <a:rPr sz="1100" b="1" i="0">
                          <a:solidFill>
                            <a:srgbClr val="2E7D32"/>
                          </a:solidFill>
                        </a:rPr>
                        <a:t>pass</a:t>
                      </a:r>
                    </a:p>
                  </a:txBody>
                  <a:tcPr marL="54864" marR="54864" marT="27432" marB="27432">
                    <a:solidFill>
                      <a:srgbClr val="FFFFFF"/>
                    </a:solidFill>
                  </a:tcPr>
                </a:tc>
              </a:tr>
            </a:tbl>
          </a:graphicData>
        </a:graphic>
      </p:graphicFrame>
      <p:sp>
        <p:nvSpPr>
          <p:cNvPr id="6" name="TextBox 5"/>
          <p:cNvSpPr txBox="1"/>
          <p:nvPr/>
        </p:nvSpPr>
        <p:spPr>
          <a:xfrm>
            <a:off x="777240" y="4023360"/>
            <a:ext cx="6675120" cy="457200"/>
          </a:xfrm>
          <a:prstGeom prst="rect">
            <a:avLst/>
          </a:prstGeom>
          <a:noFill/>
        </p:spPr>
        <p:txBody>
          <a:bodyPr wrap="square" lIns="45720" rIns="45720">
            <a:spAutoFit/>
          </a:bodyPr>
          <a:lstStyle/>
          <a:p>
            <a:pPr>
              <a:spcAft>
                <a:spcPts val="400"/>
              </a:spcAft>
            </a:pPr>
            <a:r>
              <a:rPr sz="1050" b="0" i="0">
                <a:solidFill>
                  <a:srgbClr val="595959"/>
                </a:solidFill>
              </a:rPr>
              <a:t>reports/conformance.md — Requirements coverage: 4 of 4 test clauses have passing evidence. Unknown identifiers: none.</a:t>
            </a:r>
          </a:p>
        </p:txBody>
      </p:sp>
      <p:sp>
        <p:nvSpPr>
          <p:cNvPr id="7" name="TextBox 6"/>
          <p:cNvSpPr txBox="1"/>
          <p:nvPr/>
        </p:nvSpPr>
        <p:spPr>
          <a:xfrm>
            <a:off x="7680960" y="1325880"/>
            <a:ext cx="4114800" cy="1371600"/>
          </a:xfrm>
          <a:prstGeom prst="rect">
            <a:avLst/>
          </a:prstGeom>
          <a:solidFill>
            <a:srgbClr val="F2F2F2"/>
          </a:solidFill>
          <a:ln w="12700">
            <a:solidFill>
              <a:srgbClr val="BFBFBF"/>
            </a:solidFill>
          </a:ln>
        </p:spPr>
        <p:txBody>
          <a:bodyPr wrap="square" tIns="91440" bIns="91440">
            <a:spAutoFit/>
          </a:bodyPr>
          <a:lstStyle/>
          <a:p>
            <a:pPr>
              <a:spcAft>
                <a:spcPts val="0"/>
              </a:spcAft>
            </a:pPr>
            <a:r>
              <a:rPr sz="950" b="0" i="0">
                <a:latin typeface="Courier New"/>
              </a:rPr>
              <a:t>Name              Stmts Miss Branch BrPart Cover</a:t>
            </a:r>
          </a:p>
          <a:p>
            <a:pPr>
              <a:spcAft>
                <a:spcPts val="0"/>
              </a:spcAft>
            </a:pPr>
            <a:r>
              <a:rPr sz="950" b="0" i="0">
                <a:latin typeface="Courier New"/>
              </a:rPr>
              <a:t>guard/__init__.py     3    0      0      0  100%</a:t>
            </a:r>
          </a:p>
          <a:p>
            <a:pPr>
              <a:spcAft>
                <a:spcPts val="0"/>
              </a:spcAft>
            </a:pPr>
            <a:r>
              <a:rPr sz="950" b="0" i="0">
                <a:latin typeface="Courier New"/>
              </a:rPr>
              <a:t>guard/filter.py       5    0      2      0  100%</a:t>
            </a:r>
          </a:p>
          <a:p>
            <a:pPr>
              <a:spcAft>
                <a:spcPts val="0"/>
              </a:spcAft>
            </a:pPr>
            <a:r>
              <a:rPr sz="950" b="0" i="0">
                <a:latin typeface="Courier New"/>
              </a:rPr>
              <a:t>guard/message.py     13    0      4      0  100%</a:t>
            </a:r>
          </a:p>
          <a:p>
            <a:pPr>
              <a:spcAft>
                <a:spcPts val="0"/>
              </a:spcAft>
            </a:pPr>
            <a:r>
              <a:rPr sz="950" b="0" i="0">
                <a:latin typeface="Courier New"/>
              </a:rPr>
              <a:t>TOTAL                21    0      6      0  100%</a:t>
            </a:r>
          </a:p>
        </p:txBody>
      </p:sp>
      <p:sp>
        <p:nvSpPr>
          <p:cNvPr id="8" name="TextBox 7"/>
          <p:cNvSpPr txBox="1"/>
          <p:nvPr/>
        </p:nvSpPr>
        <p:spPr>
          <a:xfrm>
            <a:off x="7680960" y="2743200"/>
            <a:ext cx="4114800" cy="457200"/>
          </a:xfrm>
          <a:prstGeom prst="rect">
            <a:avLst/>
          </a:prstGeom>
          <a:noFill/>
        </p:spPr>
        <p:txBody>
          <a:bodyPr wrap="square" lIns="45720" rIns="45720">
            <a:spAutoFit/>
          </a:bodyPr>
          <a:lstStyle/>
          <a:p>
            <a:pPr>
              <a:spcAft>
                <a:spcPts val="400"/>
              </a:spcAft>
            </a:pPr>
            <a:r>
              <a:rPr sz="1050" b="0" i="0">
                <a:solidFill>
                  <a:srgbClr val="595959"/>
                </a:solidFill>
              </a:rPr>
              <a:t>pytest-cov: branch coverage; the run fails below 100 percent</a:t>
            </a:r>
          </a:p>
        </p:txBody>
      </p:sp>
      <p:sp>
        <p:nvSpPr>
          <p:cNvPr id="9" name="TextBox 8"/>
          <p:cNvSpPr txBox="1"/>
          <p:nvPr/>
        </p:nvSpPr>
        <p:spPr>
          <a:xfrm>
            <a:off x="777240" y="4572000"/>
            <a:ext cx="10972800" cy="1737360"/>
          </a:xfrm>
          <a:prstGeom prst="rect">
            <a:avLst/>
          </a:prstGeom>
          <a:noFill/>
        </p:spPr>
        <p:txBody>
          <a:bodyPr wrap="square" lIns="45720" rIns="45720" tIns="27432" bIns="27432">
            <a:spAutoFit/>
          </a:bodyPr>
          <a:lstStyle/>
          <a:p>
            <a:pPr marL="182880" indent="-182880">
              <a:spcAft>
                <a:spcPts val="500"/>
              </a:spcAft>
              <a:buChar char="•"/>
            </a:pPr>
            <a:r>
              <a:rPr sz="1250" b="0" i="0"/>
              <a:t>Requirements coverage is a coverage measure over the specification, as branch coverage is one over the code</a:t>
            </a:r>
          </a:p>
          <a:p>
            <a:pPr marL="182880" indent="-182880">
              <a:spcAft>
                <a:spcPts val="500"/>
              </a:spcAft>
              <a:buChar char="•"/>
            </a:pPr>
            <a:r>
              <a:rPr sz="1250" b="0" i="0"/>
              <a:t>Branch coverage is not strong: every branch was taken by some test, not that the test checked anything useful there; but a branch no test took is a place where the code can do anything unnoticed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Who decided: the walkthroughs, and three kinds of verifier</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29</a:t>
            </a:r>
          </a:p>
        </p:txBody>
      </p:sp>
      <p:graphicFrame>
        <p:nvGraphicFramePr>
          <p:cNvPr id="5" name="Table 4"/>
          <p:cNvGraphicFramePr>
            <a:graphicFrameLocks noGrp="1"/>
          </p:cNvGraphicFramePr>
          <p:nvPr/>
        </p:nvGraphicFramePr>
        <p:xfrm>
          <a:off x="777240" y="1325880"/>
          <a:ext cx="11018520" cy="1316736"/>
        </p:xfrm>
        <a:graphic>
          <a:graphicData uri="http://schemas.openxmlformats.org/drawingml/2006/table">
            <a:tbl>
              <a:tblPr firstRow="1" bandRow="1">
                <a:tableStyleId>{5C22544A-7EE6-4342-B048-85BDC9FD1C3A}</a:tableStyleId>
              </a:tblPr>
              <a:tblGrid>
                <a:gridCol w="822960"/>
                <a:gridCol w="1554480"/>
                <a:gridCol w="3840480"/>
                <a:gridCol w="2103120"/>
                <a:gridCol w="2697480"/>
              </a:tblGrid>
              <a:tr h="329184">
                <a:tc>
                  <a:txBody>
                    <a:bodyPr wrap="square"/>
                    <a:lstStyle/>
                    <a:p>
                      <a:pPr>
                        <a:spcAft>
                          <a:spcPts val="0"/>
                        </a:spcAft>
                      </a:pPr>
                      <a:r>
                        <a:rPr sz="1150" b="1" i="0">
                          <a:solidFill>
                            <a:srgbClr val="FFFFFF"/>
                          </a:solidFill>
                        </a:rPr>
                        <a:t>Clause</a:t>
                      </a:r>
                    </a:p>
                  </a:txBody>
                  <a:tcPr marL="54864" marR="54864" marT="27432" marB="27432">
                    <a:solidFill>
                      <a:srgbClr val="6E1EC6"/>
                    </a:solidFill>
                  </a:tcPr>
                </a:tc>
                <a:tc>
                  <a:txBody>
                    <a:bodyPr wrap="square"/>
                    <a:lstStyle/>
                    <a:p>
                      <a:pPr>
                        <a:spcAft>
                          <a:spcPts val="0"/>
                        </a:spcAft>
                      </a:pPr>
                      <a:r>
                        <a:rPr sz="1150" b="1" i="0">
                          <a:solidFill>
                            <a:srgbClr val="FFFFFF"/>
                          </a:solidFill>
                        </a:rPr>
                        <a:t>Role</a:t>
                      </a:r>
                    </a:p>
                  </a:txBody>
                  <a:tcPr marL="54864" marR="54864" marT="27432" marB="27432">
                    <a:solidFill>
                      <a:srgbClr val="6E1EC6"/>
                    </a:solidFill>
                  </a:tcPr>
                </a:tc>
                <a:tc>
                  <a:txBody>
                    <a:bodyPr wrap="square"/>
                    <a:lstStyle/>
                    <a:p>
                      <a:pPr>
                        <a:spcAft>
                          <a:spcPts val="0"/>
                        </a:spcAft>
                      </a:pPr>
                      <a:r>
                        <a:rPr sz="1150" b="1" i="0">
                          <a:solidFill>
                            <a:srgbClr val="FFFFFF"/>
                          </a:solidFill>
                        </a:rPr>
                        <a:t>Command</a:t>
                      </a:r>
                    </a:p>
                  </a:txBody>
                  <a:tcPr marL="54864" marR="54864" marT="27432" marB="27432">
                    <a:solidFill>
                      <a:srgbClr val="6E1EC6"/>
                    </a:solidFill>
                  </a:tcPr>
                </a:tc>
                <a:tc>
                  <a:txBody>
                    <a:bodyPr wrap="square"/>
                    <a:lstStyle/>
                    <a:p>
                      <a:pPr>
                        <a:spcAft>
                          <a:spcPts val="0"/>
                        </a:spcAft>
                      </a:pPr>
                      <a:r>
                        <a:rPr sz="1150" b="1" i="0">
                          <a:solidFill>
                            <a:srgbClr val="FFFFFF"/>
                          </a:solidFill>
                        </a:rPr>
                        <a:t>Observed</a:t>
                      </a:r>
                    </a:p>
                  </a:txBody>
                  <a:tcPr marL="54864" marR="54864" marT="27432" marB="27432">
                    <a:solidFill>
                      <a:srgbClr val="6E1EC6"/>
                    </a:solidFill>
                  </a:tcPr>
                </a:tc>
                <a:tc>
                  <a:txBody>
                    <a:bodyPr wrap="square"/>
                    <a:lstStyle/>
                    <a:p>
                      <a:pPr>
                        <a:spcAft>
                          <a:spcPts val="0"/>
                        </a:spcAft>
                      </a:pPr>
                      <a:r>
                        <a:rPr sz="1150" b="1" i="0">
                          <a:solidFill>
                            <a:srgbClr val="FFFFFF"/>
                          </a:solidFill>
                        </a:rPr>
                        <a:t>Finding</a:t>
                      </a:r>
                    </a:p>
                  </a:txBody>
                  <a:tcPr marL="54864" marR="54864" marT="27432" marB="27432">
                    <a:solidFill>
                      <a:srgbClr val="6E1EC6"/>
                    </a:solidFill>
                  </a:tcPr>
                </a:tc>
              </a:tr>
              <a:tr h="329184">
                <a:tc>
                  <a:txBody>
                    <a:bodyPr wrap="square"/>
                    <a:lstStyle/>
                    <a:p>
                      <a:pPr>
                        <a:spcAft>
                          <a:spcPts val="0"/>
                        </a:spcAft>
                      </a:pPr>
                      <a:r>
                        <a:rPr sz="1150" b="0" i="0">
                          <a:solidFill>
                            <a:srgbClr val="000000"/>
                          </a:solidFill>
                        </a:rPr>
                        <a:t>US-1</a:t>
                      </a:r>
                    </a:p>
                  </a:txBody>
                  <a:tcPr marL="54864" marR="54864" marT="27432" marB="27432">
                    <a:solidFill>
                      <a:srgbClr val="FFFFFF"/>
                    </a:solidFill>
                  </a:tcPr>
                </a:tc>
                <a:tc>
                  <a:txBody>
                    <a:bodyPr wrap="square"/>
                    <a:lstStyle/>
                    <a:p>
                      <a:pPr>
                        <a:spcAft>
                          <a:spcPts val="0"/>
                        </a:spcAft>
                      </a:pPr>
                      <a:r>
                        <a:rPr sz="1150" b="0" i="0">
                          <a:solidFill>
                            <a:srgbClr val="000000"/>
                          </a:solidFill>
                        </a:rPr>
                        <a:t>message sender</a:t>
                      </a:r>
                    </a:p>
                  </a:txBody>
                  <a:tcPr marL="54864" marR="54864" marT="27432" marB="27432">
                    <a:solidFill>
                      <a:srgbClr val="FFFFFF"/>
                    </a:solidFill>
                  </a:tcPr>
                </a:tc>
                <a:tc>
                  <a:txBody>
                    <a:bodyPr wrap="square"/>
                    <a:lstStyle/>
                    <a:p>
                      <a:pPr>
                        <a:spcAft>
                          <a:spcPts val="0"/>
                        </a:spcAft>
                      </a:pPr>
                      <a:r>
                        <a:rPr sz="1150" b="0" i="0">
                          <a:solidFill>
                            <a:srgbClr val="000000"/>
                          </a:solidFill>
                        </a:rPr>
                        <a:t>tools/walk.py Public 42</a:t>
                      </a:r>
                    </a:p>
                  </a:txBody>
                  <a:tcPr marL="54864" marR="54864" marT="27432" marB="27432">
                    <a:solidFill>
                      <a:srgbClr val="FFFFFF"/>
                    </a:solidFill>
                  </a:tcPr>
                </a:tc>
                <a:tc>
                  <a:txBody>
                    <a:bodyPr wrap="square"/>
                    <a:lstStyle/>
                    <a:p>
                      <a:pPr>
                        <a:spcAft>
                          <a:spcPts val="0"/>
                        </a:spcAft>
                      </a:pPr>
                      <a:r>
                        <a:rPr sz="1150" b="0" i="0">
                          <a:solidFill>
                            <a:srgbClr val="000000"/>
                          </a:solidFill>
                        </a:rPr>
                        <a:t>pass: Public 42</a:t>
                      </a:r>
                    </a:p>
                  </a:txBody>
                  <a:tcPr marL="54864" marR="54864" marT="27432" marB="27432">
                    <a:solidFill>
                      <a:srgbClr val="FFFFFF"/>
                    </a:solidFill>
                  </a:tcPr>
                </a:tc>
                <a:tc>
                  <a:txBody>
                    <a:bodyPr wrap="square"/>
                    <a:lstStyle/>
                    <a:p>
                      <a:pPr>
                        <a:spcAft>
                          <a:spcPts val="0"/>
                        </a:spcAft>
                      </a:pPr>
                      <a:r>
                        <a:rPr sz="1150" b="0" i="0">
                          <a:solidFill>
                            <a:srgbClr val="000000"/>
                          </a:solidFill>
                        </a:rPr>
                        <a:t>as the story expects</a:t>
                      </a:r>
                    </a:p>
                  </a:txBody>
                  <a:tcPr marL="54864" marR="54864" marT="27432" marB="27432">
                    <a:solidFill>
                      <a:srgbClr val="FFFFFF"/>
                    </a:solidFill>
                  </a:tcPr>
                </a:tc>
              </a:tr>
              <a:tr h="329184">
                <a:tc>
                  <a:txBody>
                    <a:bodyPr wrap="square"/>
                    <a:lstStyle/>
                    <a:p>
                      <a:pPr>
                        <a:spcAft>
                          <a:spcPts val="0"/>
                        </a:spcAft>
                      </a:pPr>
                      <a:r>
                        <a:rPr sz="1150" b="0" i="0">
                          <a:solidFill>
                            <a:srgbClr val="000000"/>
                          </a:solidFill>
                        </a:rPr>
                        <a:t>US-2</a:t>
                      </a:r>
                    </a:p>
                  </a:txBody>
                  <a:tcPr marL="54864" marR="54864" marT="27432" marB="27432">
                    <a:solidFill>
                      <a:srgbClr val="F3F0F9"/>
                    </a:solidFill>
                  </a:tcPr>
                </a:tc>
                <a:tc>
                  <a:txBody>
                    <a:bodyPr wrap="square"/>
                    <a:lstStyle/>
                    <a:p>
                      <a:pPr>
                        <a:spcAft>
                          <a:spcPts val="0"/>
                        </a:spcAft>
                      </a:pPr>
                      <a:r>
                        <a:rPr sz="1150" b="0" i="0">
                          <a:solidFill>
                            <a:srgbClr val="000000"/>
                          </a:solidFill>
                        </a:rPr>
                        <a:t>message sender</a:t>
                      </a:r>
                    </a:p>
                  </a:txBody>
                  <a:tcPr marL="54864" marR="54864" marT="27432" marB="27432">
                    <a:solidFill>
                      <a:srgbClr val="F3F0F9"/>
                    </a:solidFill>
                  </a:tcPr>
                </a:tc>
                <a:tc>
                  <a:txBody>
                    <a:bodyPr wrap="square"/>
                    <a:lstStyle/>
                    <a:p>
                      <a:pPr>
                        <a:spcAft>
                          <a:spcPts val="0"/>
                        </a:spcAft>
                      </a:pPr>
                      <a:r>
                        <a:rPr sz="1150" b="0" i="0">
                          <a:solidFill>
                            <a:srgbClr val="000000"/>
                          </a:solidFill>
                        </a:rPr>
                        <a:t>tools/walk.py Restricted 7</a:t>
                      </a:r>
                    </a:p>
                  </a:txBody>
                  <a:tcPr marL="54864" marR="54864" marT="27432" marB="27432">
                    <a:solidFill>
                      <a:srgbClr val="F3F0F9"/>
                    </a:solidFill>
                  </a:tcPr>
                </a:tc>
                <a:tc>
                  <a:txBody>
                    <a:bodyPr wrap="square"/>
                    <a:lstStyle/>
                    <a:p>
                      <a:pPr>
                        <a:spcAft>
                          <a:spcPts val="0"/>
                        </a:spcAft>
                      </a:pPr>
                      <a:r>
                        <a:rPr sz="1150" b="0" i="0">
                          <a:solidFill>
                            <a:srgbClr val="000000"/>
                          </a:solidFill>
                        </a:rPr>
                        <a:t>pass: Restricted 7</a:t>
                      </a:r>
                    </a:p>
                  </a:txBody>
                  <a:tcPr marL="54864" marR="54864" marT="27432" marB="27432">
                    <a:solidFill>
                      <a:srgbClr val="F3F0F9"/>
                    </a:solidFill>
                  </a:tcPr>
                </a:tc>
                <a:tc>
                  <a:txBody>
                    <a:bodyPr wrap="square"/>
                    <a:lstStyle/>
                    <a:p>
                      <a:pPr>
                        <a:spcAft>
                          <a:spcPts val="0"/>
                        </a:spcAft>
                      </a:pPr>
                      <a:r>
                        <a:rPr sz="1150" b="0" i="0">
                          <a:solidFill>
                            <a:srgbClr val="000000"/>
                          </a:solidFill>
                        </a:rPr>
                        <a:t>as the story expects</a:t>
                      </a:r>
                    </a:p>
                  </a:txBody>
                  <a:tcPr marL="54864" marR="54864" marT="27432" marB="27432">
                    <a:solidFill>
                      <a:srgbClr val="F3F0F9"/>
                    </a:solidFill>
                  </a:tcPr>
                </a:tc>
              </a:tr>
              <a:tr h="329184">
                <a:tc>
                  <a:txBody>
                    <a:bodyPr wrap="square"/>
                    <a:lstStyle/>
                    <a:p>
                      <a:pPr>
                        <a:spcAft>
                          <a:spcPts val="0"/>
                        </a:spcAft>
                      </a:pPr>
                      <a:r>
                        <a:rPr sz="1150" b="0" i="0">
                          <a:solidFill>
                            <a:srgbClr val="000000"/>
                          </a:solidFill>
                        </a:rPr>
                        <a:t>US-3</a:t>
                      </a:r>
                    </a:p>
                  </a:txBody>
                  <a:tcPr marL="54864" marR="54864" marT="27432" marB="27432">
                    <a:solidFill>
                      <a:srgbClr val="FFFFFF"/>
                    </a:solidFill>
                  </a:tcPr>
                </a:tc>
                <a:tc>
                  <a:txBody>
                    <a:bodyPr wrap="square"/>
                    <a:lstStyle/>
                    <a:p>
                      <a:pPr>
                        <a:spcAft>
                          <a:spcPts val="0"/>
                        </a:spcAft>
                      </a:pPr>
                      <a:r>
                        <a:rPr sz="1150" b="0" i="0">
                          <a:solidFill>
                            <a:srgbClr val="000000"/>
                          </a:solidFill>
                        </a:rPr>
                        <a:t>security officer</a:t>
                      </a:r>
                    </a:p>
                  </a:txBody>
                  <a:tcPr marL="54864" marR="54864" marT="27432" marB="27432">
                    <a:solidFill>
                      <a:srgbClr val="FFFFFF"/>
                    </a:solidFill>
                  </a:tcPr>
                </a:tc>
                <a:tc>
                  <a:txBody>
                    <a:bodyPr wrap="square"/>
                    <a:lstStyle/>
                    <a:p>
                      <a:pPr>
                        <a:spcAft>
                          <a:spcPts val="0"/>
                        </a:spcAft>
                      </a:pPr>
                      <a:r>
                        <a:rPr sz="1150" b="0" i="0">
                          <a:solidFill>
                            <a:srgbClr val="000000"/>
                          </a:solidFill>
                        </a:rPr>
                        <a:t>tools/walk.py Critical 100, then Critical 0</a:t>
                      </a:r>
                    </a:p>
                  </a:txBody>
                  <a:tcPr marL="54864" marR="54864" marT="27432" marB="27432">
                    <a:solidFill>
                      <a:srgbClr val="FFFFFF"/>
                    </a:solidFill>
                  </a:tcPr>
                </a:tc>
                <a:tc>
                  <a:txBody>
                    <a:bodyPr wrap="square"/>
                    <a:lstStyle/>
                    <a:p>
                      <a:pPr>
                        <a:spcAft>
                          <a:spcPts val="0"/>
                        </a:spcAft>
                      </a:pPr>
                      <a:r>
                        <a:rPr sz="1150" b="0" i="0">
                          <a:solidFill>
                            <a:srgbClr val="000000"/>
                          </a:solidFill>
                        </a:rPr>
                        <a:t>drop, both times</a:t>
                      </a:r>
                    </a:p>
                  </a:txBody>
                  <a:tcPr marL="54864" marR="54864" marT="27432" marB="27432">
                    <a:solidFill>
                      <a:srgbClr val="FFFFFF"/>
                    </a:solidFill>
                  </a:tcPr>
                </a:tc>
                <a:tc>
                  <a:txBody>
                    <a:bodyPr wrap="square"/>
                    <a:lstStyle/>
                    <a:p>
                      <a:pPr>
                        <a:spcAft>
                          <a:spcPts val="0"/>
                        </a:spcAft>
                      </a:pPr>
                      <a:r>
                        <a:rPr sz="1150" b="0" i="0">
                          <a:solidFill>
                            <a:srgbClr val="000000"/>
                          </a:solidFill>
                        </a:rPr>
                        <a:t>as the story expects</a:t>
                      </a:r>
                    </a:p>
                  </a:txBody>
                  <a:tcPr marL="54864" marR="54864" marT="27432" marB="27432">
                    <a:solidFill>
                      <a:srgbClr val="FFFFFF"/>
                    </a:solidFill>
                  </a:tcPr>
                </a:tc>
              </a:tr>
            </a:tbl>
          </a:graphicData>
        </a:graphic>
      </p:graphicFrame>
      <p:sp>
        <p:nvSpPr>
          <p:cNvPr id="6" name="TextBox 5"/>
          <p:cNvSpPr txBox="1"/>
          <p:nvPr/>
        </p:nvSpPr>
        <p:spPr>
          <a:xfrm>
            <a:off x="777240" y="2697480"/>
            <a:ext cx="10972800" cy="274320"/>
          </a:xfrm>
          <a:prstGeom prst="rect">
            <a:avLst/>
          </a:prstGeom>
          <a:noFill/>
        </p:spPr>
        <p:txBody>
          <a:bodyPr wrap="square" lIns="45720" rIns="45720">
            <a:spAutoFit/>
          </a:bodyPr>
          <a:lstStyle/>
          <a:p>
            <a:pPr>
              <a:spcAft>
                <a:spcPts val="400"/>
              </a:spcAft>
            </a:pPr>
            <a:r>
              <a:rPr sz="1050" b="0" i="0">
                <a:solidFill>
                  <a:srgbClr val="595959"/>
                </a:solidFill>
              </a:rPr>
              <a:t>reports/walkthrough.md — walked by the instructor, in each role, on 2026-10-20, against v0</a:t>
            </a:r>
          </a:p>
        </p:txBody>
      </p:sp>
      <p:graphicFrame>
        <p:nvGraphicFramePr>
          <p:cNvPr id="7" name="Table 6"/>
          <p:cNvGraphicFramePr>
            <a:graphicFrameLocks noGrp="1"/>
          </p:cNvGraphicFramePr>
          <p:nvPr/>
        </p:nvGraphicFramePr>
        <p:xfrm>
          <a:off x="777240" y="3154680"/>
          <a:ext cx="11018520" cy="2194560"/>
        </p:xfrm>
        <a:graphic>
          <a:graphicData uri="http://schemas.openxmlformats.org/drawingml/2006/table">
            <a:tbl>
              <a:tblPr firstRow="1" bandRow="1">
                <a:tableStyleId>{5C22544A-7EE6-4342-B048-85BDC9FD1C3A}</a:tableStyleId>
              </a:tblPr>
              <a:tblGrid>
                <a:gridCol w="2377440"/>
                <a:gridCol w="2743200"/>
                <a:gridCol w="2926080"/>
                <a:gridCol w="2971800"/>
              </a:tblGrid>
              <a:tr h="365760">
                <a:tc>
                  <a:txBody>
                    <a:bodyPr wrap="square"/>
                    <a:lstStyle/>
                    <a:p>
                      <a:pPr>
                        <a:spcAft>
                          <a:spcPts val="0"/>
                        </a:spcAft>
                      </a:pPr>
                      <a:r>
                        <a:rPr sz="1150" b="1" i="0">
                          <a:solidFill>
                            <a:srgbClr val="FFFFFF"/>
                          </a:solidFill>
                        </a:rPr>
                        <a:t/>
                      </a:r>
                    </a:p>
                  </a:txBody>
                  <a:tcPr marL="54864" marR="54864" marT="27432" marB="27432">
                    <a:solidFill>
                      <a:srgbClr val="6E1EC6"/>
                    </a:solidFill>
                  </a:tcPr>
                </a:tc>
                <a:tc>
                  <a:txBody>
                    <a:bodyPr wrap="square"/>
                    <a:lstStyle/>
                    <a:p>
                      <a:pPr>
                        <a:spcAft>
                          <a:spcPts val="0"/>
                        </a:spcAft>
                      </a:pPr>
                      <a:r>
                        <a:rPr sz="1150" b="1" i="0">
                          <a:solidFill>
                            <a:srgbClr val="FFFFFF"/>
                          </a:solidFill>
                        </a:rPr>
                        <a:t>Human</a:t>
                      </a:r>
                    </a:p>
                  </a:txBody>
                  <a:tcPr marL="54864" marR="54864" marT="27432" marB="27432">
                    <a:solidFill>
                      <a:srgbClr val="6E1EC6"/>
                    </a:solidFill>
                  </a:tcPr>
                </a:tc>
                <a:tc>
                  <a:txBody>
                    <a:bodyPr wrap="square"/>
                    <a:lstStyle/>
                    <a:p>
                      <a:pPr>
                        <a:spcAft>
                          <a:spcPts val="0"/>
                        </a:spcAft>
                      </a:pPr>
                      <a:r>
                        <a:rPr sz="1150" b="1" i="0">
                          <a:solidFill>
                            <a:srgbClr val="FFFFFF"/>
                          </a:solidFill>
                        </a:rPr>
                        <a:t>Agent</a:t>
                      </a:r>
                    </a:p>
                  </a:txBody>
                  <a:tcPr marL="54864" marR="54864" marT="27432" marB="27432">
                    <a:solidFill>
                      <a:srgbClr val="6E1EC6"/>
                    </a:solidFill>
                  </a:tcPr>
                </a:tc>
                <a:tc>
                  <a:txBody>
                    <a:bodyPr wrap="square"/>
                    <a:lstStyle/>
                    <a:p>
                      <a:pPr>
                        <a:spcAft>
                          <a:spcPts val="0"/>
                        </a:spcAft>
                      </a:pPr>
                      <a:r>
                        <a:rPr sz="1150" b="1" i="0">
                          <a:solidFill>
                            <a:srgbClr val="FFFFFF"/>
                          </a:solidFill>
                        </a:rPr>
                        <a:t>Algorithmic</a:t>
                      </a:r>
                    </a:p>
                  </a:txBody>
                  <a:tcPr marL="54864" marR="54864" marT="27432" marB="27432">
                    <a:solidFill>
                      <a:srgbClr val="6E1EC6"/>
                    </a:solidFill>
                  </a:tcPr>
                </a:tc>
              </a:tr>
              <a:tr h="365760">
                <a:tc>
                  <a:txBody>
                    <a:bodyPr wrap="square"/>
                    <a:lstStyle/>
                    <a:p>
                      <a:pPr>
                        <a:spcAft>
                          <a:spcPts val="0"/>
                        </a:spcAft>
                      </a:pPr>
                      <a:r>
                        <a:rPr sz="1150" b="0" i="0">
                          <a:solidFill>
                            <a:srgbClr val="000000"/>
                          </a:solidFill>
                        </a:rPr>
                        <a:t>Cost per check</a:t>
                      </a:r>
                    </a:p>
                  </a:txBody>
                  <a:tcPr marL="54864" marR="54864" marT="27432" marB="27432">
                    <a:solidFill>
                      <a:srgbClr val="FFFFFF"/>
                    </a:solidFill>
                  </a:tcPr>
                </a:tc>
                <a:tc>
                  <a:txBody>
                    <a:bodyPr wrap="square"/>
                    <a:lstStyle/>
                    <a:p>
                      <a:pPr>
                        <a:spcAft>
                          <a:spcPts val="0"/>
                        </a:spcAft>
                      </a:pPr>
                      <a:r>
                        <a:rPr sz="1150" b="0" i="0">
                          <a:solidFill>
                            <a:srgbClr val="000000"/>
                          </a:solidFill>
                        </a:rPr>
                        <a:t>minutes of attention</a:t>
                      </a:r>
                    </a:p>
                  </a:txBody>
                  <a:tcPr marL="54864" marR="54864" marT="27432" marB="27432">
                    <a:solidFill>
                      <a:srgbClr val="FFFFFF"/>
                    </a:solidFill>
                  </a:tcPr>
                </a:tc>
                <a:tc>
                  <a:txBody>
                    <a:bodyPr wrap="square"/>
                    <a:lstStyle/>
                    <a:p>
                      <a:pPr>
                        <a:spcAft>
                          <a:spcPts val="0"/>
                        </a:spcAft>
                      </a:pPr>
                      <a:r>
                        <a:rPr sz="1150" b="0" i="0">
                          <a:solidFill>
                            <a:srgbClr val="000000"/>
                          </a:solidFill>
                        </a:rPr>
                        <a:t>tokens</a:t>
                      </a:r>
                    </a:p>
                  </a:txBody>
                  <a:tcPr marL="54864" marR="54864" marT="27432" marB="27432">
                    <a:solidFill>
                      <a:srgbClr val="FFFFFF"/>
                    </a:solidFill>
                  </a:tcPr>
                </a:tc>
                <a:tc>
                  <a:txBody>
                    <a:bodyPr wrap="square"/>
                    <a:lstStyle/>
                    <a:p>
                      <a:pPr>
                        <a:spcAft>
                          <a:spcPts val="0"/>
                        </a:spcAft>
                      </a:pPr>
                      <a:r>
                        <a:rPr sz="1150" b="0" i="0">
                          <a:solidFill>
                            <a:srgbClr val="000000"/>
                          </a:solidFill>
                        </a:rPr>
                        <a:t>milliseconds</a:t>
                      </a:r>
                    </a:p>
                  </a:txBody>
                  <a:tcPr marL="54864" marR="54864" marT="27432" marB="27432">
                    <a:solidFill>
                      <a:srgbClr val="FFFFFF"/>
                    </a:solidFill>
                  </a:tcPr>
                </a:tc>
              </a:tr>
              <a:tr h="365760">
                <a:tc>
                  <a:txBody>
                    <a:bodyPr wrap="square"/>
                    <a:lstStyle/>
                    <a:p>
                      <a:pPr>
                        <a:spcAft>
                          <a:spcPts val="0"/>
                        </a:spcAft>
                      </a:pPr>
                      <a:r>
                        <a:rPr sz="1150" b="0" i="0">
                          <a:solidFill>
                            <a:srgbClr val="000000"/>
                          </a:solidFill>
                        </a:rPr>
                        <a:t>Same result on repeat</a:t>
                      </a:r>
                    </a:p>
                  </a:txBody>
                  <a:tcPr marL="54864" marR="54864" marT="27432" marB="27432">
                    <a:solidFill>
                      <a:srgbClr val="F3F0F9"/>
                    </a:solidFill>
                  </a:tcPr>
                </a:tc>
                <a:tc>
                  <a:txBody>
                    <a:bodyPr wrap="square"/>
                    <a:lstStyle/>
                    <a:p>
                      <a:pPr>
                        <a:spcAft>
                          <a:spcPts val="0"/>
                        </a:spcAft>
                      </a:pPr>
                      <a:r>
                        <a:rPr sz="1150" b="0" i="0">
                          <a:solidFill>
                            <a:srgbClr val="000000"/>
                          </a:solidFill>
                        </a:rPr>
                        <a:t>not guaranteed</a:t>
                      </a:r>
                    </a:p>
                  </a:txBody>
                  <a:tcPr marL="54864" marR="54864" marT="27432" marB="27432">
                    <a:solidFill>
                      <a:srgbClr val="F3F0F9"/>
                    </a:solidFill>
                  </a:tcPr>
                </a:tc>
                <a:tc>
                  <a:txBody>
                    <a:bodyPr wrap="square"/>
                    <a:lstStyle/>
                    <a:p>
                      <a:pPr>
                        <a:spcAft>
                          <a:spcPts val="0"/>
                        </a:spcAft>
                      </a:pPr>
                      <a:r>
                        <a:rPr sz="1150" b="0" i="0">
                          <a:solidFill>
                            <a:srgbClr val="000000"/>
                          </a:solidFill>
                        </a:rPr>
                        <a:t>not guaranteed</a:t>
                      </a:r>
                    </a:p>
                  </a:txBody>
                  <a:tcPr marL="54864" marR="54864" marT="27432" marB="27432">
                    <a:solidFill>
                      <a:srgbClr val="F3F0F9"/>
                    </a:solidFill>
                  </a:tcPr>
                </a:tc>
                <a:tc>
                  <a:txBody>
                    <a:bodyPr wrap="square"/>
                    <a:lstStyle/>
                    <a:p>
                      <a:pPr>
                        <a:spcAft>
                          <a:spcPts val="0"/>
                        </a:spcAft>
                      </a:pPr>
                      <a:r>
                        <a:rPr sz="1150" b="0" i="0">
                          <a:solidFill>
                            <a:srgbClr val="000000"/>
                          </a:solidFill>
                        </a:rPr>
                        <a:t>yes</a:t>
                      </a:r>
                    </a:p>
                  </a:txBody>
                  <a:tcPr marL="54864" marR="54864" marT="27432" marB="27432">
                    <a:solidFill>
                      <a:srgbClr val="F3F0F9"/>
                    </a:solidFill>
                  </a:tcPr>
                </a:tc>
              </a:tr>
              <a:tr h="365760">
                <a:tc>
                  <a:txBody>
                    <a:bodyPr wrap="square"/>
                    <a:lstStyle/>
                    <a:p>
                      <a:pPr>
                        <a:spcAft>
                          <a:spcPts val="0"/>
                        </a:spcAft>
                      </a:pPr>
                      <a:r>
                        <a:rPr sz="1150" b="0" i="0">
                          <a:solidFill>
                            <a:srgbClr val="000000"/>
                          </a:solidFill>
                        </a:rPr>
                        <a:t>Decides judgment clauses</a:t>
                      </a:r>
                    </a:p>
                  </a:txBody>
                  <a:tcPr marL="54864" marR="54864" marT="27432" marB="27432">
                    <a:solidFill>
                      <a:srgbClr val="FFFFFF"/>
                    </a:solidFill>
                  </a:tcPr>
                </a:tc>
                <a:tc>
                  <a:txBody>
                    <a:bodyPr wrap="square"/>
                    <a:lstStyle/>
                    <a:p>
                      <a:pPr>
                        <a:spcAft>
                          <a:spcPts val="0"/>
                        </a:spcAft>
                      </a:pPr>
                      <a:r>
                        <a:rPr sz="1150" b="0" i="0">
                          <a:solidFill>
                            <a:srgbClr val="000000"/>
                          </a:solidFill>
                        </a:rPr>
                        <a:t>yes</a:t>
                      </a:r>
                    </a:p>
                  </a:txBody>
                  <a:tcPr marL="54864" marR="54864" marT="27432" marB="27432">
                    <a:solidFill>
                      <a:srgbClr val="FFFFFF"/>
                    </a:solidFill>
                  </a:tcPr>
                </a:tc>
                <a:tc>
                  <a:txBody>
                    <a:bodyPr wrap="square"/>
                    <a:lstStyle/>
                    <a:p>
                      <a:pPr>
                        <a:spcAft>
                          <a:spcPts val="0"/>
                        </a:spcAft>
                      </a:pPr>
                      <a:r>
                        <a:rPr sz="1150" b="0" i="0">
                          <a:solidFill>
                            <a:srgbClr val="000000"/>
                          </a:solidFill>
                        </a:rPr>
                        <a:t>yes</a:t>
                      </a:r>
                    </a:p>
                  </a:txBody>
                  <a:tcPr marL="54864" marR="54864" marT="27432" marB="27432">
                    <a:solidFill>
                      <a:srgbClr val="FFFFFF"/>
                    </a:solidFill>
                  </a:tcPr>
                </a:tc>
                <a:tc>
                  <a:txBody>
                    <a:bodyPr wrap="square"/>
                    <a:lstStyle/>
                    <a:p>
                      <a:pPr>
                        <a:spcAft>
                          <a:spcPts val="0"/>
                        </a:spcAft>
                      </a:pPr>
                      <a:r>
                        <a:rPr sz="1150" b="0" i="0">
                          <a:solidFill>
                            <a:srgbClr val="000000"/>
                          </a:solidFill>
                        </a:rPr>
                        <a:t>no</a:t>
                      </a:r>
                    </a:p>
                  </a:txBody>
                  <a:tcPr marL="54864" marR="54864" marT="27432" marB="27432">
                    <a:solidFill>
                      <a:srgbClr val="FFFFFF"/>
                    </a:solidFill>
                  </a:tcPr>
                </a:tc>
              </a:tr>
              <a:tr h="365760">
                <a:tc>
                  <a:txBody>
                    <a:bodyPr wrap="square"/>
                    <a:lstStyle/>
                    <a:p>
                      <a:pPr>
                        <a:spcAft>
                          <a:spcPts val="0"/>
                        </a:spcAft>
                      </a:pPr>
                      <a:r>
                        <a:rPr sz="1150" b="0" i="0">
                          <a:solidFill>
                            <a:srgbClr val="000000"/>
                          </a:solidFill>
                        </a:rPr>
                        <a:t>Can stand in a gate</a:t>
                      </a:r>
                    </a:p>
                  </a:txBody>
                  <a:tcPr marL="54864" marR="54864" marT="27432" marB="27432">
                    <a:solidFill>
                      <a:srgbClr val="F3F0F9"/>
                    </a:solidFill>
                  </a:tcPr>
                </a:tc>
                <a:tc>
                  <a:txBody>
                    <a:bodyPr wrap="square"/>
                    <a:lstStyle/>
                    <a:p>
                      <a:pPr>
                        <a:spcAft>
                          <a:spcPts val="0"/>
                        </a:spcAft>
                      </a:pPr>
                      <a:r>
                        <a:rPr sz="1150" b="0" i="0">
                          <a:solidFill>
                            <a:srgbClr val="000000"/>
                          </a:solidFill>
                        </a:rPr>
                        <a:t>no</a:t>
                      </a:r>
                    </a:p>
                  </a:txBody>
                  <a:tcPr marL="54864" marR="54864" marT="27432" marB="27432">
                    <a:solidFill>
                      <a:srgbClr val="F3F0F9"/>
                    </a:solidFill>
                  </a:tcPr>
                </a:tc>
                <a:tc>
                  <a:txBody>
                    <a:bodyPr wrap="square"/>
                    <a:lstStyle/>
                    <a:p>
                      <a:pPr>
                        <a:spcAft>
                          <a:spcPts val="0"/>
                        </a:spcAft>
                      </a:pPr>
                      <a:r>
                        <a:rPr sz="1150" b="0" i="0">
                          <a:solidFill>
                            <a:srgbClr val="000000"/>
                          </a:solidFill>
                        </a:rPr>
                        <a:t>with effort</a:t>
                      </a:r>
                    </a:p>
                  </a:txBody>
                  <a:tcPr marL="54864" marR="54864" marT="27432" marB="27432">
                    <a:solidFill>
                      <a:srgbClr val="F3F0F9"/>
                    </a:solidFill>
                  </a:tcPr>
                </a:tc>
                <a:tc>
                  <a:txBody>
                    <a:bodyPr wrap="square"/>
                    <a:lstStyle/>
                    <a:p>
                      <a:pPr>
                        <a:spcAft>
                          <a:spcPts val="0"/>
                        </a:spcAft>
                      </a:pPr>
                      <a:r>
                        <a:rPr sz="1150" b="0" i="0">
                          <a:solidFill>
                            <a:srgbClr val="000000"/>
                          </a:solidFill>
                        </a:rPr>
                        <a:t>yes, via the exit code</a:t>
                      </a:r>
                    </a:p>
                  </a:txBody>
                  <a:tcPr marL="54864" marR="54864" marT="27432" marB="27432">
                    <a:solidFill>
                      <a:srgbClr val="F3F0F9"/>
                    </a:solidFill>
                  </a:tcPr>
                </a:tc>
              </a:tr>
              <a:tr h="365760">
                <a:tc>
                  <a:txBody>
                    <a:bodyPr wrap="square"/>
                    <a:lstStyle/>
                    <a:p>
                      <a:pPr>
                        <a:spcAft>
                          <a:spcPts val="0"/>
                        </a:spcAft>
                      </a:pPr>
                      <a:r>
                        <a:rPr sz="1150" b="0" i="0">
                          <a:solidFill>
                            <a:srgbClr val="000000"/>
                          </a:solidFill>
                        </a:rPr>
                        <a:t>In A0</a:t>
                      </a:r>
                    </a:p>
                  </a:txBody>
                  <a:tcPr marL="54864" marR="54864" marT="27432" marB="27432">
                    <a:solidFill>
                      <a:srgbClr val="FFFFFF"/>
                    </a:solidFill>
                  </a:tcPr>
                </a:tc>
                <a:tc>
                  <a:txBody>
                    <a:bodyPr wrap="square"/>
                    <a:lstStyle/>
                    <a:p>
                      <a:pPr>
                        <a:spcAft>
                          <a:spcPts val="0"/>
                        </a:spcAft>
                      </a:pPr>
                      <a:r>
                        <a:rPr sz="1150" b="0" i="0">
                          <a:solidFill>
                            <a:srgbClr val="000000"/>
                          </a:solidFill>
                        </a:rPr>
                        <a:t>the walkthroughs; SQ; the sign-off</a:t>
                      </a:r>
                    </a:p>
                  </a:txBody>
                  <a:tcPr marL="54864" marR="54864" marT="27432" marB="27432">
                    <a:solidFill>
                      <a:srgbClr val="FFFFFF"/>
                    </a:solidFill>
                  </a:tcPr>
                </a:tc>
                <a:tc>
                  <a:txBody>
                    <a:bodyPr wrap="square"/>
                    <a:lstStyle/>
                    <a:p>
                      <a:pPr>
                        <a:spcAft>
                          <a:spcPts val="0"/>
                        </a:spcAft>
                      </a:pPr>
                      <a:r>
                        <a:rPr sz="1150" b="0" i="0">
                          <a:solidFill>
                            <a:srgbClr val="000000"/>
                          </a:solidFill>
                        </a:rPr>
                        <a:t>not yet (enters in A1, as the auditor)</a:t>
                      </a:r>
                    </a:p>
                  </a:txBody>
                  <a:tcPr marL="54864" marR="54864" marT="27432" marB="27432">
                    <a:solidFill>
                      <a:srgbClr val="FFFFFF"/>
                    </a:solidFill>
                  </a:tcPr>
                </a:tc>
                <a:tc>
                  <a:txBody>
                    <a:bodyPr wrap="square"/>
                    <a:lstStyle/>
                    <a:p>
                      <a:pPr>
                        <a:spcAft>
                          <a:spcPts val="0"/>
                        </a:spcAft>
                      </a:pPr>
                      <a:r>
                        <a:rPr sz="1150" b="0" i="0">
                          <a:solidFill>
                            <a:srgbClr val="000000"/>
                          </a:solidFill>
                        </a:rPr>
                        <a:t>pytest, the report plugin, pytest-cov, ruff</a:t>
                      </a:r>
                    </a:p>
                  </a:txBody>
                  <a:tcPr marL="54864" marR="54864" marT="27432" marB="27432">
                    <a:solidFill>
                      <a:srgbClr val="FFFFFF"/>
                    </a:solidFill>
                  </a:tcPr>
                </a:tc>
              </a:tr>
            </a:tbl>
          </a:graphicData>
        </a:graphic>
      </p:graphicFrame>
      <p:sp>
        <p:nvSpPr>
          <p:cNvPr id="8" name="TextBox 7"/>
          <p:cNvSpPr txBox="1"/>
          <p:nvPr/>
        </p:nvSpPr>
        <p:spPr>
          <a:xfrm>
            <a:off x="777240" y="5486400"/>
            <a:ext cx="10972800" cy="731520"/>
          </a:xfrm>
          <a:prstGeom prst="rect">
            <a:avLst/>
          </a:prstGeom>
          <a:noFill/>
        </p:spPr>
        <p:txBody>
          <a:bodyPr wrap="square" lIns="45720" rIns="45720">
            <a:spAutoFit/>
          </a:bodyPr>
          <a:lstStyle/>
          <a:p>
            <a:pPr>
              <a:spcAft>
                <a:spcPts val="400"/>
              </a:spcAft>
            </a:pPr>
            <a:r>
              <a:rPr sz="1150" b="0" i="0">
                <a:solidFill>
                  <a:srgbClr val="595959"/>
                </a:solidFill>
              </a:rPr>
              <a:t>A verifier is itself a realization of the specification it checks: a test can assert the wrong thing, a plugin can misread a marker. "Who verifies the verifier" is answered separately, and the ledger records which verifier made each claim so that a wrong one can be traced. That is as far as this lecture takes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Validation in A0: the sign-off</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30</a:t>
            </a:r>
          </a:p>
        </p:txBody>
      </p:sp>
      <p:sp>
        <p:nvSpPr>
          <p:cNvPr id="5" name="Rectangle 4"/>
          <p:cNvSpPr/>
          <p:nvPr/>
        </p:nvSpPr>
        <p:spPr>
          <a:xfrm>
            <a:off x="777240" y="1325880"/>
            <a:ext cx="6949440" cy="1600200"/>
          </a:xfrm>
          <a:prstGeom prst="rect">
            <a:avLst/>
          </a:prstGeom>
          <a:solidFill>
            <a:srgbClr val="FFF3B0"/>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27432" bIns="27432"/>
          <a:lstStyle/>
          <a:p>
            <a:pPr algn="l">
              <a:spcAft>
                <a:spcPts val="800"/>
              </a:spcAft>
            </a:pPr>
            <a:r>
              <a:rPr sz="1300" b="0" i="1">
                <a:solidFill>
                  <a:srgbClr val="000000"/>
                </a:solidFill>
              </a:rPr>
              <a:t>"The concept of operations, version A0, describes the guard I intend: a Critical message never leaves, and anything else leaves as it arrived."</a:t>
            </a:r>
          </a:p>
          <a:p>
            <a:pPr algn="l">
              <a:spcAft>
                <a:spcPts val="200"/>
              </a:spcAft>
            </a:pPr>
            <a:r>
              <a:rPr sz="1150" b="0" i="0">
                <a:solidFill>
                  <a:srgbClr val="000000"/>
                </a:solidFill>
              </a:rPr>
              <a:t>Security officer: role played by the instructor, 2026-10-20, on specs/conops.md version A0.</a:t>
            </a:r>
          </a:p>
          <a:p>
            <a:pPr algn="l">
              <a:spcAft>
                <a:spcPts val="200"/>
              </a:spcAft>
            </a:pPr>
            <a:r>
              <a:rPr sz="1150" b="0" i="0">
                <a:solidFill>
                  <a:srgbClr val="000000"/>
                </a:solidFill>
              </a:rPr>
              <a:t>Message sender: role played by the instructor, 2026-10-20, on specs/conops.md version A0.</a:t>
            </a:r>
          </a:p>
        </p:txBody>
      </p:sp>
      <p:sp>
        <p:nvSpPr>
          <p:cNvPr id="6" name="TextBox 5"/>
          <p:cNvSpPr txBox="1"/>
          <p:nvPr/>
        </p:nvSpPr>
        <p:spPr>
          <a:xfrm>
            <a:off x="777240" y="2971800"/>
            <a:ext cx="6949440" cy="274320"/>
          </a:xfrm>
          <a:prstGeom prst="rect">
            <a:avLst/>
          </a:prstGeom>
          <a:noFill/>
        </p:spPr>
        <p:txBody>
          <a:bodyPr wrap="square" lIns="45720" rIns="45720">
            <a:spAutoFit/>
          </a:bodyPr>
          <a:lstStyle/>
          <a:p>
            <a:pPr>
              <a:spcAft>
                <a:spcPts val="400"/>
              </a:spcAft>
            </a:pPr>
            <a:r>
              <a:rPr sz="1000" b="0" i="0">
                <a:solidFill>
                  <a:srgbClr val="595959"/>
                </a:solidFill>
                <a:latin typeface="Courier New"/>
              </a:rPr>
              <a:t>reports/walkthrough.md, section Sign-off (rule VAL-1: one from each user category)</a:t>
            </a:r>
          </a:p>
        </p:txBody>
      </p:sp>
      <p:sp>
        <p:nvSpPr>
          <p:cNvPr id="7" name="TextBox 6"/>
          <p:cNvSpPr txBox="1"/>
          <p:nvPr/>
        </p:nvSpPr>
        <p:spPr>
          <a:xfrm>
            <a:off x="8001000" y="1325880"/>
            <a:ext cx="3794760" cy="4937760"/>
          </a:xfrm>
          <a:prstGeom prst="rect">
            <a:avLst/>
          </a:prstGeom>
          <a:noFill/>
        </p:spPr>
        <p:txBody>
          <a:bodyPr wrap="square" lIns="45720" rIns="45720" tIns="27432" bIns="27432">
            <a:spAutoFit/>
          </a:bodyPr>
          <a:lstStyle/>
          <a:p>
            <a:pPr marL="182880" indent="-182880">
              <a:spcAft>
                <a:spcPts val="800"/>
              </a:spcAft>
              <a:buChar char="•"/>
            </a:pPr>
            <a:r>
              <a:rPr sz="1200" b="0" i="0"/>
              <a:t>Verification compares two artifacts in the repository; validation compares an artifact with what is in a person's mind</a:t>
            </a:r>
          </a:p>
          <a:p>
            <a:pPr marL="182880" indent="-182880">
              <a:spcAft>
                <a:spcPts val="800"/>
              </a:spcAft>
              <a:buChar char="•"/>
            </a:pPr>
            <a:r>
              <a:rPr sz="1200" b="0" i="0"/>
              <a:t>So only a person can decide it, and the decision is recorded: who, role, when, version</a:t>
            </a:r>
          </a:p>
          <a:p>
            <a:pPr marL="182880" indent="-182880">
              <a:spcAft>
                <a:spcPts val="800"/>
              </a:spcAft>
              <a:buChar char="•"/>
            </a:pPr>
            <a:r>
              <a:rPr sz="1200" b="1" i="0"/>
              <a:t>One activity, two questions. </a:t>
            </a:r>
            <a:r>
              <a:rPr sz="1200" b="0" i="0"/>
              <a:t>When the officer walks US-3 and sees drop: does the system behave as the story says (conformance of a judgment clause), and is the story what the officer wants (validation)?</a:t>
            </a:r>
          </a:p>
          <a:p>
            <a:pPr marL="182880" indent="-182880">
              <a:spcAft>
                <a:spcPts val="800"/>
              </a:spcAft>
              <a:buChar char="•"/>
            </a:pPr>
            <a:r>
              <a:rPr sz="1200" b="0" i="0"/>
              <a:t>A different officer could answer the first yes and the second no</a:t>
            </a:r>
          </a:p>
        </p:txBody>
      </p:sp>
      <p:sp>
        <p:nvSpPr>
          <p:cNvPr id="8" name="Rectangle 7"/>
          <p:cNvSpPr/>
          <p:nvPr/>
        </p:nvSpPr>
        <p:spPr>
          <a:xfrm>
            <a:off x="777240" y="3383280"/>
            <a:ext cx="10972800" cy="77724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18288" bIns="18288"/>
          <a:lstStyle/>
          <a:p>
            <a:pPr algn="l">
              <a:spcAft>
                <a:spcPts val="0"/>
              </a:spcAft>
            </a:pPr>
            <a:r>
              <a:rPr sz="1250" b="0" i="0">
                <a:solidFill>
                  <a:srgbClr val="000000"/>
                </a:solidFill>
              </a:rPr>
              <a:t>An agent given a specification will realize it, and a well-run process will certify that. The sign-off is the one place the process asks a person whether the certified system is the one they wanted.</a:t>
            </a:r>
          </a:p>
        </p:txBody>
      </p:sp>
      <p:sp>
        <p:nvSpPr>
          <p:cNvPr id="9" name="TextBox 8"/>
          <p:cNvSpPr txBox="1"/>
          <p:nvPr/>
        </p:nvSpPr>
        <p:spPr>
          <a:xfrm>
            <a:off x="777240" y="4343400"/>
            <a:ext cx="6949440" cy="1188720"/>
          </a:xfrm>
          <a:prstGeom prst="rect">
            <a:avLst/>
          </a:prstGeom>
          <a:noFill/>
        </p:spPr>
        <p:txBody>
          <a:bodyPr wrap="square" lIns="45720" rIns="45720" tIns="27432" bIns="27432">
            <a:spAutoFit/>
          </a:bodyPr>
          <a:lstStyle/>
          <a:p>
            <a:pPr marL="182880" indent="-182880">
              <a:spcAft>
                <a:spcPts val="500"/>
              </a:spcAft>
              <a:buChar char="•"/>
            </a:pPr>
            <a:r>
              <a:rPr sz="1200" b="0" i="0"/>
              <a:t>The VAL row can go stale when no file has changed: a stakeholder changes their mind and says so. Version A3 records that as a change request.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Breaking it: a wrong system with a green ledger</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31</a:t>
            </a:r>
          </a:p>
        </p:txBody>
      </p:sp>
      <p:sp>
        <p:nvSpPr>
          <p:cNvPr id="5" name="Rectangle 4"/>
          <p:cNvSpPr/>
          <p:nvPr/>
        </p:nvSpPr>
        <p:spPr>
          <a:xfrm>
            <a:off x="777240" y="1188720"/>
            <a:ext cx="10972800" cy="6400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18288" bIns="18288"/>
          <a:lstStyle/>
          <a:p>
            <a:pPr algn="l">
              <a:spcAft>
                <a:spcPts val="0"/>
              </a:spcAft>
            </a:pPr>
            <a:r>
              <a:rPr sz="1300" b="0" i="0">
                <a:solidFill>
                  <a:srgbClr val="000000"/>
                </a:solidFill>
              </a:rPr>
              <a:t>Suppose the security officer meant that Restricted messages must be stopped as well, and the person who wrote the concept of operations did not understand this.</a:t>
            </a:r>
          </a:p>
        </p:txBody>
      </p:sp>
      <p:graphicFrame>
        <p:nvGraphicFramePr>
          <p:cNvPr id="6" name="Table 5"/>
          <p:cNvGraphicFramePr>
            <a:graphicFrameLocks noGrp="1"/>
          </p:cNvGraphicFramePr>
          <p:nvPr/>
        </p:nvGraphicFramePr>
        <p:xfrm>
          <a:off x="777240" y="2057400"/>
          <a:ext cx="6675120" cy="2304288"/>
        </p:xfrm>
        <a:graphic>
          <a:graphicData uri="http://schemas.openxmlformats.org/drawingml/2006/table">
            <a:tbl>
              <a:tblPr firstRow="1" bandRow="1">
                <a:tableStyleId>{5C22544A-7EE6-4342-B048-85BDC9FD1C3A}</a:tableStyleId>
              </a:tblPr>
              <a:tblGrid>
                <a:gridCol w="1600200"/>
                <a:gridCol w="1143000"/>
                <a:gridCol w="3931920"/>
              </a:tblGrid>
              <a:tr h="384048">
                <a:tc>
                  <a:txBody>
                    <a:bodyPr wrap="square"/>
                    <a:lstStyle/>
                    <a:p>
                      <a:pPr>
                        <a:spcAft>
                          <a:spcPts val="0"/>
                        </a:spcAft>
                      </a:pPr>
                      <a:r>
                        <a:rPr sz="1100" b="1" i="0">
                          <a:solidFill>
                            <a:srgbClr val="FFFFFF"/>
                          </a:solidFill>
                        </a:rPr>
                        <a:t>Judgment</a:t>
                      </a:r>
                    </a:p>
                  </a:txBody>
                  <a:tcPr marL="54864" marR="54864" marT="27432" marB="27432">
                    <a:solidFill>
                      <a:srgbClr val="6E1EC6"/>
                    </a:solidFill>
                  </a:tcPr>
                </a:tc>
                <a:tc>
                  <a:txBody>
                    <a:bodyPr wrap="square"/>
                    <a:lstStyle/>
                    <a:p>
                      <a:pPr>
                        <a:spcAft>
                          <a:spcPts val="0"/>
                        </a:spcAft>
                      </a:pPr>
                      <a:r>
                        <a:rPr sz="1100" b="1" i="0">
                          <a:solidFill>
                            <a:srgbClr val="FFFFFF"/>
                          </a:solidFill>
                        </a:rPr>
                        <a:t>Status</a:t>
                      </a:r>
                    </a:p>
                  </a:txBody>
                  <a:tcPr marL="54864" marR="54864" marT="27432" marB="27432">
                    <a:solidFill>
                      <a:srgbClr val="6E1EC6"/>
                    </a:solidFill>
                  </a:tcPr>
                </a:tc>
                <a:tc>
                  <a:txBody>
                    <a:bodyPr wrap="square"/>
                    <a:lstStyle/>
                    <a:p>
                      <a:pPr>
                        <a:spcAft>
                          <a:spcPts val="0"/>
                        </a:spcAft>
                      </a:pPr>
                      <a:r>
                        <a:rPr sz="1100" b="1" i="0">
                          <a:solidFill>
                            <a:srgbClr val="FFFFFF"/>
                          </a:solidFill>
                        </a:rPr>
                        <a:t>Evidence</a:t>
                      </a:r>
                    </a:p>
                  </a:txBody>
                  <a:tcPr marL="54864" marR="54864" marT="27432" marB="27432">
                    <a:solidFill>
                      <a:srgbClr val="6E1EC6"/>
                    </a:solidFill>
                  </a:tcPr>
                </a:tc>
              </a:tr>
              <a:tr h="384048">
                <a:tc>
                  <a:txBody>
                    <a:bodyPr wrap="square"/>
                    <a:lstStyle/>
                    <a:p>
                      <a:pPr>
                        <a:spcAft>
                          <a:spcPts val="0"/>
                        </a:spcAft>
                      </a:pPr>
                      <a:r>
                        <a:rPr sz="1100" b="0" i="0">
                          <a:solidFill>
                            <a:srgbClr val="000000"/>
                          </a:solidFill>
                        </a:rPr>
                        <a:t>SQ  specification quality</a:t>
                      </a:r>
                    </a:p>
                  </a:txBody>
                  <a:tcPr marL="54864" marR="54864" marT="27432" marB="27432">
                    <a:solidFill>
                      <a:srgbClr val="FFFFFF"/>
                    </a:solidFill>
                  </a:tcPr>
                </a:tc>
                <a:tc>
                  <a:txBody>
                    <a:bodyPr wrap="square"/>
                    <a:lstStyle/>
                    <a:p>
                      <a:pPr>
                        <a:spcAft>
                          <a:spcPts val="0"/>
                        </a:spcAft>
                      </a:pPr>
                      <a:r>
                        <a:rPr sz="1100" b="1" i="0">
                          <a:solidFill>
                            <a:srgbClr val="2E7D32"/>
                          </a:solidFill>
                        </a:rPr>
                        <a:t>established</a:t>
                      </a:r>
                    </a:p>
                  </a:txBody>
                  <a:tcPr marL="54864" marR="54864" marT="27432" marB="27432">
                    <a:solidFill>
                      <a:srgbClr val="DDF2DD"/>
                    </a:solidFill>
                  </a:tcPr>
                </a:tc>
                <a:tc>
                  <a:txBody>
                    <a:bodyPr wrap="square"/>
                    <a:lstStyle/>
                    <a:p>
                      <a:pPr>
                        <a:spcAft>
                          <a:spcPts val="0"/>
                        </a:spcAft>
                      </a:pPr>
                      <a:r>
                        <a:rPr sz="1100" b="0" i="0">
                          <a:solidFill>
                            <a:srgbClr val="000000"/>
                          </a:solidFill>
                        </a:rPr>
                        <a:t>the two specifications read together; 7 clauses, no gap</a:t>
                      </a:r>
                    </a:p>
                  </a:txBody>
                  <a:tcPr marL="54864" marR="54864" marT="27432" marB="27432">
                    <a:solidFill>
                      <a:srgbClr val="FFFFFF"/>
                    </a:solidFill>
                  </a:tcPr>
                </a:tc>
              </a:tr>
              <a:tr h="384048">
                <a:tc>
                  <a:txBody>
                    <a:bodyPr wrap="square"/>
                    <a:lstStyle/>
                    <a:p>
                      <a:pPr>
                        <a:spcAft>
                          <a:spcPts val="0"/>
                        </a:spcAft>
                      </a:pPr>
                      <a:r>
                        <a:rPr sz="1100" b="0" i="0">
                          <a:solidFill>
                            <a:srgbClr val="000000"/>
                          </a:solidFill>
                        </a:rPr>
                        <a:t>RQ  realization quality</a:t>
                      </a:r>
                    </a:p>
                  </a:txBody>
                  <a:tcPr marL="54864" marR="54864" marT="27432" marB="27432">
                    <a:solidFill>
                      <a:srgbClr val="F3F0F9"/>
                    </a:solidFill>
                  </a:tcPr>
                </a:tc>
                <a:tc>
                  <a:txBody>
                    <a:bodyPr wrap="square"/>
                    <a:lstStyle/>
                    <a:p>
                      <a:pPr>
                        <a:spcAft>
                          <a:spcPts val="0"/>
                        </a:spcAft>
                      </a:pPr>
                      <a:r>
                        <a:rPr sz="1100" b="1" i="0">
                          <a:solidFill>
                            <a:srgbClr val="2E7D32"/>
                          </a:solidFill>
                        </a:rPr>
                        <a:t>established</a:t>
                      </a:r>
                    </a:p>
                  </a:txBody>
                  <a:tcPr marL="54864" marR="54864" marT="27432" marB="27432">
                    <a:solidFill>
                      <a:srgbClr val="DDF2DD"/>
                    </a:solidFill>
                  </a:tcPr>
                </a:tc>
                <a:tc>
                  <a:txBody>
                    <a:bodyPr wrap="square"/>
                    <a:lstStyle/>
                    <a:p>
                      <a:pPr>
                        <a:spcAft>
                          <a:spcPts val="0"/>
                        </a:spcAft>
                      </a:pPr>
                      <a:r>
                        <a:rPr sz="1100" b="0" i="0">
                          <a:solidFill>
                            <a:srgbClr val="000000"/>
                          </a:solidFill>
                        </a:rPr>
                        <a:t>ruff exit 0; suite collects (10 tests)</a:t>
                      </a:r>
                    </a:p>
                  </a:txBody>
                  <a:tcPr marL="54864" marR="54864" marT="27432" marB="27432">
                    <a:solidFill>
                      <a:srgbClr val="F3F0F9"/>
                    </a:solidFill>
                  </a:tcPr>
                </a:tc>
              </a:tr>
              <a:tr h="384048">
                <a:tc>
                  <a:txBody>
                    <a:bodyPr wrap="square"/>
                    <a:lstStyle/>
                    <a:p>
                      <a:pPr>
                        <a:spcAft>
                          <a:spcPts val="0"/>
                        </a:spcAft>
                      </a:pPr>
                      <a:r>
                        <a:rPr sz="1100" b="0" i="0">
                          <a:solidFill>
                            <a:srgbClr val="000000"/>
                          </a:solidFill>
                        </a:rPr>
                        <a:t>CONF  conformance</a:t>
                      </a:r>
                    </a:p>
                  </a:txBody>
                  <a:tcPr marL="54864" marR="54864" marT="27432" marB="27432">
                    <a:solidFill>
                      <a:srgbClr val="FFFFFF"/>
                    </a:solidFill>
                  </a:tcPr>
                </a:tc>
                <a:tc>
                  <a:txBody>
                    <a:bodyPr wrap="square"/>
                    <a:lstStyle/>
                    <a:p>
                      <a:pPr>
                        <a:spcAft>
                          <a:spcPts val="0"/>
                        </a:spcAft>
                      </a:pPr>
                      <a:r>
                        <a:rPr sz="1100" b="1" i="0">
                          <a:solidFill>
                            <a:srgbClr val="2E7D32"/>
                          </a:solidFill>
                        </a:rPr>
                        <a:t>established</a:t>
                      </a:r>
                    </a:p>
                  </a:txBody>
                  <a:tcPr marL="54864" marR="54864" marT="27432" marB="27432">
                    <a:solidFill>
                      <a:srgbClr val="DDF2DD"/>
                    </a:solidFill>
                  </a:tcPr>
                </a:tc>
                <a:tc>
                  <a:txBody>
                    <a:bodyPr wrap="square"/>
                    <a:lstStyle/>
                    <a:p>
                      <a:pPr>
                        <a:spcAft>
                          <a:spcPts val="0"/>
                        </a:spcAft>
                      </a:pPr>
                      <a:r>
                        <a:rPr sz="1100" b="0" i="0">
                          <a:solidFill>
                            <a:srgbClr val="000000"/>
                          </a:solidFill>
                        </a:rPr>
                        <a:t>10 passed; 4 of 4 test clauses cited; 100% branches; 3 stories walked</a:t>
                      </a:r>
                    </a:p>
                  </a:txBody>
                  <a:tcPr marL="54864" marR="54864" marT="27432" marB="27432">
                    <a:solidFill>
                      <a:srgbClr val="FFFFFF"/>
                    </a:solidFill>
                  </a:tcPr>
                </a:tc>
              </a:tr>
              <a:tr h="384048">
                <a:tc>
                  <a:txBody>
                    <a:bodyPr wrap="square"/>
                    <a:lstStyle/>
                    <a:p>
                      <a:pPr>
                        <a:spcAft>
                          <a:spcPts val="0"/>
                        </a:spcAft>
                      </a:pPr>
                      <a:r>
                        <a:rPr sz="1100" b="0" i="0">
                          <a:solidFill>
                            <a:srgbClr val="000000"/>
                          </a:solidFill>
                        </a:rPr>
                        <a:t>VAL  validated</a:t>
                      </a:r>
                    </a:p>
                  </a:txBody>
                  <a:tcPr marL="54864" marR="54864" marT="27432" marB="27432">
                    <a:solidFill>
                      <a:srgbClr val="F3F0F9"/>
                    </a:solidFill>
                  </a:tcPr>
                </a:tc>
                <a:tc>
                  <a:txBody>
                    <a:bodyPr wrap="square"/>
                    <a:lstStyle/>
                    <a:p>
                      <a:pPr>
                        <a:spcAft>
                          <a:spcPts val="0"/>
                        </a:spcAft>
                      </a:pPr>
                      <a:r>
                        <a:rPr sz="1100" b="1" i="0">
                          <a:solidFill>
                            <a:srgbClr val="000000"/>
                          </a:solidFill>
                        </a:rPr>
                        <a:t>signed without reading?</a:t>
                      </a:r>
                    </a:p>
                  </a:txBody>
                  <a:tcPr marL="54864" marR="54864" marT="27432" marB="27432">
                    <a:solidFill>
                      <a:srgbClr val="FFF3B0"/>
                    </a:solidFill>
                  </a:tcPr>
                </a:tc>
                <a:tc>
                  <a:txBody>
                    <a:bodyPr wrap="square"/>
                    <a:lstStyle/>
                    <a:p>
                      <a:pPr>
                        <a:spcAft>
                          <a:spcPts val="0"/>
                        </a:spcAft>
                      </a:pPr>
                      <a:r>
                        <a:rPr sz="1100" b="0" i="0">
                          <a:solidFill>
                            <a:srgbClr val="000000"/>
                          </a:solidFill>
                        </a:rPr>
                        <a:t>sign-off by both user categories on conops.md A0</a:t>
                      </a:r>
                    </a:p>
                  </a:txBody>
                  <a:tcPr marL="54864" marR="54864" marT="27432" marB="27432">
                    <a:solidFill>
                      <a:srgbClr val="F3F0F9"/>
                    </a:solidFill>
                  </a:tcPr>
                </a:tc>
              </a:tr>
              <a:tr h="384048">
                <a:tc>
                  <a:txBody>
                    <a:bodyPr wrap="square"/>
                    <a:lstStyle/>
                    <a:p>
                      <a:pPr>
                        <a:spcAft>
                          <a:spcPts val="0"/>
                        </a:spcAft>
                      </a:pPr>
                      <a:r>
                        <a:rPr sz="1100" b="0" i="0">
                          <a:solidFill>
                            <a:srgbClr val="000000"/>
                          </a:solidFill>
                        </a:rPr>
                        <a:t>TR  traceable</a:t>
                      </a:r>
                    </a:p>
                  </a:txBody>
                  <a:tcPr marL="54864" marR="54864" marT="27432" marB="27432">
                    <a:solidFill>
                      <a:srgbClr val="FFFFFF"/>
                    </a:solidFill>
                  </a:tcPr>
                </a:tc>
                <a:tc>
                  <a:txBody>
                    <a:bodyPr wrap="square"/>
                    <a:lstStyle/>
                    <a:p>
                      <a:pPr>
                        <a:spcAft>
                          <a:spcPts val="0"/>
                        </a:spcAft>
                      </a:pPr>
                      <a:r>
                        <a:rPr sz="1100" b="1" i="0">
                          <a:solidFill>
                            <a:srgbClr val="2E7D32"/>
                          </a:solidFill>
                        </a:rPr>
                        <a:t>established</a:t>
                      </a:r>
                    </a:p>
                  </a:txBody>
                  <a:tcPr marL="54864" marR="54864" marT="27432" marB="27432">
                    <a:solidFill>
                      <a:srgbClr val="DDF2DD"/>
                    </a:solidFill>
                  </a:tcPr>
                </a:tc>
                <a:tc>
                  <a:txBody>
                    <a:bodyPr wrap="square"/>
                    <a:lstStyle/>
                    <a:p>
                      <a:pPr>
                        <a:spcAft>
                          <a:spcPts val="0"/>
                        </a:spcAft>
                      </a:pPr>
                      <a:r>
                        <a:rPr sz="1100" b="0" i="0">
                          <a:solidFill>
                            <a:srgbClr val="000000"/>
                          </a:solidFill>
                        </a:rPr>
                        <a:t>every marker and every "derived from" resolves</a:t>
                      </a:r>
                    </a:p>
                  </a:txBody>
                  <a:tcPr marL="54864" marR="54864" marT="27432" marB="27432">
                    <a:solidFill>
                      <a:srgbClr val="FFFFFF"/>
                    </a:solidFill>
                  </a:tcPr>
                </a:tc>
              </a:tr>
            </a:tbl>
          </a:graphicData>
        </a:graphic>
      </p:graphicFrame>
      <p:sp>
        <p:nvSpPr>
          <p:cNvPr id="7" name="TextBox 6"/>
          <p:cNvSpPr txBox="1"/>
          <p:nvPr/>
        </p:nvSpPr>
        <p:spPr>
          <a:xfrm>
            <a:off x="7726679" y="2057400"/>
            <a:ext cx="4069080" cy="4206240"/>
          </a:xfrm>
          <a:prstGeom prst="rect">
            <a:avLst/>
          </a:prstGeom>
          <a:noFill/>
        </p:spPr>
        <p:txBody>
          <a:bodyPr wrap="square" lIns="45720" rIns="45720" tIns="27432" bIns="27432">
            <a:spAutoFit/>
          </a:bodyPr>
          <a:lstStyle/>
          <a:p>
            <a:pPr marL="182880" indent="-182880">
              <a:spcAft>
                <a:spcPts val="700"/>
              </a:spcAft>
              <a:buChar char="•"/>
            </a:pPr>
            <a:r>
              <a:rPr sz="1200" b="0" i="0"/>
              <a:t>US-2 and REQ-2 agree with each other: consistent</a:t>
            </a:r>
          </a:p>
          <a:p>
            <a:pPr marL="182880" indent="-182880">
              <a:spcAft>
                <a:spcPts val="700"/>
              </a:spcAft>
              <a:buChar char="•"/>
            </a:pPr>
            <a:r>
              <a:rPr sz="1200" b="0" i="0"/>
              <a:t>Every requirement has a passing test; branch coverage is complete; every identifier resolves</a:t>
            </a:r>
          </a:p>
          <a:p>
            <a:pPr marL="182880" indent="-182880">
              <a:spcAft>
                <a:spcPts val="700"/>
              </a:spcAft>
              <a:buChar char="•"/>
            </a:pPr>
            <a:r>
              <a:rPr sz="1200" b="0" i="0"/>
              <a:t>Four rows on sound evidence; the fifth too, if the officer signs without reading</a:t>
            </a:r>
          </a:p>
          <a:p>
            <a:pPr marL="182880" indent="-182880">
              <a:spcAft>
                <a:spcPts val="700"/>
              </a:spcAft>
              <a:buChar char="•"/>
            </a:pPr>
            <a:r>
              <a:rPr sz="1200" b="1" i="0"/>
              <a:t>Nothing in the repository can detect it: </a:t>
            </a:r>
            <a:r>
              <a:rPr sz="1200" b="0" i="0"/>
              <a:t>every artifact was derived from the same misunderstanding</a:t>
            </a:r>
          </a:p>
          <a:p>
            <a:pPr marL="182880" indent="-182880">
              <a:spcAft>
                <a:spcPts val="700"/>
              </a:spcAft>
              <a:buChar char="•"/>
            </a:pPr>
            <a:r>
              <a:rPr sz="1200" b="1" i="0"/>
              <a:t>What catches it: </a:t>
            </a:r>
            <a:r>
              <a:rPr sz="1200" b="0" i="0"/>
              <a:t>the officer walking US-2, seeing pass: Restricted 7, and saying this is not what they want; or reading the concept of operations and declining to sign</a:t>
            </a:r>
          </a:p>
        </p:txBody>
      </p:sp>
      <p:sp>
        <p:nvSpPr>
          <p:cNvPr id="8" name="TextBox 7"/>
          <p:cNvSpPr txBox="1"/>
          <p:nvPr/>
        </p:nvSpPr>
        <p:spPr>
          <a:xfrm>
            <a:off x="777240" y="4754880"/>
            <a:ext cx="6675120" cy="1463040"/>
          </a:xfrm>
          <a:prstGeom prst="rect">
            <a:avLst/>
          </a:prstGeom>
          <a:noFill/>
        </p:spPr>
        <p:txBody>
          <a:bodyPr wrap="square" lIns="45720" rIns="45720">
            <a:spAutoFit/>
          </a:bodyPr>
          <a:lstStyle/>
          <a:p>
            <a:pPr>
              <a:spcAft>
                <a:spcPts val="400"/>
              </a:spcAft>
            </a:pPr>
            <a:r>
              <a:rPr sz="1250" b="0" i="0"/>
              <a:t>This is why validation is a separate judgment with a separate row, and why the row's evidence is a person's recorded decision rather than a tool's output. There is no command to run for this sabotage; that is its point.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Traceability in A0</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32</a:t>
            </a:r>
          </a:p>
        </p:txBody>
      </p:sp>
      <p:sp>
        <p:nvSpPr>
          <p:cNvPr id="5" name="Rectangle 4"/>
          <p:cNvSpPr/>
          <p:nvPr/>
        </p:nvSpPr>
        <p:spPr>
          <a:xfrm>
            <a:off x="777240" y="1417320"/>
            <a:ext cx="2011680" cy="10058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200" b="1" i="0">
                <a:solidFill>
                  <a:srgbClr val="000000"/>
                </a:solidFill>
              </a:rPr>
              <a:t>US-3</a:t>
            </a:r>
          </a:p>
          <a:p>
            <a:pPr algn="ctr">
              <a:spcAft>
                <a:spcPts val="0"/>
              </a:spcAft>
            </a:pPr>
            <a:r>
              <a:rPr sz="1050" b="0" i="0">
                <a:solidFill>
                  <a:srgbClr val="595959"/>
                </a:solidFill>
              </a:rPr>
              <a:t>story</a:t>
            </a:r>
          </a:p>
          <a:p>
            <a:pPr algn="ctr">
              <a:spcAft>
                <a:spcPts val="200"/>
              </a:spcAft>
            </a:pPr>
            <a:r>
              <a:rPr sz="950" b="0" i="0">
                <a:solidFill>
                  <a:srgbClr val="595959"/>
                </a:solidFill>
              </a:rPr>
              <a:t>conops.md</a:t>
            </a:r>
          </a:p>
        </p:txBody>
      </p:sp>
      <p:cxnSp>
        <p:nvCxnSpPr>
          <p:cNvPr id="6" name="Connector 5"/>
          <p:cNvCxnSpPr/>
          <p:nvPr/>
        </p:nvCxnSpPr>
        <p:spPr>
          <a:xfrm>
            <a:off x="2807208" y="1920240"/>
            <a:ext cx="19202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3017520" y="1417320"/>
            <a:ext cx="2011680" cy="10058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200" b="1" i="0">
                <a:solidFill>
                  <a:srgbClr val="000000"/>
                </a:solidFill>
              </a:rPr>
              <a:t>REQ-1</a:t>
            </a:r>
          </a:p>
          <a:p>
            <a:pPr algn="ctr">
              <a:spcAft>
                <a:spcPts val="0"/>
              </a:spcAft>
            </a:pPr>
            <a:r>
              <a:rPr sz="1050" b="0" i="0">
                <a:solidFill>
                  <a:srgbClr val="595959"/>
                </a:solidFill>
              </a:rPr>
              <a:t>requirement</a:t>
            </a:r>
          </a:p>
          <a:p>
            <a:pPr algn="ctr">
              <a:spcAft>
                <a:spcPts val="200"/>
              </a:spcAft>
            </a:pPr>
            <a:r>
              <a:rPr sz="950" b="0" i="0">
                <a:solidFill>
                  <a:srgbClr val="595959"/>
                </a:solidFill>
              </a:rPr>
              <a:t>derived from US-3</a:t>
            </a:r>
          </a:p>
        </p:txBody>
      </p:sp>
      <p:cxnSp>
        <p:nvCxnSpPr>
          <p:cNvPr id="8" name="Connector 7"/>
          <p:cNvCxnSpPr/>
          <p:nvPr/>
        </p:nvCxnSpPr>
        <p:spPr>
          <a:xfrm>
            <a:off x="5047488" y="1920240"/>
            <a:ext cx="19202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257800" y="1417320"/>
            <a:ext cx="2011680" cy="1005840"/>
          </a:xfrm>
          <a:prstGeom prst="rect">
            <a:avLst/>
          </a:prstGeom>
          <a:solidFill>
            <a:srgbClr val="D9D2EC"/>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rgbClr val="000000"/>
                </a:solidFill>
                <a:latin typeface="Courier New"/>
              </a:rPr>
              <a:t>test_critical_is_dropped</a:t>
            </a:r>
          </a:p>
          <a:p>
            <a:pPr algn="ctr">
              <a:spcAft>
                <a:spcPts val="0"/>
              </a:spcAft>
            </a:pPr>
            <a:r>
              <a:rPr sz="1050" b="0" i="0">
                <a:solidFill>
                  <a:srgbClr val="595959"/>
                </a:solidFill>
              </a:rPr>
              <a:t>test</a:t>
            </a:r>
          </a:p>
          <a:p>
            <a:pPr algn="ctr">
              <a:spcAft>
                <a:spcPts val="200"/>
              </a:spcAft>
            </a:pPr>
            <a:r>
              <a:rPr sz="950" b="0" i="0">
                <a:solidFill>
                  <a:srgbClr val="595959"/>
                </a:solidFill>
              </a:rPr>
              <a:t>@pytest.mark.req("REQ-1")</a:t>
            </a:r>
          </a:p>
        </p:txBody>
      </p:sp>
      <p:cxnSp>
        <p:nvCxnSpPr>
          <p:cNvPr id="10" name="Connector 9"/>
          <p:cNvCxnSpPr/>
          <p:nvPr/>
        </p:nvCxnSpPr>
        <p:spPr>
          <a:xfrm>
            <a:off x="7287768" y="1920240"/>
            <a:ext cx="19202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7498080" y="1417320"/>
            <a:ext cx="2011680" cy="1005840"/>
          </a:xfrm>
          <a:prstGeom prst="rect">
            <a:avLst/>
          </a:prstGeom>
          <a:solidFill>
            <a:srgbClr val="FFF3B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200" b="1" i="0">
                <a:solidFill>
                  <a:srgbClr val="000000"/>
                </a:solidFill>
              </a:rPr>
              <a:t>REQ-1 row</a:t>
            </a:r>
          </a:p>
          <a:p>
            <a:pPr algn="ctr">
              <a:spcAft>
                <a:spcPts val="0"/>
              </a:spcAft>
            </a:pPr>
            <a:r>
              <a:rPr sz="1050" b="0" i="0">
                <a:solidFill>
                  <a:srgbClr val="595959"/>
                </a:solidFill>
              </a:rPr>
              <a:t>conformance report</a:t>
            </a:r>
          </a:p>
          <a:p>
            <a:pPr algn="ctr">
              <a:spcAft>
                <a:spcPts val="200"/>
              </a:spcAft>
            </a:pPr>
            <a:r>
              <a:rPr sz="950" b="0" i="0">
                <a:solidFill>
                  <a:srgbClr val="595959"/>
                </a:solidFill>
              </a:rPr>
              <a:t>pass</a:t>
            </a:r>
          </a:p>
        </p:txBody>
      </p:sp>
      <p:cxnSp>
        <p:nvCxnSpPr>
          <p:cNvPr id="12" name="Connector 11"/>
          <p:cNvCxnSpPr/>
          <p:nvPr/>
        </p:nvCxnSpPr>
        <p:spPr>
          <a:xfrm>
            <a:off x="9528048" y="1920240"/>
            <a:ext cx="19202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9738360" y="1417320"/>
            <a:ext cx="2011680" cy="1005840"/>
          </a:xfrm>
          <a:prstGeom prst="rect">
            <a:avLst/>
          </a:prstGeom>
          <a:solidFill>
            <a:srgbClr val="FFF3B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200" b="1" i="0">
                <a:solidFill>
                  <a:srgbClr val="000000"/>
                </a:solidFill>
              </a:rPr>
              <a:t>CONF row</a:t>
            </a:r>
          </a:p>
          <a:p>
            <a:pPr algn="ctr">
              <a:spcAft>
                <a:spcPts val="0"/>
              </a:spcAft>
            </a:pPr>
            <a:r>
              <a:rPr sz="1050" b="0" i="0">
                <a:solidFill>
                  <a:srgbClr val="595959"/>
                </a:solidFill>
              </a:rPr>
              <a:t>ledger</a:t>
            </a:r>
          </a:p>
          <a:p>
            <a:pPr algn="ctr">
              <a:spcAft>
                <a:spcPts val="200"/>
              </a:spcAft>
            </a:pPr>
            <a:r>
              <a:rPr sz="950" b="0" i="0">
                <a:solidFill>
                  <a:srgbClr val="595959"/>
                </a:solidFill>
              </a:rPr>
              <a:t>cites the report</a:t>
            </a:r>
          </a:p>
        </p:txBody>
      </p:sp>
      <p:sp>
        <p:nvSpPr>
          <p:cNvPr id="14" name="TextBox 13"/>
          <p:cNvSpPr txBox="1"/>
          <p:nvPr/>
        </p:nvSpPr>
        <p:spPr>
          <a:xfrm>
            <a:off x="777240" y="2514600"/>
            <a:ext cx="10972800" cy="365760"/>
          </a:xfrm>
          <a:prstGeom prst="rect">
            <a:avLst/>
          </a:prstGeom>
          <a:noFill/>
        </p:spPr>
        <p:txBody>
          <a:bodyPr wrap="square" lIns="45720" rIns="45720">
            <a:spAutoFit/>
          </a:bodyPr>
          <a:lstStyle/>
          <a:p>
            <a:pPr>
              <a:spcAft>
                <a:spcPts val="400"/>
              </a:spcAft>
            </a:pPr>
            <a:r>
              <a:rPr sz="1200" b="0" i="0"/>
              <a:t>Every link resolves in both directions; a reader can go from any claim to its evidence, and from any change to its consequences.</a:t>
            </a:r>
          </a:p>
        </p:txBody>
      </p:sp>
      <p:graphicFrame>
        <p:nvGraphicFramePr>
          <p:cNvPr id="15" name="Table 14"/>
          <p:cNvGraphicFramePr>
            <a:graphicFrameLocks noGrp="1"/>
          </p:cNvGraphicFramePr>
          <p:nvPr/>
        </p:nvGraphicFramePr>
        <p:xfrm>
          <a:off x="777240" y="3063240"/>
          <a:ext cx="6675120" cy="2286000"/>
        </p:xfrm>
        <a:graphic>
          <a:graphicData uri="http://schemas.openxmlformats.org/drawingml/2006/table">
            <a:tbl>
              <a:tblPr firstRow="1" bandRow="1">
                <a:tableStyleId>{5C22544A-7EE6-4342-B048-85BDC9FD1C3A}</a:tableStyleId>
              </a:tblPr>
              <a:tblGrid>
                <a:gridCol w="1188720"/>
                <a:gridCol w="5486400"/>
              </a:tblGrid>
              <a:tr h="457200">
                <a:tc>
                  <a:txBody>
                    <a:bodyPr wrap="square"/>
                    <a:lstStyle/>
                    <a:p>
                      <a:pPr>
                        <a:spcAft>
                          <a:spcPts val="0"/>
                        </a:spcAft>
                      </a:pPr>
                      <a:r>
                        <a:rPr sz="1100" b="1" i="0">
                          <a:solidFill>
                            <a:srgbClr val="FFFFFF"/>
                          </a:solidFill>
                        </a:rPr>
                        <a:t>TR-1</a:t>
                      </a:r>
                    </a:p>
                  </a:txBody>
                  <a:tcPr marL="54864" marR="54864" marT="27432" marB="27432">
                    <a:solidFill>
                      <a:srgbClr val="990099"/>
                    </a:solidFill>
                  </a:tcPr>
                </a:tc>
                <a:tc>
                  <a:txBody>
                    <a:bodyPr wrap="square"/>
                    <a:lstStyle/>
                    <a:p>
                      <a:pPr>
                        <a:spcAft>
                          <a:spcPts val="0"/>
                        </a:spcAft>
                      </a:pPr>
                      <a:r>
                        <a:rPr sz="1100" b="1" i="0">
                          <a:solidFill>
                            <a:srgbClr val="FFFFFF"/>
                          </a:solidFill>
                        </a:rPr>
                        <a:t/>
                      </a:r>
                    </a:p>
                  </a:txBody>
                  <a:tcPr marL="54864" marR="54864" marT="27432" marB="27432">
                    <a:solidFill>
                      <a:srgbClr val="990099"/>
                    </a:solidFill>
                  </a:tcPr>
                </a:tc>
              </a:tr>
              <a:tr h="457200">
                <a:tc>
                  <a:txBody>
                    <a:bodyPr wrap="square"/>
                    <a:lstStyle/>
                    <a:p>
                      <a:pPr>
                        <a:spcAft>
                          <a:spcPts val="0"/>
                        </a:spcAft>
                      </a:pPr>
                      <a:r>
                        <a:rPr sz="1100" b="0" i="0">
                          <a:solidFill>
                            <a:srgbClr val="000000"/>
                          </a:solidFill>
                        </a:rPr>
                        <a:t>Statement</a:t>
                      </a:r>
                    </a:p>
                  </a:txBody>
                  <a:tcPr marL="54864" marR="54864" marT="27432" marB="27432">
                    <a:solidFill>
                      <a:srgbClr val="FFFFFF"/>
                    </a:solidFill>
                  </a:tcPr>
                </a:tc>
                <a:tc>
                  <a:txBody>
                    <a:bodyPr wrap="square"/>
                    <a:lstStyle/>
                    <a:p>
                      <a:pPr>
                        <a:spcAft>
                          <a:spcPts val="0"/>
                        </a:spcAft>
                      </a:pPr>
                      <a:r>
                        <a:rPr sz="1100" b="0" i="0">
                          <a:solidFill>
                            <a:srgbClr val="000000"/>
                          </a:solidFill>
                        </a:rPr>
                        <a:t>Every req marker MUST name a clause the specifications define; every "derived from" MUST name a clause that exists.</a:t>
                      </a:r>
                    </a:p>
                  </a:txBody>
                  <a:tcPr marL="54864" marR="54864" marT="27432" marB="27432">
                    <a:solidFill>
                      <a:srgbClr val="FFFFFF"/>
                    </a:solidFill>
                  </a:tcPr>
                </a:tc>
              </a:tr>
              <a:tr h="457200">
                <a:tc>
                  <a:txBody>
                    <a:bodyPr wrap="square"/>
                    <a:lstStyle/>
                    <a:p>
                      <a:pPr>
                        <a:spcAft>
                          <a:spcPts val="0"/>
                        </a:spcAft>
                      </a:pPr>
                      <a:r>
                        <a:rPr sz="1100" b="0" i="0">
                          <a:solidFill>
                            <a:srgbClr val="000000"/>
                          </a:solidFill>
                        </a:rPr>
                        <a:t>Decided by</a:t>
                      </a:r>
                    </a:p>
                  </a:txBody>
                  <a:tcPr marL="54864" marR="54864" marT="27432" marB="27432">
                    <a:solidFill>
                      <a:srgbClr val="F3F0F9"/>
                    </a:solidFill>
                  </a:tcPr>
                </a:tc>
                <a:tc>
                  <a:txBody>
                    <a:bodyPr wrap="square"/>
                    <a:lstStyle/>
                    <a:p>
                      <a:pPr>
                        <a:spcAft>
                          <a:spcPts val="0"/>
                        </a:spcAft>
                      </a:pPr>
                      <a:r>
                        <a:rPr sz="1100" b="0" i="0">
                          <a:solidFill>
                            <a:srgbClr val="000000"/>
                          </a:solidFill>
                        </a:rPr>
                        <a:t>analysis: the report plugin lists unknown identifiers and fails the run; --strict-markers rejects an undeclared marker. The derived-from part: a person, with SQ-1.</a:t>
                      </a:r>
                    </a:p>
                  </a:txBody>
                  <a:tcPr marL="54864" marR="54864" marT="27432" marB="27432">
                    <a:solidFill>
                      <a:srgbClr val="F3F0F9"/>
                    </a:solidFill>
                  </a:tcPr>
                </a:tc>
              </a:tr>
              <a:tr h="457200">
                <a:tc>
                  <a:txBody>
                    <a:bodyPr wrap="square"/>
                    <a:lstStyle/>
                    <a:p>
                      <a:pPr>
                        <a:spcAft>
                          <a:spcPts val="0"/>
                        </a:spcAft>
                      </a:pPr>
                      <a:r>
                        <a:rPr sz="1100" b="0" i="0">
                          <a:solidFill>
                            <a:srgbClr val="000000"/>
                          </a:solidFill>
                        </a:rPr>
                        <a:t>Evidence</a:t>
                      </a:r>
                    </a:p>
                  </a:txBody>
                  <a:tcPr marL="54864" marR="54864" marT="27432" marB="27432">
                    <a:solidFill>
                      <a:srgbClr val="FFFFFF"/>
                    </a:solidFill>
                  </a:tcPr>
                </a:tc>
                <a:tc>
                  <a:txBody>
                    <a:bodyPr wrap="square"/>
                    <a:lstStyle/>
                    <a:p>
                      <a:pPr>
                        <a:spcAft>
                          <a:spcPts val="0"/>
                        </a:spcAft>
                      </a:pPr>
                      <a:r>
                        <a:rPr sz="1100" b="0" i="0">
                          <a:solidFill>
                            <a:srgbClr val="000000"/>
                          </a:solidFill>
                        </a:rPr>
                        <a:t>the Unknown identifiers section of reports/conformance.md</a:t>
                      </a:r>
                    </a:p>
                  </a:txBody>
                  <a:tcPr marL="54864" marR="54864" marT="27432" marB="27432">
                    <a:solidFill>
                      <a:srgbClr val="FFFFFF"/>
                    </a:solidFill>
                  </a:tcPr>
                </a:tc>
              </a:tr>
              <a:tr h="457200">
                <a:tc>
                  <a:txBody>
                    <a:bodyPr wrap="square"/>
                    <a:lstStyle/>
                    <a:p>
                      <a:pPr>
                        <a:spcAft>
                          <a:spcPts val="0"/>
                        </a:spcAft>
                      </a:pPr>
                      <a:r>
                        <a:rPr sz="1100" b="0" i="0">
                          <a:solidFill>
                            <a:srgbClr val="000000"/>
                          </a:solidFill>
                        </a:rPr>
                        <a:t>On failure</a:t>
                      </a:r>
                    </a:p>
                  </a:txBody>
                  <a:tcPr marL="54864" marR="54864" marT="27432" marB="27432">
                    <a:solidFill>
                      <a:srgbClr val="F3F0F9"/>
                    </a:solidFill>
                  </a:tcPr>
                </a:tc>
                <a:tc>
                  <a:txBody>
                    <a:bodyPr wrap="square"/>
                    <a:lstStyle/>
                    <a:p>
                      <a:pPr>
                        <a:spcAft>
                          <a:spcPts val="0"/>
                        </a:spcAft>
                      </a:pPr>
                      <a:r>
                        <a:rPr sz="1100" b="0" i="0">
                          <a:solidFill>
                            <a:srgbClr val="000000"/>
                          </a:solidFill>
                        </a:rPr>
                        <a:t>the marker or the reference is corrected</a:t>
                      </a:r>
                    </a:p>
                  </a:txBody>
                  <a:tcPr marL="54864" marR="54864" marT="27432" marB="27432">
                    <a:solidFill>
                      <a:srgbClr val="F3F0F9"/>
                    </a:solidFill>
                  </a:tcPr>
                </a:tc>
              </a:tr>
            </a:tbl>
          </a:graphicData>
        </a:graphic>
      </p:graphicFrame>
      <p:sp>
        <p:nvSpPr>
          <p:cNvPr id="16" name="TextBox 15"/>
          <p:cNvSpPr txBox="1"/>
          <p:nvPr/>
        </p:nvSpPr>
        <p:spPr>
          <a:xfrm>
            <a:off x="7726679" y="3063240"/>
            <a:ext cx="4069080" cy="3200400"/>
          </a:xfrm>
          <a:prstGeom prst="rect">
            <a:avLst/>
          </a:prstGeom>
          <a:noFill/>
        </p:spPr>
        <p:txBody>
          <a:bodyPr wrap="square" lIns="45720" rIns="45720" tIns="27432" bIns="27432">
            <a:spAutoFit/>
          </a:bodyPr>
          <a:lstStyle/>
          <a:p>
            <a:pPr>
              <a:spcAft>
                <a:spcPts val="600"/>
              </a:spcAft>
            </a:pPr>
            <a:r>
              <a:rPr sz="1300" b="1" i="0">
                <a:solidFill>
                  <a:srgbClr val="990099"/>
                </a:solidFill>
              </a:rPr>
              <a:t>Why TR is a row</a:t>
            </a:r>
          </a:p>
          <a:p>
            <a:pPr marL="182880" indent="-182880">
              <a:spcAft>
                <a:spcPts val="700"/>
              </a:spcAft>
              <a:buChar char="•"/>
            </a:pPr>
            <a:r>
              <a:rPr sz="1200" b="0" i="0"/>
              <a:t>Its own row because a program decides it cheaply, and the other four rows depend on it clause by clause</a:t>
            </a:r>
          </a:p>
          <a:p>
            <a:pPr marL="182880" indent="-182880">
              <a:spcAft>
                <a:spcPts val="700"/>
              </a:spcAft>
              <a:buChar char="•"/>
            </a:pPr>
            <a:r>
              <a:rPr sz="1200" b="0" i="0"/>
              <a:t>A conformance report is readable only if its identifiers resolve; an audit finding is actionable only if it names a clause</a:t>
            </a:r>
          </a:p>
          <a:p>
            <a:pPr marL="182880" indent="-182880">
              <a:spcAft>
                <a:spcPts val="700"/>
              </a:spcAft>
              <a:buChar char="•"/>
            </a:pPr>
            <a:r>
              <a:rPr sz="1200" b="1" i="0"/>
              <a:t>The identifiers are the vocabulary </a:t>
            </a:r>
            <a:r>
              <a:rPr sz="1200" b="0" i="0"/>
              <a:t>that the person, the agent, and the programs share: when all three say REQ-1 they mean the same sentence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ledger at v0</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33</a:t>
            </a:r>
          </a:p>
        </p:txBody>
      </p:sp>
      <p:graphicFrame>
        <p:nvGraphicFramePr>
          <p:cNvPr id="5" name="Table 4"/>
          <p:cNvGraphicFramePr>
            <a:graphicFrameLocks noGrp="1"/>
          </p:cNvGraphicFramePr>
          <p:nvPr/>
        </p:nvGraphicFramePr>
        <p:xfrm>
          <a:off x="777240" y="1325880"/>
          <a:ext cx="11018520" cy="3401568"/>
        </p:xfrm>
        <a:graphic>
          <a:graphicData uri="http://schemas.openxmlformats.org/drawingml/2006/table">
            <a:tbl>
              <a:tblPr firstRow="1" bandRow="1">
                <a:tableStyleId>{5C22544A-7EE6-4342-B048-85BDC9FD1C3A}</a:tableStyleId>
              </a:tblPr>
              <a:tblGrid>
                <a:gridCol w="822960"/>
                <a:gridCol w="1005840"/>
                <a:gridCol w="3108960"/>
                <a:gridCol w="3931920"/>
                <a:gridCol w="2148840"/>
              </a:tblGrid>
              <a:tr h="566928">
                <a:tc>
                  <a:txBody>
                    <a:bodyPr wrap="square"/>
                    <a:lstStyle/>
                    <a:p>
                      <a:pPr>
                        <a:spcAft>
                          <a:spcPts val="0"/>
                        </a:spcAft>
                      </a:pPr>
                      <a:r>
                        <a:rPr sz="1050" b="1" i="0">
                          <a:solidFill>
                            <a:srgbClr val="FFFFFF"/>
                          </a:solidFill>
                        </a:rPr>
                        <a:t>Judgment</a:t>
                      </a:r>
                    </a:p>
                  </a:txBody>
                  <a:tcPr marL="54864" marR="54864" marT="27432" marB="27432">
                    <a:solidFill>
                      <a:srgbClr val="6E1EC6"/>
                    </a:solidFill>
                  </a:tcPr>
                </a:tc>
                <a:tc>
                  <a:txBody>
                    <a:bodyPr wrap="square"/>
                    <a:lstStyle/>
                    <a:p>
                      <a:pPr>
                        <a:spcAft>
                          <a:spcPts val="0"/>
                        </a:spcAft>
                      </a:pPr>
                      <a:r>
                        <a:rPr sz="1050" b="1" i="0">
                          <a:solidFill>
                            <a:srgbClr val="FFFFFF"/>
                          </a:solidFill>
                        </a:rPr>
                        <a:t>Status</a:t>
                      </a:r>
                    </a:p>
                  </a:txBody>
                  <a:tcPr marL="54864" marR="54864" marT="27432" marB="27432">
                    <a:solidFill>
                      <a:srgbClr val="6E1EC6"/>
                    </a:solidFill>
                  </a:tcPr>
                </a:tc>
                <a:tc>
                  <a:txBody>
                    <a:bodyPr wrap="square"/>
                    <a:lstStyle/>
                    <a:p>
                      <a:pPr>
                        <a:spcAft>
                          <a:spcPts val="0"/>
                        </a:spcAft>
                      </a:pPr>
                      <a:r>
                        <a:rPr sz="1050" b="1" i="0">
                          <a:solidFill>
                            <a:srgbClr val="FFFFFF"/>
                          </a:solidFill>
                        </a:rPr>
                        <a:t>Evidence</a:t>
                      </a:r>
                    </a:p>
                  </a:txBody>
                  <a:tcPr marL="54864" marR="54864" marT="27432" marB="27432">
                    <a:solidFill>
                      <a:srgbClr val="6E1EC6"/>
                    </a:solidFill>
                  </a:tcPr>
                </a:tc>
                <a:tc>
                  <a:txBody>
                    <a:bodyPr wrap="square"/>
                    <a:lstStyle/>
                    <a:p>
                      <a:pPr>
                        <a:spcAft>
                          <a:spcPts val="0"/>
                        </a:spcAft>
                      </a:pPr>
                      <a:r>
                        <a:rPr sz="1050" b="1" i="0">
                          <a:solidFill>
                            <a:srgbClr val="FFFFFF"/>
                          </a:solidFill>
                        </a:rPr>
                        <a:t>Provenance</a:t>
                      </a:r>
                    </a:p>
                  </a:txBody>
                  <a:tcPr marL="54864" marR="54864" marT="27432" marB="27432">
                    <a:solidFill>
                      <a:srgbClr val="6E1EC6"/>
                    </a:solidFill>
                  </a:tcPr>
                </a:tc>
                <a:tc>
                  <a:txBody>
                    <a:bodyPr wrap="square"/>
                    <a:lstStyle/>
                    <a:p>
                      <a:pPr>
                        <a:spcAft>
                          <a:spcPts val="0"/>
                        </a:spcAft>
                      </a:pPr>
                      <a:r>
                        <a:rPr sz="1050" b="1" i="0">
                          <a:solidFill>
                            <a:srgbClr val="FFFFFF"/>
                          </a:solidFill>
                        </a:rPr>
                        <a:t>Goes stale when</a:t>
                      </a:r>
                    </a:p>
                  </a:txBody>
                  <a:tcPr marL="54864" marR="54864" marT="27432" marB="27432">
                    <a:solidFill>
                      <a:srgbClr val="6E1EC6"/>
                    </a:solidFill>
                  </a:tcPr>
                </a:tc>
              </a:tr>
              <a:tr h="566928">
                <a:tc>
                  <a:txBody>
                    <a:bodyPr wrap="square"/>
                    <a:lstStyle/>
                    <a:p>
                      <a:pPr>
                        <a:spcAft>
                          <a:spcPts val="0"/>
                        </a:spcAft>
                      </a:pPr>
                      <a:r>
                        <a:rPr sz="1050" b="0" i="0">
                          <a:solidFill>
                            <a:srgbClr val="000000"/>
                          </a:solidFill>
                        </a:rPr>
                        <a:t>SQ</a:t>
                      </a:r>
                    </a:p>
                  </a:txBody>
                  <a:tcPr marL="54864" marR="54864" marT="27432" marB="27432">
                    <a:solidFill>
                      <a:srgbClr val="FFFFFF"/>
                    </a:solidFill>
                  </a:tcPr>
                </a:tc>
                <a:tc>
                  <a:txBody>
                    <a:bodyPr wrap="square"/>
                    <a:lstStyle/>
                    <a:p>
                      <a:pPr>
                        <a:spcAft>
                          <a:spcPts val="0"/>
                        </a:spcAft>
                      </a:pPr>
                      <a:r>
                        <a:rPr sz="1050" b="1" i="0">
                          <a:solidFill>
                            <a:srgbClr val="2E7D32"/>
                          </a:solidFill>
                        </a:rPr>
                        <a:t>established</a:t>
                      </a:r>
                    </a:p>
                  </a:txBody>
                  <a:tcPr marL="54864" marR="54864" marT="27432" marB="27432">
                    <a:solidFill>
                      <a:srgbClr val="FFFFFF"/>
                    </a:solidFill>
                  </a:tcPr>
                </a:tc>
                <a:tc>
                  <a:txBody>
                    <a:bodyPr wrap="square"/>
                    <a:lstStyle/>
                    <a:p>
                      <a:pPr>
                        <a:spcAft>
                          <a:spcPts val="0"/>
                        </a:spcAft>
                      </a:pPr>
                      <a:r>
                        <a:rPr sz="1050" b="0" i="0">
                          <a:solidFill>
                            <a:srgbClr val="000000"/>
                          </a:solidFill>
                        </a:rPr>
                        <a:t>two specifications read together; 7 clauses; no contradiction, no clause with two readings</a:t>
                      </a:r>
                    </a:p>
                  </a:txBody>
                  <a:tcPr marL="54864" marR="54864" marT="27432" marB="27432">
                    <a:solidFill>
                      <a:srgbClr val="FFFFFF"/>
                    </a:solidFill>
                  </a:tcPr>
                </a:tc>
                <a:tc>
                  <a:txBody>
                    <a:bodyPr wrap="square"/>
                    <a:lstStyle/>
                    <a:p>
                      <a:pPr>
                        <a:spcAft>
                          <a:spcPts val="0"/>
                        </a:spcAft>
                      </a:pPr>
                      <a:r>
                        <a:rPr sz="1050" b="0" i="0">
                          <a:solidFill>
                            <a:srgbClr val="000000"/>
                          </a:solidFill>
                        </a:rPr>
                        <a:t>review (human): the instructor, 2026-10-20, specifications at v0, US-1–3, REQ-0–3</a:t>
                      </a:r>
                    </a:p>
                  </a:txBody>
                  <a:tcPr marL="54864" marR="54864" marT="27432" marB="27432">
                    <a:solidFill>
                      <a:srgbClr val="FFFFFF"/>
                    </a:solidFill>
                  </a:tcPr>
                </a:tc>
                <a:tc>
                  <a:txBody>
                    <a:bodyPr wrap="square"/>
                    <a:lstStyle/>
                    <a:p>
                      <a:pPr>
                        <a:spcAft>
                          <a:spcPts val="0"/>
                        </a:spcAft>
                      </a:pPr>
                      <a:r>
                        <a:rPr sz="1050" b="0" i="0">
                          <a:solidFill>
                            <a:srgbClr val="000000"/>
                          </a:solidFill>
                        </a:rPr>
                        <a:t>any specification changes</a:t>
                      </a:r>
                    </a:p>
                  </a:txBody>
                  <a:tcPr marL="54864" marR="54864" marT="27432" marB="27432">
                    <a:solidFill>
                      <a:srgbClr val="FFFFFF"/>
                    </a:solidFill>
                  </a:tcPr>
                </a:tc>
              </a:tr>
              <a:tr h="566928">
                <a:tc>
                  <a:txBody>
                    <a:bodyPr wrap="square"/>
                    <a:lstStyle/>
                    <a:p>
                      <a:pPr>
                        <a:spcAft>
                          <a:spcPts val="0"/>
                        </a:spcAft>
                      </a:pPr>
                      <a:r>
                        <a:rPr sz="1050" b="0" i="0">
                          <a:solidFill>
                            <a:srgbClr val="000000"/>
                          </a:solidFill>
                        </a:rPr>
                        <a:t>RQ</a:t>
                      </a:r>
                    </a:p>
                  </a:txBody>
                  <a:tcPr marL="54864" marR="54864" marT="27432" marB="27432">
                    <a:solidFill>
                      <a:srgbClr val="F3F0F9"/>
                    </a:solidFill>
                  </a:tcPr>
                </a:tc>
                <a:tc>
                  <a:txBody>
                    <a:bodyPr wrap="square"/>
                    <a:lstStyle/>
                    <a:p>
                      <a:pPr>
                        <a:spcAft>
                          <a:spcPts val="0"/>
                        </a:spcAft>
                      </a:pPr>
                      <a:r>
                        <a:rPr sz="1050" b="1" i="0">
                          <a:solidFill>
                            <a:srgbClr val="2E7D32"/>
                          </a:solidFill>
                        </a:rPr>
                        <a:t>established</a:t>
                      </a:r>
                    </a:p>
                  </a:txBody>
                  <a:tcPr marL="54864" marR="54864" marT="27432" marB="27432">
                    <a:solidFill>
                      <a:srgbClr val="F3F0F9"/>
                    </a:solidFill>
                  </a:tcPr>
                </a:tc>
                <a:tc>
                  <a:txBody>
                    <a:bodyPr wrap="square"/>
                    <a:lstStyle/>
                    <a:p>
                      <a:pPr>
                        <a:spcAft>
                          <a:spcPts val="0"/>
                        </a:spcAft>
                      </a:pPr>
                      <a:r>
                        <a:rPr sz="1050" b="0" i="0">
                          <a:solidFill>
                            <a:srgbClr val="000000"/>
                          </a:solidFill>
                        </a:rPr>
                        <a:t>ruff exit 0; collect exit 0, 10 tests</a:t>
                      </a:r>
                    </a:p>
                  </a:txBody>
                  <a:tcPr marL="54864" marR="54864" marT="27432" marB="27432">
                    <a:solidFill>
                      <a:srgbClr val="F3F0F9"/>
                    </a:solidFill>
                  </a:tcPr>
                </a:tc>
                <a:tc>
                  <a:txBody>
                    <a:bodyPr wrap="square"/>
                    <a:lstStyle/>
                    <a:p>
                      <a:pPr>
                        <a:spcAft>
                          <a:spcPts val="0"/>
                        </a:spcAft>
                      </a:pPr>
                      <a:r>
                        <a:rPr sz="1050" b="0" i="0">
                          <a:solidFill>
                            <a:srgbClr val="000000"/>
                          </a:solidFill>
                        </a:rPr>
                        <a:t>analysis: ruff 0.17.1, pytest 9.1.1, Python 3.14.7; realization at v0</a:t>
                      </a:r>
                    </a:p>
                  </a:txBody>
                  <a:tcPr marL="54864" marR="54864" marT="27432" marB="27432">
                    <a:solidFill>
                      <a:srgbClr val="F3F0F9"/>
                    </a:solidFill>
                  </a:tcPr>
                </a:tc>
                <a:tc>
                  <a:txBody>
                    <a:bodyPr wrap="square"/>
                    <a:lstStyle/>
                    <a:p>
                      <a:pPr>
                        <a:spcAft>
                          <a:spcPts val="0"/>
                        </a:spcAft>
                      </a:pPr>
                      <a:r>
                        <a:rPr sz="1050" b="0" i="0">
                          <a:solidFill>
                            <a:srgbClr val="000000"/>
                          </a:solidFill>
                        </a:rPr>
                        <a:t>the code or the tests change</a:t>
                      </a:r>
                    </a:p>
                  </a:txBody>
                  <a:tcPr marL="54864" marR="54864" marT="27432" marB="27432">
                    <a:solidFill>
                      <a:srgbClr val="F3F0F9"/>
                    </a:solidFill>
                  </a:tcPr>
                </a:tc>
              </a:tr>
              <a:tr h="566928">
                <a:tc>
                  <a:txBody>
                    <a:bodyPr wrap="square"/>
                    <a:lstStyle/>
                    <a:p>
                      <a:pPr>
                        <a:spcAft>
                          <a:spcPts val="0"/>
                        </a:spcAft>
                      </a:pPr>
                      <a:r>
                        <a:rPr sz="1050" b="0" i="0">
                          <a:solidFill>
                            <a:srgbClr val="000000"/>
                          </a:solidFill>
                        </a:rPr>
                        <a:t>CONF</a:t>
                      </a:r>
                    </a:p>
                  </a:txBody>
                  <a:tcPr marL="54864" marR="54864" marT="27432" marB="27432">
                    <a:solidFill>
                      <a:srgbClr val="FFFFFF"/>
                    </a:solidFill>
                  </a:tcPr>
                </a:tc>
                <a:tc>
                  <a:txBody>
                    <a:bodyPr wrap="square"/>
                    <a:lstStyle/>
                    <a:p>
                      <a:pPr>
                        <a:spcAft>
                          <a:spcPts val="0"/>
                        </a:spcAft>
                      </a:pPr>
                      <a:r>
                        <a:rPr sz="1050" b="1" i="0">
                          <a:solidFill>
                            <a:srgbClr val="2E7D32"/>
                          </a:solidFill>
                        </a:rPr>
                        <a:t>established</a:t>
                      </a:r>
                    </a:p>
                  </a:txBody>
                  <a:tcPr marL="54864" marR="54864" marT="27432" marB="27432">
                    <a:solidFill>
                      <a:srgbClr val="FFFFFF"/>
                    </a:solidFill>
                  </a:tcPr>
                </a:tc>
                <a:tc>
                  <a:txBody>
                    <a:bodyPr wrap="square"/>
                    <a:lstStyle/>
                    <a:p>
                      <a:pPr>
                        <a:spcAft>
                          <a:spcPts val="0"/>
                        </a:spcAft>
                      </a:pPr>
                      <a:r>
                        <a:rPr sz="1050" b="0" i="0">
                          <a:solidFill>
                            <a:srgbClr val="000000"/>
                          </a:solidFill>
                        </a:rPr>
                        <a:t>10 passed; 4 of 4 test clauses; 100% branches; US-1–3 walked</a:t>
                      </a:r>
                    </a:p>
                  </a:txBody>
                  <a:tcPr marL="54864" marR="54864" marT="27432" marB="27432">
                    <a:solidFill>
                      <a:srgbClr val="FFFFFF"/>
                    </a:solidFill>
                  </a:tcPr>
                </a:tc>
                <a:tc>
                  <a:txBody>
                    <a:bodyPr wrap="square"/>
                    <a:lstStyle/>
                    <a:p>
                      <a:pPr>
                        <a:spcAft>
                          <a:spcPts val="0"/>
                        </a:spcAft>
                      </a:pPr>
                      <a:r>
                        <a:rPr sz="1050" b="0" i="0">
                          <a:solidFill>
                            <a:srgbClr val="000000"/>
                          </a:solidFill>
                        </a:rPr>
                        <a:t>analysis: pytest 9.1.1 + pytest-cov 7.1.0 + the plugin, at v0, REQ-0–3; walkthrough (human): the instructor, 2026-10-20, US-1–3</a:t>
                      </a:r>
                    </a:p>
                  </a:txBody>
                  <a:tcPr marL="54864" marR="54864" marT="27432" marB="27432">
                    <a:solidFill>
                      <a:srgbClr val="FFFFFF"/>
                    </a:solidFill>
                  </a:tcPr>
                </a:tc>
                <a:tc>
                  <a:txBody>
                    <a:bodyPr wrap="square"/>
                    <a:lstStyle/>
                    <a:p>
                      <a:pPr>
                        <a:spcAft>
                          <a:spcPts val="0"/>
                        </a:spcAft>
                      </a:pPr>
                      <a:r>
                        <a:rPr sz="1050" b="0" i="0">
                          <a:solidFill>
                            <a:srgbClr val="000000"/>
                          </a:solidFill>
                        </a:rPr>
                        <a:t>a specification or the code changes</a:t>
                      </a:r>
                    </a:p>
                  </a:txBody>
                  <a:tcPr marL="54864" marR="54864" marT="27432" marB="27432">
                    <a:solidFill>
                      <a:srgbClr val="FFFFFF"/>
                    </a:solidFill>
                  </a:tcPr>
                </a:tc>
              </a:tr>
              <a:tr h="566928">
                <a:tc>
                  <a:txBody>
                    <a:bodyPr wrap="square"/>
                    <a:lstStyle/>
                    <a:p>
                      <a:pPr>
                        <a:spcAft>
                          <a:spcPts val="0"/>
                        </a:spcAft>
                      </a:pPr>
                      <a:r>
                        <a:rPr sz="1050" b="0" i="0">
                          <a:solidFill>
                            <a:srgbClr val="000000"/>
                          </a:solidFill>
                        </a:rPr>
                        <a:t>VAL</a:t>
                      </a:r>
                    </a:p>
                  </a:txBody>
                  <a:tcPr marL="54864" marR="54864" marT="27432" marB="27432">
                    <a:solidFill>
                      <a:srgbClr val="F3F0F9"/>
                    </a:solidFill>
                  </a:tcPr>
                </a:tc>
                <a:tc>
                  <a:txBody>
                    <a:bodyPr wrap="square"/>
                    <a:lstStyle/>
                    <a:p>
                      <a:pPr>
                        <a:spcAft>
                          <a:spcPts val="0"/>
                        </a:spcAft>
                      </a:pPr>
                      <a:r>
                        <a:rPr sz="1050" b="1" i="0">
                          <a:solidFill>
                            <a:srgbClr val="2E7D32"/>
                          </a:solidFill>
                        </a:rPr>
                        <a:t>established</a:t>
                      </a:r>
                    </a:p>
                  </a:txBody>
                  <a:tcPr marL="54864" marR="54864" marT="27432" marB="27432">
                    <a:solidFill>
                      <a:srgbClr val="F3F0F9"/>
                    </a:solidFill>
                  </a:tcPr>
                </a:tc>
                <a:tc>
                  <a:txBody>
                    <a:bodyPr wrap="square"/>
                    <a:lstStyle/>
                    <a:p>
                      <a:pPr>
                        <a:spcAft>
                          <a:spcPts val="0"/>
                        </a:spcAft>
                      </a:pPr>
                      <a:r>
                        <a:rPr sz="1050" b="0" i="0">
                          <a:solidFill>
                            <a:srgbClr val="000000"/>
                          </a:solidFill>
                        </a:rPr>
                        <a:t>sign-off by both user categories</a:t>
                      </a:r>
                    </a:p>
                  </a:txBody>
                  <a:tcPr marL="54864" marR="54864" marT="27432" marB="27432">
                    <a:solidFill>
                      <a:srgbClr val="F3F0F9"/>
                    </a:solidFill>
                  </a:tcPr>
                </a:tc>
                <a:tc>
                  <a:txBody>
                    <a:bodyPr wrap="square"/>
                    <a:lstStyle/>
                    <a:p>
                      <a:pPr>
                        <a:spcAft>
                          <a:spcPts val="0"/>
                        </a:spcAft>
                      </a:pPr>
                      <a:r>
                        <a:rPr sz="1050" b="0" i="0">
                          <a:solidFill>
                            <a:srgbClr val="000000"/>
                          </a:solidFill>
                        </a:rPr>
                        <a:t>review (human): sign-off dated 2026-10-20 on conops.md A0</a:t>
                      </a:r>
                    </a:p>
                  </a:txBody>
                  <a:tcPr marL="54864" marR="54864" marT="27432" marB="27432">
                    <a:solidFill>
                      <a:srgbClr val="F3F0F9"/>
                    </a:solidFill>
                  </a:tcPr>
                </a:tc>
                <a:tc>
                  <a:txBody>
                    <a:bodyPr wrap="square"/>
                    <a:lstStyle/>
                    <a:p>
                      <a:pPr>
                        <a:spcAft>
                          <a:spcPts val="0"/>
                        </a:spcAft>
                      </a:pPr>
                      <a:r>
                        <a:rPr sz="1050" b="0" i="0">
                          <a:solidFill>
                            <a:srgbClr val="000000"/>
                          </a:solidFill>
                        </a:rPr>
                        <a:t>a declared change of mind; conops or a requirement changes</a:t>
                      </a:r>
                    </a:p>
                  </a:txBody>
                  <a:tcPr marL="54864" marR="54864" marT="27432" marB="27432">
                    <a:solidFill>
                      <a:srgbClr val="F3F0F9"/>
                    </a:solidFill>
                  </a:tcPr>
                </a:tc>
              </a:tr>
              <a:tr h="566928">
                <a:tc>
                  <a:txBody>
                    <a:bodyPr wrap="square"/>
                    <a:lstStyle/>
                    <a:p>
                      <a:pPr>
                        <a:spcAft>
                          <a:spcPts val="0"/>
                        </a:spcAft>
                      </a:pPr>
                      <a:r>
                        <a:rPr sz="1050" b="0" i="0">
                          <a:solidFill>
                            <a:srgbClr val="000000"/>
                          </a:solidFill>
                        </a:rPr>
                        <a:t>TR</a:t>
                      </a:r>
                    </a:p>
                  </a:txBody>
                  <a:tcPr marL="54864" marR="54864" marT="27432" marB="27432">
                    <a:solidFill>
                      <a:srgbClr val="FFFFFF"/>
                    </a:solidFill>
                  </a:tcPr>
                </a:tc>
                <a:tc>
                  <a:txBody>
                    <a:bodyPr wrap="square"/>
                    <a:lstStyle/>
                    <a:p>
                      <a:pPr>
                        <a:spcAft>
                          <a:spcPts val="0"/>
                        </a:spcAft>
                      </a:pPr>
                      <a:r>
                        <a:rPr sz="1050" b="1" i="0">
                          <a:solidFill>
                            <a:srgbClr val="2E7D32"/>
                          </a:solidFill>
                        </a:rPr>
                        <a:t>established</a:t>
                      </a:r>
                    </a:p>
                  </a:txBody>
                  <a:tcPr marL="54864" marR="54864" marT="27432" marB="27432">
                    <a:solidFill>
                      <a:srgbClr val="FFFFFF"/>
                    </a:solidFill>
                  </a:tcPr>
                </a:tc>
                <a:tc>
                  <a:txBody>
                    <a:bodyPr wrap="square"/>
                    <a:lstStyle/>
                    <a:p>
                      <a:pPr>
                        <a:spcAft>
                          <a:spcPts val="0"/>
                        </a:spcAft>
                      </a:pPr>
                      <a:r>
                        <a:rPr sz="1050" b="0" i="0">
                          <a:solidFill>
                            <a:srgbClr val="000000"/>
                          </a:solidFill>
                        </a:rPr>
                        <a:t>every marker resolves; every derived-from resolves</a:t>
                      </a:r>
                    </a:p>
                  </a:txBody>
                  <a:tcPr marL="54864" marR="54864" marT="27432" marB="27432">
                    <a:solidFill>
                      <a:srgbClr val="FFFFFF"/>
                    </a:solidFill>
                  </a:tcPr>
                </a:tc>
                <a:tc>
                  <a:txBody>
                    <a:bodyPr wrap="square"/>
                    <a:lstStyle/>
                    <a:p>
                      <a:pPr>
                        <a:spcAft>
                          <a:spcPts val="0"/>
                        </a:spcAft>
                      </a:pPr>
                      <a:r>
                        <a:rPr sz="1050" b="0" i="0">
                          <a:solidFill>
                            <a:srgbClr val="000000"/>
                          </a:solidFill>
                        </a:rPr>
                        <a:t>analysis: the plugin at v0 over 10 markers; review (human) for derived-from</a:t>
                      </a:r>
                    </a:p>
                  </a:txBody>
                  <a:tcPr marL="54864" marR="54864" marT="27432" marB="27432">
                    <a:solidFill>
                      <a:srgbClr val="FFFFFF"/>
                    </a:solidFill>
                  </a:tcPr>
                </a:tc>
                <a:tc>
                  <a:txBody>
                    <a:bodyPr wrap="square"/>
                    <a:lstStyle/>
                    <a:p>
                      <a:pPr>
                        <a:spcAft>
                          <a:spcPts val="0"/>
                        </a:spcAft>
                      </a:pPr>
                      <a:r>
                        <a:rPr sz="1050" b="0" i="0">
                          <a:solidFill>
                            <a:srgbClr val="000000"/>
                          </a:solidFill>
                        </a:rPr>
                        <a:t>any artifact changes</a:t>
                      </a:r>
                    </a:p>
                  </a:txBody>
                  <a:tcPr marL="54864" marR="54864" marT="27432" marB="27432">
                    <a:solidFill>
                      <a:srgbClr val="FFFFFF"/>
                    </a:solidFill>
                  </a:tcPr>
                </a:tc>
              </a:tr>
            </a:tbl>
          </a:graphicData>
        </a:graphic>
      </p:graphicFrame>
      <p:sp>
        <p:nvSpPr>
          <p:cNvPr id="6" name="Rectangle 5"/>
          <p:cNvSpPr/>
          <p:nvPr/>
        </p:nvSpPr>
        <p:spPr>
          <a:xfrm>
            <a:off x="777240" y="4846320"/>
            <a:ext cx="11018520" cy="1371600"/>
          </a:xfrm>
          <a:prstGeom prst="rect">
            <a:avLst/>
          </a:prstGeom>
          <a:solidFill>
            <a:srgbClr val="FFF3B0"/>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250" b="1" i="0">
                <a:solidFill>
                  <a:srgbClr val="000000"/>
                </a:solidFill>
              </a:rPr>
              <a:t>A row has four parts</a:t>
            </a:r>
          </a:p>
          <a:p>
            <a:pPr algn="l">
              <a:spcAft>
                <a:spcPts val="200"/>
              </a:spcAft>
            </a:pPr>
            <a:r>
              <a:rPr sz="1150" b="1" i="0">
                <a:solidFill>
                  <a:srgbClr val="000000"/>
                </a:solidFill>
              </a:rPr>
              <a:t>Status</a:t>
            </a:r>
            <a:r>
              <a:rPr sz="1150" b="0" i="0">
                <a:solidFill>
                  <a:srgbClr val="000000"/>
                </a:solidFill>
              </a:rPr>
              <a:t> established or stale.  </a:t>
            </a:r>
            <a:r>
              <a:rPr sz="1150" b="1" i="0">
                <a:solidFill>
                  <a:srgbClr val="000000"/>
                </a:solidFill>
              </a:rPr>
              <a:t>Evidence</a:t>
            </a:r>
            <a:r>
              <a:rPr sz="1150" b="0" i="0">
                <a:solidFill>
                  <a:srgbClr val="000000"/>
                </a:solidFill>
              </a:rPr>
              <a:t> what was produced, named precisely enough to be found.  </a:t>
            </a:r>
            <a:r>
              <a:rPr sz="1150" b="1" i="0">
                <a:solidFill>
                  <a:srgbClr val="000000"/>
                </a:solidFill>
              </a:rPr>
              <a:t>Provenance</a:t>
            </a:r>
            <a:r>
              <a:rPr sz="1150" b="0" i="0">
                <a:solidFill>
                  <a:srgbClr val="000000"/>
                </a:solidFill>
              </a:rPr>
              <a:t> who or what, against which versions, over which clauses: the three scope lines of a verification result, moved onto the row.  </a:t>
            </a:r>
            <a:r>
              <a:rPr sz="1150" b="1" i="0">
                <a:solidFill>
                  <a:srgbClr val="000000"/>
                </a:solidFill>
              </a:rPr>
              <a:t>Stale when</a:t>
            </a:r>
            <a:r>
              <a:rPr sz="1150" b="0" i="0">
                <a:solidFill>
                  <a:srgbClr val="000000"/>
                </a:solidFill>
              </a:rPr>
              <a:t> what change would require re-establishing it.</a:t>
            </a:r>
          </a:p>
          <a:p>
            <a:pPr algn="l">
              <a:spcAft>
                <a:spcPts val="200"/>
              </a:spcAft>
            </a:pPr>
            <a:r>
              <a:rPr sz="1150" b="0" i="1">
                <a:solidFill>
                  <a:srgbClr val="000000"/>
                </a:solidFill>
              </a:rPr>
              <a:t>A row is a claim made by a verifier, not a fact about the system. "pytest 9.1.1 exited 0 at v0" can be rerun; "all tests pass" in an agent's completion message cannot.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gate</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34</a:t>
            </a:r>
          </a:p>
        </p:txBody>
      </p:sp>
      <p:sp>
        <p:nvSpPr>
          <p:cNvPr id="5" name="Rectangle 4"/>
          <p:cNvSpPr/>
          <p:nvPr/>
        </p:nvSpPr>
        <p:spPr>
          <a:xfrm>
            <a:off x="777240" y="1463040"/>
            <a:ext cx="1463040" cy="822960"/>
          </a:xfrm>
          <a:prstGeom prst="rect">
            <a:avLst/>
          </a:prstGeom>
          <a:solidFill>
            <a:srgbClr val="F2F2F2"/>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200" b="0" i="0">
                <a:solidFill>
                  <a:srgbClr val="000000"/>
                </a:solidFill>
              </a:rPr>
              <a:t>work on a task</a:t>
            </a:r>
          </a:p>
        </p:txBody>
      </p:sp>
      <p:cxnSp>
        <p:nvCxnSpPr>
          <p:cNvPr id="6" name="Connector 5"/>
          <p:cNvCxnSpPr/>
          <p:nvPr/>
        </p:nvCxnSpPr>
        <p:spPr>
          <a:xfrm>
            <a:off x="2286000" y="1874519"/>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2788920" y="1325880"/>
            <a:ext cx="3931920" cy="1097280"/>
          </a:xfrm>
          <a:prstGeom prst="rect">
            <a:avLst/>
          </a:prstGeom>
          <a:solidFill>
            <a:srgbClr val="FFF3B0"/>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300" b="1" i="0">
                <a:solidFill>
                  <a:srgbClr val="000000"/>
                </a:solidFill>
                <a:latin typeface="Courier New"/>
              </a:rPr>
              <a:t>tools/gate.sh</a:t>
            </a:r>
          </a:p>
          <a:p>
            <a:pPr algn="ctr">
              <a:spcAft>
                <a:spcPts val="0"/>
              </a:spcAft>
            </a:pPr>
            <a:r>
              <a:rPr sz="1100" b="0" i="0">
                <a:solidFill>
                  <a:srgbClr val="000000"/>
                </a:solidFill>
                <a:latin typeface="Courier New"/>
              </a:rPr>
              <a:t>uv run ruff check .     →  RQ</a:t>
            </a:r>
          </a:p>
          <a:p>
            <a:pPr algn="ctr">
              <a:spcAft>
                <a:spcPts val="200"/>
              </a:spcAft>
            </a:pPr>
            <a:r>
              <a:rPr sz="1100" b="0" i="0">
                <a:solidFill>
                  <a:srgbClr val="000000"/>
                </a:solidFill>
                <a:latin typeface="Courier New"/>
              </a:rPr>
              <a:t>uv run pytest           →  CONF 1–3, TR</a:t>
            </a:r>
          </a:p>
        </p:txBody>
      </p:sp>
      <p:cxnSp>
        <p:nvCxnSpPr>
          <p:cNvPr id="8" name="Connector 7"/>
          <p:cNvCxnSpPr/>
          <p:nvPr/>
        </p:nvCxnSpPr>
        <p:spPr>
          <a:xfrm>
            <a:off x="6766560" y="1874519"/>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7269480" y="1463040"/>
            <a:ext cx="1188720" cy="822960"/>
          </a:xfrm>
          <a:prstGeom prst="rect">
            <a:avLst/>
          </a:prstGeom>
          <a:solidFill>
            <a:srgbClr val="DDF2DD"/>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300" b="1" i="0">
                <a:solidFill>
                  <a:srgbClr val="2E7D32"/>
                </a:solidFill>
              </a:rPr>
              <a:t>exit 0</a:t>
            </a:r>
          </a:p>
        </p:txBody>
      </p:sp>
      <p:cxnSp>
        <p:nvCxnSpPr>
          <p:cNvPr id="10" name="Connector 9"/>
          <p:cNvCxnSpPr/>
          <p:nvPr/>
        </p:nvCxnSpPr>
        <p:spPr>
          <a:xfrm>
            <a:off x="8503920" y="1874519"/>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9006840" y="1463040"/>
            <a:ext cx="1188720" cy="822960"/>
          </a:xfrm>
          <a:prstGeom prst="rect">
            <a:avLst/>
          </a:prstGeom>
          <a:solidFill>
            <a:srgbClr val="F2F2F2"/>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200" b="0" i="0">
                <a:solidFill>
                  <a:srgbClr val="000000"/>
                </a:solidFill>
              </a:rPr>
              <a:t>commit</a:t>
            </a:r>
          </a:p>
        </p:txBody>
      </p:sp>
      <p:sp>
        <p:nvSpPr>
          <p:cNvPr id="12" name="Rectangle 11"/>
          <p:cNvSpPr/>
          <p:nvPr/>
        </p:nvSpPr>
        <p:spPr>
          <a:xfrm>
            <a:off x="7269480" y="2468880"/>
            <a:ext cx="1188720" cy="640080"/>
          </a:xfrm>
          <a:prstGeom prst="rect">
            <a:avLst/>
          </a:prstGeom>
          <a:solidFill>
            <a:srgbClr val="F8D7D7"/>
          </a:solid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1300" b="1" i="0">
                <a:solidFill>
                  <a:srgbClr val="C00000"/>
                </a:solidFill>
              </a:rPr>
              <a:t>exit 1</a:t>
            </a:r>
          </a:p>
        </p:txBody>
      </p:sp>
      <p:cxnSp>
        <p:nvCxnSpPr>
          <p:cNvPr id="13" name="Connector 12"/>
          <p:cNvCxnSpPr/>
          <p:nvPr/>
        </p:nvCxnSpPr>
        <p:spPr>
          <a:xfrm>
            <a:off x="8503920" y="2788920"/>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006840" y="2560320"/>
            <a:ext cx="2743200" cy="457200"/>
          </a:xfrm>
          <a:prstGeom prst="rect">
            <a:avLst/>
          </a:prstGeom>
          <a:noFill/>
        </p:spPr>
        <p:txBody>
          <a:bodyPr wrap="square" lIns="45720" rIns="45720">
            <a:spAutoFit/>
          </a:bodyPr>
          <a:lstStyle/>
          <a:p>
            <a:pPr>
              <a:spcAft>
                <a:spcPts val="400"/>
              </a:spcAft>
            </a:pPr>
            <a:r>
              <a:rPr sz="1150" b="0" i="0"/>
              <a:t>the work is returned to the task; no commit</a:t>
            </a:r>
          </a:p>
        </p:txBody>
      </p:sp>
      <p:sp>
        <p:nvSpPr>
          <p:cNvPr id="15" name="TextBox 14"/>
          <p:cNvSpPr txBox="1"/>
          <p:nvPr/>
        </p:nvSpPr>
        <p:spPr>
          <a:xfrm>
            <a:off x="777240" y="3383280"/>
            <a:ext cx="5486400" cy="2926080"/>
          </a:xfrm>
          <a:prstGeom prst="rect">
            <a:avLst/>
          </a:prstGeom>
          <a:noFill/>
        </p:spPr>
        <p:txBody>
          <a:bodyPr wrap="square" lIns="45720" rIns="45720" tIns="27432" bIns="27432">
            <a:spAutoFit/>
          </a:bodyPr>
          <a:lstStyle/>
          <a:p>
            <a:pPr marL="182880" indent="-182880">
              <a:spcAft>
                <a:spcPts val="800"/>
              </a:spcAft>
              <a:buChar char="•"/>
            </a:pPr>
            <a:r>
              <a:rPr sz="1250" b="1" i="0"/>
              <a:t>A gate </a:t>
            </a:r>
            <a:r>
              <a:rPr sz="1250" b="0" i="0"/>
              <a:t>is a condition placed in front of a step so the step cannot complete unless it holds</a:t>
            </a:r>
          </a:p>
          <a:p>
            <a:pPr marL="182880" indent="-182880">
              <a:spcAft>
                <a:spcPts val="800"/>
              </a:spcAft>
              <a:buChar char="•"/>
            </a:pPr>
            <a:r>
              <a:rPr sz="1250" b="1" i="0"/>
              <a:t>Algorithmic gate: </a:t>
            </a:r>
            <a:r>
              <a:rPr sz="1250" b="0" i="0"/>
              <a:t>a program decides; the decision is an exit code. This one decides RQ and the first three conditions of CONF in one command (rule WF-1)</a:t>
            </a:r>
          </a:p>
          <a:p>
            <a:pPr marL="182880" indent="-182880">
              <a:spcAft>
                <a:spcPts val="800"/>
              </a:spcAft>
              <a:buChar char="•"/>
            </a:pPr>
            <a:r>
              <a:rPr sz="1250" b="1" i="0"/>
              <a:t>Approval gate: </a:t>
            </a:r>
            <a:r>
              <a:rPr sz="1250" b="0" i="0"/>
              <a:t>a recorded human decision. A0's sign-off is one but does not stand in front of a commit; the first that does arrives with the build plan in A2</a:t>
            </a:r>
          </a:p>
        </p:txBody>
      </p:sp>
      <p:sp>
        <p:nvSpPr>
          <p:cNvPr id="16" name="Rectangle 15"/>
          <p:cNvSpPr/>
          <p:nvPr/>
        </p:nvSpPr>
        <p:spPr>
          <a:xfrm>
            <a:off x="6583680" y="3383280"/>
            <a:ext cx="5212080" cy="201168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Why a gate rather than a rule that says to run the checks</a:t>
            </a:r>
          </a:p>
          <a:p>
            <a:pPr algn="l" marL="182880" indent="-182880">
              <a:spcAft>
                <a:spcPts val="200"/>
              </a:spcAft>
              <a:buChar char="•"/>
            </a:pPr>
            <a:r>
              <a:rPr sz="1200" b="0" i="0">
                <a:solidFill>
                  <a:srgbClr val="000000"/>
                </a:solidFill>
              </a:rPr>
              <a:t>An agent commits often, and a rule that depends on someone remembering to run the checks will be skipped</a:t>
            </a:r>
          </a:p>
          <a:p>
            <a:pPr algn="l" marL="182880" indent="-182880">
              <a:spcAft>
                <a:spcPts val="200"/>
              </a:spcAft>
              <a:buChar char="•"/>
            </a:pPr>
            <a:r>
              <a:rPr sz="1200" b="0" i="0">
                <a:solidFill>
                  <a:srgbClr val="000000"/>
                </a:solidFill>
              </a:rPr>
              <a:t>A gate makes the checks a property of every commit: an invariant of the history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Breaking it: a wrong realization</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35</a:t>
            </a:r>
          </a:p>
        </p:txBody>
      </p:sp>
      <p:sp>
        <p:nvSpPr>
          <p:cNvPr id="5" name="TextBox 4"/>
          <p:cNvSpPr txBox="1"/>
          <p:nvPr/>
        </p:nvSpPr>
        <p:spPr>
          <a:xfrm>
            <a:off x="777240" y="1325880"/>
            <a:ext cx="5120640" cy="1005840"/>
          </a:xfrm>
          <a:prstGeom prst="rect">
            <a:avLst/>
          </a:prstGeom>
          <a:solidFill>
            <a:srgbClr val="F2F2F2"/>
          </a:solidFill>
          <a:ln w="12700">
            <a:solidFill>
              <a:srgbClr val="BFBFBF"/>
            </a:solidFill>
          </a:ln>
        </p:spPr>
        <p:txBody>
          <a:bodyPr wrap="square" tIns="91440" bIns="91440">
            <a:spAutoFit/>
          </a:bodyPr>
          <a:lstStyle/>
          <a:p>
            <a:pPr>
              <a:spcAft>
                <a:spcPts val="0"/>
              </a:spcAft>
            </a:pPr>
            <a:r>
              <a:rPr sz="1050" b="0" i="0">
                <a:latin typeface="Courier New"/>
              </a:rPr>
              <a:t>-    if message.level is SecurityLevel.CRITICAL:</a:t>
            </a:r>
          </a:p>
          <a:p>
            <a:pPr>
              <a:spcAft>
                <a:spcPts val="0"/>
              </a:spcAft>
            </a:pPr>
            <a:r>
              <a:rPr sz="1050" b="0" i="0">
                <a:latin typeface="Courier New"/>
              </a:rPr>
              <a:t>+    if message.level is SecurityLevel.RESTRICTED:</a:t>
            </a:r>
          </a:p>
        </p:txBody>
      </p:sp>
      <p:sp>
        <p:nvSpPr>
          <p:cNvPr id="6" name="TextBox 5"/>
          <p:cNvSpPr txBox="1"/>
          <p:nvPr/>
        </p:nvSpPr>
        <p:spPr>
          <a:xfrm>
            <a:off x="777240" y="2377440"/>
            <a:ext cx="5120640" cy="274320"/>
          </a:xfrm>
          <a:prstGeom prst="rect">
            <a:avLst/>
          </a:prstGeom>
          <a:noFill/>
        </p:spPr>
        <p:txBody>
          <a:bodyPr wrap="square" lIns="45720" rIns="45720">
            <a:spAutoFit/>
          </a:bodyPr>
          <a:lstStyle/>
          <a:p>
            <a:pPr>
              <a:spcAft>
                <a:spcPts val="400"/>
              </a:spcAft>
            </a:pPr>
            <a:r>
              <a:rPr sz="1000" b="0" i="0">
                <a:solidFill>
                  <a:srgbClr val="595959"/>
                </a:solidFill>
                <a:latin typeface="Courier New"/>
              </a:rPr>
              <a:t>guard/filter.py: Critical now passes; Restricted is dropped</a:t>
            </a:r>
          </a:p>
        </p:txBody>
      </p:sp>
      <p:sp>
        <p:nvSpPr>
          <p:cNvPr id="7" name="TextBox 6"/>
          <p:cNvSpPr txBox="1"/>
          <p:nvPr/>
        </p:nvSpPr>
        <p:spPr>
          <a:xfrm>
            <a:off x="777240" y="2788920"/>
            <a:ext cx="5120640" cy="1463040"/>
          </a:xfrm>
          <a:prstGeom prst="rect">
            <a:avLst/>
          </a:prstGeom>
          <a:solidFill>
            <a:srgbClr val="F2F2F2"/>
          </a:solidFill>
          <a:ln w="12700">
            <a:solidFill>
              <a:srgbClr val="BFBFBF"/>
            </a:solidFill>
          </a:ln>
        </p:spPr>
        <p:txBody>
          <a:bodyPr wrap="square" tIns="91440" bIns="91440">
            <a:spAutoFit/>
          </a:bodyPr>
          <a:lstStyle/>
          <a:p>
            <a:pPr>
              <a:spcAft>
                <a:spcPts val="0"/>
              </a:spcAft>
            </a:pPr>
            <a:r>
              <a:rPr sz="1050" b="0" i="0">
                <a:latin typeface="Courier New"/>
              </a:rPr>
              <a:t>conformance: REQ-1: FAIL</a:t>
            </a:r>
          </a:p>
          <a:p>
            <a:pPr>
              <a:spcAft>
                <a:spcPts val="0"/>
              </a:spcAft>
            </a:pPr>
            <a:r>
              <a:rPr sz="1050" b="0" i="0">
                <a:latin typeface="Courier New"/>
              </a:rPr>
              <a:t>conformance: REQ-2: FAIL</a:t>
            </a:r>
          </a:p>
          <a:p>
            <a:pPr>
              <a:spcAft>
                <a:spcPts val="0"/>
              </a:spcAft>
            </a:pPr>
            <a:r>
              <a:rPr sz="1050" b="0" i="0">
                <a:latin typeface="Courier New"/>
              </a:rPr>
              <a:t>conformance: FAIL, see reports/conformance.md</a:t>
            </a:r>
          </a:p>
          <a:p>
            <a:pPr>
              <a:spcAft>
                <a:spcPts val="0"/>
              </a:spcAft>
            </a:pPr>
            <a:r>
              <a:rPr sz="1050" b="0" i="0">
                <a:latin typeface="Courier New"/>
              </a:rPr>
              <a:t>TOTAL   21  0  6  0  100%</a:t>
            </a:r>
          </a:p>
          <a:p>
            <a:pPr>
              <a:spcAft>
                <a:spcPts val="0"/>
              </a:spcAft>
            </a:pPr>
            <a:r>
              <a:rPr sz="1050" b="0" i="0">
                <a:latin typeface="Courier New"/>
              </a:rPr>
              <a:t>4 failed, 6 passed in 0.05s</a:t>
            </a:r>
          </a:p>
        </p:txBody>
      </p:sp>
      <p:sp>
        <p:nvSpPr>
          <p:cNvPr id="8" name="TextBox 7"/>
          <p:cNvSpPr txBox="1"/>
          <p:nvPr/>
        </p:nvSpPr>
        <p:spPr>
          <a:xfrm>
            <a:off x="777240" y="4297680"/>
            <a:ext cx="5120640" cy="274320"/>
          </a:xfrm>
          <a:prstGeom prst="rect">
            <a:avLst/>
          </a:prstGeom>
          <a:noFill/>
        </p:spPr>
        <p:txBody>
          <a:bodyPr wrap="square" lIns="45720" rIns="45720">
            <a:spAutoFit/>
          </a:bodyPr>
          <a:lstStyle/>
          <a:p>
            <a:pPr>
              <a:spcAft>
                <a:spcPts val="400"/>
              </a:spcAft>
            </a:pPr>
            <a:r>
              <a:rPr sz="1000" b="0" i="0">
                <a:solidFill>
                  <a:srgbClr val="595959"/>
                </a:solidFill>
                <a:latin typeface="Courier New"/>
              </a:rPr>
              <a:t>tools/gate.sh, exit 1</a:t>
            </a:r>
          </a:p>
        </p:txBody>
      </p:sp>
      <p:graphicFrame>
        <p:nvGraphicFramePr>
          <p:cNvPr id="9" name="Table 8"/>
          <p:cNvGraphicFramePr>
            <a:graphicFrameLocks noGrp="1"/>
          </p:cNvGraphicFramePr>
          <p:nvPr/>
        </p:nvGraphicFramePr>
        <p:xfrm>
          <a:off x="6172200" y="1325880"/>
          <a:ext cx="5623560" cy="2194560"/>
        </p:xfrm>
        <a:graphic>
          <a:graphicData uri="http://schemas.openxmlformats.org/drawingml/2006/table">
            <a:tbl>
              <a:tblPr firstRow="1" bandRow="1">
                <a:tableStyleId>{5C22544A-7EE6-4342-B048-85BDC9FD1C3A}</a:tableStyleId>
              </a:tblPr>
              <a:tblGrid>
                <a:gridCol w="1600200"/>
                <a:gridCol w="1143000"/>
                <a:gridCol w="2880360"/>
              </a:tblGrid>
              <a:tr h="365760">
                <a:tc>
                  <a:txBody>
                    <a:bodyPr wrap="square"/>
                    <a:lstStyle/>
                    <a:p>
                      <a:pPr>
                        <a:spcAft>
                          <a:spcPts val="0"/>
                        </a:spcAft>
                      </a:pPr>
                      <a:r>
                        <a:rPr sz="1050" b="1" i="0">
                          <a:solidFill>
                            <a:srgbClr val="FFFFFF"/>
                          </a:solidFill>
                        </a:rPr>
                        <a:t>Judgment</a:t>
                      </a:r>
                    </a:p>
                  </a:txBody>
                  <a:tcPr marL="54864" marR="54864" marT="27432" marB="27432">
                    <a:solidFill>
                      <a:srgbClr val="6E1EC6"/>
                    </a:solidFill>
                  </a:tcPr>
                </a:tc>
                <a:tc>
                  <a:txBody>
                    <a:bodyPr wrap="square"/>
                    <a:lstStyle/>
                    <a:p>
                      <a:pPr>
                        <a:spcAft>
                          <a:spcPts val="0"/>
                        </a:spcAft>
                      </a:pPr>
                      <a:r>
                        <a:rPr sz="1050" b="1" i="0">
                          <a:solidFill>
                            <a:srgbClr val="FFFFFF"/>
                          </a:solidFill>
                        </a:rPr>
                        <a:t>Status</a:t>
                      </a:r>
                    </a:p>
                  </a:txBody>
                  <a:tcPr marL="54864" marR="54864" marT="27432" marB="27432">
                    <a:solidFill>
                      <a:srgbClr val="6E1EC6"/>
                    </a:solidFill>
                  </a:tcPr>
                </a:tc>
                <a:tc>
                  <a:txBody>
                    <a:bodyPr wrap="square"/>
                    <a:lstStyle/>
                    <a:p>
                      <a:pPr>
                        <a:spcAft>
                          <a:spcPts val="0"/>
                        </a:spcAft>
                      </a:pPr>
                      <a:r>
                        <a:rPr sz="1050" b="1" i="0">
                          <a:solidFill>
                            <a:srgbClr val="FFFFFF"/>
                          </a:solidFill>
                        </a:rPr>
                        <a:t>Evidence</a:t>
                      </a:r>
                    </a:p>
                  </a:txBody>
                  <a:tcPr marL="54864" marR="54864" marT="27432" marB="27432">
                    <a:solidFill>
                      <a:srgbClr val="6E1EC6"/>
                    </a:solidFill>
                  </a:tcPr>
                </a:tc>
              </a:tr>
              <a:tr h="365760">
                <a:tc>
                  <a:txBody>
                    <a:bodyPr wrap="square"/>
                    <a:lstStyle/>
                    <a:p>
                      <a:pPr>
                        <a:spcAft>
                          <a:spcPts val="0"/>
                        </a:spcAft>
                      </a:pPr>
                      <a:r>
                        <a:rPr sz="1050" b="0" i="0">
                          <a:solidFill>
                            <a:srgbClr val="000000"/>
                          </a:solidFill>
                        </a:rPr>
                        <a:t>SQ  specification quality</a:t>
                      </a:r>
                    </a:p>
                  </a:txBody>
                  <a:tcPr marL="54864" marR="54864" marT="27432" marB="27432">
                    <a:solidFill>
                      <a:srgbClr val="FFFFFF"/>
                    </a:solidFill>
                  </a:tcPr>
                </a:tc>
                <a:tc>
                  <a:txBody>
                    <a:bodyPr wrap="square"/>
                    <a:lstStyle/>
                    <a:p>
                      <a:pPr>
                        <a:spcAft>
                          <a:spcPts val="0"/>
                        </a:spcAft>
                      </a:pPr>
                      <a:r>
                        <a:rPr sz="1050" b="1" i="0">
                          <a:solidFill>
                            <a:srgbClr val="2E7D32"/>
                          </a:solidFill>
                        </a:rPr>
                        <a:t>established</a:t>
                      </a:r>
                    </a:p>
                  </a:txBody>
                  <a:tcPr marL="54864" marR="54864" marT="27432" marB="27432">
                    <a:solidFill>
                      <a:srgbClr val="DDF2DD"/>
                    </a:solidFill>
                  </a:tcPr>
                </a:tc>
                <a:tc>
                  <a:txBody>
                    <a:bodyPr wrap="square"/>
                    <a:lstStyle/>
                    <a:p>
                      <a:pPr>
                        <a:spcAft>
                          <a:spcPts val="0"/>
                        </a:spcAft>
                      </a:pPr>
                      <a:r>
                        <a:rPr sz="1050" b="0" i="0">
                          <a:solidFill>
                            <a:srgbClr val="000000"/>
                          </a:solidFill>
                        </a:rPr>
                        <a:t>the two specifications read together; 7 clauses, no gap</a:t>
                      </a:r>
                    </a:p>
                  </a:txBody>
                  <a:tcPr marL="54864" marR="54864" marT="27432" marB="27432">
                    <a:solidFill>
                      <a:srgbClr val="FFFFFF"/>
                    </a:solidFill>
                  </a:tcPr>
                </a:tc>
              </a:tr>
              <a:tr h="365760">
                <a:tc>
                  <a:txBody>
                    <a:bodyPr wrap="square"/>
                    <a:lstStyle/>
                    <a:p>
                      <a:pPr>
                        <a:spcAft>
                          <a:spcPts val="0"/>
                        </a:spcAft>
                      </a:pPr>
                      <a:r>
                        <a:rPr sz="1050" b="0" i="0">
                          <a:solidFill>
                            <a:srgbClr val="000000"/>
                          </a:solidFill>
                        </a:rPr>
                        <a:t>RQ  realization quality</a:t>
                      </a:r>
                    </a:p>
                  </a:txBody>
                  <a:tcPr marL="54864" marR="54864" marT="27432" marB="27432">
                    <a:solidFill>
                      <a:srgbClr val="F3F0F9"/>
                    </a:solidFill>
                  </a:tcPr>
                </a:tc>
                <a:tc>
                  <a:txBody>
                    <a:bodyPr wrap="square"/>
                    <a:lstStyle/>
                    <a:p>
                      <a:pPr>
                        <a:spcAft>
                          <a:spcPts val="0"/>
                        </a:spcAft>
                      </a:pPr>
                      <a:r>
                        <a:rPr sz="1050" b="1" i="0">
                          <a:solidFill>
                            <a:srgbClr val="2E7D32"/>
                          </a:solidFill>
                        </a:rPr>
                        <a:t>established</a:t>
                      </a:r>
                    </a:p>
                  </a:txBody>
                  <a:tcPr marL="54864" marR="54864" marT="27432" marB="27432">
                    <a:solidFill>
                      <a:srgbClr val="DDF2DD"/>
                    </a:solidFill>
                  </a:tcPr>
                </a:tc>
                <a:tc>
                  <a:txBody>
                    <a:bodyPr wrap="square"/>
                    <a:lstStyle/>
                    <a:p>
                      <a:pPr>
                        <a:spcAft>
                          <a:spcPts val="0"/>
                        </a:spcAft>
                      </a:pPr>
                      <a:r>
                        <a:rPr sz="1050" b="0" i="0">
                          <a:solidFill>
                            <a:srgbClr val="000000"/>
                          </a:solidFill>
                        </a:rPr>
                        <a:t>ruff exit 0; suite collects (10 tests)</a:t>
                      </a:r>
                    </a:p>
                  </a:txBody>
                  <a:tcPr marL="54864" marR="54864" marT="27432" marB="27432">
                    <a:solidFill>
                      <a:srgbClr val="F3F0F9"/>
                    </a:solidFill>
                  </a:tcPr>
                </a:tc>
              </a:tr>
              <a:tr h="365760">
                <a:tc>
                  <a:txBody>
                    <a:bodyPr wrap="square"/>
                    <a:lstStyle/>
                    <a:p>
                      <a:pPr>
                        <a:spcAft>
                          <a:spcPts val="0"/>
                        </a:spcAft>
                      </a:pPr>
                      <a:r>
                        <a:rPr sz="1050" b="0" i="0">
                          <a:solidFill>
                            <a:srgbClr val="000000"/>
                          </a:solidFill>
                        </a:rPr>
                        <a:t>CONF  conformance</a:t>
                      </a:r>
                    </a:p>
                  </a:txBody>
                  <a:tcPr marL="54864" marR="54864" marT="27432" marB="27432">
                    <a:solidFill>
                      <a:srgbClr val="FFFFFF"/>
                    </a:solidFill>
                  </a:tcPr>
                </a:tc>
                <a:tc>
                  <a:txBody>
                    <a:bodyPr wrap="square"/>
                    <a:lstStyle/>
                    <a:p>
                      <a:pPr>
                        <a:spcAft>
                          <a:spcPts val="0"/>
                        </a:spcAft>
                      </a:pPr>
                      <a:r>
                        <a:rPr sz="1050" b="1" i="0">
                          <a:solidFill>
                            <a:srgbClr val="C00000"/>
                          </a:solidFill>
                        </a:rPr>
                        <a:t>stale</a:t>
                      </a:r>
                    </a:p>
                  </a:txBody>
                  <a:tcPr marL="54864" marR="54864" marT="27432" marB="27432">
                    <a:solidFill>
                      <a:srgbClr val="F8D7D7"/>
                    </a:solidFill>
                  </a:tcPr>
                </a:tc>
                <a:tc>
                  <a:txBody>
                    <a:bodyPr wrap="square"/>
                    <a:lstStyle/>
                    <a:p>
                      <a:pPr>
                        <a:spcAft>
                          <a:spcPts val="0"/>
                        </a:spcAft>
                      </a:pPr>
                      <a:r>
                        <a:rPr sz="1050" b="0" i="0">
                          <a:solidFill>
                            <a:srgbClr val="000000"/>
                          </a:solidFill>
                        </a:rPr>
                        <a:t>10 passed; 4 of 4 test clauses cited; 100% branches; 3 stories walked</a:t>
                      </a:r>
                    </a:p>
                  </a:txBody>
                  <a:tcPr marL="54864" marR="54864" marT="27432" marB="27432">
                    <a:solidFill>
                      <a:srgbClr val="FFFFFF"/>
                    </a:solidFill>
                  </a:tcPr>
                </a:tc>
              </a:tr>
              <a:tr h="365760">
                <a:tc>
                  <a:txBody>
                    <a:bodyPr wrap="square"/>
                    <a:lstStyle/>
                    <a:p>
                      <a:pPr>
                        <a:spcAft>
                          <a:spcPts val="0"/>
                        </a:spcAft>
                      </a:pPr>
                      <a:r>
                        <a:rPr sz="1050" b="0" i="0">
                          <a:solidFill>
                            <a:srgbClr val="000000"/>
                          </a:solidFill>
                        </a:rPr>
                        <a:t>VAL  validated</a:t>
                      </a:r>
                    </a:p>
                  </a:txBody>
                  <a:tcPr marL="54864" marR="54864" marT="27432" marB="27432">
                    <a:solidFill>
                      <a:srgbClr val="F3F0F9"/>
                    </a:solidFill>
                  </a:tcPr>
                </a:tc>
                <a:tc>
                  <a:txBody>
                    <a:bodyPr wrap="square"/>
                    <a:lstStyle/>
                    <a:p>
                      <a:pPr>
                        <a:spcAft>
                          <a:spcPts val="0"/>
                        </a:spcAft>
                      </a:pPr>
                      <a:r>
                        <a:rPr sz="1050" b="1" i="0">
                          <a:solidFill>
                            <a:srgbClr val="2E7D32"/>
                          </a:solidFill>
                        </a:rPr>
                        <a:t>established</a:t>
                      </a:r>
                    </a:p>
                  </a:txBody>
                  <a:tcPr marL="54864" marR="54864" marT="27432" marB="27432">
                    <a:solidFill>
                      <a:srgbClr val="DDF2DD"/>
                    </a:solidFill>
                  </a:tcPr>
                </a:tc>
                <a:tc>
                  <a:txBody>
                    <a:bodyPr wrap="square"/>
                    <a:lstStyle/>
                    <a:p>
                      <a:pPr>
                        <a:spcAft>
                          <a:spcPts val="0"/>
                        </a:spcAft>
                      </a:pPr>
                      <a:r>
                        <a:rPr sz="1050" b="0" i="0">
                          <a:solidFill>
                            <a:srgbClr val="000000"/>
                          </a:solidFill>
                        </a:rPr>
                        <a:t>sign-off by both user categories on conops.md A0</a:t>
                      </a:r>
                    </a:p>
                  </a:txBody>
                  <a:tcPr marL="54864" marR="54864" marT="27432" marB="27432">
                    <a:solidFill>
                      <a:srgbClr val="F3F0F9"/>
                    </a:solidFill>
                  </a:tcPr>
                </a:tc>
              </a:tr>
              <a:tr h="365760">
                <a:tc>
                  <a:txBody>
                    <a:bodyPr wrap="square"/>
                    <a:lstStyle/>
                    <a:p>
                      <a:pPr>
                        <a:spcAft>
                          <a:spcPts val="0"/>
                        </a:spcAft>
                      </a:pPr>
                      <a:r>
                        <a:rPr sz="1050" b="0" i="0">
                          <a:solidFill>
                            <a:srgbClr val="000000"/>
                          </a:solidFill>
                        </a:rPr>
                        <a:t>TR  traceable</a:t>
                      </a:r>
                    </a:p>
                  </a:txBody>
                  <a:tcPr marL="54864" marR="54864" marT="27432" marB="27432">
                    <a:solidFill>
                      <a:srgbClr val="FFFFFF"/>
                    </a:solidFill>
                  </a:tcPr>
                </a:tc>
                <a:tc>
                  <a:txBody>
                    <a:bodyPr wrap="square"/>
                    <a:lstStyle/>
                    <a:p>
                      <a:pPr>
                        <a:spcAft>
                          <a:spcPts val="0"/>
                        </a:spcAft>
                      </a:pPr>
                      <a:r>
                        <a:rPr sz="1050" b="1" i="0">
                          <a:solidFill>
                            <a:srgbClr val="2E7D32"/>
                          </a:solidFill>
                        </a:rPr>
                        <a:t>established</a:t>
                      </a:r>
                    </a:p>
                  </a:txBody>
                  <a:tcPr marL="54864" marR="54864" marT="27432" marB="27432">
                    <a:solidFill>
                      <a:srgbClr val="DDF2DD"/>
                    </a:solidFill>
                  </a:tcPr>
                </a:tc>
                <a:tc>
                  <a:txBody>
                    <a:bodyPr wrap="square"/>
                    <a:lstStyle/>
                    <a:p>
                      <a:pPr>
                        <a:spcAft>
                          <a:spcPts val="0"/>
                        </a:spcAft>
                      </a:pPr>
                      <a:r>
                        <a:rPr sz="1050" b="0" i="0">
                          <a:solidFill>
                            <a:srgbClr val="000000"/>
                          </a:solidFill>
                        </a:rPr>
                        <a:t>every marker and every "derived from" resolves</a:t>
                      </a:r>
                    </a:p>
                  </a:txBody>
                  <a:tcPr marL="54864" marR="54864" marT="27432" marB="27432">
                    <a:solidFill>
                      <a:srgbClr val="FFFFFF"/>
                    </a:solidFill>
                  </a:tcPr>
                </a:tc>
              </a:tr>
            </a:tbl>
          </a:graphicData>
        </a:graphic>
      </p:graphicFrame>
      <p:sp>
        <p:nvSpPr>
          <p:cNvPr id="10" name="TextBox 9"/>
          <p:cNvSpPr txBox="1"/>
          <p:nvPr/>
        </p:nvSpPr>
        <p:spPr>
          <a:xfrm>
            <a:off x="6172200" y="3749039"/>
            <a:ext cx="5623560" cy="2560320"/>
          </a:xfrm>
          <a:prstGeom prst="rect">
            <a:avLst/>
          </a:prstGeom>
          <a:noFill/>
        </p:spPr>
        <p:txBody>
          <a:bodyPr wrap="square" lIns="45720" rIns="45720" tIns="27432" bIns="27432">
            <a:spAutoFit/>
          </a:bodyPr>
          <a:lstStyle/>
          <a:p>
            <a:pPr marL="182880" indent="-182880">
              <a:spcAft>
                <a:spcPts val="600"/>
              </a:spcAft>
              <a:buChar char="•"/>
            </a:pPr>
            <a:r>
              <a:rPr sz="1200" b="0" i="0"/>
              <a:t>Four tests fail: three cases of REQ-1 and the one for REQ-2; the report shows those two clauses as FAIL</a:t>
            </a:r>
          </a:p>
          <a:p>
            <a:pPr marL="182880" indent="-182880">
              <a:spcAft>
                <a:spcPts val="600"/>
              </a:spcAft>
              <a:buChar char="•"/>
            </a:pPr>
            <a:r>
              <a:rPr sz="1200" b="1" i="0"/>
              <a:t>Branch coverage is still 100 percent: </a:t>
            </a:r>
            <a:r>
              <a:rPr sz="1200" b="0" i="0"/>
              <a:t>coverage says which code ran, not whether it was right</a:t>
            </a:r>
          </a:p>
          <a:p>
            <a:pPr marL="182880" indent="-182880">
              <a:spcAft>
                <a:spcPts val="600"/>
              </a:spcAft>
              <a:buChar char="•"/>
            </a:pPr>
            <a:r>
              <a:rPr sz="1200" b="0" i="0"/>
              <a:t>Only CONF turned red; the verifier that caught it is the test suite. SQ, VAL, TR are untouched: no specification changed, every link resolves</a:t>
            </a:r>
          </a:p>
        </p:txBody>
      </p:sp>
      <p:sp>
        <p:nvSpPr>
          <p:cNvPr id="11" name="Rectangle 10"/>
          <p:cNvSpPr/>
          <p:nvPr/>
        </p:nvSpPr>
        <p:spPr>
          <a:xfrm>
            <a:off x="777240" y="4754880"/>
            <a:ext cx="5120640" cy="118872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18288" bIns="18288"/>
          <a:lstStyle/>
          <a:p>
            <a:pPr algn="l">
              <a:spcAft>
                <a:spcPts val="0"/>
              </a:spcAft>
            </a:pPr>
            <a:r>
              <a:rPr sz="1150" b="0" i="0">
                <a:solidFill>
                  <a:srgbClr val="000000"/>
                </a:solidFill>
              </a:rPr>
              <a:t>A failed check reports a fact about the pair: S and R do not agree. Which side moves is an engineering decision made by a person and recorded; here the code moves back (dev log). Amendments and change requests arrive in A3.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The development rules: eight, in one form</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36</a:t>
            </a:r>
          </a:p>
        </p:txBody>
      </p:sp>
      <p:sp>
        <p:nvSpPr>
          <p:cNvPr id="5" name="TextBox 4"/>
          <p:cNvSpPr txBox="1"/>
          <p:nvPr/>
        </p:nvSpPr>
        <p:spPr>
          <a:xfrm>
            <a:off x="777240" y="1325880"/>
            <a:ext cx="4206240" cy="4937760"/>
          </a:xfrm>
          <a:prstGeom prst="rect">
            <a:avLst/>
          </a:prstGeom>
          <a:noFill/>
        </p:spPr>
        <p:txBody>
          <a:bodyPr wrap="square" lIns="45720" rIns="45720" tIns="27432" bIns="27432">
            <a:spAutoFit/>
          </a:bodyPr>
          <a:lstStyle/>
          <a:p>
            <a:pPr>
              <a:spcAft>
                <a:spcPts val="600"/>
              </a:spcAft>
            </a:pPr>
            <a:r>
              <a:rPr sz="1400" b="1" i="0">
                <a:solidFill>
                  <a:srgbClr val="990099"/>
                </a:solidFill>
              </a:rPr>
              <a:t>process/rules.md</a:t>
            </a:r>
          </a:p>
          <a:p>
            <a:pPr marL="182880" indent="-182880">
              <a:spcAft>
                <a:spcPts val="500"/>
              </a:spcAft>
              <a:buChar char="•"/>
            </a:pPr>
            <a:r>
              <a:rPr sz="1200" b="1" i="0"/>
              <a:t>SQ-1</a:t>
            </a:r>
            <a:r>
              <a:rPr sz="1200" b="0" i="0"/>
              <a:t>  the specifications are well-formed and consistent</a:t>
            </a:r>
          </a:p>
          <a:p>
            <a:pPr marL="182880" indent="-182880">
              <a:spcAft>
                <a:spcPts val="500"/>
              </a:spcAft>
              <a:buChar char="•"/>
            </a:pPr>
            <a:r>
              <a:rPr sz="1200" b="1" i="0"/>
              <a:t>RQ-1</a:t>
            </a:r>
            <a:r>
              <a:rPr sz="1200" b="0" i="0"/>
              <a:t>  the realization lints and the suite collects</a:t>
            </a:r>
          </a:p>
          <a:p>
            <a:pPr marL="182880" indent="-182880">
              <a:spcAft>
                <a:spcPts val="500"/>
              </a:spcAft>
              <a:buChar char="•"/>
            </a:pPr>
            <a:r>
              <a:rPr sz="1200" b="1" i="0"/>
              <a:t>CONF-1</a:t>
            </a:r>
            <a:r>
              <a:rPr sz="1200" b="0" i="0"/>
              <a:t>  every mechanical clause has passing evidence, and the code is exercised</a:t>
            </a:r>
          </a:p>
          <a:p>
            <a:pPr marL="182880" indent="-182880">
              <a:spcAft>
                <a:spcPts val="500"/>
              </a:spcAft>
              <a:buChar char="•"/>
            </a:pPr>
            <a:r>
              <a:rPr sz="1200" b="1" i="0"/>
              <a:t>CONF-2</a:t>
            </a:r>
            <a:r>
              <a:rPr sz="1200" b="0" i="0"/>
              <a:t>  every judgment clause has a walkthrough record</a:t>
            </a:r>
          </a:p>
          <a:p>
            <a:pPr marL="182880" indent="-182880">
              <a:spcAft>
                <a:spcPts val="500"/>
              </a:spcAft>
              <a:buChar char="•"/>
            </a:pPr>
            <a:r>
              <a:rPr sz="1200" b="1" i="0"/>
              <a:t>VAL-1</a:t>
            </a:r>
            <a:r>
              <a:rPr sz="1200" b="0" i="0"/>
              <a:t>  the concept of operations carries a sign-off</a:t>
            </a:r>
          </a:p>
          <a:p>
            <a:pPr marL="182880" indent="-182880">
              <a:spcAft>
                <a:spcPts val="500"/>
              </a:spcAft>
              <a:buChar char="•"/>
            </a:pPr>
            <a:r>
              <a:rPr sz="1200" b="1" i="0"/>
              <a:t>TR-1</a:t>
            </a:r>
            <a:r>
              <a:rPr sz="1200" b="0" i="0"/>
              <a:t>  every reference resolves</a:t>
            </a:r>
          </a:p>
          <a:p>
            <a:pPr marL="182880" indent="-182880">
              <a:spcAft>
                <a:spcPts val="500"/>
              </a:spcAft>
              <a:buChar char="•"/>
            </a:pPr>
            <a:r>
              <a:rPr sz="1200" b="1" i="0"/>
              <a:t>WF-1</a:t>
            </a:r>
            <a:r>
              <a:rPr sz="1200" b="0" i="0"/>
              <a:t>  the gate stands before every commit</a:t>
            </a:r>
          </a:p>
          <a:p>
            <a:pPr marL="182880" indent="-182880">
              <a:spcAft>
                <a:spcPts val="500"/>
              </a:spcAft>
              <a:buChar char="•"/>
            </a:pPr>
            <a:r>
              <a:rPr sz="1200" b="1" i="0"/>
              <a:t>RPT-1</a:t>
            </a:r>
            <a:r>
              <a:rPr sz="1200" b="0" i="0"/>
              <a:t>  the dev log and the ledger are kept</a:t>
            </a:r>
          </a:p>
          <a:p>
            <a:pPr>
              <a:spcAft>
                <a:spcPts val="0"/>
              </a:spcAft>
            </a:pPr>
            <a:r>
              <a:rPr sz="1150" b="0" i="0">
                <a:solidFill>
                  <a:srgbClr val="595959"/>
                </a:solidFill>
              </a:rPr>
              <a:t>Two styles: an obligation (every X MUST have property P) and a gate (WHEN step S would complete, condition C MUST hold).</a:t>
            </a:r>
          </a:p>
        </p:txBody>
      </p:sp>
      <p:graphicFrame>
        <p:nvGraphicFramePr>
          <p:cNvPr id="6" name="Table 5"/>
          <p:cNvGraphicFramePr>
            <a:graphicFrameLocks noGrp="1"/>
          </p:cNvGraphicFramePr>
          <p:nvPr/>
        </p:nvGraphicFramePr>
        <p:xfrm>
          <a:off x="5212080" y="1325880"/>
          <a:ext cx="6583680" cy="3703320"/>
        </p:xfrm>
        <a:graphic>
          <a:graphicData uri="http://schemas.openxmlformats.org/drawingml/2006/table">
            <a:tbl>
              <a:tblPr firstRow="1" bandRow="1">
                <a:tableStyleId>{5C22544A-7EE6-4342-B048-85BDC9FD1C3A}</a:tableStyleId>
              </a:tblPr>
              <a:tblGrid>
                <a:gridCol w="1188720"/>
                <a:gridCol w="5394960"/>
              </a:tblGrid>
              <a:tr h="411480">
                <a:tc>
                  <a:txBody>
                    <a:bodyPr wrap="square"/>
                    <a:lstStyle/>
                    <a:p>
                      <a:pPr>
                        <a:spcAft>
                          <a:spcPts val="0"/>
                        </a:spcAft>
                      </a:pPr>
                      <a:r>
                        <a:rPr sz="1050" b="1" i="0">
                          <a:solidFill>
                            <a:srgbClr val="FFFFFF"/>
                          </a:solidFill>
                        </a:rPr>
                        <a:t>CONF-1</a:t>
                      </a:r>
                    </a:p>
                  </a:txBody>
                  <a:tcPr marL="54864" marR="54864" marT="27432" marB="27432">
                    <a:solidFill>
                      <a:srgbClr val="990099"/>
                    </a:solidFill>
                  </a:tcPr>
                </a:tc>
                <a:tc>
                  <a:txBody>
                    <a:bodyPr wrap="square"/>
                    <a:lstStyle/>
                    <a:p>
                      <a:pPr>
                        <a:spcAft>
                          <a:spcPts val="0"/>
                        </a:spcAft>
                      </a:pPr>
                      <a:r>
                        <a:rPr sz="1050" b="1" i="0">
                          <a:solidFill>
                            <a:srgbClr val="FFFFFF"/>
                          </a:solidFill>
                        </a:rPr>
                        <a:t>Every mechanical clause has passing evidence, and the code is exercised</a:t>
                      </a:r>
                    </a:p>
                  </a:txBody>
                  <a:tcPr marL="54864" marR="54864" marT="27432" marB="27432">
                    <a:solidFill>
                      <a:srgbClr val="990099"/>
                    </a:solidFill>
                  </a:tcPr>
                </a:tc>
              </a:tr>
              <a:tr h="411480">
                <a:tc>
                  <a:txBody>
                    <a:bodyPr wrap="square"/>
                    <a:lstStyle/>
                    <a:p>
                      <a:pPr>
                        <a:spcAft>
                          <a:spcPts val="0"/>
                        </a:spcAft>
                      </a:pPr>
                      <a:r>
                        <a:rPr sz="1050" b="0" i="0">
                          <a:solidFill>
                            <a:srgbClr val="000000"/>
                          </a:solidFill>
                        </a:rPr>
                        <a:t>Style</a:t>
                      </a:r>
                    </a:p>
                  </a:txBody>
                  <a:tcPr marL="54864" marR="54864" marT="27432" marB="27432">
                    <a:solidFill>
                      <a:srgbClr val="FFFFFF"/>
                    </a:solidFill>
                  </a:tcPr>
                </a:tc>
                <a:tc>
                  <a:txBody>
                    <a:bodyPr wrap="square"/>
                    <a:lstStyle/>
                    <a:p>
                      <a:pPr>
                        <a:spcAft>
                          <a:spcPts val="0"/>
                        </a:spcAft>
                      </a:pPr>
                      <a:r>
                        <a:rPr sz="1050" b="0" i="0">
                          <a:solidFill>
                            <a:srgbClr val="000000"/>
                          </a:solidFill>
                        </a:rPr>
                        <a:t>obligation</a:t>
                      </a:r>
                    </a:p>
                  </a:txBody>
                  <a:tcPr marL="54864" marR="54864" marT="27432" marB="27432">
                    <a:solidFill>
                      <a:srgbClr val="FFFFFF"/>
                    </a:solidFill>
                  </a:tcPr>
                </a:tc>
              </a:tr>
              <a:tr h="411480">
                <a:tc>
                  <a:txBody>
                    <a:bodyPr wrap="square"/>
                    <a:lstStyle/>
                    <a:p>
                      <a:pPr>
                        <a:spcAft>
                          <a:spcPts val="0"/>
                        </a:spcAft>
                      </a:pPr>
                      <a:r>
                        <a:rPr sz="1050" b="0" i="0">
                          <a:solidFill>
                            <a:srgbClr val="000000"/>
                          </a:solidFill>
                        </a:rPr>
                        <a:t>Maintains</a:t>
                      </a:r>
                    </a:p>
                  </a:txBody>
                  <a:tcPr marL="54864" marR="54864" marT="27432" marB="27432">
                    <a:solidFill>
                      <a:srgbClr val="F3F0F9"/>
                    </a:solidFill>
                  </a:tcPr>
                </a:tc>
                <a:tc>
                  <a:txBody>
                    <a:bodyPr wrap="square"/>
                    <a:lstStyle/>
                    <a:p>
                      <a:pPr>
                        <a:spcAft>
                          <a:spcPts val="0"/>
                        </a:spcAft>
                      </a:pPr>
                      <a:r>
                        <a:rPr sz="1050" b="0" i="0">
                          <a:solidFill>
                            <a:srgbClr val="000000"/>
                          </a:solidFill>
                        </a:rPr>
                        <a:t>CONF</a:t>
                      </a:r>
                    </a:p>
                  </a:txBody>
                  <a:tcPr marL="54864" marR="54864" marT="27432" marB="27432">
                    <a:solidFill>
                      <a:srgbClr val="F3F0F9"/>
                    </a:solidFill>
                  </a:tcPr>
                </a:tc>
              </a:tr>
              <a:tr h="411480">
                <a:tc>
                  <a:txBody>
                    <a:bodyPr wrap="square"/>
                    <a:lstStyle/>
                    <a:p>
                      <a:pPr>
                        <a:spcAft>
                          <a:spcPts val="0"/>
                        </a:spcAft>
                      </a:pPr>
                      <a:r>
                        <a:rPr sz="1050" b="0" i="0">
                          <a:solidFill>
                            <a:srgbClr val="000000"/>
                          </a:solidFill>
                        </a:rPr>
                        <a:t>When</a:t>
                      </a:r>
                    </a:p>
                  </a:txBody>
                  <a:tcPr marL="54864" marR="54864" marT="27432" marB="27432">
                    <a:solidFill>
                      <a:srgbClr val="FFFFFF"/>
                    </a:solidFill>
                  </a:tcPr>
                </a:tc>
                <a:tc>
                  <a:txBody>
                    <a:bodyPr wrap="square"/>
                    <a:lstStyle/>
                    <a:p>
                      <a:pPr>
                        <a:spcAft>
                          <a:spcPts val="0"/>
                        </a:spcAft>
                      </a:pPr>
                      <a:r>
                        <a:rPr sz="1050" b="0" i="0">
                          <a:solidFill>
                            <a:srgbClr val="000000"/>
                          </a:solidFill>
                        </a:rPr>
                        <a:t>at every commit; every clause whose method is test</a:t>
                      </a:r>
                    </a:p>
                  </a:txBody>
                  <a:tcPr marL="54864" marR="54864" marT="27432" marB="27432">
                    <a:solidFill>
                      <a:srgbClr val="FFFFFF"/>
                    </a:solidFill>
                  </a:tcPr>
                </a:tc>
              </a:tr>
              <a:tr h="411480">
                <a:tc>
                  <a:txBody>
                    <a:bodyPr wrap="square"/>
                    <a:lstStyle/>
                    <a:p>
                      <a:pPr>
                        <a:spcAft>
                          <a:spcPts val="0"/>
                        </a:spcAft>
                      </a:pPr>
                      <a:r>
                        <a:rPr sz="1050" b="0" i="0">
                          <a:solidFill>
                            <a:srgbClr val="000000"/>
                          </a:solidFill>
                        </a:rPr>
                        <a:t>Statement</a:t>
                      </a:r>
                    </a:p>
                  </a:txBody>
                  <a:tcPr marL="54864" marR="54864" marT="27432" marB="27432">
                    <a:solidFill>
                      <a:srgbClr val="F3F0F9"/>
                    </a:solidFill>
                  </a:tcPr>
                </a:tc>
                <a:tc>
                  <a:txBody>
                    <a:bodyPr wrap="square"/>
                    <a:lstStyle/>
                    <a:p>
                      <a:pPr>
                        <a:spcAft>
                          <a:spcPts val="0"/>
                        </a:spcAft>
                      </a:pPr>
                      <a:r>
                        <a:rPr sz="1050" b="0" i="0">
                          <a:solidFill>
                            <a:srgbClr val="000000"/>
                          </a:solidFill>
                        </a:rPr>
                        <a:t>Every clause with method test MUST be cited, by marker, by at least one test; every citing test MUST pass; and the suite MUST reach 100 percent branch coverage of guard/.</a:t>
                      </a:r>
                    </a:p>
                  </a:txBody>
                  <a:tcPr marL="54864" marR="54864" marT="27432" marB="27432">
                    <a:solidFill>
                      <a:srgbClr val="F3F0F9"/>
                    </a:solidFill>
                  </a:tcPr>
                </a:tc>
              </a:tr>
              <a:tr h="411480">
                <a:tc>
                  <a:txBody>
                    <a:bodyPr wrap="square"/>
                    <a:lstStyle/>
                    <a:p>
                      <a:pPr>
                        <a:spcAft>
                          <a:spcPts val="0"/>
                        </a:spcAft>
                      </a:pPr>
                      <a:r>
                        <a:rPr sz="1050" b="0" i="0">
                          <a:solidFill>
                            <a:srgbClr val="000000"/>
                          </a:solidFill>
                        </a:rPr>
                        <a:t>Decided by</a:t>
                      </a:r>
                    </a:p>
                  </a:txBody>
                  <a:tcPr marL="54864" marR="54864" marT="27432" marB="27432">
                    <a:solidFill>
                      <a:srgbClr val="FFFFFF"/>
                    </a:solidFill>
                  </a:tcPr>
                </a:tc>
                <a:tc>
                  <a:txBody>
                    <a:bodyPr wrap="square"/>
                    <a:lstStyle/>
                    <a:p>
                      <a:pPr>
                        <a:spcAft>
                          <a:spcPts val="0"/>
                        </a:spcAft>
                      </a:pPr>
                      <a:r>
                        <a:rPr sz="1050" b="0" i="0">
                          <a:solidFill>
                            <a:srgbClr val="000000"/>
                          </a:solidFill>
                        </a:rPr>
                        <a:t>analysis: uv run pytest. The plugin fails the run on a clause with no evidence or a failing citation; pytest-cov fails it below 100 percent.</a:t>
                      </a:r>
                    </a:p>
                  </a:txBody>
                  <a:tcPr marL="54864" marR="54864" marT="27432" marB="27432">
                    <a:solidFill>
                      <a:srgbClr val="FFFFFF"/>
                    </a:solidFill>
                  </a:tcPr>
                </a:tc>
              </a:tr>
              <a:tr h="411480">
                <a:tc>
                  <a:txBody>
                    <a:bodyPr wrap="square"/>
                    <a:lstStyle/>
                    <a:p>
                      <a:pPr>
                        <a:spcAft>
                          <a:spcPts val="0"/>
                        </a:spcAft>
                      </a:pPr>
                      <a:r>
                        <a:rPr sz="1050" b="0" i="0">
                          <a:solidFill>
                            <a:srgbClr val="000000"/>
                          </a:solidFill>
                        </a:rPr>
                        <a:t>Evidence</a:t>
                      </a:r>
                    </a:p>
                  </a:txBody>
                  <a:tcPr marL="54864" marR="54864" marT="27432" marB="27432">
                    <a:solidFill>
                      <a:srgbClr val="F3F0F9"/>
                    </a:solidFill>
                  </a:tcPr>
                </a:tc>
                <a:tc>
                  <a:txBody>
                    <a:bodyPr wrap="square"/>
                    <a:lstStyle/>
                    <a:p>
                      <a:pPr>
                        <a:spcAft>
                          <a:spcPts val="0"/>
                        </a:spcAft>
                      </a:pPr>
                      <a:r>
                        <a:rPr sz="1050" b="0" i="0">
                          <a:solidFill>
                            <a:srgbClr val="000000"/>
                          </a:solidFill>
                        </a:rPr>
                        <a:t>reports/conformance.md; the coverage table, recorded in the dev log</a:t>
                      </a:r>
                    </a:p>
                  </a:txBody>
                  <a:tcPr marL="54864" marR="54864" marT="27432" marB="27432">
                    <a:solidFill>
                      <a:srgbClr val="F3F0F9"/>
                    </a:solidFill>
                  </a:tcPr>
                </a:tc>
              </a:tr>
              <a:tr h="411480">
                <a:tc>
                  <a:txBody>
                    <a:bodyPr wrap="square"/>
                    <a:lstStyle/>
                    <a:p>
                      <a:pPr>
                        <a:spcAft>
                          <a:spcPts val="0"/>
                        </a:spcAft>
                      </a:pPr>
                      <a:r>
                        <a:rPr sz="1050" b="0" i="0">
                          <a:solidFill>
                            <a:srgbClr val="000000"/>
                          </a:solidFill>
                        </a:rPr>
                        <a:t>On failure</a:t>
                      </a:r>
                    </a:p>
                  </a:txBody>
                  <a:tcPr marL="54864" marR="54864" marT="27432" marB="27432">
                    <a:solidFill>
                      <a:srgbClr val="FFFFFF"/>
                    </a:solidFill>
                  </a:tcPr>
                </a:tc>
                <a:tc>
                  <a:txBody>
                    <a:bodyPr wrap="square"/>
                    <a:lstStyle/>
                    <a:p>
                      <a:pPr>
                        <a:spcAft>
                          <a:spcPts val="0"/>
                        </a:spcAft>
                      </a:pPr>
                      <a:r>
                        <a:rPr sz="1050" b="0" i="0">
                          <a:solidFill>
                            <a:srgbClr val="000000"/>
                          </a:solidFill>
                        </a:rPr>
                        <a:t>a test is added or fixed, or the code is fixed; a clause is never weakened to make the run pass</a:t>
                      </a:r>
                    </a:p>
                  </a:txBody>
                  <a:tcPr marL="54864" marR="54864" marT="27432" marB="27432">
                    <a:solidFill>
                      <a:srgbClr val="FFFFFF"/>
                    </a:solidFill>
                  </a:tcPr>
                </a:tc>
              </a:tr>
              <a:tr h="411480">
                <a:tc>
                  <a:txBody>
                    <a:bodyPr wrap="square"/>
                    <a:lstStyle/>
                    <a:p>
                      <a:pPr>
                        <a:spcAft>
                          <a:spcPts val="0"/>
                        </a:spcAft>
                      </a:pPr>
                      <a:r>
                        <a:rPr sz="1050" b="0" i="0">
                          <a:solidFill>
                            <a:srgbClr val="000000"/>
                          </a:solidFill>
                        </a:rPr>
                        <a:t>Example</a:t>
                      </a:r>
                    </a:p>
                  </a:txBody>
                  <a:tcPr marL="54864" marR="54864" marT="27432" marB="27432">
                    <a:solidFill>
                      <a:srgbClr val="F3F0F9"/>
                    </a:solidFill>
                  </a:tcPr>
                </a:tc>
                <a:tc>
                  <a:txBody>
                    <a:bodyPr wrap="square"/>
                    <a:lstStyle/>
                    <a:p>
                      <a:pPr>
                        <a:spcAft>
                          <a:spcPts val="0"/>
                        </a:spcAft>
                      </a:pPr>
                      <a:r>
                        <a:rPr sz="1050" b="0" i="0">
                          <a:solidFill>
                            <a:srgbClr val="000000"/>
                          </a:solidFill>
                        </a:rPr>
                        <a:t>REQ-1 is cited by test_filter.py::test_critical_is_dropped</a:t>
                      </a:r>
                    </a:p>
                  </a:txBody>
                  <a:tcPr marL="54864" marR="54864" marT="27432" marB="27432">
                    <a:solidFill>
                      <a:srgbClr val="F3F0F9"/>
                    </a:solidFill>
                  </a:tcPr>
                </a:tc>
              </a:tr>
            </a:tbl>
          </a:graphicData>
        </a:graphic>
      </p:graphicFrame>
      <p:sp>
        <p:nvSpPr>
          <p:cNvPr id="7" name="Rectangle 6"/>
          <p:cNvSpPr/>
          <p:nvPr/>
        </p:nvSpPr>
        <p:spPr>
          <a:xfrm>
            <a:off x="5212080" y="5577840"/>
            <a:ext cx="6583680" cy="64008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18288" bIns="18288"/>
          <a:lstStyle/>
          <a:p>
            <a:pPr algn="l">
              <a:spcAft>
                <a:spcPts val="0"/>
              </a:spcAft>
            </a:pPr>
            <a:r>
              <a:rPr sz="1150" b="0" i="0">
                <a:solidFill>
                  <a:srgbClr val="000000"/>
                </a:solidFill>
              </a:rPr>
              <a:t>Decided by names the verifier, so a rule can actually be checked. On failure says what happens, so a red result has a next step.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Why the rules are a file, and where the effort goes</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37</a:t>
            </a:r>
          </a:p>
        </p:txBody>
      </p:sp>
      <p:sp>
        <p:nvSpPr>
          <p:cNvPr id="5" name="TextBox 4"/>
          <p:cNvSpPr txBox="1"/>
          <p:nvPr/>
        </p:nvSpPr>
        <p:spPr>
          <a:xfrm>
            <a:off x="777240" y="1325880"/>
            <a:ext cx="5486400" cy="4937760"/>
          </a:xfrm>
          <a:prstGeom prst="rect">
            <a:avLst/>
          </a:prstGeom>
          <a:noFill/>
        </p:spPr>
        <p:txBody>
          <a:bodyPr wrap="square" lIns="45720" rIns="45720" tIns="27432" bIns="27432">
            <a:spAutoFit/>
          </a:bodyPr>
          <a:lstStyle/>
          <a:p>
            <a:pPr>
              <a:spcAft>
                <a:spcPts val="600"/>
              </a:spcAft>
            </a:pPr>
            <a:r>
              <a:rPr sz="1400" b="1" i="0">
                <a:solidFill>
                  <a:srgbClr val="990099"/>
                </a:solidFill>
              </a:rPr>
              <a:t>The rules are a file because the agent reads it</a:t>
            </a:r>
          </a:p>
          <a:p>
            <a:pPr marL="182880" indent="-182880">
              <a:spcAft>
                <a:spcPts val="800"/>
              </a:spcAft>
              <a:buChar char="•"/>
            </a:pPr>
            <a:r>
              <a:rPr sz="1250" b="0" i="0"/>
              <a:t>An agent started in this directory is told to read process/rules.md; from then on the person and the agent follow the same written process</a:t>
            </a:r>
          </a:p>
          <a:p>
            <a:pPr marL="182880" indent="-182880">
              <a:spcAft>
                <a:spcPts val="800"/>
              </a:spcAft>
              <a:buChar char="•"/>
            </a:pPr>
            <a:r>
              <a:rPr sz="1250" b="0" i="0"/>
              <a:t>It cites a clause in each test because CONF-1 says so; it records the gate result because RPT-1 says so</a:t>
            </a:r>
          </a:p>
          <a:p>
            <a:pPr marL="182880" indent="-182880">
              <a:spcAft>
                <a:spcPts val="800"/>
              </a:spcAft>
              <a:buChar char="•"/>
            </a:pPr>
            <a:r>
              <a:rPr sz="1250" b="0" i="0"/>
              <a:t>A process that lives in a person's habits cannot be followed by an agent; one that lives in the agent's prompt cannot be audited by a person; a file can be both followed and audited</a:t>
            </a:r>
          </a:p>
          <a:p>
            <a:pPr marL="182880" indent="-182880">
              <a:spcAft>
                <a:spcPts val="800"/>
              </a:spcAft>
              <a:buChar char="•"/>
            </a:pPr>
            <a:r>
              <a:rPr sz="1250" b="1" i="0">
                <a:latin typeface="Courier New"/>
              </a:rPr>
              <a:t>reports/dev-log.md</a:t>
            </a:r>
            <a:r>
              <a:rPr sz="1250" b="0" i="0"/>
              <a:t>: the append-only record of what each task did, the judgments it touched, and the gate result. The ledger says where things stand; the log says what happened</a:t>
            </a:r>
          </a:p>
        </p:txBody>
      </p:sp>
      <p:sp>
        <p:nvSpPr>
          <p:cNvPr id="6" name="Rectangle 5"/>
          <p:cNvSpPr/>
          <p:nvPr/>
        </p:nvSpPr>
        <p:spPr>
          <a:xfrm>
            <a:off x="6675120" y="1325880"/>
            <a:ext cx="2377440" cy="1371600"/>
          </a:xfrm>
          <a:prstGeom prst="rect">
            <a:avLst/>
          </a:prstGeom>
          <a:solidFill>
            <a:srgbClr val="F3F0F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3400" b="1" i="0">
                <a:solidFill>
                  <a:srgbClr val="6E1EC6"/>
                </a:solidFill>
              </a:rPr>
              <a:t>&lt; 30</a:t>
            </a:r>
          </a:p>
          <a:p>
            <a:pPr algn="ctr">
              <a:spcAft>
                <a:spcPts val="200"/>
              </a:spcAft>
            </a:pPr>
            <a:r>
              <a:rPr sz="1100" b="0" i="0">
                <a:solidFill>
                  <a:srgbClr val="000000"/>
                </a:solidFill>
              </a:rPr>
              <a:t>lines of code in guard/</a:t>
            </a:r>
          </a:p>
        </p:txBody>
      </p:sp>
      <p:sp>
        <p:nvSpPr>
          <p:cNvPr id="7" name="Rectangle 6"/>
          <p:cNvSpPr/>
          <p:nvPr/>
        </p:nvSpPr>
        <p:spPr>
          <a:xfrm>
            <a:off x="9326880" y="1325880"/>
            <a:ext cx="2468880" cy="1371600"/>
          </a:xfrm>
          <a:prstGeom prst="rect">
            <a:avLst/>
          </a:prstGeom>
          <a:solidFill>
            <a:srgbClr val="F3F0F9"/>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3400" b="1" i="0">
                <a:solidFill>
                  <a:srgbClr val="6E1EC6"/>
                </a:solidFill>
              </a:rPr>
              <a:t>&gt; 300</a:t>
            </a:r>
          </a:p>
          <a:p>
            <a:pPr algn="ctr">
              <a:spcAft>
                <a:spcPts val="200"/>
              </a:spcAft>
            </a:pPr>
            <a:r>
              <a:rPr sz="1100" b="0" i="0">
                <a:solidFill>
                  <a:srgbClr val="000000"/>
                </a:solidFill>
              </a:rPr>
              <a:t>lines of specifications, rules, and reports</a:t>
            </a:r>
          </a:p>
        </p:txBody>
      </p:sp>
      <p:sp>
        <p:nvSpPr>
          <p:cNvPr id="8" name="TextBox 7"/>
          <p:cNvSpPr txBox="1"/>
          <p:nvPr/>
        </p:nvSpPr>
        <p:spPr>
          <a:xfrm>
            <a:off x="6675120" y="2834640"/>
            <a:ext cx="5120640" cy="1280160"/>
          </a:xfrm>
          <a:prstGeom prst="rect">
            <a:avLst/>
          </a:prstGeom>
          <a:noFill/>
        </p:spPr>
        <p:txBody>
          <a:bodyPr wrap="square" lIns="45720" rIns="45720">
            <a:spAutoFit/>
          </a:bodyPr>
          <a:lstStyle/>
          <a:p>
            <a:pPr>
              <a:spcAft>
                <a:spcPts val="400"/>
              </a:spcAft>
            </a:pPr>
            <a:r>
              <a:rPr sz="1200" b="0" i="0"/>
              <a:t>Not a property of the small example. When an agent writes the code, the person's effort goes into saying what is wanted, deciding how it will be checked, and reading the evidence: the parts an agent cannot do alone and the parts that make its output something a person can stand behind.</a:t>
            </a:r>
          </a:p>
        </p:txBody>
      </p:sp>
      <p:sp>
        <p:nvSpPr>
          <p:cNvPr id="9" name="Rectangle 8"/>
          <p:cNvSpPr/>
          <p:nvPr/>
        </p:nvSpPr>
        <p:spPr>
          <a:xfrm>
            <a:off x="6675120" y="4297680"/>
            <a:ext cx="5120640" cy="1920240"/>
          </a:xfrm>
          <a:prstGeom prst="rect">
            <a:avLst/>
          </a:prstGeom>
          <a:solidFill>
            <a:srgbClr val="FFCF01"/>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In class: one demonstration</a:t>
            </a:r>
          </a:p>
          <a:p>
            <a:pPr algn="l" marL="182880" indent="-182880">
              <a:spcAft>
                <a:spcPts val="200"/>
              </a:spcAft>
              <a:buChar char="•"/>
            </a:pPr>
            <a:r>
              <a:rPr sz="1200" b="0" i="0">
                <a:solidFill>
                  <a:srgbClr val="000000"/>
                </a:solidFill>
              </a:rPr>
              <a:t>Start an agent in v0/ and ask what the system does and how it is known that the code does it</a:t>
            </a:r>
          </a:p>
          <a:p>
            <a:pPr algn="l" marL="182880" indent="-182880">
              <a:spcAft>
                <a:spcPts val="200"/>
              </a:spcAft>
              <a:buChar char="•"/>
            </a:pPr>
            <a:r>
              <a:rPr sz="1200" b="0" i="0">
                <a:solidFill>
                  <a:srgbClr val="000000"/>
                </a:solidFill>
              </a:rPr>
              <a:t>Watch where it looks. An answer drawn from specs/, the conformance report, and the ledger is one a person could check; an answer drawn from reading filter.py is the agent's opinion of the code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What is not here yet</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38</a:t>
            </a:r>
          </a:p>
        </p:txBody>
      </p:sp>
      <p:sp>
        <p:nvSpPr>
          <p:cNvPr id="5" name="TextBox 4"/>
          <p:cNvSpPr txBox="1"/>
          <p:nvPr/>
        </p:nvSpPr>
        <p:spPr>
          <a:xfrm>
            <a:off x="777240" y="1325880"/>
            <a:ext cx="5394960" cy="4937760"/>
          </a:xfrm>
          <a:prstGeom prst="rect">
            <a:avLst/>
          </a:prstGeom>
          <a:noFill/>
        </p:spPr>
        <p:txBody>
          <a:bodyPr wrap="square" lIns="45720" rIns="45720" tIns="27432" bIns="27432">
            <a:spAutoFit/>
          </a:bodyPr>
          <a:lstStyle/>
          <a:p>
            <a:pPr>
              <a:spcAft>
                <a:spcPts val="600"/>
              </a:spcAft>
            </a:pPr>
            <a:r>
              <a:rPr sz="1350" b="1" i="0">
                <a:solidFill>
                  <a:srgbClr val="990099"/>
                </a:solidFill>
              </a:rPr>
              <a:t>Version A1 — the same system, better specifications (next two lectures)</a:t>
            </a:r>
          </a:p>
          <a:p>
            <a:pPr marL="182880" indent="-182880">
              <a:spcAft>
                <a:spcPts val="700"/>
              </a:spcAft>
              <a:buChar char="•"/>
            </a:pPr>
            <a:r>
              <a:rPr sz="1250" b="0" i="0"/>
              <a:t>Elicitation: how the purpose statement and the stories are obtained from stakeholders</a:t>
            </a:r>
          </a:p>
          <a:p>
            <a:pPr marL="182880" indent="-182880">
              <a:spcAft>
                <a:spcPts val="700"/>
              </a:spcAft>
              <a:buChar char="•"/>
            </a:pPr>
            <a:r>
              <a:rPr sz="1250" b="0" i="0"/>
              <a:t>A glossary of the domain's terms as a specification of its own</a:t>
            </a:r>
          </a:p>
          <a:p>
            <a:pPr marL="182880" indent="-182880">
              <a:spcAft>
                <a:spcPts val="700"/>
              </a:spcAft>
              <a:buChar char="•"/>
            </a:pPr>
            <a:r>
              <a:rPr sz="1250" b="0" i="0"/>
              <a:t>Requirements rewritten in a structured natural-language form (EARS)</a:t>
            </a:r>
          </a:p>
          <a:p>
            <a:pPr marL="182880" indent="-182880">
              <a:spcAft>
                <a:spcPts val="700"/>
              </a:spcAft>
              <a:buChar char="•"/>
            </a:pPr>
            <a:r>
              <a:rPr sz="1250" b="0" i="0"/>
              <a:t>Fixtures derived from the stories, so a story can be checked by a test as well as walked</a:t>
            </a:r>
          </a:p>
          <a:p>
            <a:pPr marL="182880" indent="-182880">
              <a:spcAft>
                <a:spcPts val="700"/>
              </a:spcAft>
              <a:buChar char="•"/>
            </a:pPr>
            <a:r>
              <a:rPr sz="1250" b="0" i="0"/>
              <a:t>The audit replaces the reading: a procedure on a specification with gaps placed on purpose, by a person, then an agent, then a packaged skill</a:t>
            </a:r>
          </a:p>
          <a:p>
            <a:pPr marL="182880" indent="-182880">
              <a:spcAft>
                <a:spcPts val="700"/>
              </a:spcAft>
              <a:buChar char="•"/>
            </a:pPr>
            <a:r>
              <a:rPr sz="1250" b="0" i="0"/>
              <a:t>The agent as a verifier; the trace matrix as a tool</a:t>
            </a:r>
          </a:p>
        </p:txBody>
      </p:sp>
      <p:sp>
        <p:nvSpPr>
          <p:cNvPr id="6" name="TextBox 5"/>
          <p:cNvSpPr txBox="1"/>
          <p:nvPr/>
        </p:nvSpPr>
        <p:spPr>
          <a:xfrm>
            <a:off x="6446520" y="1325880"/>
            <a:ext cx="5349240" cy="4937760"/>
          </a:xfrm>
          <a:prstGeom prst="rect">
            <a:avLst/>
          </a:prstGeom>
          <a:noFill/>
        </p:spPr>
        <p:txBody>
          <a:bodyPr wrap="square" lIns="45720" rIns="45720" tIns="27432" bIns="27432">
            <a:spAutoFit/>
          </a:bodyPr>
          <a:lstStyle/>
          <a:p>
            <a:pPr>
              <a:spcAft>
                <a:spcPts val="600"/>
              </a:spcAft>
            </a:pPr>
            <a:r>
              <a:rPr sz="1350" b="1" i="0">
                <a:solidFill>
                  <a:srgbClr val="990099"/>
                </a:solidFill>
              </a:rPr>
              <a:t>Later versions</a:t>
            </a:r>
          </a:p>
          <a:p>
            <a:pPr marL="182880" indent="-182880">
              <a:spcAft>
                <a:spcPts val="900"/>
              </a:spcAft>
              <a:buChar char="•"/>
            </a:pPr>
            <a:r>
              <a:rPr sz="1250" b="1" i="0"/>
              <a:t>A2: </a:t>
            </a:r>
            <a:r>
              <a:rPr sz="1250" b="0" i="0"/>
              <a:t>the second stage, sanitize, and the first specifications of structure: an architecture with two stages in a fixed order, the message format, contracts between the stages; a build plan with tasks and waves; analysis and review as methods; the ledger generated by a tool</a:t>
            </a:r>
          </a:p>
          <a:p>
            <a:pPr marL="182880" indent="-182880">
              <a:spcAft>
                <a:spcPts val="900"/>
              </a:spcAft>
              <a:buChar char="•"/>
            </a:pPr>
            <a:r>
              <a:rPr sz="1250" b="1" i="0"/>
              <a:t>A3: </a:t>
            </a:r>
            <a:r>
              <a:rPr sz="1250" b="0" i="0"/>
              <a:t>a change of policy: change requests, staleness in action, impact analysis</a:t>
            </a:r>
          </a:p>
          <a:p>
            <a:pPr marL="182880" indent="-182880">
              <a:spcAft>
                <a:spcPts val="900"/>
              </a:spcAft>
              <a:buChar char="•"/>
            </a:pPr>
            <a:r>
              <a:rPr sz="1250" b="1" i="0"/>
              <a:t>A4, A5: </a:t>
            </a:r>
            <a:r>
              <a:rPr sz="1250" b="0" i="0"/>
              <a:t>sessions with an ordering protocol (a state machine, a sequence chart, a verification plan); a standard message format (a schema and generated code)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Applying this to your own project</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39</a:t>
            </a:r>
          </a:p>
        </p:txBody>
      </p:sp>
      <p:sp>
        <p:nvSpPr>
          <p:cNvPr id="5" name="TextBox 4"/>
          <p:cNvSpPr txBox="1"/>
          <p:nvPr/>
        </p:nvSpPr>
        <p:spPr>
          <a:xfrm>
            <a:off x="777240" y="1325880"/>
            <a:ext cx="5440680" cy="4937760"/>
          </a:xfrm>
          <a:prstGeom prst="rect">
            <a:avLst/>
          </a:prstGeom>
          <a:noFill/>
        </p:spPr>
        <p:txBody>
          <a:bodyPr wrap="square" lIns="45720" rIns="45720" tIns="27432" bIns="27432">
            <a:spAutoFit/>
          </a:bodyPr>
          <a:lstStyle/>
          <a:p>
            <a:pPr>
              <a:spcAft>
                <a:spcPts val="600"/>
              </a:spcAft>
            </a:pPr>
            <a:r>
              <a:rPr sz="1400" b="1" i="0">
                <a:solidFill>
                  <a:srgbClr val="990099"/>
                </a:solidFill>
              </a:rPr>
              <a:t>Carries over directly</a:t>
            </a:r>
          </a:p>
          <a:p>
            <a:pPr marL="182880" indent="-182880">
              <a:spcAft>
                <a:spcPts val="600"/>
              </a:spcAft>
              <a:buChar char="•"/>
            </a:pPr>
            <a:r>
              <a:rPr sz="1200" b="1" i="0"/>
              <a:t>The entities and judgments. </a:t>
            </a:r>
            <a:r>
              <a:rPr sz="1200" b="0" i="0"/>
              <a:t>Start a ledger on day one, by hand; "not established" is information</a:t>
            </a:r>
          </a:p>
          <a:p>
            <a:pPr marL="182880" indent="-182880">
              <a:spcAft>
                <a:spcPts val="600"/>
              </a:spcAft>
              <a:buChar char="•"/>
            </a:pPr>
            <a:r>
              <a:rPr sz="1200" b="1" i="0"/>
              <a:t>A concept of operations </a:t>
            </a:r>
            <a:r>
              <a:rPr sz="1200" b="0" i="0"/>
              <a:t>with the four elements, written with your team and an agent, agreed before code</a:t>
            </a:r>
          </a:p>
          <a:p>
            <a:pPr marL="182880" indent="-182880">
              <a:spcAft>
                <a:spcPts val="600"/>
              </a:spcAft>
              <a:buChar char="•"/>
            </a:pPr>
            <a:r>
              <a:rPr sz="1200" b="1" i="0"/>
              <a:t>A requirements document </a:t>
            </a:r>
            <a:r>
              <a:rPr sz="1200" b="0" i="0"/>
              <a:t>whose clauses carry an identifier, a method, and a derivation</a:t>
            </a:r>
          </a:p>
          <a:p>
            <a:pPr marL="182880" indent="-182880">
              <a:spcAft>
                <a:spcPts val="600"/>
              </a:spcAft>
              <a:buChar char="•"/>
            </a:pPr>
            <a:r>
              <a:rPr sz="1200" b="1" i="0"/>
              <a:t>A statement of the technology: </a:t>
            </a:r>
            <a:r>
              <a:rPr sz="1200" b="0" i="0"/>
              <a:t>language, tools, versions, the gate command</a:t>
            </a:r>
          </a:p>
          <a:p>
            <a:pPr marL="182880" indent="-182880">
              <a:spcAft>
                <a:spcPts val="600"/>
              </a:spcAft>
              <a:buChar char="•"/>
            </a:pPr>
            <a:r>
              <a:rPr sz="1200" b="1" i="0"/>
              <a:t>Tests that cite clauses, and the two coverages. </a:t>
            </a:r>
            <a:r>
              <a:rPr sz="1200" b="0" i="0"/>
              <a:t>Ask whether the suite supports a verification, not only whether it passes</a:t>
            </a:r>
          </a:p>
          <a:p>
            <a:pPr marL="182880" indent="-182880">
              <a:spcAft>
                <a:spcPts val="600"/>
              </a:spcAft>
              <a:buChar char="•"/>
            </a:pPr>
            <a:r>
              <a:rPr sz="1200" b="1" i="0"/>
              <a:t>A rules file </a:t>
            </a:r>
            <a:r>
              <a:rPr sz="1200" b="0" i="0"/>
              <a:t>with the template fields; one gate and the ledger first; add a rule the second time you check something by hand</a:t>
            </a:r>
          </a:p>
          <a:p>
            <a:pPr marL="182880" indent="-182880">
              <a:spcAft>
                <a:spcPts val="600"/>
              </a:spcAft>
              <a:buChar char="•"/>
            </a:pPr>
            <a:r>
              <a:rPr sz="1200" b="1" i="0"/>
              <a:t>A sign-off, and provenance </a:t>
            </a:r>
            <a:r>
              <a:rPr sz="1200" b="0" i="0"/>
              <a:t>on every claim</a:t>
            </a:r>
          </a:p>
        </p:txBody>
      </p:sp>
      <p:sp>
        <p:nvSpPr>
          <p:cNvPr id="6" name="TextBox 5"/>
          <p:cNvSpPr txBox="1"/>
          <p:nvPr/>
        </p:nvSpPr>
        <p:spPr>
          <a:xfrm>
            <a:off x="6446520" y="1325880"/>
            <a:ext cx="5349240" cy="3840480"/>
          </a:xfrm>
          <a:prstGeom prst="rect">
            <a:avLst/>
          </a:prstGeom>
          <a:noFill/>
        </p:spPr>
        <p:txBody>
          <a:bodyPr wrap="square" lIns="45720" rIns="45720" tIns="27432" bIns="27432">
            <a:spAutoFit/>
          </a:bodyPr>
          <a:lstStyle/>
          <a:p>
            <a:pPr>
              <a:spcAft>
                <a:spcPts val="600"/>
              </a:spcAft>
            </a:pPr>
            <a:r>
              <a:rPr sz="1400" b="1" i="0">
                <a:solidFill>
                  <a:srgbClr val="990099"/>
                </a:solidFill>
              </a:rPr>
              <a:t>Needs adaptation</a:t>
            </a:r>
          </a:p>
          <a:p>
            <a:pPr marL="182880" indent="-182880">
              <a:spcAft>
                <a:spcPts val="600"/>
              </a:spcAft>
              <a:buChar char="•"/>
            </a:pPr>
            <a:r>
              <a:rPr sz="1200" b="1" i="0"/>
              <a:t>The forms of specification: </a:t>
            </a:r>
            <a:r>
              <a:rPr sz="1200" b="0" i="0"/>
              <a:t>architecture, data format, state machine, contracts, as your system needs them (specification-kinds.md)</a:t>
            </a:r>
          </a:p>
          <a:p>
            <a:pPr marL="182880" indent="-182880">
              <a:spcAft>
                <a:spcPts val="600"/>
              </a:spcAft>
              <a:buChar char="•"/>
            </a:pPr>
            <a:r>
              <a:rPr sz="1200" b="1" i="0"/>
              <a:t>The verification methods: </a:t>
            </a:r>
            <a:r>
              <a:rPr sz="1200" b="0" i="0"/>
              <a:t>analysis and review, with their tools and evidence</a:t>
            </a:r>
          </a:p>
          <a:p>
            <a:pPr marL="182880" indent="-182880">
              <a:spcAft>
                <a:spcPts val="600"/>
              </a:spcAft>
              <a:buChar char="•"/>
            </a:pPr>
            <a:r>
              <a:rPr sz="1200" b="1" i="0"/>
              <a:t>The tooling: </a:t>
            </a:r>
            <a:r>
              <a:rPr sz="1200" b="0" i="0"/>
              <a:t>the idea of citation-derived coverage carries; the plugin does not</a:t>
            </a:r>
          </a:p>
          <a:p>
            <a:pPr marL="182880" indent="-182880">
              <a:spcAft>
                <a:spcPts val="600"/>
              </a:spcAft>
              <a:buChar char="•"/>
            </a:pPr>
            <a:r>
              <a:rPr sz="1200" b="1" i="0"/>
              <a:t>The thresholds, the people, the records: </a:t>
            </a:r>
            <a:r>
              <a:rPr sz="1200" b="0" i="0"/>
              <a:t>a justified coverage level; real stakeholders found early; a generated ledger when hand-writing stops scaling</a:t>
            </a:r>
          </a:p>
        </p:txBody>
      </p:sp>
      <p:sp>
        <p:nvSpPr>
          <p:cNvPr id="7" name="Rectangle 6"/>
          <p:cNvSpPr/>
          <p:nvPr/>
        </p:nvSpPr>
        <p:spPr>
          <a:xfrm>
            <a:off x="6446520" y="5257800"/>
            <a:ext cx="5349240" cy="1005840"/>
          </a:xfrm>
          <a:prstGeom prst="rect">
            <a:avLst/>
          </a:prstGeom>
          <a:gradFill rotWithShape="1">
            <a:gsLst>
              <a:gs pos="0">
                <a:srgbClr val="FFCF01"/>
              </a:gs>
              <a:gs pos="100000">
                <a:srgbClr val="FFFFFF"/>
              </a:gs>
            </a:gsLst>
            <a:lin scaled="0" ang="0"/>
          </a:gra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18288" bIns="18288"/>
          <a:lstStyle/>
          <a:p>
            <a:pPr algn="l">
              <a:spcAft>
                <a:spcPts val="0"/>
              </a:spcAft>
            </a:pPr>
            <a:r>
              <a:rPr sz="1150" b="0" i="0">
                <a:solidFill>
                  <a:srgbClr val="000000"/>
                </a:solidFill>
              </a:rPr>
              <a:t>The skill the next lectures build: phrasing your own criteria for specification quality, realization quality, and verification with a named decider, named evidence, and a stated consequence of failure.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000" b="0" i="0"/>
              <a:t>Exercise 1, and before next meeting</a:t>
            </a:r>
          </a:p>
        </p:txBody>
      </p:sp>
      <p:sp>
        <p:nvSpPr>
          <p:cNvPr id="3" name="TextBox 2"/>
          <p:cNvSpPr txBox="1"/>
          <p:nvPr/>
        </p:nvSpPr>
        <p:spPr>
          <a:xfrm>
            <a:off x="777240" y="6419088"/>
            <a:ext cx="6858000" cy="274320"/>
          </a:xfrm>
          <a:prstGeom prst="rect">
            <a:avLst/>
          </a:prstGeom>
          <a:noFill/>
        </p:spPr>
        <p:txBody>
          <a:bodyPr wrap="square" lIns="18288" rIns="18288" tIns="18288" bIns="18288">
            <a:spAutoFit/>
          </a:bodyPr>
          <a:lstStyle/>
          <a:p>
            <a:pPr>
              <a:spcAft>
                <a:spcPts val="400"/>
              </a:spcAft>
            </a:pPr>
            <a:r>
              <a:rPr sz="1000" b="0" i="0">
                <a:solidFill>
                  <a:srgbClr val="595959"/>
                </a:solidFill>
              </a:rPr>
              <a:t>Agentic Software Engineering — ASE Principles Module, Lecture 01</a:t>
            </a:r>
          </a:p>
        </p:txBody>
      </p:sp>
      <p:sp>
        <p:nvSpPr>
          <p:cNvPr id="4" name="TextBox 3"/>
          <p:cNvSpPr txBox="1"/>
          <p:nvPr/>
        </p:nvSpPr>
        <p:spPr>
          <a:xfrm>
            <a:off x="11064240" y="6419088"/>
            <a:ext cx="731520" cy="274320"/>
          </a:xfrm>
          <a:prstGeom prst="rect">
            <a:avLst/>
          </a:prstGeom>
          <a:noFill/>
        </p:spPr>
        <p:txBody>
          <a:bodyPr wrap="square" lIns="18288" rIns="18288" tIns="18288" bIns="18288">
            <a:spAutoFit/>
          </a:bodyPr>
          <a:lstStyle/>
          <a:p>
            <a:pPr algn="r">
              <a:spcAft>
                <a:spcPts val="400"/>
              </a:spcAft>
            </a:pPr>
            <a:r>
              <a:rPr sz="1000" b="0" i="0">
                <a:solidFill>
                  <a:srgbClr val="595959"/>
                </a:solidFill>
              </a:rPr>
              <a:t>40</a:t>
            </a:r>
          </a:p>
        </p:txBody>
      </p:sp>
      <p:sp>
        <p:nvSpPr>
          <p:cNvPr id="5" name="Rectangle 4"/>
          <p:cNvSpPr/>
          <p:nvPr/>
        </p:nvSpPr>
        <p:spPr>
          <a:xfrm>
            <a:off x="777240" y="1325880"/>
            <a:ext cx="5760720" cy="3749039"/>
          </a:xfrm>
          <a:prstGeom prst="rect">
            <a:avLst/>
          </a:prstGeom>
          <a:solidFill>
            <a:srgbClr val="FFF3B0"/>
          </a:solidFill>
          <a:ln w="9525">
            <a:solidFill>
              <a:srgbClr val="000000"/>
            </a:solidFill>
          </a:ln>
          <a:effectLst>
            <a:outerShdw blurRad="38100" dist="38100" dir="2700000" algn="tl"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73152" rIns="73152" tIns="27432" bIns="27432"/>
          <a:lstStyle/>
          <a:p>
            <a:pPr algn="l">
              <a:spcAft>
                <a:spcPts val="300"/>
              </a:spcAft>
            </a:pPr>
            <a:r>
              <a:rPr sz="1300" b="1" i="0">
                <a:solidFill>
                  <a:srgbClr val="000000"/>
                </a:solidFill>
              </a:rPr>
              <a:t>Exercise 1</a:t>
            </a:r>
          </a:p>
          <a:p>
            <a:pPr algn="l" marL="182880" indent="-182880">
              <a:spcAft>
                <a:spcPts val="200"/>
              </a:spcAft>
              <a:buChar char="•"/>
            </a:pPr>
            <a:r>
              <a:rPr sz="1200" b="0" i="0">
                <a:solidFill>
                  <a:srgbClr val="000000"/>
                </a:solidFill>
              </a:rPr>
              <a:t>Add a requirement: a message whose payload is negative is dropped, whatever its level</a:t>
            </a:r>
          </a:p>
          <a:p>
            <a:pPr algn="l" marL="182880" indent="-182880">
              <a:spcAft>
                <a:spcPts val="200"/>
              </a:spcAft>
              <a:buChar char="•"/>
            </a:pPr>
            <a:r>
              <a:rPr sz="1200" b="0" i="0">
                <a:solidFill>
                  <a:srgbClr val="000000"/>
                </a:solidFill>
              </a:rPr>
              <a:t>Before writing code, read it with REQ-0 to REQ-3: do the five quality properties still hold? At least one does not; the resolution amends existing clauses</a:t>
            </a:r>
          </a:p>
          <a:p>
            <a:pPr algn="l" marL="182880" indent="-182880">
              <a:spcAft>
                <a:spcPts val="200"/>
              </a:spcAft>
              <a:buChar char="•"/>
            </a:pPr>
            <a:r>
              <a:rPr sz="1200" b="0" i="0">
                <a:solidFill>
                  <a:srgbClr val="000000"/>
                </a:solidFill>
              </a:rPr>
              <a:t>Record which ledger rows the amendment makes stale, and why</a:t>
            </a:r>
          </a:p>
          <a:p>
            <a:pPr algn="l" marL="182880" indent="-182880">
              <a:spcAft>
                <a:spcPts val="200"/>
              </a:spcAft>
              <a:buChar char="•"/>
            </a:pPr>
            <a:r>
              <a:rPr sz="1200" b="0" i="0">
                <a:solidFill>
                  <a:srgbClr val="000000"/>
                </a:solidFill>
              </a:rPr>
              <a:t>Carry it through: the clause (identifier, method, derivation), a test that cites it, the gate, the ledger, a dev-log entry; if a story is affected, what must the sign-off now say?</a:t>
            </a:r>
          </a:p>
          <a:p>
            <a:pPr algn="l" marL="182880" indent="-182880">
              <a:spcAft>
                <a:spcPts val="200"/>
              </a:spcAft>
              <a:buChar char="•"/>
            </a:pPr>
            <a:r>
              <a:rPr sz="1200" b="1" i="0">
                <a:solidFill>
                  <a:srgbClr val="000000"/>
                </a:solidFill>
              </a:rPr>
              <a:t>Deliverable: </a:t>
            </a:r>
            <a:r>
              <a:rPr sz="1200" b="0" i="0">
                <a:solidFill>
                  <a:srgbClr val="000000"/>
                </a:solidFill>
              </a:rPr>
              <a:t>the diff; the ledger after; half a page on which rows went stale, which verifier re-established each, and which needed a person</a:t>
            </a:r>
          </a:p>
        </p:txBody>
      </p:sp>
      <p:sp>
        <p:nvSpPr>
          <p:cNvPr id="6" name="TextBox 5"/>
          <p:cNvSpPr txBox="1"/>
          <p:nvPr/>
        </p:nvSpPr>
        <p:spPr>
          <a:xfrm>
            <a:off x="6766560" y="1325880"/>
            <a:ext cx="5029200" cy="2377440"/>
          </a:xfrm>
          <a:prstGeom prst="rect">
            <a:avLst/>
          </a:prstGeom>
          <a:noFill/>
        </p:spPr>
        <p:txBody>
          <a:bodyPr wrap="square" lIns="45720" rIns="45720" tIns="27432" bIns="27432">
            <a:spAutoFit/>
          </a:bodyPr>
          <a:lstStyle/>
          <a:p>
            <a:pPr>
              <a:spcAft>
                <a:spcPts val="600"/>
              </a:spcAft>
            </a:pPr>
            <a:r>
              <a:rPr sz="1400" b="1" i="0">
                <a:solidFill>
                  <a:srgbClr val="990099"/>
                </a:solidFill>
              </a:rPr>
              <a:t>Before next meeting</a:t>
            </a:r>
          </a:p>
          <a:p>
            <a:pPr marL="182880" indent="-182880">
              <a:spcAft>
                <a:spcPts val="600"/>
              </a:spcAft>
              <a:buChar char="•"/>
            </a:pPr>
            <a:r>
              <a:rPr sz="1200" b="0" i="0"/>
              <a:t>Run A0: uv sync; tools/gate.sh; the two sabotages, restoring the file after the first; check one ledger row's evidence against the file it names</a:t>
            </a:r>
          </a:p>
          <a:p>
            <a:pPr marL="182880" indent="-182880">
              <a:spcAft>
                <a:spcPts val="600"/>
              </a:spcAft>
              <a:buChar char="•"/>
            </a:pPr>
            <a:r>
              <a:rPr sz="1200" b="0" i="0"/>
              <a:t>Read the glossary entries for the terms introduced today</a:t>
            </a:r>
          </a:p>
          <a:p>
            <a:pPr marL="182880" indent="-182880">
              <a:spcAft>
                <a:spcPts val="600"/>
              </a:spcAft>
              <a:buChar char="•"/>
            </a:pPr>
            <a:r>
              <a:rPr sz="1200" b="0" i="0"/>
              <a:t>Read specs/conops.md again and ask how its author could have found out what the security officer wanted. The next lecture is about that</a:t>
            </a:r>
          </a:p>
        </p:txBody>
      </p:sp>
      <p:sp>
        <p:nvSpPr>
          <p:cNvPr id="7" name="TextBox 6"/>
          <p:cNvSpPr txBox="1"/>
          <p:nvPr/>
        </p:nvSpPr>
        <p:spPr>
          <a:xfrm>
            <a:off x="6766560" y="3840480"/>
            <a:ext cx="5029200" cy="2468880"/>
          </a:xfrm>
          <a:prstGeom prst="rect">
            <a:avLst/>
          </a:prstGeom>
          <a:noFill/>
        </p:spPr>
        <p:txBody>
          <a:bodyPr wrap="square" lIns="45720" rIns="45720" tIns="27432" bIns="27432">
            <a:spAutoFit/>
          </a:bodyPr>
          <a:lstStyle/>
          <a:p>
            <a:pPr>
              <a:spcAft>
                <a:spcPts val="600"/>
              </a:spcAft>
            </a:pPr>
            <a:r>
              <a:rPr sz="1400" b="1" i="0">
                <a:solidFill>
                  <a:srgbClr val="990099"/>
                </a:solidFill>
              </a:rPr>
              <a:t>Questions to think about</a:t>
            </a:r>
          </a:p>
          <a:p>
            <a:pPr marL="182880" indent="-182880">
              <a:spcAft>
                <a:spcPts val="500"/>
              </a:spcAft>
              <a:buChar char="•"/>
            </a:pPr>
            <a:r>
              <a:rPr sz="1150" b="0" i="0"/>
              <a:t>A reading of "unchanged" in REQ-2 under which the test is too weak, and which artifact you would change</a:t>
            </a:r>
          </a:p>
          <a:p>
            <a:pPr marL="182880" indent="-182880">
              <a:spcAft>
                <a:spcPts val="500"/>
              </a:spcAft>
              <a:buChar char="•"/>
            </a:pPr>
            <a:r>
              <a:rPr sz="1150" b="0" i="0"/>
              <a:t>A change to filter.py under which every test passes and every requirement has evidence, yet the gate is red</a:t>
            </a:r>
          </a:p>
          <a:p>
            <a:pPr marL="182880" indent="-182880">
              <a:spcAft>
                <a:spcPts val="500"/>
              </a:spcAft>
              <a:buChar char="•"/>
            </a:pPr>
            <a:r>
              <a:rPr sz="1150" b="0" i="0"/>
              <a:t>For each ledger row: program or person? What would have to be written down before a program could take it over, and is anything lost?</a:t>
            </a:r>
          </a:p>
        </p:txBody>
      </p:sp>
    </p:spTree>
  </p:cSld>
  <p:clrMapOvr>
    <a:masterClrMapping/>
  </p:clrMapOvr>
</p:sld>
</file>

<file path=ppt/theme/theme1.xml><?xml version="1.0" encoding="utf-8"?>
<a:theme xmlns:a="http://schemas.openxmlformats.org/drawingml/2006/main" name="Collins Masters: Covers">
  <a:themeElements>
    <a:clrScheme name="1: RTX PRIMARY PALETTE">
      <a:dk1>
        <a:sysClr val="windowText" lastClr="000000"/>
      </a:dk1>
      <a:lt1>
        <a:sysClr val="window" lastClr="FFFFFF"/>
      </a:lt1>
      <a:dk2>
        <a:srgbClr val="CE1126"/>
      </a:dk2>
      <a:lt2>
        <a:srgbClr val="FFFFFF"/>
      </a:lt2>
      <a:accent1>
        <a:srgbClr val="000000"/>
      </a:accent1>
      <a:accent2>
        <a:srgbClr val="63666A"/>
      </a:accent2>
      <a:accent3>
        <a:srgbClr val="B1B3B3"/>
      </a:accent3>
      <a:accent4>
        <a:srgbClr val="D9D9D6"/>
      </a:accent4>
      <a:accent5>
        <a:srgbClr val="F7F7F7"/>
      </a:accent5>
      <a:accent6>
        <a:srgbClr val="FFFFFF"/>
      </a:accent6>
      <a:hlink>
        <a:srgbClr val="CE1126"/>
      </a:hlink>
      <a:folHlink>
        <a:srgbClr val="000000"/>
      </a:folHlink>
    </a:clrScheme>
    <a:fontScheme name="RTX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New_Collins_PPT_Non_tech_data_16x9_internal" id="{B82BE9C0-C93E-B342-83A7-9B688A9500D2}" vid="{3BB40FCB-6667-1E47-BE2D-5EA748AB28C3}"/>
    </a:ext>
  </a:extLst>
</a:theme>
</file>

<file path=ppt/theme/theme7.xml><?xml version="1.0" encoding="utf-8"?>
<a:theme xmlns:a="http://schemas.openxmlformats.org/drawingml/2006/main" name="Blends">
  <a:themeElements>
    <a:clrScheme name="">
      <a:dk1>
        <a:srgbClr val="000000"/>
      </a:dk1>
      <a:lt1>
        <a:srgbClr val="FFFFFF"/>
      </a:lt1>
      <a:dk2>
        <a:srgbClr val="990099"/>
      </a:dk2>
      <a:lt2>
        <a:srgbClr val="1C1C1C"/>
      </a:lt2>
      <a:accent1>
        <a:srgbClr val="6E1EC6"/>
      </a:accent1>
      <a:accent2>
        <a:srgbClr val="FFCF01"/>
      </a:accent2>
      <a:accent3>
        <a:srgbClr val="FFFFFF"/>
      </a:accent3>
      <a:accent4>
        <a:srgbClr val="000000"/>
      </a:accent4>
      <a:accent5>
        <a:srgbClr val="BAABDF"/>
      </a:accent5>
      <a:accent6>
        <a:srgbClr val="E7BB01"/>
      </a:accent6>
      <a:hlink>
        <a:srgbClr val="00CC00"/>
      </a:hlink>
      <a:folHlink>
        <a:srgbClr val="990099"/>
      </a:folHlink>
    </a:clrScheme>
    <a:fontScheme name="Blends">
      <a:majorFont>
        <a:latin typeface="Microsoft Sans Serif"/>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miter lim="800000"/>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ahoma"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miter lim="800000"/>
          <a:headEnd type="none" w="med" len="med"/>
          <a:tailEnd type="none" w="med" len="med"/>
        </a:ln>
        <a:effectLst/>
      </a:spPr>
      <a:bodyPr vert="horz" wrap="non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Tahoma" charset="0"/>
          </a:defRPr>
        </a:defPPr>
      </a:lstStyle>
    </a:lnDef>
  </a:objectDefaults>
  <a:extraClrSchemeLst>
    <a:extraClrScheme>
      <a:clrScheme name="Blends 1">
        <a:dk1>
          <a:srgbClr val="969696"/>
        </a:dk1>
        <a:lt1>
          <a:srgbClr val="FFFFFF"/>
        </a:lt1>
        <a:dk2>
          <a:srgbClr val="000000"/>
        </a:dk2>
        <a:lt2>
          <a:srgbClr val="DDDDDD"/>
        </a:lt2>
        <a:accent1>
          <a:srgbClr val="00E4A8"/>
        </a:accent1>
        <a:accent2>
          <a:srgbClr val="3333CC"/>
        </a:accent2>
        <a:accent3>
          <a:srgbClr val="AAAAAA"/>
        </a:accent3>
        <a:accent4>
          <a:srgbClr val="DADADA"/>
        </a:accent4>
        <a:accent5>
          <a:srgbClr val="AAEFD1"/>
        </a:accent5>
        <a:accent6>
          <a:srgbClr val="2D2DB9"/>
        </a:accent6>
        <a:hlink>
          <a:srgbClr val="FF5050"/>
        </a:hlink>
        <a:folHlink>
          <a:srgbClr val="FFCF01"/>
        </a:folHlink>
      </a:clrScheme>
      <a:clrMap bg1="dk2" tx1="lt1" bg2="dk1" tx2="lt2" accent1="accent1" accent2="accent2" accent3="accent3" accent4="accent4" accent5="accent5" accent6="accent6" hlink="hlink" folHlink="folHlink"/>
    </a:extraClrScheme>
    <a:extraClrScheme>
      <a:clrScheme name="Blends 2">
        <a:dk1>
          <a:srgbClr val="000000"/>
        </a:dk1>
        <a:lt1>
          <a:srgbClr val="FFFFFF"/>
        </a:lt1>
        <a:dk2>
          <a:srgbClr val="333399"/>
        </a:dk2>
        <a:lt2>
          <a:srgbClr val="1C1C1C"/>
        </a:lt2>
        <a:accent1>
          <a:srgbClr val="00E4A8"/>
        </a:accent1>
        <a:accent2>
          <a:srgbClr val="FFCF01"/>
        </a:accent2>
        <a:accent3>
          <a:srgbClr val="FFFFFF"/>
        </a:accent3>
        <a:accent4>
          <a:srgbClr val="000000"/>
        </a:accent4>
        <a:accent5>
          <a:srgbClr val="AAEFD1"/>
        </a:accent5>
        <a:accent6>
          <a:srgbClr val="E7BB01"/>
        </a:accent6>
        <a:hlink>
          <a:srgbClr val="FF0000"/>
        </a:hlink>
        <a:folHlink>
          <a:srgbClr val="3333CC"/>
        </a:folHlink>
      </a:clrScheme>
      <a:clrMap bg1="lt1" tx1="dk1" bg2="lt2" tx2="dk2" accent1="accent1" accent2="accent2" accent3="accent3" accent4="accent4" accent5="accent5" accent6="accent6" hlink="hlink" folHlink="folHlink"/>
    </a:extraClrScheme>
    <a:extraClrScheme>
      <a:clrScheme name="Blends 3">
        <a:dk1>
          <a:srgbClr val="000000"/>
        </a:dk1>
        <a:lt1>
          <a:srgbClr val="FFFFFF"/>
        </a:lt1>
        <a:dk2>
          <a:srgbClr val="000000"/>
        </a:dk2>
        <a:lt2>
          <a:srgbClr val="5F5F5F"/>
        </a:lt2>
        <a:accent1>
          <a:srgbClr val="EAEAEA"/>
        </a:accent1>
        <a:accent2>
          <a:srgbClr val="808080"/>
        </a:accent2>
        <a:accent3>
          <a:srgbClr val="FFFFFF"/>
        </a:accent3>
        <a:accent4>
          <a:srgbClr val="000000"/>
        </a:accent4>
        <a:accent5>
          <a:srgbClr val="F3F3F3"/>
        </a:accent5>
        <a:accent6>
          <a:srgbClr val="737373"/>
        </a:accent6>
        <a:hlink>
          <a:srgbClr val="4D4D4D"/>
        </a:hlink>
        <a:folHlink>
          <a:srgbClr val="C0C0C0"/>
        </a:folHlink>
      </a:clrScheme>
      <a:clrMap bg1="lt1" tx1="dk1" bg2="lt2" tx2="dk2" accent1="accent1" accent2="accent2" accent3="accent3" accent4="accent4" accent5="accent5" accent6="accent6" hlink="hlink" folHlink="folHlink"/>
    </a:extraClrScheme>
    <a:extraClrScheme>
      <a:clrScheme name="Blends 4">
        <a:dk1>
          <a:srgbClr val="000094"/>
        </a:dk1>
        <a:lt1>
          <a:srgbClr val="FFFFFF"/>
        </a:lt1>
        <a:dk2>
          <a:srgbClr val="0000CC"/>
        </a:dk2>
        <a:lt2>
          <a:srgbClr val="FFFFCC"/>
        </a:lt2>
        <a:accent1>
          <a:srgbClr val="3193FF"/>
        </a:accent1>
        <a:accent2>
          <a:srgbClr val="9900FF"/>
        </a:accent2>
        <a:accent3>
          <a:srgbClr val="AAAAE2"/>
        </a:accent3>
        <a:accent4>
          <a:srgbClr val="DADADA"/>
        </a:accent4>
        <a:accent5>
          <a:srgbClr val="ADC8FF"/>
        </a:accent5>
        <a:accent6>
          <a:srgbClr val="8A00E7"/>
        </a:accent6>
        <a:hlink>
          <a:srgbClr val="FF3399"/>
        </a:hlink>
        <a:folHlink>
          <a:srgbClr val="FFCC00"/>
        </a:folHlink>
      </a:clrScheme>
      <a:clrMap bg1="dk2" tx1="lt1" bg2="dk1" tx2="lt2" accent1="accent1" accent2="accent2" accent3="accent3" accent4="accent4" accent5="accent5" accent6="accent6" hlink="hlink" folHlink="folHlink"/>
    </a:extraClrScheme>
    <a:extraClrScheme>
      <a:clrScheme name="Blends 5">
        <a:dk1>
          <a:srgbClr val="000000"/>
        </a:dk1>
        <a:lt1>
          <a:srgbClr val="FFFFFF"/>
        </a:lt1>
        <a:dk2>
          <a:srgbClr val="000066"/>
        </a:dk2>
        <a:lt2>
          <a:srgbClr val="333333"/>
        </a:lt2>
        <a:accent1>
          <a:srgbClr val="C4709A"/>
        </a:accent1>
        <a:accent2>
          <a:srgbClr val="4B4EB5"/>
        </a:accent2>
        <a:accent3>
          <a:srgbClr val="FFFFFF"/>
        </a:accent3>
        <a:accent4>
          <a:srgbClr val="000000"/>
        </a:accent4>
        <a:accent5>
          <a:srgbClr val="DEBBCA"/>
        </a:accent5>
        <a:accent6>
          <a:srgbClr val="4346A4"/>
        </a:accent6>
        <a:hlink>
          <a:srgbClr val="C481CF"/>
        </a:hlink>
        <a:folHlink>
          <a:srgbClr val="76B749"/>
        </a:folHlink>
      </a:clrScheme>
      <a:clrMap bg1="lt1" tx1="dk1" bg2="lt2" tx2="dk2" accent1="accent1" accent2="accent2" accent3="accent3" accent4="accent4" accent5="accent5" accent6="accent6" hlink="hlink" folHlink="folHlink"/>
    </a:extraClrScheme>
    <a:extraClrScheme>
      <a:clrScheme name="Blends 6">
        <a:dk1>
          <a:srgbClr val="000000"/>
        </a:dk1>
        <a:lt1>
          <a:srgbClr val="FFFFFF"/>
        </a:lt1>
        <a:dk2>
          <a:srgbClr val="6A4076"/>
        </a:dk2>
        <a:lt2>
          <a:srgbClr val="969696"/>
        </a:lt2>
        <a:accent1>
          <a:srgbClr val="DBA9C2"/>
        </a:accent1>
        <a:accent2>
          <a:srgbClr val="E1BF91"/>
        </a:accent2>
        <a:accent3>
          <a:srgbClr val="FFFFFF"/>
        </a:accent3>
        <a:accent4>
          <a:srgbClr val="000000"/>
        </a:accent4>
        <a:accent5>
          <a:srgbClr val="EAD1DD"/>
        </a:accent5>
        <a:accent6>
          <a:srgbClr val="CCAD83"/>
        </a:accent6>
        <a:hlink>
          <a:srgbClr val="B3CE82"/>
        </a:hlink>
        <a:folHlink>
          <a:srgbClr val="B8AD48"/>
        </a:folHlink>
      </a:clrScheme>
      <a:clrMap bg1="lt1" tx1="dk1" bg2="lt2" tx2="dk2" accent1="accent1" accent2="accent2" accent3="accent3" accent4="accent4" accent5="accent5" accent6="accent6" hlink="hlink" folHlink="folHlink"/>
    </a:extraClrScheme>
    <a:extraClrScheme>
      <a:clrScheme name="Blends 7">
        <a:dk1>
          <a:srgbClr val="000000"/>
        </a:dk1>
        <a:lt1>
          <a:srgbClr val="FFFFFF"/>
        </a:lt1>
        <a:dk2>
          <a:srgbClr val="515F7B"/>
        </a:dk2>
        <a:lt2>
          <a:srgbClr val="808080"/>
        </a:lt2>
        <a:accent1>
          <a:srgbClr val="9FCAD3"/>
        </a:accent1>
        <a:accent2>
          <a:srgbClr val="C0C0C0"/>
        </a:accent2>
        <a:accent3>
          <a:srgbClr val="FFFFFF"/>
        </a:accent3>
        <a:accent4>
          <a:srgbClr val="000000"/>
        </a:accent4>
        <a:accent5>
          <a:srgbClr val="CDE1E6"/>
        </a:accent5>
        <a:accent6>
          <a:srgbClr val="AEAEAE"/>
        </a:accent6>
        <a:hlink>
          <a:srgbClr val="91AFBF"/>
        </a:hlink>
        <a:folHlink>
          <a:srgbClr val="ECEAAC"/>
        </a:folHlink>
      </a:clrScheme>
      <a:clrMap bg1="lt1" tx1="dk1" bg2="lt2" tx2="dk2" accent1="accent1" accent2="accent2" accent3="accent3" accent4="accent4" accent5="accent5" accent6="accent6" hlink="hlink" folHlink="folHlink"/>
    </a:extraClrScheme>
  </a:extraClrSchemeLst>
</a:theme>
</file>

<file path=ppt/theme/theme11.xml><?xml version="1.0" encoding="utf-8"?>
<a:theme xmlns:a="http://schemas.openxmlformats.org/drawingml/2006/main" name="Office Theme">
  <a:themeElements>
    <a:clrScheme name="RTX Colors">
      <a:dk1>
        <a:sysClr val="windowText" lastClr="000000"/>
      </a:dk1>
      <a:lt1>
        <a:sysClr val="window" lastClr="FFFFFF"/>
      </a:lt1>
      <a:dk2>
        <a:srgbClr val="CE1126"/>
      </a:dk2>
      <a:lt2>
        <a:srgbClr val="FFFFFF"/>
      </a:lt2>
      <a:accent1>
        <a:srgbClr val="000000"/>
      </a:accent1>
      <a:accent2>
        <a:srgbClr val="464648"/>
      </a:accent2>
      <a:accent3>
        <a:srgbClr val="6B6B6D"/>
      </a:accent3>
      <a:accent4>
        <a:srgbClr val="89898A"/>
      </a:accent4>
      <a:accent5>
        <a:srgbClr val="B8B8B9"/>
      </a:accent5>
      <a:accent6>
        <a:srgbClr val="D4D4D5"/>
      </a:accent6>
      <a:hlink>
        <a:srgbClr val="CE1126"/>
      </a:hlink>
      <a:folHlink>
        <a:srgbClr val="000000"/>
      </a:folHlink>
    </a:clrScheme>
    <a:fontScheme name="RTX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2.xml><?xml version="1.0" encoding="utf-8"?>
<a:theme xmlns:a="http://schemas.openxmlformats.org/drawingml/2006/main" name="Office Theme">
  <a:themeElements>
    <a:clrScheme name="RTX Colors">
      <a:dk1>
        <a:sysClr val="windowText" lastClr="000000"/>
      </a:dk1>
      <a:lt1>
        <a:sysClr val="window" lastClr="FFFFFF"/>
      </a:lt1>
      <a:dk2>
        <a:srgbClr val="CE1126"/>
      </a:dk2>
      <a:lt2>
        <a:srgbClr val="FFFFFF"/>
      </a:lt2>
      <a:accent1>
        <a:srgbClr val="000000"/>
      </a:accent1>
      <a:accent2>
        <a:srgbClr val="464648"/>
      </a:accent2>
      <a:accent3>
        <a:srgbClr val="6B6B6D"/>
      </a:accent3>
      <a:accent4>
        <a:srgbClr val="89898A"/>
      </a:accent4>
      <a:accent5>
        <a:srgbClr val="B8B8B9"/>
      </a:accent5>
      <a:accent6>
        <a:srgbClr val="D4D4D5"/>
      </a:accent6>
      <a:hlink>
        <a:srgbClr val="CE1126"/>
      </a:hlink>
      <a:folHlink>
        <a:srgbClr val="000000"/>
      </a:folHlink>
    </a:clrScheme>
    <a:fontScheme name="RTX Font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E7012FDC1D4354E98E11BE167F4924F" ma:contentTypeVersion="15" ma:contentTypeDescription="Create a new document." ma:contentTypeScope="" ma:versionID="ee7bbbec8c70d8a105990da3d4a313c8">
  <xsd:schema xmlns:xsd="http://www.w3.org/2001/XMLSchema" xmlns:xs="http://www.w3.org/2001/XMLSchema" xmlns:p="http://schemas.microsoft.com/office/2006/metadata/properties" xmlns:ns1="http://schemas.microsoft.com/sharepoint/v3" xmlns:ns2="753e5dbd-8faa-4cd2-a40a-88c25858900e" xmlns:ns3="2b0f7bea-0413-45a1-baf2-d1833301f0a3" targetNamespace="http://schemas.microsoft.com/office/2006/metadata/properties" ma:root="true" ma:fieldsID="26901830fb53b027f9814912c0dd6b18" ns1:_="" ns2:_="" ns3:_="">
    <xsd:import namespace="http://schemas.microsoft.com/sharepoint/v3"/>
    <xsd:import namespace="753e5dbd-8faa-4cd2-a40a-88c25858900e"/>
    <xsd:import namespace="2b0f7bea-0413-45a1-baf2-d1833301f0a3"/>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1:_ip_UnifiedCompliancePolicyProperties" minOccurs="0"/>
                <xsd:element ref="ns1:_ip_UnifiedCompliancePolicyUIActio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VIOL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53e5dbd-8faa-4cd2-a40a-88c2585890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a5da18db-0dbb-493a-8358-0ebfa2dc996a"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VIOLATION" ma:index="20" nillable="true" ma:displayName="VIOLATION" ma:internalName="VIOLATION">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b0f7bea-0413-45a1-baf2-d1833301f0a3"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18818af6-7cc3-44cc-bda2-686339767069}" ma:internalName="TaxCatchAll" ma:showField="CatchAllData" ma:web="2b0f7bea-0413-45a1-baf2-d1833301f0a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VIOLATION xmlns="753e5dbd-8faa-4cd2-a40a-88c25858900e">FALSE</VIOLATION>
    <SharedWithUsers xmlns="2b0f7bea-0413-45a1-baf2-d1833301f0a3">
      <UserInfo>
        <DisplayName>Tahat, Amer                            Collins</DisplayName>
        <AccountId>34</AccountId>
        <AccountType/>
      </UserInfo>
      <UserInfo>
        <DisplayName>Kramer, Sara                            Collins</DisplayName>
        <AccountId>41</AccountId>
        <AccountType/>
      </UserInfo>
      <UserInfo>
        <DisplayName>Wijesekara, Yeshani D                            Collins</DisplayName>
        <AccountId>44</AccountId>
        <AccountType/>
      </UserInfo>
      <UserInfo>
        <DisplayName>Carcangiu, Simone                           Export License Required - US Collins</DisplayName>
        <AccountId>55</AccountId>
        <AccountType/>
      </UserInfo>
      <UserInfo>
        <DisplayName>Sofronis, Christos                           Export License Required - US Collins</DisplayName>
        <AccountId>56</AccountId>
        <AccountType/>
      </UserInfo>
    </SharedWithUsers>
    <lcf76f155ced4ddcb4097134ff3c332f xmlns="753e5dbd-8faa-4cd2-a40a-88c25858900e">
      <Terms xmlns="http://schemas.microsoft.com/office/infopath/2007/PartnerControls"/>
    </lcf76f155ced4ddcb4097134ff3c332f>
    <TaxCatchAll xmlns="2b0f7bea-0413-45a1-baf2-d1833301f0a3" xsi:nil="true"/>
  </documentManagement>
</p:properties>
</file>

<file path=customXml/item3.xml><?xml version="1.0" encoding="utf-8"?>
<sisl xmlns:xsi="http://www.w3.org/2001/XMLSchema-instance" xmlns:xsd="http://www.w3.org/2001/XMLSchema" xmlns="http://www.boldonjames.com/2008/01/sie/internal/label" sislVersion="0" policy="cde53ac1-bf5f-4aae-9cf1-07509e23a4b0" origin="defaultValue">
  <element uid="bba94c65-ac3d-4f34-b2e1-8de11ef6f01c" value=""/>
</sisl>
</file>

<file path=customXml/item4.xml><?xml version="1.0" encoding="utf-8"?>
<WrappedLabelHistory xmlns:xsi="http://www.w3.org/2001/XMLSchema-instance" xmlns:xsd="http://www.w3.org/2001/XMLSchema" xmlns="http://www.boldonjames.com/2016/02/Classifier/internal/wrappedLabelHistory">
  <Value>PD94bWwgdmVyc2lvbj0iMS4wIiBlbmNvZGluZz0idXMtYXNjaWkiPz48bGFiZWxIaXN0b3J5IHhtbG5zOnhzaT0iaHR0cDovL3d3dy53My5vcmcvMjAwMS9YTUxTY2hlbWEtaW5zdGFuY2UiIHhtbG5zOnhzZD0iaHR0cDovL3d3dy53My5vcmcvMjAwMS9YTUxTY2hlbWEiIHhtbG5zPSJodHRwOi8vd3d3LmJvbGRvbmphbWVzLmNvbS8yMDE2LzAyL0NsYXNzaWZpZXIvaW50ZXJuYWwvbGFiZWxIaXN0b3J5Ij48aXRlbT48c2lzbCBzaXNsVmVyc2lvbj0iMCIgcG9saWN5PSJjZGU1M2FjMS1iZjVmLTRhYWUtOWNmMS0wNzUwOWUyM2E0YjAiIG9yaWdpbj0iZGVmYXVsdFZhbHVlIj48ZWxlbWVudCB1aWQ9ImJiYTk0YzY1LWFjM2QtNGYzNC1iMmUxLThkZTExZWY2ZjAxYyIgdmFsdWU9IiIgeG1sbnM9Imh0dHA6Ly93d3cuYm9sZG9uamFtZXMuY29tLzIwMDgvMDEvc2llL2ludGVybmFsL2xhYmVsIiAvPjwvc2lzbD48VXNlck5hbWU+VVNcbnJwMDI0MTU4MjwvVXNlck5hbWU+PERhdGVUaW1lPjIvMTIvMjAyMCAyOjQ5OjE3IFBNPC9EYXRlVGltZT48TGFiZWxTdHJpbmc+T3JpZ2luIEp1cmlzZGljdGlvbjogVVMgPC9MYWJlbFN0cmluZz48L2l0ZW0+PGl0ZW0+PHNpc2wgc2lzbFZlcnNpb249IjAiIHBvbGljeT0iY2RlNTNhYzEtYmY1Zi00YWFlLTljZjEtMDc1MDllMjNhNGIwIiBvcmlnaW49InVzZXJTZWxlY3RlZCI+PGVsZW1lbnQgdWlkPSJiYmE5NGM2NS1hYzNkLTRmMzQtYjJlMS04ZGUxMWVmNmYwMWMiIHZhbHVlPSIiIHhtbG5zPSJodHRwOi8vd3d3LmJvbGRvbmphbWVzLmNvbS8yMDA4LzAxL3NpZS9pbnRlcm5hbC9sYWJlbCIgLz48ZWxlbWVudCB1aWQ9IjU5OGNmYzI4LTVkZmQtNGYwNi04YzAxLWM3NTg4ZmQzOTRmMCIgdmFsdWU9IiIgeG1sbnM9Imh0dHA6Ly93d3cuYm9sZG9uamFtZXMuY29tLzIwMDgvMDEvc2llL2ludGVybmFsL2xhYmVsIiAvPjxlbGVtZW50IHVpZD0iYWFmYzlhOTUtZWU1ZC00ODdjLTljNGUtNjdhNTM4MGYyOTkxIiB2YWx1ZT0iIiB4bWxucz0iaHR0cDovL3d3dy5ib2xkb25qYW1lcy5jb20vMjAwOC8wMS9zaWUvaW50ZXJuYWwvbGFiZWwiIC8+PGVsZW1lbnQgdWlkPSJkNzU5Y2Q3YS1iNTdjLTQyZTQtOWE0OS05YjgyYTIzMzc1NzkiIHZhbHVlPSIiIHhtbG5zPSJodHRwOi8vd3d3LmJvbGRvbmphbWVzLmNvbS8yMDA4LzAxL3NpZS9pbnRlcm5hbC9sYWJlbCIgLz48ZWxlbWVudCB1aWQ9ImMyMDZkNWZhLWFlZTEtNGY2NC04OWQ5LWY4MWU0ZDdiM2FjYyIgdmFsdWU9IiIgeG1sbnM9Imh0dHA6Ly93d3cuYm9sZG9uamFtZXMuY29tLzIwMDgvMDEvc2llL2ludGVybmFsL2xhYmVsIiAvPjwvc2lzbD48VXNlck5hbWU+VVNcbnJwMDI0MTU4MjwvVXNlck5hbWU+PERhdGVUaW1lPjIvMTIvMjAyMCAzOjAzOjA5IFBNPC9EYXRlVGltZT48TGFiZWxTdHJpbmc+T3JpZ2luIEp1cmlzZGljdGlvbjogVVMgIHwgUmF5dGhlb24gQ29tcGV0aXRpb24gU2Vuc2l0aXZlIHwgUGVyIEN1cnJlbnQgUmF5dGhlb24gUG9saWN5IChSUC1PR0MtMDM1KSB8IE5vbi1FeHBvcnQgQ29udHJvbGxlZCBUZWNobmljYWwgSW5mb3JtYXRpb24gKEVYSU0gRGV0ZXJtaW5lZCBPbmx5KSB8IFBlciBDdXJyZW50IFJheXRoZW9uIFBvbGljeSAoUEktT0dDLUdUQy01MDA0KTwvTGFiZWxTdHJpbmc+PC9pdGVtPjxpdGVtPjxzaXNsIHNpc2xWZXJzaW9uPSIwIiBwb2xpY3k9ImNkZTUzYWMxLWJmNWYtNGFhZS05Y2YxLTA3NTA5ZTIzYTRiMCIgb3JpZ2luPSJ1c2VyU2VsZWN0ZWQiPjxlbGVtZW50IHVpZD0iYmJhOTRjNjUtYWMzZC00ZjM0LWIyZTEtOGRlMTFlZjZmMDFjIiB2YWx1ZT0iIiB4bWxucz0iaHR0cDovL3d3dy5ib2xkb25qYW1lcy5jb20vMjAwOC8wMS9zaWUvaW50ZXJuYWwvbGFiZWwiIC8+PGVsZW1lbnQgdWlkPSI5OTdhNzE2ZS1jMDNmLTQzYjEtYTViMC1kNmNkMDRlOWJhNDAiIHZhbHVlPSIiIHhtbG5zPSJodHRwOi8vd3d3LmJvbGRvbmphbWVzLmNvbS8yMDA4LzAxL3NpZS9pbnRlcm5hbC9sYWJlbCIgLz48ZWxlbWVudCB1aWQ9ImFhZmM5YTk1LWVlNWQtNDg3Yy05YzRlLTY3YTUzODBmMjk5MSIgdmFsdWU9IiIgeG1sbnM9Imh0dHA6Ly93d3cuYm9sZG9uamFtZXMuY29tLzIwMDgvMDEvc2llL2ludGVybmFsL2xhYmVsIiAvPjxlbGVtZW50IHVpZD0iY2FlMTFhNmItMjFiMS00OWQ4LTk5ZDgtZWQzMDY4NTEzODRhIiB2YWx1ZT0iIiB4bWxucz0iaHR0cDovL3d3dy5ib2xkb25qYW1lcy5jb20vMjAwOC8wMS9zaWUvaW50ZXJuYWwvbGFiZWwiIC8+PGVsZW1lbnQgdWlkPSJjMjA2ZDVmYS1hZWUxLTRmNjQtODlkOS1mODFlNGQ3YjNhY2MiIHZhbHVlPSIiIHhtbG5zPSJodHRwOi8vd3d3LmJvbGRvbmphbWVzLmNvbS8yMDA4LzAxL3NpZS9pbnRlcm5hbC9sYWJlbCIgLz48L3Npc2w+PFVzZXJOYW1lPlVTXG5ycDAyNDE1ODI8L1VzZXJOYW1lPjxEYXRlVGltZT4yLzEyLzIwMjAgMzoyODo1NyBQTTwvRGF0ZVRpbWU+PExhYmVsU3RyaW5nPk9yaWdpbiBKdXJpc2RpY3Rpb246IFVTICB8IFJheXRoZW9uIFByb3ByaWV0YXJ5IHwgUGVyIEN1cnJlbnQgUmF5dGhlb24gUG9saWN5IChSUC1PR0MtMDM1KSB8IFVTLUlUQVIgQ29udHJvbGxlZCB8IFBlciBDdXJyZW50IFJheXRoZW9uIFBvbGljeSAoUEktT0dDLUdUQy01MDA0KTwvTGFiZWxTdHJpbmc+PC9pdGVtPjxpdGVtPjxzaXNsIHNpc2xWZXJzaW9uPSIwIiBwb2xpY3k9ImNkZTUzYWMxLWJmNWYtNGFhZS05Y2YxLTA3NTA5ZTIzYTRiMCIgb3JpZ2luPSJ1c2VyU2VsZWN0ZWQiPjxlbGVtZW50IHVpZD0iYmJhOTRjNjUtYWMzZC00ZjM0LWIyZTEtOGRlMTFlZjZmMDFjIiB2YWx1ZT0iIiB4bWxucz0iaHR0cDovL3d3dy5ib2xkb25qYW1lcy5jb20vMjAwOC8wMS9zaWUvaW50ZXJuYWwvbGFiZWwiIC8+PGVsZW1lbnQgdWlkPSIwMTJlYjIyYy03NmNhLTRlNGYtOGFiOS1mYWJiMDU0YWUxNDAiIHZhbHVlPSIiIHhtbG5zPSJodHRwOi8vd3d3LmJvbGRvbmphbWVzLmNvbS8yMDA4LzAxL3NpZS9pbnRlcm5hbC9sYWJlbCIgLz48ZWxlbWVudCB1aWQ9ImFhZmM5YTk1LWVlNWQtNDg3Yy05YzRlLTY3YTUzODBmMjk5MSIgdmFsdWU9IiIgeG1sbnM9Imh0dHA6Ly93d3cuYm9sZG9uamFtZXMuY29tLzIwMDgvMDEvc2llL2ludGVybmFsL2xhYmVsIiAvPjxlbGVtZW50IHVpZD0iYmMyYjdjMDEtNmRiMS00ZTdkLTg4ZDEtZmM2MTY3NGY4NmZkIiB2YWx1ZT0iIiB4bWxucz0iaHR0cDovL3d3dy5ib2xkb25qYW1lcy5jb20vMjAwOC8wMS9zaWUvaW50ZXJuYWwvbGFiZWwiIC8+PGVsZW1lbnQgdWlkPSI5MmU5OTNhMy1hZjMyLTRhZmItYWExOS0zYTQ5Y2RiODJjN2EiIHZhbHVlPSIiIHhtbG5zPSJodHRwOi8vd3d3LmJvbGRvbmphbWVzLmNvbS8yMDA4LzAxL3NpZS9pbnRlcm5hbC9sYWJlbCIgLz48L3Npc2w+PFVzZXJOYW1lPlVTXG5ycDAyNDE1ODI8L1VzZXJOYW1lPjxEYXRlVGltZT4yLzE0LzIwMjAgNDo0Mjo0NCBQTTwvRGF0ZVRpbWU+PExhYmVsU3RyaW5nPk9yaWdpbiBKdXJpc2RpY3Rpb246IFVTICB8IFJheXRoZW9uIE1vc3QgUHJpdmF0ZSB8IFBlciBDdXJyZW50IFJheXRoZW9uIFBvbGljeSAoUlAtT0dDLTAzNSkgfCBPdGhlciBJbmZvcm1hdGlvbiAoTm90IFJlcXVpcmluZyBhbiBFeHBvcnQgQ29udHJvbCBNYXJraW5nKSB8IE5vIG1hcmtpbmcgYXBwbGllZCBieSB0aGUgdG9vbDwvTGFiZWxTdHJpbmc+PC9pdGVtPjxpdGVtPjxzaXNsIHNpc2xWZXJzaW9uPSIwIiBwb2xpY3k9ImNkZTUzYWMxLWJmNWYtNGFhZS05Y2YxLTA3NTA5ZTIzYTRiMCIgb3JpZ2luPSJ1c2VyU2VsZWN0ZWQiPjxlbGVtZW50IHVpZD0iYmJhOTRjNjUtYWMzZC00ZjM0LWIyZTEtOGRlMTFlZjZmMDFjIiB2YWx1ZT0iIiB4bWxucz0iaHR0cDovL3d3dy5ib2xkb25qYW1lcy5jb20vMjAwOC8wMS9zaWUvaW50ZXJuYWwvbGFiZWwiIC8+PGVsZW1lbnQgdWlkPSI5OTdhNzE2ZS1jMDNmLTQzYjEtYTViMC1kNmNkMDRlOWJhNDAiIHZhbHVlPSIiIHhtbG5zPSJodHRwOi8vd3d3LmJvbGRvbmphbWVzLmNvbS8yMDA4LzAxL3NpZS9pbnRlcm5hbC9sYWJlbCIgLz48ZWxlbWVudCB1aWQ9ImFhZmM5YTk1LWVlNWQtNDg3Yy05YzRlLTY3YTUzODBmMjk5MSIgdmFsdWU9IiIgeG1sbnM9Imh0dHA6Ly93d3cuYm9sZG9uamFtZXMuY29tLzIwMDgvMDEvc2llL2ludGVybmFsL2xhYmVsIiAvPjxlbGVtZW50IHVpZD0iZmI5OTEzMDgtYTNkZS00MGE4LTk2N2ItMDkyMjMzNDI0MWJhIiB2YWx1ZT0iIiB4bWxucz0iaHR0cDovL3d3dy5ib2xkb25qYW1lcy5jb20vMjAwOC8wMS9zaWUvaW50ZXJuYWwvbGFiZWwiIC8+PGVsZW1lbnQgdWlkPSJjMjA2ZDVmYS1hZWUxLTRmNjQtODlkOS1mODFlNGQ3YjNhY2MiIHZhbHVlPSIiIHhtbG5zPSJodHRwOi8vd3d3LmJvbGRvbmphbWVzLmNvbS8yMDA4LzAxL3NpZS9pbnRlcm5hbC9sYWJlbCIgLz48L3Npc2w+PFVzZXJOYW1lPlVTXG5ycDAyNDE1ODI8L1VzZXJOYW1lPjxEYXRlVGltZT4yLzE0LzIwMjAgNjoyOTozNCBQTTwvRGF0ZVRpbWU+PExhYmVsU3RyaW5nPk9yaWdpbiBKdXJpc2RpY3Rpb246IFVTICB8IFJheXRoZW9uIFByb3ByaWV0YXJ5IHwgUGVyIEN1cnJlbnQgUmF5dGhlb24gUG9saWN5IChSUC1PR0MtMDM1KSB8IFVTLUV4cG9ydCBDb250cm9sbGVkIEp1cmlzZGljdGlvbiBVbmRldGVybWluZWQgfCBQZXIgQ3VycmVudCBSYXl0aGVvbiBQb2xpY3kgKFBJLU9HQy1HVEMtNTAwNCk8L0xhYmVsU3RyaW5nPjwvaXRlbT48aXRlbT48c2lzbCBzaXNsVmVyc2lvbj0iMCIgcG9saWN5PSJjZGU1M2FjMS1iZjVmLTRhYWUtOWNmMS0wNzUwOWUyM2E0YjAiIG9yaWdpbj0idXNlclNlbGVjdGVkIj48ZWxlbWVudCB1aWQ9ImJiYTk0YzY1LWFjM2QtNGYzNC1iMmUxLThkZTExZWY2ZjAxYyIgdmFsdWU9IiIgeG1sbnM9Imh0dHA6Ly93d3cuYm9sZG9uamFtZXMuY29tLzIwMDgvMDEvc2llL2ludGVybmFsL2xhYmVsIiAvPjxlbGVtZW50IHVpZD0iYWNmOWVjYzMtMGY0NS00MjM0LWE5MGQtZTQzNjhmYWNkOTgxIiB2YWx1ZT0iIiB4bWxucz0iaHR0cDovL3d3dy5ib2xkb25qYW1lcy5jb20vMjAwOC8wMS9zaWUvaW50ZXJuYWwvbGFiZWwiIC8+PGVsZW1lbnQgdWlkPSJhYWZjOWE5NS1lZTVkLTQ4N2MtOWM0ZS02N2E1MzgwZjI5OTEiIHZhbHVlPSIiIHhtbG5zPSJodHRwOi8vd3d3LmJvbGRvbmphbWVzLmNvbS8yMDA4LzAxL3NpZS9pbnRlcm5hbC9sYWJlbCIgLz48ZWxlbWVudCB1aWQ9ImZiOTkxMzA4LWEzZGUtNDBhOC05NjdiLTA5MjIzMzQyNDFiYSIgdmFsdWU9IiIgeG1sbnM9Imh0dHA6Ly93d3cuYm9sZG9uamFtZXMuY29tLzIwMDgvMDEvc2llL2ludGVybmFsL2xhYmVsIiAvPjxlbGVtZW50IHVpZD0iYzIwNmQ1ZmEtYWVlMS00ZjY0LTg5ZDktZjgxZTRkN2IzYWNjIiB2YWx1ZT0iIiB4bWxucz0iaHR0cDovL3d3dy5ib2xkb25qYW1lcy5jb20vMjAwOC8wMS9zaWUvaW50ZXJuYWwvbGFiZWwiIC8+PC9zaXNsPjxVc2VyTmFtZT5VU1xucnAwMjQxNTgyPC9Vc2VyTmFtZT48RGF0ZVRpbWU+Mi8xNy8yMDIwIDg6Mjg6MzEgUE08L0RhdGVUaW1lPjxMYWJlbFN0cmluZz5PcmlnaW4gSnVyaXNkaWN0aW9uOiBVUyAgfCBJbnRlcm5hbCBVc2UgT25seSB8IFBlciBDdXJyZW50IFJheXRoZW9uIFBvbGljeSAoUlAtT0dDLTAzNSkgfCBVUy1FeHBvcnQgQ29udHJvbGxlZCBKdXJpc2RpY3Rpb24gVW5kZXRlcm1pbmVkIHwgUGVyIEN1cnJlbnQgUmF5dGhlb24gUG9saWN5IChQSS1PR0MtR1RDLTUwMDQpPC9MYWJlbFN0cmluZz48L2l0ZW0+PGl0ZW0+PHNpc2wgc2lzbFZlcnNpb249IjAiIHBvbGljeT0iY2RlNTNhYzEtYmY1Zi00YWFlLTljZjEtMDc1MDllMjNhNGIwIiBvcmlnaW49InVzZXJTZWxlY3RlZCI+PGVsZW1lbnQgdWlkPSJiYmE5NGM2NS1hYzNkLTRmMzQtYjJlMS04ZGUxMWVmNmYwMWMiIHZhbHVlPSIiIHhtbG5zPSJodHRwOi8vd3d3LmJvbGRvbmphbWVzLmNvbS8yMDA4LzAxL3NpZS9pbnRlcm5hbC9sYWJlbCIgLz48ZWxlbWVudCB1aWQ9Ijk5N2E3MTZlLWMwM2YtNDNiMS1hNWIwLWQ2Y2QwNGU5YmE0MCIgdmFsdWU9IiIgeG1sbnM9Imh0dHA6Ly93d3cuYm9sZG9uamFtZXMuY29tLzIwMDgvMDEvc2llL2ludGVybmFsL2xhYmVsIiAvPjxlbGVtZW50IHVpZD0iYWFmYzlhOTUtZWU1ZC00ODdjLTljNGUtNjdhNTM4MGYyOTkxIiB2YWx1ZT0iIiB4bWxucz0iaHR0cDovL3d3dy5ib2xkb25qYW1lcy5jb20vMjAwOC8wMS9zaWUvaW50ZXJuYWwvbGFiZWwiIC8+PGVsZW1lbnQgdWlkPSJiYzJiN2MwMS02ZGIxLTRlN2QtODhkMS1mYzYxNjc0Zjg2ZmQiIHZhbHVlPSIiIHhtbG5zPSJodHRwOi8vd3d3LmJvbGRvbmphbWVzLmNvbS8yMDA4LzAxL3NpZS9pbnRlcm5hbC9sYWJlbCIgLz48ZWxlbWVudCB1aWQ9IjkyZTk5M2EzLWFmMzItNGFmYi1hYTE5LTNhNDljZGI4MmM3YSIgdmFsdWU9IiIgeG1sbnM9Imh0dHA6Ly93d3cuYm9sZG9uamFtZXMuY29tLzIwMDgvMDEvc2llL2ludGVybmFsL2xhYmVsIiAvPjwvc2lzbD48VXNlck5hbWU+VVNcbnJwMDI0MTU4MjwvVXNlck5hbWU+PERhdGVUaW1lPjIvMTgvMjAyMCA0OjU4OjI4IFBNPC9EYXRlVGltZT48TGFiZWxTdHJpbmc+T3JpZ2luIEp1cmlzZGljdGlvbjogVVMgIHwgUmF5dGhlb24gUHJvcHJpZXRhcnkgfCBQZXIgQ3VycmVudCBSYXl0aGVvbiBQb2xpY3kgKFJQLU9HQy0wMzUpIHwgT3RoZXIgSW5mb3JtYXRpb24gKE5vdCBSZXF1aXJpbmcgYW4gRXhwb3J0IENvbnRyb2wgTWFya2luZykgfCBObyBtYXJraW5nIGFwcGxpZWQgYnkgdGhlIHRvb2w8L0xhYmVsU3RyaW5nPjwvaXRlbT48aXRlbT48c2lzbCBzaXNsVmVyc2lvbj0iMCIgcG9saWN5PSJjZGU1M2FjMS1iZjVmLTRhYWUtOWNmMS0wNzUwOWUyM2E0YjAiIG9yaWdpbj0idXNlclNlbGVjdGVkIj48ZWxlbWVudCB1aWQ9ImJiYTk0YzY1LWFjM2QtNGYzNC1iMmUxLThkZTExZWY2ZjAxYyIgdmFsdWU9IiIgeG1sbnM9Imh0dHA6Ly93d3cuYm9sZG9uamFtZXMuY29tLzIwMDgvMDEvc2llL2ludGVybmFsL2xhYmVsIiAvPjxlbGVtZW50IHVpZD0iMDEyZWIyMmMtNzZjYS00ZTRmLThhYjktZmFiYjA1NGFlMTQwIiB2YWx1ZT0iIiB4bWxucz0iaHR0cDovL3d3dy5ib2xkb25qYW1lcy5jb20vMjAwOC8wMS9zaWUvaW50ZXJuYWwvbGFiZWwiIC8+PGVsZW1lbnQgdWlkPSJhYWZjOWE5NS1lZTVkLTQ4N2MtOWM0ZS02N2E1MzgwZjI5OTEiIHZhbHVlPSIiIHhtbG5zPSJodHRwOi8vd3d3LmJvbGRvbmphbWVzLmNvbS8yMDA4LzAxL3NpZS9pbnRlcm5hbC9sYWJlbCIgLz48ZWxlbWVudCB1aWQ9ImZiOTkxMzA4LWEzZGUtNDBhOC05NjdiLTA5MjIzMzQyNDFiYSIgdmFsdWU9IiIgeG1sbnM9Imh0dHA6Ly93d3cuYm9sZG9uamFtZXMuY29tLzIwMDgvMDEvc2llL2ludGVybmFsL2xhYmVsIiAvPjxlbGVtZW50IHVpZD0iYzIwNmQ1ZmEtYWVlMS00ZjY0LTg5ZDktZjgxZTRkN2IzYWNjIiB2YWx1ZT0iIiB4bWxucz0iaHR0cDovL3d3dy5ib2xkb25qYW1lcy5jb20vMjAwOC8wMS9zaWUvaW50ZXJuYWwvbGFiZWwiIC8+PC9zaXNsPjxVc2VyTmFtZT5VU1xucnAwMjQxNTgyPC9Vc2VyTmFtZT48RGF0ZVRpbWU+Mi8xOC8yMDIwIDU6MDA6MTYgUE08L0RhdGVUaW1lPjxMYWJlbFN0cmluZz5PcmlnaW4gSnVyaXNkaWN0aW9uOiBVUyAgfCBSYXl0aGVvbiBNb3N0IFByaXZhdGUgfCBQZXIgQ3VycmVudCBSYXl0aGVvbiBQb2xpY3kgKFJQLU9HQy0wMzUpIHwgVVMtRXhwb3J0IENvbnRyb2xsZWQgSnVyaXNkaWN0aW9uIFVuZGV0ZXJtaW5lZCB8IFBlciBDdXJyZW50IFJheXRoZW9uIFBvbGljeSAoUEktT0dDLUdUQy01MDA0KTwvTGFiZWxTdHJpbmc+PC9pdGVtPjxpdGVtPjxzaXNsIHNpc2xWZXJzaW9uPSIwIiBwb2xpY3k9ImNkZTUzYWMxLWJmNWYtNGFhZS05Y2YxLTA3NTA5ZTIzYTRiMCIgb3JpZ2luPSJ1c2VyU2VsZWN0ZWQiPjxlbGVtZW50IHVpZD0iYmJhOTRjNjUtYWMzZC00ZjM0LWIyZTEtOGRlMTFlZjZmMDFjIiB2YWx1ZT0iIiB4bWxucz0iaHR0cDovL3d3dy5ib2xkb25qYW1lcy5jb20vMjAwOC8wMS9zaWUvaW50ZXJuYWwvbGFiZWwiIC8+PGVsZW1lbnQgdWlkPSJhY2Y5ZWNjMy0wZjQ1LTQyMzQtYTkwZC1lNDM2OGZhY2Q5ODEiIHZhbHVlPSIiIHhtbG5zPSJodHRwOi8vd3d3LmJvbGRvbmphbWVzLmNvbS8yMDA4LzAxL3NpZS9pbnRlcm5hbC9sYWJlbCIgLz48ZWxlbWVudCB1aWQ9ImFhZmM5YTk1LWVlNWQtNDg3Yy05YzRlLTY3YTUzODBmMjk5MSIgdmFsdWU9IiIgeG1sbnM9Imh0dHA6Ly93d3cuYm9sZG9uamFtZXMuY29tLzIwMDgvMDEvc2llL2ludGVybmFsL2xhYmVsIiAvPjxlbGVtZW50IHVpZD0iYmMyYjdjMDEtNmRiMS00ZTdkLTg4ZDEtZmM2MTY3NGY4NmZkIiB2YWx1ZT0iIiB4bWxucz0iaHR0cDovL3d3dy5ib2xkb25qYW1lcy5jb20vMjAwOC8wMS9zaWUvaW50ZXJuYWwvbGFiZWwiIC8+PGVsZW1lbnQgdWlkPSI5MmU5OTNhMy1hZjMyLTRhZmItYWExOS0zYTQ5Y2RiODJjN2EiIHZhbHVlPSIiIHhtbG5zPSJodHRwOi8vd3d3LmJvbGRvbmphbWVzLmNvbS8yMDA4LzAxL3NpZS9pbnRlcm5hbC9sYWJlbCIgLz48L3Npc2w+PFVzZXJOYW1lPlVTXG5ycDAyNDE1ODI8L1VzZXJOYW1lPjxEYXRlVGltZT4zLzcvMjAyMCA4OjIzOjM2IFBNPC9EYXRlVGltZT48TGFiZWxTdHJpbmc+T3JpZ2luIEp1cmlzZGljdGlvbjogVVMgIHwgSW50ZXJuYWwgVXNlIE9ubHkgfCBQZXIgQ3VycmVudCBSYXl0aGVvbiBQb2xpY3kgKFJQLU9HQy0wMzUpIHwgT3RoZXIgSW5mb3JtYXRpb24gKE5vdCBSZXF1aXJpbmcgYW4gRXhwb3J0IENvbnRyb2wgTWFya2luZykgfCBObyBtYXJraW5nIGFwcGxpZWQgYnkgdGhlIHRvb2w8L0xhYmVsU3RyaW5nPjwvaXRlbT48aXRlbT48c2lzbCBzaXNsVmVyc2lvbj0iMCIgcG9saWN5PSJjZGU1M2FjMS1iZjVmLTRhYWUtOWNmMS0wNzUwOWUyM2E0YjAiIG9yaWdpbj0idXNlclNlbGVjdGVkIj48ZWxlbWVudCB1aWQ9ImJiYTk0YzY1LWFjM2QtNGYzNC1iMmUxLThkZTExZWY2ZjAxYyIgdmFsdWU9IiIgeG1sbnM9Imh0dHA6Ly93d3cuYm9sZG9uamFtZXMuY29tLzIwMDgvMDEvc2llL2ludGVybmFsL2xhYmVsIiAvPjxlbGVtZW50IHVpZD0iOTk3YTcxNmUtYzAzZi00M2IxLWE1YjAtZDZjZDA0ZTliYTQwIiB2YWx1ZT0iIiB4bWxucz0iaHR0cDovL3d3dy5ib2xkb25qYW1lcy5jb20vMjAwOC8wMS9zaWUvaW50ZXJuYWwvbGFiZWwiIC8+PGVsZW1lbnQgdWlkPSJhYWZjOWE5NS1lZTVkLTQ4N2MtOWM0ZS02N2E1MzgwZjI5OTEiIHZhbHVlPSIiIHhtbG5zPSJodHRwOi8vd3d3LmJvbGRvbmphbWVzLmNvbS8yMDA4LzAxL3NpZS9pbnRlcm5hbC9sYWJlbCIgLz48ZWxlbWVudCB1aWQ9ImZiOTkxMzA4LWEzZGUtNDBhOC05NjdiLTA5MjIzMzQyNDFiYSIgdmFsdWU9IiIgeG1sbnM9Imh0dHA6Ly93d3cuYm9sZG9uamFtZXMuY29tLzIwMDgvMDEvc2llL2ludGVybmFsL2xhYmVsIiAvPjxlbGVtZW50IHVpZD0iYzIwNmQ1ZmEtYWVlMS00ZjY0LTg5ZDktZjgxZTRkN2IzYWNjIiB2YWx1ZT0iIiB4bWxucz0iaHR0cDovL3d3dy5ib2xkb25qYW1lcy5jb20vMjAwOC8wMS9zaWUvaW50ZXJuYWwvbGFiZWwiIC8+PC9zaXNsPjxVc2VyTmFtZT5VU1xucnAwMjQxNTgyPC9Vc2VyTmFtZT48RGF0ZVRpbWU+My83LzIwMjAgODoyNDo0OSBQTTwvRGF0ZVRpbWU+PExhYmVsU3RyaW5nPk9yaWdpbiBKdXJpc2RpY3Rpb246IFVTICB8IFJheXRoZW9uIFByb3ByaWV0YXJ5IHwgUGVyIEN1cnJlbnQgUmF5dGhlb24gUG9saWN5IChSUC1PR0MtMDM1KSB8IFVTLUV4cG9ydCBDb250cm9sbGVkIEp1cmlzZGljdGlvbiBVbmRldGVybWluZWQgfCBQZXIgQ3VycmVudCBSYXl0aGVvbiBQb2xpY3kgKFBJLU9HQy1HVEMtNTAwNCk8L0xhYmVsU3RyaW5nPjwvaXRlbT48aXRlbT48c2lzbCBzaXNsVmVyc2lvbj0iMCIgcG9saWN5PSJjZGU1M2FjMS1iZjVmLTRhYWUtOWNmMS0wNzUwOWUyM2E0YjAiIG9yaWdpbj0idXNlclNlbGVjdGVkIj48ZWxlbWVudCB1aWQ9ImJiYTk0YzY1LWFjM2QtNGYzNC1iMmUxLThkZTExZWY2ZjAxYyIgdmFsdWU9IiIgeG1sbnM9Imh0dHA6Ly93d3cuYm9sZG9uamFtZXMuY29tLzIwMDgvMDEvc2llL2ludGVybmFsL2xhYmVsIiAvPjxlbGVtZW50IHVpZD0iZmI5OTEzMDgtYTNkZS00MGE4LTk2N2ItMDkyMjMzNDI0MWJhIiB2YWx1ZT0iIiB4bWxucz0iaHR0cDovL3d3dy5ib2xkb25qYW1lcy5jb20vMjAwOC8wMS9zaWUvaW50ZXJuYWwvbGFiZWwiIC8+PGVsZW1lbnQgdWlkPSJjMjA2ZDVmYS1hZWUxLTRmNjQtODlkOS1mODFlNGQ3YjNhY2MiIHZhbHVlPSIiIHhtbG5zPSJodHRwOi8vd3d3LmJvbGRvbmphbWVzLmNvbS8yMDA4LzAxL3NpZS9pbnRlcm5hbC9sYWJlbCIgLz48ZWxlbWVudCB1aWQ9ImFjZjllY2MzLTBmNDUtNDIzNC1hOTBkLWU0MzY4ZmFjZDk4MSIgdmFsdWU9IiIgeG1sbnM9Imh0dHA6Ly93d3cuYm9sZG9uamFtZXMuY29tLzIwMDgvMDEvc2llL2ludGVybmFsL2xhYmVsIiAvPjxlbGVtZW50IHVpZD0iYWFmYzlhOTUtZWU1ZC00ODdjLTljNGUtNjdhNTM4MGYyOTkxIiB2YWx1ZT0iIiB4bWxucz0iaHR0cDovL3d3dy5ib2xkb25qYW1lcy5jb20vMjAwOC8wMS9zaWUvaW50ZXJuYWwvbGFiZWwiIC8+PC9zaXNsPjxVc2VyTmFtZT5VU1wxMTAzMDg1PC9Vc2VyTmFtZT48RGF0ZVRpbWU+My8xMi8yMDIwIDY6MjM6MjMgUE08L0RhdGVUaW1lPjxMYWJlbFN0cmluZz5PcmlnaW4gSnVyaXNkaWN0aW9uOiBVUyAgfCBJbnRlcm5hbCBVc2UgT25seSB8IFBlciBDdXJyZW50IFJheXRoZW9uIFBvbGljeSAoUlAtT0dDLTAzNSkgfCBVUy1FeHBvcnQgQ29udHJvbGxlZCBKdXJpc2RpY3Rpb24gVW5kZXRlcm1pbmVkIHwgUGVyIEN1cnJlbnQgUmF5dGhlb24gUG9saWN5IChQSS1PR0MtR1RDLTUwMDQpPC9MYWJlbFN0cmluZz48L2l0ZW0+PGl0ZW0+PHNpc2wgc2lzbFZlcnNpb249IjAiIHBvbGljeT0iY2RlNTNhYzEtYmY1Zi00YWFlLTljZjEtMDc1MDllMjNhNGIwIiBvcmlnaW49InVzZXJTZWxlY3RlZCIgLz48VXNlck5hbWU+VVNcMTEwMzA4NTwvVXNlck5hbWU+PERhdGVUaW1lPjMvMTMvMjAyMCAxMDowMjo0NCBQTTwvRGF0ZVRpbWU+PExhYmVsU3RyaW5nPlRoaXMgYXJ0aWZhY3QgaGFzIG5vIGNsYXNzaWZpY2F0aW9uLjwvTGFiZWxTdHJpbmc+PC9pdGVtPjxpdGVtPjxzaXNsIHNpc2xWZXJzaW9uPSIwIiBwb2xpY3k9ImNkZTUzYWMxLWJmNWYtNGFhZS05Y2YxLTA3NTA5ZTIzYTRiMCIgb3JpZ2luPSJ1c2VyU2VsZWN0ZWQiPjxlbGVtZW50IHVpZD0iMTVmZWZhMWMtYWY2Ny00ZWJmLWE3MWQtZjAxNjIxMTY4OTYyIiB2YWx1ZT0iIiB4bWxucz0iaHR0cDovL3d3dy5ib2xkb25qYW1lcy5jb20vMjAwOC8wMS9zaWUvaW50ZXJuYWwvbGFiZWwiIC8+PGVsZW1lbnQgdWlkPSJhYWZjOWE5NS1lZTVkLTQ4N2MtOWM0ZS02N2E1MzgwZjI5OTEiIHZhbHVlPSIiIHhtbG5zPSJodHRwOi8vd3d3LmJvbGRvbmphbWVzLmNvbS8yMDA4LzAxL3NpZS9pbnRlcm5hbC9sYWJlbCIgLz48ZWxlbWVudCB1aWQ9ImJiYTk0YzY1LWFjM2QtNGYzNC1iMmUxLThkZTExZWY2ZjAxYyIgdmFsdWU9IiIgeG1sbnM9Imh0dHA6Ly93d3cuYm9sZG9uamFtZXMuY29tLzIwMDgvMDEvc2llL2ludGVybmFsL2xhYmVsIiAvPjxlbGVtZW50IHVpZD0iYmMyYjdjMDEtNmRiMS00ZTdkLTg4ZDEtZmM2MTY3NGY4NmZkIiB2YWx1ZT0iIiB4bWxucz0iaHR0cDovL3d3dy5ib2xkb25qYW1lcy5jb20vMjAwOC8wMS9zaWUvaW50ZXJuYWwvbGFiZWwiIC8+PGVsZW1lbnQgdWlkPSI5MmU5OTNhMy1hZjMyLTRhZmItYWExOS0zYTQ5Y2RiODJjN2EiIHZhbHVlPSIiIHhtbG5zPSJodHRwOi8vd3d3LmJvbGRvbmphbWVzLmNvbS8yMDA4LzAxL3NpZS9pbnRlcm5hbC9sYWJlbCIgLz48L3Npc2w+PFVzZXJOYW1lPlVTXDExMDMwODU8L1VzZXJOYW1lPjxEYXRlVGltZT4zLzEzLzIwMjAgMTA6MDU6NDQgUE08L0RhdGVUaW1lPjxMYWJlbFN0cmluZz5PcmlnaW4gSnVyaXNkaWN0aW9uOiBVUyAgfCBUaGlyZCBQYXJ0eSBQcm9wcmlldGFyeSAtIE5lZWQgdG8gS25vdyB8IFBlciBDdXJyZW50IFJheXRoZW9uIFBvbGljeSAoUlAtT0dDLTAzNSkgfCBPdGhlciBJbmZvcm1hdGlvbiAoTm90IFJlcXVpcmluZyBhbiBFeHBvcnQgQ29udHJvbCBNYXJraW5nKSB8IE5vIG1hcmtpbmcgYXBwbGllZCBieSB0aGUgdG9vbDwvTGFiZWxTdHJpbmc+PC9pdGVtPjxpdGVtPjxzaXNsIHNpc2xWZXJzaW9uPSIwIiBwb2xpY3k9ImNkZTUzYWMxLWJmNWYtNGFhZS05Y2YxLTA3NTA5ZTIzYTRiMCIgb3JpZ2luPSJ1c2VyU2VsZWN0ZWQiIC8+PFVzZXJOYW1lPlVTXG5ycDAyNDE1ODI8L1VzZXJOYW1lPjxEYXRlVGltZT4zLzMwLzIwMjAgMTo1MzoxNyBQTTwvRGF0ZVRpbWU+PExhYmVsU3RyaW5nPlRoaXMgYXJ0aWZhY3QgaGFzIG5vIGNsYXNzaWZpY2F0aW9uLjwvTGFiZWxTdHJpbmc+PC9pdGVtPjxpdGVtPjxzaXNsIHNpc2xWZXJzaW9uPSIwIiBwb2xpY3k9ImNkZTUzYWMxLWJmNWYtNGFhZS05Y2YxLTA3NTA5ZTIzYTRiMCIgb3JpZ2luPSJ1c2VyU2VsZWN0ZWQiPjxlbGVtZW50IHVpZD0iMTVmZWZhMWMtYWY2Ny00ZWJmLWE3MWQtZjAxNjIxMTY4OTYyIiB2YWx1ZT0iIiB4bWxucz0iaHR0cDovL3d3dy5ib2xkb25qYW1lcy5jb20vMjAwOC8wMS9zaWUvaW50ZXJuYWwvbGFiZWwiIC8+PGVsZW1lbnQgdWlkPSJhMDZkYTRkYS1hMjYzLTQxMzYtYjRmZC1mMjhhMTdkMzAxODgiIHZhbHVlPSIiIHhtbG5zPSJodHRwOi8vd3d3LmJvbGRvbmphbWVzLmNvbS8yMDA4LzAxL3NpZS9pbnRlcm5hbC9sYWJlbCIgLz48ZWxlbWVudCB1aWQ9ImJiYTk0YzY1LWFjM2QtNGYzNC1iMmUxLThkZTExZWY2ZjAxYyIgdmFsdWU9IiIgeG1sbnM9Imh0dHA6Ly93d3cuYm9sZG9uamFtZXMuY29tLzIwMDgvMDEvc2llL2ludGVybmFsL2xhYmVsIiAvPjxlbGVtZW50IHVpZD0iYmMyYjdjMDEtNmRiMS00ZTdkLTg4ZDEtZmM2MTY3NGY4NmZkIiB2YWx1ZT0iIiB4bWxucz0iaHR0cDovL3d3dy5ib2xkb25qYW1lcy5jb20vMjAwOC8wMS9zaWUvaW50ZXJuYWwvbGFiZWwiIC8+PGVsZW1lbnQgdWlkPSI5MmU5OTNhMy1hZjMyLTRhZmItYWExOS0zYTQ5Y2RiODJjN2EiIHZhbHVlPSIiIHhtbG5zPSJodHRwOi8vd3d3LmJvbGRvbmphbWVzLmNvbS8yMDA4LzAxL3NpZS9pbnRlcm5hbC9sYWJlbCIgLz48L3Npc2w+PFVzZXJOYW1lPlVTXG5ycDAyNDE1ODI8L1VzZXJOYW1lPjxEYXRlVGltZT40LzIvMjAyMCAzOjQ5OjE3IFBNPC9EYXRlVGltZT48TGFiZWxTdHJpbmc+T3JpZ2luIEp1cmlzZGljdGlvbjogVVMgIHwgVGhpcmQgUGFydHkgUHJvcHJpZXRhcnkgLSBOZWVkIHRvIEtub3cgfCBVc2UgUHJlZXhpc3RpbmcgTWFya2luZyAobm90IGFwcGxpZWQgYnkgdGhpcyB0b29sKSB8IE90aGVyIEluZm9ybWF0aW9uIChOb3QgUmVxdWlyaW5nIGFuIEV4cG9ydCBDb250cm9sIE1hcmtpbmcpIHwgTm8gbWFya2luZyBhcHBsaWVkIGJ5IHRoZSB0b29sPC9MYWJlbFN0cmluZz48L2l0ZW0+PGl0ZW0+PHNpc2wgc2lzbFZlcnNpb249IjAiIHBvbGljeT0iY2RlNTNhYzEtYmY1Zi00YWFlLTljZjEtMDc1MDllMjNhNGIwIiBvcmlnaW49InVzZXJTZWxlY3RlZCIgLz48VXNlck5hbWU+VVNcMTEwMzA4NTwvVXNlck5hbWU+PERhdGVUaW1lPjQvMjAvMjAyMCA2OjI2OjU0IFBNPC9EYXRlVGltZT48TGFiZWxTdHJpbmc+VGhpcyBhcnRpZmFjdCBoYXMgbm8gY2xhc3NpZmljYXRpb24uPC9MYWJlbFN0cmluZz48L2l0ZW0+PGl0ZW0+PHNpc2wgc2lzbFZlcnNpb249IjAiIHBvbGljeT0iY2RlNTNhYzEtYmY1Zi00YWFlLTljZjEtMDc1MDllMjNhNGIwIiBvcmlnaW49ImRlZmF1bHRWYWx1ZSI+PGVsZW1lbnQgdWlkPSJiYmE5NGM2NS1hYzNkLTRmMzQtYjJlMS04ZGUxMWVmNmYwMWMiIHZhbHVlPSIiIHhtbG5zPSJodHRwOi8vd3d3LmJvbGRvbmphbWVzLmNvbS8yMDA4LzAxL3NpZS9pbnRlcm5hbC9sYWJlbCIgLz48L3Npc2w+PFVzZXJOYW1lPlVTXG5ycDAyNDE1ODI8L1VzZXJOYW1lPjxEYXRlVGltZT4xMC83LzIwMjAgNDowMjo0NSBQTTwvRGF0ZVRpbWU+PExhYmVsU3RyaW5nPk9yaWdpbiBKdXJpc2RpY3Rpb246IFVTIDwvTGFiZWxTdHJpbmc+PC9pdGVtPjwvbGFiZWxIaXN0b3J5Pg==</Value>
</WrappedLabelHistory>
</file>

<file path=customXml/item5.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EE6978-602F-4E1E-86C3-E0B15D47F80B}">
  <ds:schemaRefs>
    <ds:schemaRef ds:uri="2b0f7bea-0413-45a1-baf2-d1833301f0a3"/>
    <ds:schemaRef ds:uri="753e5dbd-8faa-4cd2-a40a-88c25858900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2992B585-A4B9-4C42-9AB2-69742D208DAF}">
  <ds:schemaRefs>
    <ds:schemaRef ds:uri="2b0f7bea-0413-45a1-baf2-d1833301f0a3"/>
    <ds:schemaRef ds:uri="753e5dbd-8faa-4cd2-a40a-88c25858900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489B1DF-446C-4290-BB79-EA688A1291AC}">
  <ds:schemaRefs>
    <ds:schemaRef ds:uri="http://www.boldonjames.com/2008/01/sie/internal/label"/>
    <ds:schemaRef ds:uri="http://www.w3.org/2001/XMLSchema"/>
  </ds:schemaRefs>
</ds:datastoreItem>
</file>

<file path=customXml/itemProps4.xml><?xml version="1.0" encoding="utf-8"?>
<ds:datastoreItem xmlns:ds="http://schemas.openxmlformats.org/officeDocument/2006/customXml" ds:itemID="{45F20A76-F421-4C7E-9FA5-EB9918BB68FF}">
  <ds:schemaRefs>
    <ds:schemaRef ds:uri="http://www.boldonjames.com/2016/02/Classifier/internal/wrappedLabelHistory"/>
    <ds:schemaRef ds:uri="http://www.w3.org/2001/XMLSchema"/>
  </ds:schemaRefs>
</ds:datastoreItem>
</file>

<file path=customXml/itemProps5.xml><?xml version="1.0" encoding="utf-8"?>
<ds:datastoreItem xmlns:ds="http://schemas.openxmlformats.org/officeDocument/2006/customXml" ds:itemID="{4E5169E7-2729-4230-9755-7A49F75A3C20}">
  <ds:schemaRefs>
    <ds:schemaRef ds:uri="http://schemas.microsoft.com/sharepoint/v3/contenttype/forms"/>
  </ds:schemaRefs>
</ds:datastoreItem>
</file>

<file path=docMetadata/LabelInfo.xml><?xml version="1.0" encoding="utf-8"?>
<clbl:labelList xmlns:clbl="http://schemas.microsoft.com/office/2020/mipLabelMetadata">
  <clbl:label id="{4447dd6a-a4a1-440b-a6a3-9124ef1ee017}" enabled="1" method="Privileged" siteId="{7a18110d-ef9b-4274-acef-e62ab0fe28ed}" removed="0"/>
</clbl:labelList>
</file>

<file path=docProps/app.xml><?xml version="1.0" encoding="utf-8"?>
<Properties xmlns="http://schemas.openxmlformats.org/officeDocument/2006/extended-properties" xmlns:vt="http://schemas.openxmlformats.org/officeDocument/2006/docPropsVTypes">
  <Template>Collins_PPT_Non_tech_data_16x9_internal</Template>
  <TotalTime>28486</TotalTime>
  <Words>484</Words>
  <Application>Microsoft Macintosh PowerPoint</Application>
  <PresentationFormat>Widescreen</PresentationFormat>
  <Paragraphs>105</Paragraphs>
  <Slides>6</Slides>
  <Notes>1</Notes>
  <HiddenSlides>0</HiddenSlides>
  <MMClips>0</MMClips>
  <ScaleCrop>false</ScaleCrop>
  <HeadingPairs>
    <vt:vector size="6" baseType="variant">
      <vt:variant>
        <vt:lpstr>Fonts Used</vt:lpstr>
      </vt:variant>
      <vt:variant>
        <vt:i4>8</vt:i4>
      </vt:variant>
      <vt:variant>
        <vt:lpstr>Theme</vt:lpstr>
      </vt:variant>
      <vt:variant>
        <vt:i4>10</vt:i4>
      </vt:variant>
      <vt:variant>
        <vt:lpstr>Slide Titles</vt:lpstr>
      </vt:variant>
      <vt:variant>
        <vt:i4>6</vt:i4>
      </vt:variant>
    </vt:vector>
  </HeadingPairs>
  <TitlesOfParts>
    <vt:vector size="24" baseType="lpstr">
      <vt:lpstr>Arial</vt:lpstr>
      <vt:lpstr>Arial Regular</vt:lpstr>
      <vt:lpstr>DIN-Light</vt:lpstr>
      <vt:lpstr>Microsoft Sans Serif</vt:lpstr>
      <vt:lpstr>Noto Sans Symbols</vt:lpstr>
      <vt:lpstr>Tahoma</vt:lpstr>
      <vt:lpstr>Verdana</vt:lpstr>
      <vt:lpstr>Wingdings</vt:lpstr>
      <vt:lpstr>Collins Masters: Covers</vt:lpstr>
      <vt:lpstr>Collins Masters: Content</vt:lpstr>
      <vt:lpstr>Collins Masters: Section Breakers</vt:lpstr>
      <vt:lpstr>1_Collins Masters: Content</vt:lpstr>
      <vt:lpstr>2_Collins Masters: Content</vt:lpstr>
      <vt:lpstr>Collins Aerospace 16x9</vt:lpstr>
      <vt:lpstr>Blends</vt:lpstr>
      <vt:lpstr>1_Collins Aerospace 16x9</vt:lpstr>
      <vt:lpstr>2_Collins Aerospace 16x9</vt:lpstr>
      <vt:lpstr>3_Collins Aerospace 16x9</vt:lpstr>
      <vt:lpstr>Intent, Specifications, Realizations, and the Judgments That Connect Them</vt:lpstr>
      <vt:lpstr>Motivation</vt:lpstr>
      <vt:lpstr>ASE – Key Concepts</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Avionics CMS Gate 3 Template</dc:title>
  <dc:subject>[rtnipcontrolcode:rtnipcontrolcodenone||rtnexportcontrolcountry:usa|rtnexportcontrolcode:rtnexportcontrolcodenone||]</dc:subject>
  <dc:creator>Jaeger, Nic               Collins</dc:creator>
  <cp:keywords>AM Template</cp:keywords>
  <dc:description>AM Template;</dc:description>
  <cp:lastModifiedBy>John Hatcliff</cp:lastModifiedBy>
  <cp:revision>203</cp:revision>
  <cp:lastPrinted>2025-09-04T07:08:32Z</cp:lastPrinted>
  <dcterms:created xsi:type="dcterms:W3CDTF">2022-01-19T19:30:31Z</dcterms:created>
  <dcterms:modified xsi:type="dcterms:W3CDTF">2026-10-20T16:49:42Z</dcterms:modified>
  <cp:category>AM Template</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IndexRef">
    <vt:lpwstr>bb64deb3-b5ac-4347-88a3-8a542b8e6f51</vt:lpwstr>
  </property>
  <property fmtid="{D5CDD505-2E9C-101B-9397-08002B2CF9AE}" pid="3" name="bjSaver">
    <vt:lpwstr>A2AB0OuaTTiL2YVHw3qxYann2Jd9uCN6</vt:lpwstr>
  </property>
  <property fmtid="{D5CDD505-2E9C-101B-9397-08002B2CF9AE}" pid="4" name="rtnipcontrolcode">
    <vt:lpwstr>rtnipcontrolcodenone</vt:lpwstr>
  </property>
  <property fmtid="{D5CDD505-2E9C-101B-9397-08002B2CF9AE}" pid="5" name="rtnexportcontrolcode">
    <vt:lpwstr>rtnexportcontrolcodenone</vt:lpwstr>
  </property>
  <property fmtid="{D5CDD505-2E9C-101B-9397-08002B2CF9AE}" pid="6" name="bjDocumentLabelXML">
    <vt:lpwstr>&lt;?xml version="1.0" encoding="us-ascii"?&gt;&lt;sisl xmlns:xsi="http://www.w3.org/2001/XMLSchema-instance" xmlns:xsd="http://www.w3.org/2001/XMLSchema" sislVersion="0" policy="cde53ac1-bf5f-4aae-9cf1-07509e23a4b0" origin="defaultValue" xmlns="http://www.boldonj</vt:lpwstr>
  </property>
  <property fmtid="{D5CDD505-2E9C-101B-9397-08002B2CF9AE}" pid="7" name="bjDocumentLabelXML-0">
    <vt:lpwstr>ames.com/2008/01/sie/internal/label"&gt;&lt;element uid="bba94c65-ac3d-4f34-b2e1-8de11ef6f01c" value="" /&gt;&lt;/sisl&gt;</vt:lpwstr>
  </property>
  <property fmtid="{D5CDD505-2E9C-101B-9397-08002B2CF9AE}" pid="8" name="bjDocumentSecurityLabel">
    <vt:lpwstr>Origin Jurisdiction: US </vt:lpwstr>
  </property>
  <property fmtid="{D5CDD505-2E9C-101B-9397-08002B2CF9AE}" pid="9" name="rtnexportcontrolcountry">
    <vt:lpwstr>usa</vt:lpwstr>
  </property>
  <property fmtid="{D5CDD505-2E9C-101B-9397-08002B2CF9AE}" pid="10" name="bjClsUserRVM">
    <vt:lpwstr>[]</vt:lpwstr>
  </property>
  <property fmtid="{D5CDD505-2E9C-101B-9397-08002B2CF9AE}" pid="11" name="bjLabelHistoryID">
    <vt:lpwstr>{45F20A76-F421-4C7E-9FA5-EB9918BB68FF}</vt:lpwstr>
  </property>
  <property fmtid="{D5CDD505-2E9C-101B-9397-08002B2CF9AE}" pid="12" name="MSIP_Label_a37ca26f-e25f-4770-9a89-55e6db4cfbd6_SetDate">
    <vt:lpwstr>2020-04-03T15:47:36.2221519Z</vt:lpwstr>
  </property>
  <property fmtid="{D5CDD505-2E9C-101B-9397-08002B2CF9AE}" pid="13" name="MSIP_Label_a37ca26f-e25f-4770-9a89-55e6db4cfbd6_Name">
    <vt:lpwstr>NO TECH DATA</vt:lpwstr>
  </property>
  <property fmtid="{D5CDD505-2E9C-101B-9397-08002B2CF9AE}" pid="14" name="CASize">
    <vt:lpwstr>W</vt:lpwstr>
  </property>
  <property fmtid="{D5CDD505-2E9C-101B-9397-08002B2CF9AE}" pid="15" name="MSIP_Label_a37ca26f-e25f-4770-9a89-55e6db4cfbd6_Application">
    <vt:lpwstr>Microsoft Azure Information Protection</vt:lpwstr>
  </property>
  <property fmtid="{D5CDD505-2E9C-101B-9397-08002B2CF9AE}" pid="16" name="UTC Classification">
    <vt:lpwstr>NO TECH DATA</vt:lpwstr>
  </property>
  <property fmtid="{D5CDD505-2E9C-101B-9397-08002B2CF9AE}" pid="17" name="MSIP_Label_a37ca26f-e25f-4770-9a89-55e6db4cfbd6_Extended_MSFT_Method">
    <vt:lpwstr>Manual</vt:lpwstr>
  </property>
  <property fmtid="{D5CDD505-2E9C-101B-9397-08002B2CF9AE}" pid="18" name="ContentTypeId">
    <vt:lpwstr>0x0101007E7012FDC1D4354E98E11BE167F4924F</vt:lpwstr>
  </property>
  <property fmtid="{D5CDD505-2E9C-101B-9397-08002B2CF9AE}" pid="19" name="MSIP_Label_a37ca26f-e25f-4770-9a89-55e6db4cfbd6_Owner">
    <vt:lpwstr>zastropw@azg.utcaus.com</vt:lpwstr>
  </property>
  <property fmtid="{D5CDD505-2E9C-101B-9397-08002B2CF9AE}" pid="20" name="MSIP_Label_a37ca26f-e25f-4770-9a89-55e6db4cfbd6_Enabled">
    <vt:lpwstr>True</vt:lpwstr>
  </property>
  <property fmtid="{D5CDD505-2E9C-101B-9397-08002B2CF9AE}" pid="21" name="MSIP_Label_a37ca26f-e25f-4770-9a89-55e6db4cfbd6_SiteId">
    <vt:lpwstr>ff460f77-8fa7-4946-ad6d-d50817a742fa</vt:lpwstr>
  </property>
  <property fmtid="{D5CDD505-2E9C-101B-9397-08002B2CF9AE}" pid="22" name="MSIP_Label_a37ca26f-e25f-4770-9a89-55e6db4cfbd6_ActionId">
    <vt:lpwstr>029ba2ca-3ec3-4a74-a9d9-492333a5ed1c</vt:lpwstr>
  </property>
  <property fmtid="{D5CDD505-2E9C-101B-9397-08002B2CF9AE}" pid="23" name="MSIP_Label_4447dd6a-a4a1-440b-a6a3-9124ef1ee017_Enabled">
    <vt:lpwstr>true</vt:lpwstr>
  </property>
  <property fmtid="{D5CDD505-2E9C-101B-9397-08002B2CF9AE}" pid="24" name="MSIP_Label_4447dd6a-a4a1-440b-a6a3-9124ef1ee017_SetDate">
    <vt:lpwstr>2022-09-22T01:10:54Z</vt:lpwstr>
  </property>
  <property fmtid="{D5CDD505-2E9C-101B-9397-08002B2CF9AE}" pid="25" name="MSIP_Label_4447dd6a-a4a1-440b-a6a3-9124ef1ee017_Method">
    <vt:lpwstr>Privileged</vt:lpwstr>
  </property>
  <property fmtid="{D5CDD505-2E9C-101B-9397-08002B2CF9AE}" pid="26" name="MSIP_Label_4447dd6a-a4a1-440b-a6a3-9124ef1ee017_Name">
    <vt:lpwstr>NO TECH DATA</vt:lpwstr>
  </property>
  <property fmtid="{D5CDD505-2E9C-101B-9397-08002B2CF9AE}" pid="27" name="MSIP_Label_4447dd6a-a4a1-440b-a6a3-9124ef1ee017_SiteId">
    <vt:lpwstr>7a18110d-ef9b-4274-acef-e62ab0fe28ed</vt:lpwstr>
  </property>
  <property fmtid="{D5CDD505-2E9C-101B-9397-08002B2CF9AE}" pid="28" name="MSIP_Label_4447dd6a-a4a1-440b-a6a3-9124ef1ee017_ActionId">
    <vt:lpwstr>2b5d91e4-2c21-4644-8d30-dadf71502cbd</vt:lpwstr>
  </property>
  <property fmtid="{D5CDD505-2E9C-101B-9397-08002B2CF9AE}" pid="29" name="MSIP_Label_4447dd6a-a4a1-440b-a6a3-9124ef1ee017_ContentBits">
    <vt:lpwstr>0</vt:lpwstr>
  </property>
  <property fmtid="{D5CDD505-2E9C-101B-9397-08002B2CF9AE}" pid="30" name="MediaServiceImageTags">
    <vt:lpwstr/>
  </property>
</Properties>
</file>
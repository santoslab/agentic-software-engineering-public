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4" r:id="rId12"/>
  </p:sldMasterIdLst>
  <p:notesMasterIdLst>
    <p:notesMasterId r:id="rId22"/>
  </p:notesMasterIdLst>
  <p:handoutMasterIdLst>
    <p:handoutMasterId r:id="rId23"/>
  </p:handoutMasterIdLst>
  <p:sldIdLst>
    <p:sldId id="256" r:id="rId16"/>
    <p:sldId id="2147375382" r:id="rId17"/>
    <p:sldId id="2147375383" r:id="rId15"/>
    <p:sldId id="2147375384" r:id="rId18"/>
    <p:sldId id="2147375385" r:id="rId19"/>
    <p:sldId id="2147375386" r:id="rId20"/>
    <p:sldId id="2147375387" r:id="rId21"/>
    <p:sldId id="2147375388" r:id="rId14"/>
    <p:sldId id="2147375389" r:id="rId13"/>
    <p:sldId id="2147375390" r:id="rId11"/>
    <p:sldId id="2147375391" r:id="rId10"/>
    <p:sldId id="2147375392" r:id="rId9"/>
    <p:sldId id="2147375393" r:id="rId8"/>
    <p:sldId id="2147375394" r:id="rId7"/>
    <p:sldId id="2147375395" r:id="rId6"/>
    <p:sldId id="2147375396" r:id="rId30"/>
    <p:sldId id="2147375397" r:id="rId31"/>
    <p:sldId id="2147375398" r:id="rId32"/>
    <p:sldId id="2147375399" r:id="rId33"/>
    <p:sldId id="2147375400" r:id="rId34"/>
    <p:sldId id="2147375401" r:id="rId35"/>
    <p:sldId id="2147375402" r:id="rId36"/>
    <p:sldId id="2147375403" r:id="rId37"/>
    <p:sldId id="2147375404" r:id="rId38"/>
    <p:sldId id="2147375405" r:id="rId39"/>
    <p:sldId id="2147375406" r:id="rId40"/>
    <p:sldId id="2147375407" r:id="rId41"/>
    <p:sldId id="2147375408" r:id="rId42"/>
    <p:sldId id="2147375409" r:id="rId43"/>
    <p:sldId id="2147375410" r:id="rId44"/>
    <p:sldId id="2147375411" r:id="rId45"/>
    <p:sldId id="2147375412" r:id="rId46"/>
    <p:sldId id="2147375413" r:id="rId47"/>
    <p:sldId id="2147375414" r:id="rId48"/>
    <p:sldId id="2147375415" r:id="rId49"/>
    <p:sldId id="2147375416" r:id="rId50"/>
    <p:sldId id="2147375417" r:id="rId51"/>
    <p:sldId id="2147375418" r:id="rId52"/>
    <p:sldId id="2147375419" r:id="rId53"/>
    <p:sldId id="2147375420" r:id="rId54"/>
    <p:sldId id="2147375421" r:id="rId55"/>
    <p:sldId id="2147375422" r:id="rId56"/>
    <p:sldId id="2147375423" r:id="rId57"/>
    <p:sldId id="2147375424" r:id="rId58"/>
    <p:sldId id="2147375425" r:id="rId59"/>
    <p:sldId id="2147375426" r:id="rId60"/>
    <p:sldId id="2147375427" r:id="rId61"/>
    <p:sldId id="2147375428" r:id="rId62"/>
    <p:sldId id="2147375429" r:id="rId63"/>
    <p:sldId id="2147375430" r:id="rId64"/>
    <p:sldId id="2147375431" r:id="rId65"/>
    <p:sldId id="2147375432" r:id="rId66"/>
    <p:sldId id="2147375433" r:id="rId67"/>
    <p:sldId id="2147375434" r:id="rId68"/>
    <p:sldId id="2147375435" r:id="rId69"/>
    <p:sldId id="2147375436"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382648-2297-8FFC-B73F-AB124D6DE6DE}" name="Kaplan, Dan J                            Collins" initials="KDJC" userId="Kaplan, Dan J                            Collins" providerId="None"/>
  <p188:author id="{2D53BE49-35D9-EF15-1A32-A328DF3692BD}" name="Schroeder, Nancy A                            Collins" initials="SC" userId="S::10656689@adxuser.com::a39546d3-50b7-4369-86b3-1895d645d969" providerId="AD"/>
  <p188:author id="{6FDF37B6-3747-D076-79BF-E4A9A05A5DDD}" name="Sevestre, Stephane                           Export License Required - US Collins" initials="SSELRUC" userId="Sevestre, Stephane                           Export License Required - US Collins"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y Avitabile" initials="AA" lastIdx="1" clrIdx="0">
    <p:extLst>
      <p:ext uri="{19B8F6BF-5375-455C-9EA6-DF929625EA0E}">
        <p15:presenceInfo xmlns:p15="http://schemas.microsoft.com/office/powerpoint/2012/main" userId="S-1-5-21-1214440339-861567501-682003330-1365948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C1C2"/>
    <a:srgbClr val="00B050"/>
    <a:srgbClr val="FFCC00"/>
    <a:srgbClr val="FFCCCC"/>
    <a:srgbClr val="00933C"/>
    <a:srgbClr val="D3D1E7"/>
    <a:srgbClr val="D9D9D6"/>
    <a:srgbClr val="E7E7E7"/>
    <a:srgbClr val="63666A"/>
    <a:srgbClr val="B1B3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93973"/>
  </p:normalViewPr>
  <p:slideViewPr>
    <p:cSldViewPr snapToGrid="0">
      <p:cViewPr varScale="1">
        <p:scale>
          <a:sx n="119" d="100"/>
          <a:sy n="119" d="100"/>
        </p:scale>
        <p:origin x="336" y="192"/>
      </p:cViewPr>
      <p:guideLst>
        <p:guide orient="horz" pos="408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1.xml"/><Relationship Id="rId11" Type="http://schemas.openxmlformats.org/officeDocument/2006/relationships/slide" Target="slides/slide10.xml"/><Relationship Id="rId12" Type="http://schemas.openxmlformats.org/officeDocument/2006/relationships/slideMaster" Target="slideMasters/slideMaster7.xml"/><Relationship Id="rId13" Type="http://schemas.openxmlformats.org/officeDocument/2006/relationships/slide" Target="slides/slide9.xml"/><Relationship Id="rId14" Type="http://schemas.openxmlformats.org/officeDocument/2006/relationships/slide" Target="slides/slide8.xml"/><Relationship Id="rId15" Type="http://schemas.openxmlformats.org/officeDocument/2006/relationships/slide" Target="slides/slide3.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commentAuthors" Target="commentAuthors.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8/10/relationships/authors" Target="authors.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 Id="rId58" Type="http://schemas.openxmlformats.org/officeDocument/2006/relationships/slide" Target="slides/slide44.xml"/><Relationship Id="rId59" Type="http://schemas.openxmlformats.org/officeDocument/2006/relationships/slide" Target="slides/slide45.xml"/><Relationship Id="rId60" Type="http://schemas.openxmlformats.org/officeDocument/2006/relationships/slide" Target="slides/slide46.xml"/><Relationship Id="rId61" Type="http://schemas.openxmlformats.org/officeDocument/2006/relationships/slide" Target="slides/slide47.xml"/><Relationship Id="rId62" Type="http://schemas.openxmlformats.org/officeDocument/2006/relationships/slide" Target="slides/slide48.xml"/><Relationship Id="rId63" Type="http://schemas.openxmlformats.org/officeDocument/2006/relationships/slide" Target="slides/slide49.xml"/><Relationship Id="rId64" Type="http://schemas.openxmlformats.org/officeDocument/2006/relationships/slide" Target="slides/slide50.xml"/><Relationship Id="rId65" Type="http://schemas.openxmlformats.org/officeDocument/2006/relationships/slide" Target="slides/slide51.xml"/><Relationship Id="rId66" Type="http://schemas.openxmlformats.org/officeDocument/2006/relationships/slide" Target="slides/slide52.xml"/><Relationship Id="rId67" Type="http://schemas.openxmlformats.org/officeDocument/2006/relationships/slide" Target="slides/slide53.xml"/><Relationship Id="rId68" Type="http://schemas.openxmlformats.org/officeDocument/2006/relationships/slide" Target="slides/slide54.xml"/><Relationship Id="rId69" Type="http://schemas.openxmlformats.org/officeDocument/2006/relationships/slide" Target="slides/slide55.xml"/><Relationship Id="rId70"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oter Placeholder 11"/>
          <p:cNvSpPr>
            <a:spLocks noGrp="1"/>
          </p:cNvSpPr>
          <p:nvPr>
            <p:ph type="ftr" sz="quarter" idx="2"/>
          </p:nvPr>
        </p:nvSpPr>
        <p:spPr>
          <a:xfrm>
            <a:off x="0" y="8855038"/>
            <a:ext cx="6858000" cy="276999"/>
          </a:xfrm>
          <a:prstGeom prst="rect">
            <a:avLst/>
          </a:prstGeom>
        </p:spPr>
        <p:txBody>
          <a:bodyPr vert="horz" lIns="91440" tIns="45720" rIns="91440" bIns="45720" rtlCol="0" anchor="b">
            <a:spAutoFit/>
          </a:bodyPr>
          <a:lstStyle>
            <a:lvl1pPr algn="l">
              <a:defRPr sz="1200"/>
            </a:lvl1pPr>
          </a:lstStyle>
          <a:p>
            <a:pPr algn="ctr"/>
            <a:endParaRPr lang="en-US"/>
          </a:p>
        </p:txBody>
      </p:sp>
      <p:sp>
        <p:nvSpPr>
          <p:cNvPr id="13" name="Slide Number Placeholder 12"/>
          <p:cNvSpPr>
            <a:spLocks noGrp="1"/>
          </p:cNvSpPr>
          <p:nvPr>
            <p:ph type="sldNum" sz="quarter" idx="3"/>
          </p:nvPr>
        </p:nvSpPr>
        <p:spPr>
          <a:xfrm>
            <a:off x="3886200" y="0"/>
            <a:ext cx="2971800" cy="458787"/>
          </a:xfrm>
          <a:prstGeom prst="rect">
            <a:avLst/>
          </a:prstGeom>
        </p:spPr>
        <p:txBody>
          <a:bodyPr vert="horz" lIns="91440" tIns="45720" rIns="91440" bIns="45720" rtlCol="0" anchor="b"/>
          <a:lstStyle>
            <a:lvl1pPr algn="r">
              <a:defRPr sz="1200"/>
            </a:lvl1pPr>
          </a:lstStyle>
          <a:p>
            <a:fld id="{138C58B0-FFE9-437E-B2CB-216DAFA841B5}" type="slidenum">
              <a:rPr lang="en-US" smtClean="0"/>
              <a:t>‹#›</a:t>
            </a:fld>
            <a:endParaRPr lang="en-US"/>
          </a:p>
        </p:txBody>
      </p:sp>
    </p:spTree>
    <p:extLst>
      <p:ext uri="{BB962C8B-B14F-4D97-AF65-F5344CB8AC3E}">
        <p14:creationId xmlns:p14="http://schemas.microsoft.com/office/powerpoint/2010/main" val="2414966732"/>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2" pos="288" userDrawn="1">
          <p15:clr>
            <a:srgbClr val="F26B43"/>
          </p15:clr>
        </p15:guide>
        <p15:guide id="3" pos="4032"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92624" y="692622"/>
            <a:ext cx="5517676" cy="310369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012556"/>
            <a:ext cx="5524500" cy="4094214"/>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p:cNvSpPr>
            <a:spLocks noGrp="1"/>
          </p:cNvSpPr>
          <p:nvPr>
            <p:ph type="ftr" sz="quarter" idx="4"/>
          </p:nvPr>
        </p:nvSpPr>
        <p:spPr>
          <a:xfrm>
            <a:off x="0" y="8774668"/>
            <a:ext cx="6858000" cy="369332"/>
          </a:xfrm>
          <a:prstGeom prst="rect">
            <a:avLst/>
          </a:prstGeom>
        </p:spPr>
        <p:txBody>
          <a:bodyPr vert="horz" lIns="91440" tIns="45720" rIns="91440" bIns="45720" rtlCol="0" anchor="b">
            <a:spAutoFit/>
          </a:bodyPr>
          <a:lstStyle>
            <a:lvl1pPr algn="ctr">
              <a:defRPr lang="en-US"/>
            </a:lvl1pPr>
          </a:lstStyle>
          <a:p>
            <a:endParaRPr lang="en-US"/>
          </a:p>
        </p:txBody>
      </p:sp>
      <p:sp>
        <p:nvSpPr>
          <p:cNvPr id="15" name="Slide Number Placeholder 14"/>
          <p:cNvSpPr>
            <a:spLocks noGrp="1"/>
          </p:cNvSpPr>
          <p:nvPr>
            <p:ph type="sldNum" sz="quarter" idx="5"/>
          </p:nvPr>
        </p:nvSpPr>
        <p:spPr>
          <a:xfrm>
            <a:off x="3886200" y="9183"/>
            <a:ext cx="2971800" cy="458787"/>
          </a:xfrm>
          <a:prstGeom prst="rect">
            <a:avLst/>
          </a:prstGeom>
        </p:spPr>
        <p:txBody>
          <a:bodyPr vert="horz" lIns="91440" tIns="45720" rIns="91440" bIns="45720" rtlCol="0" anchor="b"/>
          <a:lstStyle>
            <a:lvl1pPr algn="r">
              <a:defRPr sz="1200"/>
            </a:lvl1pPr>
          </a:lstStyle>
          <a:p>
            <a:fld id="{56AF3A09-0EB5-429E-B7D0-FB28A7726D23}" type="slidenum">
              <a:rPr lang="en-US" smtClean="0"/>
              <a:t>‹#›</a:t>
            </a:fld>
            <a:endParaRPr lang="en-US"/>
          </a:p>
        </p:txBody>
      </p:sp>
    </p:spTree>
    <p:extLst>
      <p:ext uri="{BB962C8B-B14F-4D97-AF65-F5344CB8AC3E}">
        <p14:creationId xmlns:p14="http://schemas.microsoft.com/office/powerpoint/2010/main" val="2302219137"/>
      </p:ext>
    </p:extLst>
  </p:cSld>
  <p:clrMap bg1="lt1" tx1="dk1" bg2="lt2" tx2="dk2" accent1="accent1" accent2="accent2" accent3="accent3" accent4="accent4" accent5="accent5" accent6="accent6" hlink="hlink" folHlink="folHlink"/>
  <p:hf dt="0"/>
  <p:notesStyle>
    <a:lvl1pPr marL="115888"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1pPr>
    <a:lvl2pPr marL="287338" indent="-117475"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2pPr>
    <a:lvl3pPr marL="457200"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3pPr>
    <a:lvl4pPr marL="627063"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4pPr>
    <a:lvl5pPr marL="860425" indent="-171450"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432" userDrawn="1">
          <p15:clr>
            <a:srgbClr val="F26B43"/>
          </p15:clr>
        </p15:guide>
        <p15:guide id="2" pos="3912"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C30E6-29FE-8D9A-C5A0-8F0EF7B91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B0C18-6CCF-9B06-B8C2-7AF859D1CD47}"/>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6C784970-52A9-3C3D-45DC-35C4C99DE06F}"/>
              </a:ext>
            </a:extLst>
          </p:cNvPr>
          <p:cNvSpPr>
            <a:spLocks noGrp="1"/>
          </p:cNvSpPr>
          <p:nvPr>
            <p:ph type="body" idx="1"/>
          </p:nvPr>
        </p:nvSpPr>
        <p:spPr/>
        <p:txBody>
          <a:bodyPr/>
          <a:lstStyle/>
          <a:p>
            <a:r>
              <a:t>We believe in abstractions: hierarchical, composable, designed for formal reasoning.  How to develop agentic software engineering so that the abstractions are the heart of what they produce, how they plan (i.e., how they decompose work temporily and structurally)</a:t>
            </a:r>
          </a:p>
          <a:p/>
          <a:p/>
          <a:p>
            <a:r>
              <a:t>Assurance – externalize confidence in the system – how do we achieve views that are appropriate for humans (avoid mental overhead) and agents (avoiding time and token burn).  Cautionary story about Haskell build system.  Achieve visibility into the development process – governance, process improvement measurement.  Key point: independence – diversity in reasoning and problem solving.</a:t>
            </a:r>
          </a:p>
          <a:p/>
          <a:p>
            <a:r>
              <a:t>High assurance, properties that are specified and assessed at multiple levels of abstraction</a:t>
            </a:r>
          </a:p>
          <a:p/>
          <a:p>
            <a:r>
              <a:t>Usability for agents – I’ve got this powerful new employee and teammate.  They are much smarter and faster than me at meany things.  But they are not as good as me at other things.</a:t>
            </a:r>
          </a:p>
          <a:p/>
          <a:p>
            <a:r>
              <a:t>Shift from engineering the code to engineering the development and assurance context</a:t>
            </a:r>
          </a:p>
          <a:p>
            <a:r>
              <a:t>Managed technology base – layered composable abstractions that not only provide direction but provide explainability</a:t>
            </a:r>
          </a:p>
          <a:p/>
          <a:p/>
          <a:p/>
          <a:p>
            <a:r>
              <a:t>Lecture 01 framing: the three stages of the effort shift are the structure of the purpose section in the notes.</a:t>
            </a:r>
          </a:p>
        </p:txBody>
      </p:sp>
      <p:sp>
        <p:nvSpPr>
          <p:cNvPr id="4" name="Footer Placeholder 3">
            <a:extLst>
              <a:ext uri="{FF2B5EF4-FFF2-40B4-BE49-F238E27FC236}">
                <a16:creationId xmlns:a16="http://schemas.microsoft.com/office/drawing/2014/main" id="{65ACAA5E-556E-E4A0-BCBA-9B2C375EA597}"/>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6A872A34-1850-D49F-1CED-0BD587A42992}"/>
              </a:ext>
            </a:extLst>
          </p:cNvPr>
          <p:cNvSpPr>
            <a:spLocks noGrp="1"/>
          </p:cNvSpPr>
          <p:nvPr>
            <p:ph type="sldNum" sz="quarter" idx="5"/>
          </p:nvPr>
        </p:nvSpPr>
        <p:spPr/>
        <p:txBody>
          <a:bodyPr/>
          <a:lstStyle/>
          <a:p>
            <a:fld id="{56AF3A09-0EB5-429E-B7D0-FB28A7726D23}" type="slidenum">
              <a:rPr lang="en-US" smtClean="0"/>
              <a:t>2</a:t>
            </a:fld>
            <a:endParaRPr lang="en-US"/>
          </a:p>
        </p:txBody>
      </p:sp>
    </p:spTree>
    <p:extLst>
      <p:ext uri="{BB962C8B-B14F-4D97-AF65-F5344CB8AC3E}">
        <p14:creationId xmlns:p14="http://schemas.microsoft.com/office/powerpoint/2010/main" val="2599503159"/>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three entities, define a managed process, and name the records. The five judgments are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judgment fails independently; knowing which failed says what to do. Domain-independent; what varies is the forms and the methods.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stages of the shift.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layers serve two readers at once. Direction for agents at the layer they work in; explanation for people, trustworthy because conformance between layers is checked.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objectives; each is something a student can do on A0.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is the abstract picture. Part 2 shows every element on A0.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1. Intent has no artifact. VAL compares intent and specifications; CONF compares specifications and realization; SQ and RQ are loops on one artifact; TR is the dashed links. The ledger records the five; the gate decides the mechanical parts before a commit.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Intent lives with the stakeholders; a person cannot enumerate it; the purpose statement is the nearest written thing. An agent reaches intent only through a person, which is why VAL is reserved to a person. Elicitation is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forms A0 uses, the role a specification plays, and the clause as the unit with its three fields.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properties, each one phrase; A0 establishes SQ by a person reading. The audit as a procedure, with seeded gaps, is the A1 lecture.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and tests are both realization. RQ asks whether the realization is in a state where it can be checked: lint, collect, test discipline.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Conformance is a relationship on the pair; verification is the attempt, so a result is evidence with a scope. In A0 CONF is four conditions because a suite written by the same agent that wrote the code can mislead in three ways.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compares an artifact with what is in a person's mind; only a person can decide; recorded as a sign-off. It can fail while every other judgment holds.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clause has an identifier and every link resolves both ways. Its own row because a program decides it cheaply and the other rows depend on it clause by clause.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element of Part 1 pointed at in a 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realistic shape, and it grows. Version A0 is one stage, filter. The Python sibling of the HAMR Simple Network Guard.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file, ten lines. Is it right? The code cannot say what was asked, what was promised, or whether the promise was checked.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an agent writing the code, the person reads three other things instead. An agent's description of its own work is not evidence about the 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directory tree, by the categories the diagram uses.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nearest written thing to intent. Agreed by the stakeholders, audited, derived from; not a transcript. How it was obtained is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conops.md has five sections; requirements.md has four clauses. Two kinds of document that govern one system and must agree.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clauses verbatim.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identifier is what a report cites; the method says who verifies; derived-from makes the family.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mechanical clause can be checked at every commit by a program nobody has to remember to run; a judgment clause costs a person's attention every time.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property with the place in A0 where it can be checked. The REQ-2 question is planted to show that a reading is a judgment.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message.py makes REQ-0 concrete: three levels, a frozen dataclass, rejection of wrong types. One specification, many realizations.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test is a claim about one clause and cites it by marker.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test that cites nothing is not allowed in A0.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programs decide RQ; the test discipline is reviewed. RQ is separate from CONF so a conformance result is about runnable code and a suite that ran.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passing suite establishes only that its own claims hold. With the same agent writing code and tests a green suite misleads in three ways.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plugin reads the clause identifiers from the specifications and the markers from the suite; one row per clause.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Branch coverage is weak but finds the places where code can do anything unnoticed.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 4 was decided by a person in the story's role.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 uses human and algorithmic; the agent verifier enters in A1. A verifier is itself a realization of the specification it checks.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sign-off names who, in which role, when, on which version.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two duties of the walkthrough apart in thought.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the officer meant Restricted must be stopped too. Every artifact was derived from the same misunderstanding; nothing in the repository can detect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chain of links. Identifiers are the vocabulary shared by person, agent, and program.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rows. Each is a claim with status, evidence, provenance, and a stale-when.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distinguishes evidence from a description of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WF-1: tools/gate.sh must exit 0 before a commit.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the condition to RESTRICTED. Four tests fail; REQ-1 and REQ-2 show FAIL; coverage still 100 percent; only CONF turns red.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side moves is a recorded decision.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rule per judgment plus workflow and reports, CONF having two.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Decided-by makes a rule checkable; on-failure gives a red result a next step.</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reads the file; person and agent follow the same written process.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thirty lines of code against more than three hundred of specifications, rules, reports. Optional demo: ask an agent what the system does and how it knows.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keeps the system and improves the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 adds the second stage and the first specifications of structure.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day one, in any project.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skill underlies the adapted parts.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Forces an amendment, a stale VAL row, and a re-sign before the test and the gate.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A0; read the glossary; reread the ConOps with the elicitation question in mind.</a:t>
            </a:r>
          </a:p>
        </p:txBody>
      </p:sp>
      <p:sp>
        <p:nvSpPr>
          <p:cNvPr id="4" name="Slide Number Placeholder 3"/>
          <p:cNvSpPr>
            <a:spLocks noGrp="1"/>
          </p:cNvSpPr>
          <p:nvPr>
            <p:ph type="sldNum" idx="5" sz="quarter"/>
          </p:nvPr>
        </p:nvSpPr>
        <p:spPr/>
      </p:sp>
    </p:spTree>
  </p:cSld>
  <p:clrMapOvr>
    <a:masterClrMapping/>
  </p:clrMapOvr>
</p:note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7"/>
          <p:cNvSpPr>
            <a:spLocks noChangeArrowheads="1"/>
          </p:cNvSpPr>
          <p:nvPr userDrawn="1"/>
        </p:nvSpPr>
        <p:spPr bwMode="auto">
          <a:xfrm>
            <a:off x="0" y="0"/>
            <a:ext cx="12192000" cy="1295400"/>
          </a:xfrm>
          <a:prstGeom prst="rect">
            <a:avLst/>
          </a:prstGeom>
          <a:gradFill rotWithShape="0">
            <a:gsLst>
              <a:gs pos="0">
                <a:srgbClr val="9900CC"/>
              </a:gs>
              <a:gs pos="100000">
                <a:srgbClr val="FFFFFF"/>
              </a:gs>
            </a:gsLst>
            <a:lin ang="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5" name="Rectangle 18"/>
          <p:cNvSpPr>
            <a:spLocks noChangeArrowheads="1"/>
          </p:cNvSpPr>
          <p:nvPr userDrawn="1"/>
        </p:nvSpPr>
        <p:spPr bwMode="auto">
          <a:xfrm rot="16200000">
            <a:off x="-2425700" y="3721100"/>
            <a:ext cx="5562600" cy="711200"/>
          </a:xfrm>
          <a:prstGeom prst="rect">
            <a:avLst/>
          </a:prstGeom>
          <a:gradFill rotWithShape="0">
            <a:gsLst>
              <a:gs pos="0">
                <a:srgbClr val="9900CC"/>
              </a:gs>
              <a:gs pos="100000">
                <a:srgbClr val="FFFFFF"/>
              </a:gs>
            </a:gsLst>
            <a:lin ang="540000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6156" name="Rectangle 12"/>
          <p:cNvSpPr>
            <a:spLocks noGrp="1" noChangeArrowheads="1"/>
          </p:cNvSpPr>
          <p:nvPr>
            <p:ph type="ctrTitle"/>
          </p:nvPr>
        </p:nvSpPr>
        <p:spPr>
          <a:xfrm>
            <a:off x="1320800" y="1828800"/>
            <a:ext cx="10363200" cy="1143000"/>
          </a:xfrm>
        </p:spPr>
        <p:txBody>
          <a:bodyPr/>
          <a:lstStyle>
            <a:lvl1pPr>
              <a:defRPr/>
            </a:lvl1pPr>
          </a:lstStyle>
          <a:p>
            <a:r>
              <a:rPr lang="en-US"/>
              <a:t>Click to edit Master title style</a:t>
            </a:r>
          </a:p>
        </p:txBody>
      </p:sp>
      <p:sp>
        <p:nvSpPr>
          <p:cNvPr id="6157" name="Rectangle 13"/>
          <p:cNvSpPr>
            <a:spLocks noGrp="1" noChangeArrowheads="1"/>
          </p:cNvSpPr>
          <p:nvPr>
            <p:ph type="subTitle" idx="1"/>
          </p:nvPr>
        </p:nvSpPr>
        <p:spPr>
          <a:xfrm>
            <a:off x="1828800" y="3886200"/>
            <a:ext cx="8534400" cy="1752600"/>
          </a:xfrm>
        </p:spPr>
        <p:txBody>
          <a:bodyPr/>
          <a:lstStyle>
            <a:lvl1pPr marL="0" indent="0" algn="ctr">
              <a:buFont typeface="Wingdings" charset="2"/>
              <a:buNone/>
              <a:defRPr/>
            </a:lvl1pPr>
          </a:lstStyle>
          <a:p>
            <a:r>
              <a:rPr lang="en-US"/>
              <a:t>Click to edit Master subtitle style</a:t>
            </a:r>
          </a:p>
        </p:txBody>
      </p:sp>
      <p:sp>
        <p:nvSpPr>
          <p:cNvPr id="6" name="Rectangle 14"/>
          <p:cNvSpPr>
            <a:spLocks noGrp="1" noChangeArrowheads="1"/>
          </p:cNvSpPr>
          <p:nvPr>
            <p:ph type="dt" sz="half" idx="10"/>
          </p:nvPr>
        </p:nvSpPr>
        <p:spPr bwMode="auto">
          <a:xfrm>
            <a:off x="1320800" y="6248400"/>
            <a:ext cx="2540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a:solidFill>
                  <a:schemeClr val="bg2"/>
                </a:solidFill>
                <a:latin typeface="Tahoma" pitchFamily="-84" charset="0"/>
              </a:defRPr>
            </a:lvl1pPr>
          </a:lstStyle>
          <a:p>
            <a:pPr>
              <a:defRPr/>
            </a:pPr>
            <a:endParaRPr lang="en-US"/>
          </a:p>
        </p:txBody>
      </p:sp>
      <p:sp>
        <p:nvSpPr>
          <p:cNvPr id="7" name="Rectangle 15"/>
          <p:cNvSpPr>
            <a:spLocks noGrp="1" noChangeArrowheads="1"/>
          </p:cNvSpPr>
          <p:nvPr>
            <p:ph type="ftr" sz="quarter" idx="11"/>
          </p:nvPr>
        </p:nvSpPr>
        <p:spPr>
          <a:xfrm>
            <a:off x="4572000" y="6248400"/>
            <a:ext cx="3860800" cy="457200"/>
          </a:xfrm>
        </p:spPr>
        <p:txBody>
          <a:bodyPr/>
          <a:lstStyle>
            <a:lvl1pPr>
              <a:defRPr>
                <a:solidFill>
                  <a:schemeClr val="bg2"/>
                </a:solidFill>
              </a:defRPr>
            </a:lvl1pPr>
          </a:lstStyle>
          <a:p>
            <a:pPr>
              <a:defRPr/>
            </a:pPr>
            <a:r>
              <a:rPr lang="en-US"/>
              <a:t>CS Agentic Development</a:t>
            </a:r>
          </a:p>
        </p:txBody>
      </p:sp>
      <p:sp>
        <p:nvSpPr>
          <p:cNvPr id="8" name="Rectangle 16"/>
          <p:cNvSpPr>
            <a:spLocks noGrp="1" noChangeArrowheads="1"/>
          </p:cNvSpPr>
          <p:nvPr>
            <p:ph type="sldNum" sz="quarter" idx="12"/>
          </p:nvPr>
        </p:nvSpPr>
        <p:spPr>
          <a:xfrm>
            <a:off x="9144000" y="6248400"/>
            <a:ext cx="2540000" cy="457200"/>
          </a:xfrm>
        </p:spPr>
        <p:txBody>
          <a:bodyPr/>
          <a:lstStyle>
            <a:lvl1pPr>
              <a:defRPr>
                <a:solidFill>
                  <a:schemeClr val="bg2"/>
                </a:solidFill>
              </a:defRPr>
            </a:lvl1pPr>
          </a:lstStyle>
          <a:p>
            <a:pPr>
              <a:defRPr/>
            </a:pPr>
            <a:fld id="{45E685A3-5A44-F34A-9DD6-E549D5259BBF}" type="slidenum">
              <a:rPr lang="en-US"/>
              <a:pPr>
                <a:defRPr/>
              </a:pPr>
              <a:t>‹#›</a:t>
            </a:fld>
            <a:endParaRPr lang="en-US"/>
          </a:p>
        </p:txBody>
      </p:sp>
    </p:spTree>
    <p:extLst>
      <p:ext uri="{BB962C8B-B14F-4D97-AF65-F5344CB8AC3E}">
        <p14:creationId xmlns:p14="http://schemas.microsoft.com/office/powerpoint/2010/main" val="36110403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C22399C2-1ADD-1549-9753-CEA7C1EED1B8}" type="slidenum">
              <a:rPr lang="en-US"/>
              <a:pPr>
                <a:defRPr/>
              </a:pPr>
              <a:t>‹#›</a:t>
            </a:fld>
            <a:endParaRPr lang="en-US"/>
          </a:p>
        </p:txBody>
      </p:sp>
    </p:spTree>
    <p:extLst>
      <p:ext uri="{BB962C8B-B14F-4D97-AF65-F5344CB8AC3E}">
        <p14:creationId xmlns:p14="http://schemas.microsoft.com/office/powerpoint/2010/main" val="22237583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50848EDB-E059-EE4C-BEE4-92ACBFC1ACEA}" type="slidenum">
              <a:rPr lang="en-US"/>
              <a:pPr>
                <a:defRPr/>
              </a:pPr>
              <a:t>‹#›</a:t>
            </a:fld>
            <a:endParaRPr lang="en-US"/>
          </a:p>
        </p:txBody>
      </p:sp>
    </p:spTree>
    <p:extLst>
      <p:ext uri="{BB962C8B-B14F-4D97-AF65-F5344CB8AC3E}">
        <p14:creationId xmlns:p14="http://schemas.microsoft.com/office/powerpoint/2010/main" val="40794048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524000"/>
            <a:ext cx="5334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51600" y="1524000"/>
            <a:ext cx="5334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6" name="Rectangle 13"/>
          <p:cNvSpPr>
            <a:spLocks noGrp="1" noChangeArrowheads="1"/>
          </p:cNvSpPr>
          <p:nvPr>
            <p:ph type="sldNum" sz="quarter" idx="11"/>
          </p:nvPr>
        </p:nvSpPr>
        <p:spPr>
          <a:ln/>
        </p:spPr>
        <p:txBody>
          <a:bodyPr/>
          <a:lstStyle>
            <a:lvl1pPr>
              <a:defRPr/>
            </a:lvl1pPr>
          </a:lstStyle>
          <a:p>
            <a:pPr>
              <a:defRPr/>
            </a:pPr>
            <a:fld id="{1EE9051A-5116-C044-BC66-ED283B4D5A77}" type="slidenum">
              <a:rPr lang="en-US"/>
              <a:pPr>
                <a:defRPr/>
              </a:pPr>
              <a:t>‹#›</a:t>
            </a:fld>
            <a:endParaRPr lang="en-US"/>
          </a:p>
        </p:txBody>
      </p:sp>
    </p:spTree>
    <p:extLst>
      <p:ext uri="{BB962C8B-B14F-4D97-AF65-F5344CB8AC3E}">
        <p14:creationId xmlns:p14="http://schemas.microsoft.com/office/powerpoint/2010/main" val="35126377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8" name="Rectangle 13"/>
          <p:cNvSpPr>
            <a:spLocks noGrp="1" noChangeArrowheads="1"/>
          </p:cNvSpPr>
          <p:nvPr>
            <p:ph type="sldNum" sz="quarter" idx="11"/>
          </p:nvPr>
        </p:nvSpPr>
        <p:spPr>
          <a:ln/>
        </p:spPr>
        <p:txBody>
          <a:bodyPr/>
          <a:lstStyle>
            <a:lvl1pPr>
              <a:defRPr/>
            </a:lvl1pPr>
          </a:lstStyle>
          <a:p>
            <a:pPr>
              <a:defRPr/>
            </a:pPr>
            <a:fld id="{2E73A91B-A097-8F43-A5C5-A8482E10CE6F}" type="slidenum">
              <a:rPr lang="en-US"/>
              <a:pPr>
                <a:defRPr/>
              </a:pPr>
              <a:t>‹#›</a:t>
            </a:fld>
            <a:endParaRPr lang="en-US"/>
          </a:p>
        </p:txBody>
      </p:sp>
    </p:spTree>
    <p:extLst>
      <p:ext uri="{BB962C8B-B14F-4D97-AF65-F5344CB8AC3E}">
        <p14:creationId xmlns:p14="http://schemas.microsoft.com/office/powerpoint/2010/main" val="6474905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4" name="Rectangle 13"/>
          <p:cNvSpPr>
            <a:spLocks noGrp="1" noChangeArrowheads="1"/>
          </p:cNvSpPr>
          <p:nvPr>
            <p:ph type="sldNum" sz="quarter" idx="11"/>
          </p:nvPr>
        </p:nvSpPr>
        <p:spPr>
          <a:ln/>
        </p:spPr>
        <p:txBody>
          <a:bodyPr/>
          <a:lstStyle>
            <a:lvl1pPr>
              <a:defRPr/>
            </a:lvl1pPr>
          </a:lstStyle>
          <a:p>
            <a:pPr>
              <a:defRPr/>
            </a:pPr>
            <a:fld id="{6E0AA622-F4CE-604D-A669-CD3D12FC535C}" type="slidenum">
              <a:rPr lang="en-US"/>
              <a:pPr>
                <a:defRPr/>
              </a:pPr>
              <a:t>‹#›</a:t>
            </a:fld>
            <a:endParaRPr lang="en-US"/>
          </a:p>
        </p:txBody>
      </p:sp>
    </p:spTree>
    <p:extLst>
      <p:ext uri="{BB962C8B-B14F-4D97-AF65-F5344CB8AC3E}">
        <p14:creationId xmlns:p14="http://schemas.microsoft.com/office/powerpoint/2010/main" val="8783573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3" name="Rectangle 13"/>
          <p:cNvSpPr>
            <a:spLocks noGrp="1" noChangeArrowheads="1"/>
          </p:cNvSpPr>
          <p:nvPr>
            <p:ph type="sldNum" sz="quarter" idx="11"/>
          </p:nvPr>
        </p:nvSpPr>
        <p:spPr>
          <a:ln/>
        </p:spPr>
        <p:txBody>
          <a:bodyPr/>
          <a:lstStyle>
            <a:lvl1pPr>
              <a:defRPr/>
            </a:lvl1pPr>
          </a:lstStyle>
          <a:p>
            <a:pPr>
              <a:defRPr/>
            </a:pPr>
            <a:fld id="{BA615124-8EB2-6E40-9E50-F98D2465DC75}" type="slidenum">
              <a:rPr lang="en-US"/>
              <a:pPr>
                <a:defRPr/>
              </a:pPr>
              <a:t>‹#›</a:t>
            </a:fld>
            <a:endParaRPr lang="en-US"/>
          </a:p>
        </p:txBody>
      </p:sp>
    </p:spTree>
    <p:extLst>
      <p:ext uri="{BB962C8B-B14F-4D97-AF65-F5344CB8AC3E}">
        <p14:creationId xmlns:p14="http://schemas.microsoft.com/office/powerpoint/2010/main" val="17975853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6" name="Rectangle 13"/>
          <p:cNvSpPr>
            <a:spLocks noGrp="1" noChangeArrowheads="1"/>
          </p:cNvSpPr>
          <p:nvPr>
            <p:ph type="sldNum" sz="quarter" idx="11"/>
          </p:nvPr>
        </p:nvSpPr>
        <p:spPr>
          <a:ln/>
        </p:spPr>
        <p:txBody>
          <a:bodyPr/>
          <a:lstStyle>
            <a:lvl1pPr>
              <a:defRPr/>
            </a:lvl1pPr>
          </a:lstStyle>
          <a:p>
            <a:pPr>
              <a:defRPr/>
            </a:pPr>
            <a:fld id="{A44EE25D-892F-FA42-8251-4062CB60CA5E}" type="slidenum">
              <a:rPr lang="en-US"/>
              <a:pPr>
                <a:defRPr/>
              </a:pPr>
              <a:t>‹#›</a:t>
            </a:fld>
            <a:endParaRPr lang="en-US"/>
          </a:p>
        </p:txBody>
      </p:sp>
    </p:spTree>
    <p:extLst>
      <p:ext uri="{BB962C8B-B14F-4D97-AF65-F5344CB8AC3E}">
        <p14:creationId xmlns:p14="http://schemas.microsoft.com/office/powerpoint/2010/main" val="674542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6" name="Rectangle 13"/>
          <p:cNvSpPr>
            <a:spLocks noGrp="1" noChangeArrowheads="1"/>
          </p:cNvSpPr>
          <p:nvPr>
            <p:ph type="sldNum" sz="quarter" idx="11"/>
          </p:nvPr>
        </p:nvSpPr>
        <p:spPr>
          <a:ln/>
        </p:spPr>
        <p:txBody>
          <a:bodyPr/>
          <a:lstStyle>
            <a:lvl1pPr>
              <a:defRPr/>
            </a:lvl1pPr>
          </a:lstStyle>
          <a:p>
            <a:pPr>
              <a:defRPr/>
            </a:pPr>
            <a:fld id="{2C56E9B7-6EE0-8D46-8C36-993F30F20EC8}" type="slidenum">
              <a:rPr lang="en-US"/>
              <a:pPr>
                <a:defRPr/>
              </a:pPr>
              <a:t>‹#›</a:t>
            </a:fld>
            <a:endParaRPr lang="en-US"/>
          </a:p>
        </p:txBody>
      </p:sp>
    </p:spTree>
    <p:extLst>
      <p:ext uri="{BB962C8B-B14F-4D97-AF65-F5344CB8AC3E}">
        <p14:creationId xmlns:p14="http://schemas.microsoft.com/office/powerpoint/2010/main" val="9890397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0CB14967-302F-6E48-8678-32FDE0F3292B}" type="slidenum">
              <a:rPr lang="en-US"/>
              <a:pPr>
                <a:defRPr/>
              </a:pPr>
              <a:t>‹#›</a:t>
            </a:fld>
            <a:endParaRPr lang="en-US"/>
          </a:p>
        </p:txBody>
      </p:sp>
    </p:spTree>
    <p:extLst>
      <p:ext uri="{BB962C8B-B14F-4D97-AF65-F5344CB8AC3E}">
        <p14:creationId xmlns:p14="http://schemas.microsoft.com/office/powerpoint/2010/main" val="33068882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67800" y="0"/>
            <a:ext cx="2717800" cy="6400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0"/>
            <a:ext cx="7950200" cy="6400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EBA15ABF-0168-ED43-8055-FDAC86F85D9F}" type="slidenum">
              <a:rPr lang="en-US"/>
              <a:pPr>
                <a:defRPr/>
              </a:pPr>
              <a:t>‹#›</a:t>
            </a:fld>
            <a:endParaRPr lang="en-US"/>
          </a:p>
        </p:txBody>
      </p:sp>
    </p:spTree>
    <p:extLst>
      <p:ext uri="{BB962C8B-B14F-4D97-AF65-F5344CB8AC3E}">
        <p14:creationId xmlns:p14="http://schemas.microsoft.com/office/powerpoint/2010/main" val="1942974883"/>
      </p:ext>
    </p:extLst>
  </p:cSld>
  <p:clrMapOvr>
    <a:masterClrMapping/>
  </p:clrMapOvr>
</p:sldLayout>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theme" Target="../theme/theme7.xml"/></Relationships>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35" name="Rectangle 15"/>
          <p:cNvSpPr>
            <a:spLocks noChangeArrowheads="1"/>
          </p:cNvSpPr>
          <p:nvPr userDrawn="1"/>
        </p:nvSpPr>
        <p:spPr bwMode="auto">
          <a:xfrm rot="-5400000">
            <a:off x="-2501900" y="3644900"/>
            <a:ext cx="5715000" cy="711200"/>
          </a:xfrm>
          <a:prstGeom prst="rect">
            <a:avLst/>
          </a:prstGeom>
          <a:gradFill rotWithShape="0">
            <a:gsLst>
              <a:gs pos="0">
                <a:srgbClr val="DDCBE7"/>
              </a:gs>
              <a:gs pos="100000">
                <a:srgbClr val="DDCBE7">
                  <a:gamma/>
                  <a:tint val="0"/>
                  <a:invGamma/>
                </a:srgbClr>
              </a:gs>
            </a:gsLst>
            <a:lin ang="540000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5134" name="Rectangle 14"/>
          <p:cNvSpPr>
            <a:spLocks noChangeArrowheads="1"/>
          </p:cNvSpPr>
          <p:nvPr userDrawn="1"/>
        </p:nvSpPr>
        <p:spPr bwMode="auto">
          <a:xfrm>
            <a:off x="0" y="0"/>
            <a:ext cx="12192000" cy="1143000"/>
          </a:xfrm>
          <a:prstGeom prst="rect">
            <a:avLst/>
          </a:prstGeom>
          <a:gradFill rotWithShape="0">
            <a:gsLst>
              <a:gs pos="0">
                <a:srgbClr val="9900CC"/>
              </a:gs>
              <a:gs pos="100000">
                <a:srgbClr val="FFFFFF"/>
              </a:gs>
            </a:gsLst>
            <a:lin ang="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1028" name="Rectangle 9"/>
          <p:cNvSpPr>
            <a:spLocks noGrp="1" noChangeArrowheads="1"/>
          </p:cNvSpPr>
          <p:nvPr>
            <p:ph type="title"/>
          </p:nvPr>
        </p:nvSpPr>
        <p:spPr bwMode="auto">
          <a:xfrm>
            <a:off x="914400" y="0"/>
            <a:ext cx="108712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9" name="Rectangle 10"/>
          <p:cNvSpPr>
            <a:spLocks noGrp="1" noChangeArrowheads="1"/>
          </p:cNvSpPr>
          <p:nvPr>
            <p:ph type="body" idx="1"/>
          </p:nvPr>
        </p:nvSpPr>
        <p:spPr bwMode="auto">
          <a:xfrm>
            <a:off x="914400" y="1524000"/>
            <a:ext cx="108712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32" name="Rectangle 12"/>
          <p:cNvSpPr>
            <a:spLocks noGrp="1" noChangeArrowheads="1"/>
          </p:cNvSpPr>
          <p:nvPr>
            <p:ph type="ftr" sz="quarter" idx="3"/>
          </p:nvPr>
        </p:nvSpPr>
        <p:spPr bwMode="auto">
          <a:xfrm>
            <a:off x="0" y="6553200"/>
            <a:ext cx="4775200" cy="304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solidFill>
                  <a:srgbClr val="D0B6DE"/>
                </a:solidFill>
                <a:latin typeface="Tahoma" pitchFamily="-84" charset="0"/>
              </a:defRPr>
            </a:lvl1pPr>
          </a:lstStyle>
          <a:p>
            <a:pPr>
              <a:defRPr/>
            </a:pPr>
            <a:r>
              <a:rPr lang="en-US"/>
              <a:t>CS Agentic Development</a:t>
            </a:r>
          </a:p>
        </p:txBody>
      </p:sp>
      <p:sp>
        <p:nvSpPr>
          <p:cNvPr id="5133" name="Rectangle 13"/>
          <p:cNvSpPr>
            <a:spLocks noGrp="1" noChangeArrowheads="1"/>
          </p:cNvSpPr>
          <p:nvPr>
            <p:ph type="sldNum" sz="quarter" idx="4"/>
          </p:nvPr>
        </p:nvSpPr>
        <p:spPr bwMode="auto">
          <a:xfrm>
            <a:off x="11582400" y="6400800"/>
            <a:ext cx="609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solidFill>
                  <a:srgbClr val="D0B6DE"/>
                </a:solidFill>
                <a:latin typeface="Tahoma" pitchFamily="-84" charset="0"/>
              </a:defRPr>
            </a:lvl1pPr>
          </a:lstStyle>
          <a:p>
            <a:pPr>
              <a:defRPr/>
            </a:pPr>
            <a:fld id="{623F72AE-F2FC-1C4B-AEBE-5105C7AC914D}" type="slidenum">
              <a:rPr lang="en-US"/>
              <a:pPr>
                <a:defRPr/>
              </a:pPr>
              <a:t>‹#›</a:t>
            </a:fld>
            <a:endParaRPr lang="en-US"/>
          </a:p>
        </p:txBody>
      </p:sp>
    </p:spTree>
    <p:extLst>
      <p:ext uri="{BB962C8B-B14F-4D97-AF65-F5344CB8AC3E}">
        <p14:creationId xmlns:p14="http://schemas.microsoft.com/office/powerpoint/2010/main" val="2554884079"/>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sldNum="0" hdr="0" dt="0"/>
  <p:txStyles>
    <p:titleStyle>
      <a:lvl1pPr algn="l" rtl="0" eaLnBrk="0" fontAlgn="base" hangingPunct="0">
        <a:spcBef>
          <a:spcPct val="0"/>
        </a:spcBef>
        <a:spcAft>
          <a:spcPct val="0"/>
        </a:spcAft>
        <a:defRPr sz="4400" b="1">
          <a:solidFill>
            <a:schemeClr val="tx1"/>
          </a:solidFill>
          <a:latin typeface="+mj-lt"/>
          <a:ea typeface="ＭＳ Ｐゴシック" pitchFamily="-84" charset="-128"/>
          <a:cs typeface="ＭＳ Ｐゴシック" pitchFamily="-84" charset="-128"/>
        </a:defRPr>
      </a:lvl1pPr>
      <a:lvl2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2pPr>
      <a:lvl3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3pPr>
      <a:lvl4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4pPr>
      <a:lvl5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5pPr>
      <a:lvl6pPr marL="457200" algn="l" rtl="0" fontAlgn="base">
        <a:spcBef>
          <a:spcPct val="0"/>
        </a:spcBef>
        <a:spcAft>
          <a:spcPct val="0"/>
        </a:spcAft>
        <a:defRPr sz="4400" b="1">
          <a:solidFill>
            <a:schemeClr val="tx1"/>
          </a:solidFill>
          <a:latin typeface="Microsoft Sans Serif" charset="0"/>
        </a:defRPr>
      </a:lvl6pPr>
      <a:lvl7pPr marL="914400" algn="l" rtl="0" fontAlgn="base">
        <a:spcBef>
          <a:spcPct val="0"/>
        </a:spcBef>
        <a:spcAft>
          <a:spcPct val="0"/>
        </a:spcAft>
        <a:defRPr sz="4400" b="1">
          <a:solidFill>
            <a:schemeClr val="tx1"/>
          </a:solidFill>
          <a:latin typeface="Microsoft Sans Serif" charset="0"/>
        </a:defRPr>
      </a:lvl7pPr>
      <a:lvl8pPr marL="1371600" algn="l" rtl="0" fontAlgn="base">
        <a:spcBef>
          <a:spcPct val="0"/>
        </a:spcBef>
        <a:spcAft>
          <a:spcPct val="0"/>
        </a:spcAft>
        <a:defRPr sz="4400" b="1">
          <a:solidFill>
            <a:schemeClr val="tx1"/>
          </a:solidFill>
          <a:latin typeface="Microsoft Sans Serif" charset="0"/>
        </a:defRPr>
      </a:lvl8pPr>
      <a:lvl9pPr marL="1828800" algn="l" rtl="0" fontAlgn="base">
        <a:spcBef>
          <a:spcPct val="0"/>
        </a:spcBef>
        <a:spcAft>
          <a:spcPct val="0"/>
        </a:spcAft>
        <a:defRPr sz="4400" b="1">
          <a:solidFill>
            <a:schemeClr val="tx1"/>
          </a:solidFill>
          <a:latin typeface="Microsoft Sans Serif"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106" charset="2"/>
        <a:buChar char="n"/>
        <a:defRPr sz="3200">
          <a:solidFill>
            <a:schemeClr val="tx1"/>
          </a:solidFill>
          <a:latin typeface="+mn-lt"/>
          <a:ea typeface="ＭＳ Ｐゴシック" pitchFamily="-84" charset="-128"/>
          <a:cs typeface="ＭＳ Ｐゴシック" pitchFamily="-84" charset="-128"/>
        </a:defRPr>
      </a:lvl1pPr>
      <a:lvl2pPr marL="742950" indent="-285750" algn="l" rtl="0" eaLnBrk="0" fontAlgn="base" hangingPunct="0">
        <a:spcBef>
          <a:spcPct val="20000"/>
        </a:spcBef>
        <a:spcAft>
          <a:spcPct val="0"/>
        </a:spcAft>
        <a:buClr>
          <a:schemeClr val="hlink"/>
        </a:buClr>
        <a:buSzPct val="55000"/>
        <a:buFont typeface="Wingdings" pitchFamily="-106" charset="2"/>
        <a:buChar char="n"/>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pitchFamily="-106" charset="2"/>
        <a:buChar char="n"/>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pitchFamily="-106" charset="2"/>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pitchFamily="-106" charset="2"/>
        <a:buChar char="n"/>
        <a:defRPr sz="2000">
          <a:solidFill>
            <a:schemeClr val="tx1"/>
          </a:solidFill>
          <a:latin typeface="+mn-lt"/>
          <a:ea typeface="ＭＳ Ｐゴシック" charset="-128"/>
        </a:defRPr>
      </a:lvl5pPr>
      <a:lvl6pPr marL="25146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6pPr>
      <a:lvl7pPr marL="29718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7pPr>
      <a:lvl8pPr marL="34290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8pPr>
      <a:lvl9pPr marL="38862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xml"/><Relationship Id="rId3" Type="http://schemas.openxmlformats.org/officeDocument/2006/relationships/image" Target="../media/image1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0473" y="1295401"/>
            <a:ext cx="10451054" cy="1737360"/>
          </a:xfrm>
        </p:spPr>
        <p:txBody>
          <a:bodyPr/>
          <a:lstStyle/>
          <a:p>
            <a:r>
              <a:rPr lang="en-US" dirty="0"/>
              <a:t>Intent, Specifications, Realizations, and the Judgments That Connect Them</a:t>
            </a:r>
          </a:p>
        </p:txBody>
      </p:sp>
      <p:sp>
        <p:nvSpPr>
          <p:cNvPr id="4" name="Footer Placeholder 3"/>
          <p:cNvSpPr>
            <a:spLocks noGrp="1"/>
          </p:cNvSpPr>
          <p:nvPr>
            <p:ph type="ftr" sz="quarter" idx="11"/>
          </p:nvPr>
        </p:nvSpPr>
        <p:spPr/>
        <p:txBody>
          <a:bodyPr/>
          <a:lstStyle/>
          <a:p>
            <a:r>
              <a:rPr dirty="0"/>
              <a:t>ASE Principles Module · Lecture 01</a:t>
            </a:r>
          </a:p>
        </p:txBody>
      </p:sp>
      <p:cxnSp>
        <p:nvCxnSpPr>
          <p:cNvPr id="5" name="Connector 4"/>
          <p:cNvCxnSpPr/>
          <p:nvPr/>
        </p:nvCxnSpPr>
        <p:spPr>
          <a:xfrm>
            <a:off x="1920240" y="3429000"/>
            <a:ext cx="8321040"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920240" y="4114800"/>
            <a:ext cx="8321040"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430767" y="3570351"/>
            <a:ext cx="9079454" cy="393954"/>
          </a:xfrm>
          <a:prstGeom prst="rect">
            <a:avLst/>
          </a:prstGeom>
          <a:noFill/>
        </p:spPr>
        <p:txBody>
          <a:bodyPr wrap="square" lIns="45720" tIns="27432" rIns="45720" bIns="27432" anchor="ctr">
            <a:spAutoFit/>
          </a:bodyPr>
          <a:lstStyle/>
          <a:p>
            <a:pPr algn="ctr"/>
            <a:r>
              <a:rPr sz="2200" dirty="0">
                <a:latin typeface="Tahoma"/>
              </a:rPr>
              <a:t>Agentic Software Engineering — </a:t>
            </a:r>
            <a:r>
              <a:rPr lang="en-US" sz="2200" dirty="0">
                <a:latin typeface="Tahoma"/>
              </a:rPr>
              <a:t>ASE Principles</a:t>
            </a:r>
            <a:r>
              <a:rPr sz="2200" dirty="0">
                <a:latin typeface="Tahoma"/>
              </a:rPr>
              <a:t> Module, Lecture 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53AD-E3B4-5F11-87CE-19A60B0F41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7B829E-4A53-CCF2-765C-E47BDC8D324C}"/>
              </a:ext>
            </a:extLst>
          </p:cNvPr>
          <p:cNvSpPr>
            <a:spLocks noGrp="1"/>
          </p:cNvSpPr>
          <p:nvPr>
            <p:ph type="title"/>
          </p:nvPr>
        </p:nvSpPr>
        <p:spPr/>
        <p:txBody>
          <a:bodyPr/>
          <a:lstStyle/>
          <a:p>
            <a:r>
              <a:rPr lang="en-US" sz="3200" dirty="0"/>
              <a:t>Motivation</a:t>
            </a:r>
          </a:p>
        </p:txBody>
      </p:sp>
      <p:sp>
        <p:nvSpPr>
          <p:cNvPr id="3" name="Footer Placeholder 2">
            <a:extLst>
              <a:ext uri="{FF2B5EF4-FFF2-40B4-BE49-F238E27FC236}">
                <a16:creationId xmlns:a16="http://schemas.microsoft.com/office/drawing/2014/main" id="{50A7E0D4-0F30-B1F4-C113-8C53F20244D6}"/>
              </a:ext>
            </a:extLst>
          </p:cNvPr>
          <p:cNvSpPr>
            <a:spLocks noGrp="1"/>
          </p:cNvSpPr>
          <p:nvPr>
            <p:ph type="ftr" sz="quarter" idx="10"/>
          </p:nvPr>
        </p:nvSpPr>
        <p:spPr/>
        <p:txBody>
          <a:bodyPr/>
          <a:lstStyle/>
          <a:p>
            <a:pPr>
              <a:defRPr/>
            </a:pPr>
            <a:r>
              <a:rPr lang="en-US"/>
              <a:t>ASE Principles Module · Lecture 01</a:t>
            </a:r>
          </a:p>
        </p:txBody>
      </p:sp>
      <p:sp>
        <p:nvSpPr>
          <p:cNvPr id="7" name="TextBox 6">
            <a:extLst>
              <a:ext uri="{FF2B5EF4-FFF2-40B4-BE49-F238E27FC236}">
                <a16:creationId xmlns:a16="http://schemas.microsoft.com/office/drawing/2014/main" id="{31757673-6078-2EA6-EDF7-DAF3D2045FCD}"/>
              </a:ext>
            </a:extLst>
          </p:cNvPr>
          <p:cNvSpPr txBox="1"/>
          <p:nvPr/>
        </p:nvSpPr>
        <p:spPr>
          <a:xfrm>
            <a:off x="6590998" y="4343986"/>
            <a:ext cx="5194602" cy="1477328"/>
          </a:xfrm>
          <a:prstGeom prst="rect">
            <a:avLst/>
          </a:prstGeom>
          <a:noFill/>
          <a:ln w="28575">
            <a:solidFill>
              <a:schemeClr val="tx1"/>
            </a:solidFill>
          </a:ln>
        </p:spPr>
        <p:txBody>
          <a:bodyPr wrap="square" rtlCol="0">
            <a:spAutoFit/>
          </a:bodyPr>
          <a:lstStyle/>
          <a:p>
            <a:r>
              <a:rPr sz="1800" b="1" i="0"/>
              <a:t>The question this lecture begins to answer:</a:t>
            </a:r>
          </a:p>
          <a:p>
            <a:pPr>
              <a:spcBef>
                <a:spcPts val="600"/>
              </a:spcBef>
              <a:spcAft>
                <a:spcPts val="0"/>
              </a:spcAft>
            </a:pPr>
            <a:r>
              <a:rPr sz="1800" b="0" i="0"/>
              <a:t>What basic principles can guide us in engineering the development and assurance context?</a:t>
            </a:r>
          </a:p>
        </p:txBody>
      </p:sp>
      <p:pic>
        <p:nvPicPr>
          <p:cNvPr id="8" name="Picture 7">
            <a:extLst>
              <a:ext uri="{FF2B5EF4-FFF2-40B4-BE49-F238E27FC236}">
                <a16:creationId xmlns:a16="http://schemas.microsoft.com/office/drawing/2014/main" id="{6CFCD1F8-7E68-33A2-3BE0-9561F3013A77}"/>
              </a:ext>
            </a:extLst>
          </p:cNvPr>
          <p:cNvPicPr>
            <a:picLocks noChangeAspect="1"/>
          </p:cNvPicPr>
          <p:nvPr/>
        </p:nvPicPr>
        <p:blipFill>
          <a:blip r:embed="rId3"/>
          <a:stretch>
            <a:fillRect/>
          </a:stretch>
        </p:blipFill>
        <p:spPr>
          <a:xfrm>
            <a:off x="895179" y="1385158"/>
            <a:ext cx="5294376" cy="2240280"/>
          </a:xfrm>
          <a:prstGeom prst="rect">
            <a:avLst/>
          </a:prstGeom>
        </p:spPr>
      </p:pic>
      <p:sp>
        <p:nvSpPr>
          <p:cNvPr id="9" name="TextBox 8">
            <a:extLst>
              <a:ext uri="{FF2B5EF4-FFF2-40B4-BE49-F238E27FC236}">
                <a16:creationId xmlns:a16="http://schemas.microsoft.com/office/drawing/2014/main" id="{63CBF88E-5E79-8062-26F4-A4DBC30CD1A4}"/>
              </a:ext>
            </a:extLst>
          </p:cNvPr>
          <p:cNvSpPr txBox="1"/>
          <p:nvPr/>
        </p:nvSpPr>
        <p:spPr>
          <a:xfrm>
            <a:off x="838663" y="4023360"/>
            <a:ext cx="5212080" cy="2103120"/>
          </a:xfrm>
          <a:prstGeom prst="rect">
            <a:avLst/>
          </a:prstGeom>
          <a:noFill/>
        </p:spPr>
        <p:txBody>
          <a:bodyPr wrap="square" rtlCol="0">
            <a:spAutoFit/>
          </a:bodyPr>
          <a:lstStyle/>
          <a:p>
            <a:r>
              <a:rPr sz="1800" b="0" i="0"/>
              <a:t>Human effort will shift</a:t>
            </a:r>
          </a:p>
          <a:p>
            <a:pPr>
              <a:spcAft>
                <a:spcPts val="0"/>
              </a:spcAft>
            </a:pPr>
            <a:r>
              <a:rPr sz="1800" b="0" i="0"/>
              <a:t>…from </a:t>
            </a:r>
            <a:r>
              <a:rPr sz="1800" b="1" i="0"/>
              <a:t>engineering the code</a:t>
            </a:r>
          </a:p>
          <a:p>
            <a:pPr>
              <a:spcAft>
                <a:spcPts val="0"/>
              </a:spcAft>
            </a:pPr>
            <a:r>
              <a:rPr sz="1800" b="0" i="0"/>
              <a:t>…to </a:t>
            </a:r>
            <a:r>
              <a:rPr sz="1800" b="1" i="0"/>
              <a:t>engineering and managing the development and assurance context</a:t>
            </a:r>
          </a:p>
          <a:p>
            <a:pPr>
              <a:spcAft>
                <a:spcPts val="0"/>
              </a:spcAft>
            </a:pPr>
            <a:r>
              <a:rPr sz="1800" b="0" i="0"/>
              <a:t>…to </a:t>
            </a:r>
            <a:r>
              <a:rPr sz="1800" b="1" i="0"/>
              <a:t>engineering layered, composable abstractions</a:t>
            </a:r>
          </a:p>
          <a:p>
            <a:pPr>
              <a:spcAft>
                <a:spcPts val="0"/>
              </a:spcAft>
            </a:pPr>
            <a:r>
              <a:rPr sz="1800" b="0" i="0"/>
              <a:t>…that </a:t>
            </a:r>
            <a:r>
              <a:rPr sz="1800" b="1" i="0"/>
              <a:t>provide direction to agents but also explainability to humans</a:t>
            </a:r>
          </a:p>
        </p:txBody>
      </p:sp>
      <p:sp>
        <p:nvSpPr>
          <p:cNvPr id="2" name="Text Box 151">
            <a:extLst>
              <a:ext uri="{FF2B5EF4-FFF2-40B4-BE49-F238E27FC236}">
                <a16:creationId xmlns:a16="http://schemas.microsoft.com/office/drawing/2014/main" id="{154A665A-AC53-48EC-5689-6B51D8CB8068}"/>
              </a:ext>
            </a:extLst>
          </p:cNvPr>
          <p:cNvSpPr txBox="1">
            <a:spLocks noChangeArrowheads="1"/>
          </p:cNvSpPr>
          <p:nvPr/>
        </p:nvSpPr>
        <p:spPr bwMode="auto">
          <a:xfrm>
            <a:off x="621175" y="3685032"/>
            <a:ext cx="4512931" cy="338554"/>
          </a:xfrm>
          <a:prstGeom prst="rect">
            <a:avLst/>
          </a:prstGeom>
          <a:gradFill rotWithShape="0">
            <a:gsLst>
              <a:gs pos="0">
                <a:schemeClr val="accent2"/>
              </a:gs>
              <a:gs pos="100000">
                <a:srgbClr val="FFFFFF"/>
              </a:gs>
            </a:gsLst>
            <a:lin ang="0" scaled="1"/>
          </a:gradFill>
          <a:ln w="38100">
            <a:noFill/>
            <a:miter lim="800000"/>
            <a:headEnd/>
            <a:tailEnd/>
          </a:ln>
        </p:spPr>
        <p:txBody>
          <a:bodyPr wrap="square" anchor="ctr">
            <a:prstTxWarp prst="textNoShape">
              <a:avLst/>
            </a:prstTxWarp>
            <a:spAutoFit/>
          </a:bodyPr>
          <a:lstStyle/>
          <a:p>
            <a:r>
              <a:rPr lang="en-US" sz="1800" dirty="0"/>
              <a:t>As we move into the future..</a:t>
            </a:r>
          </a:p>
        </p:txBody>
      </p:sp>
    </p:spTree>
    <p:extLst>
      <p:ext uri="{BB962C8B-B14F-4D97-AF65-F5344CB8AC3E}">
        <p14:creationId xmlns:p14="http://schemas.microsoft.com/office/powerpoint/2010/main" val="19597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build="p"/>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Purpose of this lecture</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a:t>
            </a:r>
          </a:p>
        </p:txBody>
      </p:sp>
      <p:sp>
        <p:nvSpPr>
          <p:cNvPr id="5" name="Rectangle 4"/>
          <p:cNvSpPr/>
          <p:nvPr/>
        </p:nvSpPr>
        <p:spPr>
          <a:xfrm>
            <a:off x="777240" y="118872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A development process is managed when the truth of five judgments can be stated at any commit, with evidence, by someone who did not write the code.</a:t>
            </a:r>
          </a:p>
        </p:txBody>
      </p:sp>
      <p:sp>
        <p:nvSpPr>
          <p:cNvPr id="6" name="TextBox 5"/>
          <p:cNvSpPr txBox="1"/>
          <p:nvPr/>
        </p:nvSpPr>
        <p:spPr>
          <a:xfrm>
            <a:off x="777240" y="2286000"/>
            <a:ext cx="11018520" cy="2377440"/>
          </a:xfrm>
          <a:prstGeom prst="rect">
            <a:avLst/>
          </a:prstGeom>
          <a:noFill/>
        </p:spPr>
        <p:txBody>
          <a:bodyPr wrap="square" lIns="45720" rIns="45720" tIns="27432" bIns="27432">
            <a:spAutoFit/>
          </a:bodyPr>
          <a:lstStyle/>
          <a:p>
            <a:pPr>
              <a:spcAft>
                <a:spcPts val="800"/>
              </a:spcAft>
            </a:pPr>
            <a:r>
              <a:rPr sz="2000" b="1" i="0">
                <a:solidFill>
                  <a:srgbClr val="990099"/>
                </a:solidFill>
              </a:rPr>
              <a:t>Three entities</a:t>
            </a:r>
          </a:p>
          <a:p>
            <a:pPr marL="256032" indent="-256032">
              <a:spcAft>
                <a:spcPts val="800"/>
              </a:spcAft>
              <a:buChar char="•"/>
            </a:pPr>
            <a:r>
              <a:rPr sz="1800" b="1" i="0"/>
              <a:t>Intent</a:t>
            </a:r>
            <a:r>
              <a:rPr sz="1800" b="0" i="0"/>
              <a:t> — what the stakeholders want. It lives in their minds; there is no file.</a:t>
            </a:r>
          </a:p>
          <a:p>
            <a:pPr marL="256032" indent="-256032">
              <a:spcAft>
                <a:spcPts val="800"/>
              </a:spcAft>
              <a:buChar char="•"/>
            </a:pPr>
            <a:r>
              <a:rPr sz="1800" b="1" i="0"/>
              <a:t>Specifications</a:t>
            </a:r>
            <a:r>
              <a:rPr sz="1800" b="0" i="0"/>
              <a:t> — what the system must do, as identified clauses.</a:t>
            </a:r>
          </a:p>
          <a:p>
            <a:pPr marL="256032" indent="-256032">
              <a:spcAft>
                <a:spcPts val="800"/>
              </a:spcAft>
              <a:buChar char="•"/>
            </a:pPr>
            <a:r>
              <a:rPr sz="1800" b="1" i="0"/>
              <a:t>Realization</a:t>
            </a:r>
            <a:r>
              <a:rPr sz="1800" b="0" i="0"/>
              <a:t> — the code and the tests built to satisfy the specifications.</a:t>
            </a:r>
          </a:p>
        </p:txBody>
      </p:sp>
      <p:sp>
        <p:nvSpPr>
          <p:cNvPr id="7" name="TextBox 6"/>
          <p:cNvSpPr txBox="1"/>
          <p:nvPr/>
        </p:nvSpPr>
        <p:spPr>
          <a:xfrm>
            <a:off x="777240" y="4846320"/>
            <a:ext cx="11018520" cy="1371600"/>
          </a:xfrm>
          <a:prstGeom prst="rect">
            <a:avLst/>
          </a:prstGeom>
          <a:noFill/>
        </p:spPr>
        <p:txBody>
          <a:bodyPr wrap="square" lIns="45720" rIns="45720" tIns="27432" bIns="27432">
            <a:spAutoFit/>
          </a:bodyPr>
          <a:lstStyle/>
          <a:p>
            <a:pPr>
              <a:spcAft>
                <a:spcPts val="0"/>
              </a:spcAft>
            </a:pPr>
            <a:r>
              <a:rPr sz="1800" b="1" i="0"/>
              <a:t>The records that make the state visible: </a:t>
            </a:r>
            <a:r>
              <a:rPr sz="1800" b="0" i="0"/>
              <a:t>the ledger (which judgments hold, on what evidence), the development log (what each task did), and the reports.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Five judgments, each a claim tracked commit by commit</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a:t>
            </a:r>
          </a:p>
        </p:txBody>
      </p:sp>
      <p:sp>
        <p:nvSpPr>
          <p:cNvPr id="5" name="TextBox 4"/>
          <p:cNvSpPr txBox="1"/>
          <p:nvPr/>
        </p:nvSpPr>
        <p:spPr>
          <a:xfrm>
            <a:off x="777240" y="1325880"/>
            <a:ext cx="11018520" cy="3931920"/>
          </a:xfrm>
          <a:prstGeom prst="rect">
            <a:avLst/>
          </a:prstGeom>
          <a:noFill/>
        </p:spPr>
        <p:txBody>
          <a:bodyPr wrap="square" lIns="45720" rIns="45720" tIns="27432" bIns="27432">
            <a:spAutoFit/>
          </a:bodyPr>
          <a:lstStyle/>
          <a:p>
            <a:pPr marL="256032" indent="-256032">
              <a:spcAft>
                <a:spcPts val="800"/>
              </a:spcAft>
              <a:buChar char="•"/>
            </a:pPr>
            <a:r>
              <a:rPr sz="1800" b="1" i="0"/>
              <a:t>SQ</a:t>
            </a:r>
            <a:r>
              <a:rPr sz="1800" b="0" i="0"/>
              <a:t>  are the specifications well-formed, unambiguous, consistent, and complete for their level?</a:t>
            </a:r>
          </a:p>
          <a:p>
            <a:pPr marL="256032" indent="-256032">
              <a:spcAft>
                <a:spcPts val="800"/>
              </a:spcAft>
              <a:buChar char="•"/>
            </a:pPr>
            <a:r>
              <a:rPr sz="1800" b="1" i="0"/>
              <a:t>RQ</a:t>
            </a:r>
            <a:r>
              <a:rPr sz="1800" b="0" i="0"/>
              <a:t>  does the realization lint, collect, and follow the test discipline?</a:t>
            </a:r>
          </a:p>
          <a:p>
            <a:pPr marL="256032" indent="-256032">
              <a:spcAft>
                <a:spcPts val="800"/>
              </a:spcAft>
              <a:buChar char="•"/>
            </a:pPr>
            <a:r>
              <a:rPr sz="1800" b="1" i="0"/>
              <a:t>CONF</a:t>
            </a:r>
            <a:r>
              <a:rPr sz="1800" b="0" i="0"/>
              <a:t>  does the realization satisfy every clause of every specification?</a:t>
            </a:r>
          </a:p>
          <a:p>
            <a:pPr marL="256032" indent="-256032">
              <a:spcAft>
                <a:spcPts val="800"/>
              </a:spcAft>
              <a:buChar char="•"/>
            </a:pPr>
            <a:r>
              <a:rPr sz="1800" b="1" i="0"/>
              <a:t>VAL</a:t>
            </a:r>
            <a:r>
              <a:rPr sz="1800" b="0" i="0"/>
              <a:t>  do the specifications describe what the stakeholders intend?</a:t>
            </a:r>
          </a:p>
          <a:p>
            <a:pPr marL="256032" indent="-256032">
              <a:spcAft>
                <a:spcPts val="800"/>
              </a:spcAft>
              <a:buChar char="•"/>
            </a:pPr>
            <a:r>
              <a:rPr sz="1800" b="1" i="0"/>
              <a:t>TR</a:t>
            </a:r>
            <a:r>
              <a:rPr sz="1800" b="0" i="0"/>
              <a:t>  does every clause carry an identifier, and does every link resolve?</a:t>
            </a:r>
          </a:p>
        </p:txBody>
      </p:sp>
      <p:sp>
        <p:nvSpPr>
          <p:cNvPr id="6" name="Rectangle 5"/>
          <p:cNvSpPr/>
          <p:nvPr/>
        </p:nvSpPr>
        <p:spPr>
          <a:xfrm>
            <a:off x="777240" y="525780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The same five questions apply to a web service, a controller, a data pipeline, or a document set. What varies is the forms of specification and the verification methods.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Where human effort goes when agents write the code</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5</a:t>
            </a:r>
          </a:p>
        </p:txBody>
      </p:sp>
      <p:sp>
        <p:nvSpPr>
          <p:cNvPr id="5" name="Rectangle 4"/>
          <p:cNvSpPr/>
          <p:nvPr/>
        </p:nvSpPr>
        <p:spPr>
          <a:xfrm>
            <a:off x="777240" y="1371600"/>
            <a:ext cx="3108960" cy="105156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1" i="0">
                <a:solidFill>
                  <a:srgbClr val="000000"/>
                </a:solidFill>
              </a:rPr>
              <a:t>from engineering the code</a:t>
            </a:r>
          </a:p>
        </p:txBody>
      </p:sp>
      <p:sp>
        <p:nvSpPr>
          <p:cNvPr id="6" name="TextBox 5"/>
          <p:cNvSpPr txBox="1"/>
          <p:nvPr/>
        </p:nvSpPr>
        <p:spPr>
          <a:xfrm>
            <a:off x="777240" y="2606040"/>
            <a:ext cx="3108960" cy="2377440"/>
          </a:xfrm>
          <a:prstGeom prst="rect">
            <a:avLst/>
          </a:prstGeom>
          <a:noFill/>
        </p:spPr>
        <p:txBody>
          <a:bodyPr wrap="square" lIns="45720" rIns="45720">
            <a:spAutoFit/>
          </a:bodyPr>
          <a:lstStyle/>
          <a:p>
            <a:pPr>
              <a:spcAft>
                <a:spcPts val="400"/>
              </a:spcAft>
            </a:pPr>
            <a:r>
              <a:rPr sz="1800" b="0" i="0"/>
              <a:t>An agent writes the code quickly and in volume. The person cannot read all of it.</a:t>
            </a:r>
          </a:p>
        </p:txBody>
      </p:sp>
      <p:cxnSp>
        <p:nvCxnSpPr>
          <p:cNvPr id="7" name="Connector 6"/>
          <p:cNvCxnSpPr/>
          <p:nvPr/>
        </p:nvCxnSpPr>
        <p:spPr>
          <a:xfrm>
            <a:off x="3931920" y="1892807"/>
            <a:ext cx="54864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26280" y="1371600"/>
            <a:ext cx="3108960" cy="105156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1" i="0">
                <a:solidFill>
                  <a:srgbClr val="000000"/>
                </a:solidFill>
              </a:rPr>
              <a:t>to engineering and managing the development and assurance context</a:t>
            </a:r>
          </a:p>
        </p:txBody>
      </p:sp>
      <p:sp>
        <p:nvSpPr>
          <p:cNvPr id="9" name="TextBox 8"/>
          <p:cNvSpPr txBox="1"/>
          <p:nvPr/>
        </p:nvSpPr>
        <p:spPr>
          <a:xfrm>
            <a:off x="4526280" y="2606040"/>
            <a:ext cx="3108960" cy="2377440"/>
          </a:xfrm>
          <a:prstGeom prst="rect">
            <a:avLst/>
          </a:prstGeom>
          <a:noFill/>
        </p:spPr>
        <p:txBody>
          <a:bodyPr wrap="square" lIns="45720" rIns="45720">
            <a:spAutoFit/>
          </a:bodyPr>
          <a:lstStyle/>
          <a:p>
            <a:pPr>
              <a:spcAft>
                <a:spcPts val="400"/>
              </a:spcAft>
            </a:pPr>
            <a:r>
              <a:rPr sz="1800" b="0" i="0"/>
              <a:t>What the agent reads, and what the person reads back: specifications, rules, verification methods, evidence, records of state.</a:t>
            </a:r>
          </a:p>
        </p:txBody>
      </p:sp>
      <p:cxnSp>
        <p:nvCxnSpPr>
          <p:cNvPr id="10" name="Connector 9"/>
          <p:cNvCxnSpPr/>
          <p:nvPr/>
        </p:nvCxnSpPr>
        <p:spPr>
          <a:xfrm>
            <a:off x="7680960" y="1892807"/>
            <a:ext cx="54864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275320" y="1371600"/>
            <a:ext cx="3108960" cy="1051560"/>
          </a:xfrm>
          <a:prstGeom prst="rect">
            <a:avLst/>
          </a:prstGeom>
          <a:solidFill>
            <a:srgbClr val="6E1EC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1" i="0">
                <a:solidFill>
                  <a:srgbClr val="FFFFFF"/>
                </a:solidFill>
              </a:rPr>
              <a:t>to engineering layered, composable abstractions</a:t>
            </a:r>
          </a:p>
        </p:txBody>
      </p:sp>
      <p:sp>
        <p:nvSpPr>
          <p:cNvPr id="12" name="TextBox 11"/>
          <p:cNvSpPr txBox="1"/>
          <p:nvPr/>
        </p:nvSpPr>
        <p:spPr>
          <a:xfrm>
            <a:off x="8275320" y="2606040"/>
            <a:ext cx="3108960" cy="2377440"/>
          </a:xfrm>
          <a:prstGeom prst="rect">
            <a:avLst/>
          </a:prstGeom>
          <a:noFill/>
        </p:spPr>
        <p:txBody>
          <a:bodyPr wrap="square" lIns="45720" rIns="45720">
            <a:spAutoFit/>
          </a:bodyPr>
          <a:lstStyle/>
          <a:p>
            <a:pPr>
              <a:spcAft>
                <a:spcPts val="400"/>
              </a:spcAft>
            </a:pPr>
            <a:r>
              <a:rPr sz="1800" b="0" i="0"/>
              <a:t>Each layer summarizes the one below; rules say how each layer is checked against the next.</a:t>
            </a:r>
          </a:p>
        </p:txBody>
      </p:sp>
      <p:sp>
        <p:nvSpPr>
          <p:cNvPr id="13" name="Rectangle 12"/>
          <p:cNvSpPr/>
          <p:nvPr/>
        </p:nvSpPr>
        <p:spPr>
          <a:xfrm>
            <a:off x="777240" y="5394960"/>
            <a:ext cx="11018520" cy="7315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The effort goes where an agent cannot replace it: saying what is wanted, deciding how it is checked, reading the evidence.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Layered abstractions: direction for agents, explanation for people</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6</a:t>
            </a:r>
          </a:p>
        </p:txBody>
      </p:sp>
      <p:sp>
        <p:nvSpPr>
          <p:cNvPr id="5" name="Rectangle 4"/>
          <p:cNvSpPr/>
          <p:nvPr/>
        </p:nvSpPr>
        <p:spPr>
          <a:xfrm>
            <a:off x="3291840" y="1417320"/>
            <a:ext cx="4206240" cy="82296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800" b="1" i="0">
                <a:solidFill>
                  <a:srgbClr val="000000"/>
                </a:solidFill>
              </a:rPr>
              <a:t>Concept of operations</a:t>
            </a:r>
          </a:p>
          <a:p>
            <a:pPr algn="ctr">
              <a:spcAft>
                <a:spcPts val="200"/>
              </a:spcAft>
            </a:pPr>
            <a:r>
              <a:rPr sz="1400" b="0" i="0">
                <a:solidFill>
                  <a:srgbClr val="595959"/>
                </a:solidFill>
              </a:rPr>
              <a:t>purpose, scope, user categories, stories</a:t>
            </a:r>
          </a:p>
        </p:txBody>
      </p:sp>
      <p:sp>
        <p:nvSpPr>
          <p:cNvPr id="6" name="Rectangle 5"/>
          <p:cNvSpPr/>
          <p:nvPr/>
        </p:nvSpPr>
        <p:spPr>
          <a:xfrm>
            <a:off x="3291840" y="2377440"/>
            <a:ext cx="4206240" cy="82296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800" b="1" i="0">
                <a:solidFill>
                  <a:srgbClr val="000000"/>
                </a:solidFill>
              </a:rPr>
              <a:t>Requirements</a:t>
            </a:r>
          </a:p>
          <a:p>
            <a:pPr algn="ctr">
              <a:spcAft>
                <a:spcPts val="200"/>
              </a:spcAft>
            </a:pPr>
            <a:r>
              <a:rPr sz="1400" b="0" i="0">
                <a:solidFill>
                  <a:srgbClr val="595959"/>
                </a:solidFill>
              </a:rPr>
              <a:t>identified clauses, each with a method</a:t>
            </a:r>
          </a:p>
        </p:txBody>
      </p:sp>
      <p:sp>
        <p:nvSpPr>
          <p:cNvPr id="7" name="Rectangle 6"/>
          <p:cNvSpPr/>
          <p:nvPr/>
        </p:nvSpPr>
        <p:spPr>
          <a:xfrm>
            <a:off x="3291840" y="3337560"/>
            <a:ext cx="4206240" cy="82296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800" b="1" i="0">
                <a:solidFill>
                  <a:srgbClr val="000000"/>
                </a:solidFill>
              </a:rPr>
              <a:t>Contracts and tests</a:t>
            </a:r>
          </a:p>
          <a:p>
            <a:pPr algn="ctr">
              <a:spcAft>
                <a:spcPts val="200"/>
              </a:spcAft>
            </a:pPr>
            <a:r>
              <a:rPr sz="1400" b="0" i="0">
                <a:solidFill>
                  <a:srgbClr val="595959"/>
                </a:solidFill>
              </a:rPr>
              <a:t>executable claims about clauses</a:t>
            </a:r>
          </a:p>
        </p:txBody>
      </p:sp>
      <p:sp>
        <p:nvSpPr>
          <p:cNvPr id="8" name="Rectangle 7"/>
          <p:cNvSpPr/>
          <p:nvPr/>
        </p:nvSpPr>
        <p:spPr>
          <a:xfrm>
            <a:off x="3291840" y="4297680"/>
            <a:ext cx="4206240" cy="822960"/>
          </a:xfrm>
          <a:prstGeom prst="rect">
            <a:avLst/>
          </a:prstGeom>
          <a:solidFill>
            <a:srgbClr val="F2F2F2"/>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800" b="1" i="0">
                <a:solidFill>
                  <a:srgbClr val="000000"/>
                </a:solidFill>
              </a:rPr>
              <a:t>Code</a:t>
            </a:r>
          </a:p>
          <a:p>
            <a:pPr algn="ctr">
              <a:spcAft>
                <a:spcPts val="200"/>
              </a:spcAft>
            </a:pPr>
            <a:r>
              <a:rPr sz="1400" b="0" i="0">
                <a:solidFill>
                  <a:srgbClr val="595959"/>
                </a:solidFill>
              </a:rPr>
              <a:t>the realization</a:t>
            </a:r>
          </a:p>
        </p:txBody>
      </p:sp>
      <p:sp>
        <p:nvSpPr>
          <p:cNvPr id="9" name="Rectangle 8"/>
          <p:cNvSpPr/>
          <p:nvPr/>
        </p:nvSpPr>
        <p:spPr>
          <a:xfrm>
            <a:off x="7772400" y="1417320"/>
            <a:ext cx="1920240" cy="3703320"/>
          </a:xfrm>
          <a:prstGeom prst="rect">
            <a:avLst/>
          </a:prstGeom>
          <a:solidFill>
            <a:srgbClr val="FFF3B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400"/>
              </a:spcAft>
            </a:pPr>
            <a:r>
              <a:rPr sz="1800" b="1" i="0">
                <a:solidFill>
                  <a:srgbClr val="000000"/>
                </a:solidFill>
              </a:rPr>
              <a:t>Rules</a:t>
            </a:r>
          </a:p>
          <a:p>
            <a:pPr algn="ctr">
              <a:spcAft>
                <a:spcPts val="200"/>
              </a:spcAft>
            </a:pPr>
            <a:r>
              <a:rPr sz="1600" b="0" i="0">
                <a:solidFill>
                  <a:srgbClr val="000000"/>
                </a:solidFill>
              </a:rPr>
              <a:t>how each layer is checked against the next; who decides; what evidence</a:t>
            </a:r>
          </a:p>
        </p:txBody>
      </p:sp>
      <p:cxnSp>
        <p:nvCxnSpPr>
          <p:cNvPr id="10" name="Connector 9"/>
          <p:cNvCxnSpPr/>
          <p:nvPr/>
        </p:nvCxnSpPr>
        <p:spPr>
          <a:xfrm>
            <a:off x="2926080" y="1508760"/>
            <a:ext cx="0" cy="352044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2331720"/>
            <a:ext cx="2057400" cy="1828800"/>
          </a:xfrm>
          <a:prstGeom prst="rect">
            <a:avLst/>
          </a:prstGeom>
          <a:noFill/>
        </p:spPr>
        <p:txBody>
          <a:bodyPr wrap="square" lIns="45720" rIns="45720">
            <a:spAutoFit/>
          </a:bodyPr>
          <a:lstStyle/>
          <a:p>
            <a:pPr algn="r">
              <a:spcAft>
                <a:spcPts val="400"/>
              </a:spcAft>
            </a:pPr>
            <a:r>
              <a:rPr sz="1800" b="1" i="0">
                <a:solidFill>
                  <a:srgbClr val="6E1EC6"/>
                </a:solidFill>
              </a:rPr>
              <a:t>direction to agents</a:t>
            </a:r>
          </a:p>
          <a:p>
            <a:pPr algn="r">
              <a:spcAft>
                <a:spcPts val="400"/>
              </a:spcAft>
            </a:pPr>
            <a:r>
              <a:rPr sz="1400" b="0" i="0">
                <a:solidFill>
                  <a:srgbClr val="595959"/>
                </a:solidFill>
              </a:rPr>
              <a:t>the layer above is the standard its work is judged against</a:t>
            </a:r>
          </a:p>
        </p:txBody>
      </p:sp>
      <p:cxnSp>
        <p:nvCxnSpPr>
          <p:cNvPr id="12" name="Connector 11"/>
          <p:cNvCxnSpPr/>
          <p:nvPr/>
        </p:nvCxnSpPr>
        <p:spPr>
          <a:xfrm flipV="1">
            <a:off x="10012680" y="1508760"/>
            <a:ext cx="0" cy="352044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149840" y="2240280"/>
            <a:ext cx="1691640" cy="2286000"/>
          </a:xfrm>
          <a:prstGeom prst="rect">
            <a:avLst/>
          </a:prstGeom>
          <a:noFill/>
        </p:spPr>
        <p:txBody>
          <a:bodyPr wrap="square" lIns="45720" rIns="45720">
            <a:spAutoFit/>
          </a:bodyPr>
          <a:lstStyle/>
          <a:p>
            <a:pPr>
              <a:spcAft>
                <a:spcPts val="400"/>
              </a:spcAft>
            </a:pPr>
            <a:r>
              <a:rPr sz="1800" b="1" i="0">
                <a:solidFill>
                  <a:srgbClr val="6E1EC6"/>
                </a:solidFill>
              </a:rPr>
              <a:t>explanation to humans</a:t>
            </a:r>
          </a:p>
          <a:p>
            <a:pPr>
              <a:spcAft>
                <a:spcPts val="400"/>
              </a:spcAft>
            </a:pPr>
            <a:r>
              <a:rPr sz="1400" b="0" i="0">
                <a:solidFill>
                  <a:srgbClr val="595959"/>
                </a:solidFill>
              </a:rPr>
              <a:t>read at the layer you need</a:t>
            </a:r>
          </a:p>
        </p:txBody>
      </p:sp>
      <p:sp>
        <p:nvSpPr>
          <p:cNvPr id="14" name="Rectangle 13"/>
          <p:cNvSpPr/>
          <p:nvPr/>
        </p:nvSpPr>
        <p:spPr>
          <a:xfrm>
            <a:off x="777240" y="5440680"/>
            <a:ext cx="11018520" cy="6400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The summary can be trusted because conformance between layers is checked rather than assumed.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Learning objectives (1 of 2)</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7</a:t>
            </a:r>
          </a:p>
        </p:txBody>
      </p:sp>
      <p:sp>
        <p:nvSpPr>
          <p:cNvPr id="5" name="TextBox 4"/>
          <p:cNvSpPr txBox="1"/>
          <p:nvPr/>
        </p:nvSpPr>
        <p:spPr>
          <a:xfrm>
            <a:off x="777240" y="1325880"/>
            <a:ext cx="11018520" cy="4937760"/>
          </a:xfrm>
          <a:prstGeom prst="rect">
            <a:avLst/>
          </a:prstGeom>
          <a:noFill/>
        </p:spPr>
        <p:txBody>
          <a:bodyPr wrap="square" lIns="45720" rIns="45720" tIns="27432" bIns="27432">
            <a:spAutoFit/>
          </a:bodyPr>
          <a:lstStyle/>
          <a:p>
            <a:pPr marL="256032" indent="-256032">
              <a:spcAft>
                <a:spcPts val="1000"/>
              </a:spcAft>
              <a:buChar char="1."/>
            </a:pPr>
            <a:r>
              <a:rPr sz="1800" b="0" i="0"/>
              <a:t>Name the three entities and the five judgments, define each as the glossary does, and point at the A0 artifact that holds or evidences each.</a:t>
            </a:r>
          </a:p>
          <a:p>
            <a:pPr marL="256032" indent="-256032">
              <a:spcAft>
                <a:spcPts val="1000"/>
              </a:spcAft>
              <a:buChar char="2."/>
            </a:pPr>
            <a:r>
              <a:rPr sz="1800" b="0" i="0"/>
              <a:t>Explain why intent has no artifact, what the purpose statement is instead, and which judgments an agent can establish alone.</a:t>
            </a:r>
          </a:p>
          <a:p>
            <a:pPr marL="256032" indent="-256032">
              <a:spcAft>
                <a:spcPts val="1000"/>
              </a:spcAft>
              <a:buChar char="3."/>
            </a:pPr>
            <a:r>
              <a:rPr sz="1800" b="0" i="0"/>
              <a:t>Describe the clause as the unit of a specification (identifier, method, derivation); distinguish mechanical from judgment clauses.</a:t>
            </a:r>
          </a:p>
          <a:p>
            <a:pPr marL="256032" indent="-256032">
              <a:spcAft>
                <a:spcPts val="1000"/>
              </a:spcAft>
              <a:buChar char="4."/>
            </a:pPr>
            <a:r>
              <a:rPr sz="1800" b="0" i="0"/>
              <a:t>State the five specification-quality properties and check a small specification against them by reading.</a:t>
            </a:r>
          </a:p>
          <a:p>
            <a:pPr marL="256032" indent="-256032">
              <a:spcAft>
                <a:spcPts val="1000"/>
              </a:spcAft>
              <a:buChar char="5."/>
            </a:pPr>
            <a:r>
              <a:rPr sz="1800" b="0" i="0"/>
              <a:t>Explain why a passing test suite is not by itself a verification, and name the four conditions of conformance in A0.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Learning objectives (2 of 2)</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8</a:t>
            </a:r>
          </a:p>
        </p:txBody>
      </p:sp>
      <p:sp>
        <p:nvSpPr>
          <p:cNvPr id="5" name="TextBox 4"/>
          <p:cNvSpPr txBox="1"/>
          <p:nvPr/>
        </p:nvSpPr>
        <p:spPr>
          <a:xfrm>
            <a:off x="777240" y="1325880"/>
            <a:ext cx="11018520" cy="4937760"/>
          </a:xfrm>
          <a:prstGeom prst="rect">
            <a:avLst/>
          </a:prstGeom>
          <a:noFill/>
        </p:spPr>
        <p:txBody>
          <a:bodyPr wrap="square" lIns="45720" rIns="45720" tIns="27432" bIns="27432">
            <a:spAutoFit/>
          </a:bodyPr>
          <a:lstStyle/>
          <a:p>
            <a:pPr marL="256032" indent="-256032">
              <a:spcAft>
                <a:spcPts val="1000"/>
              </a:spcAft>
              <a:buChar char="6."/>
            </a:pPr>
            <a:r>
              <a:rPr sz="1800" b="0" i="0"/>
              <a:t>Say what validation asks, who can answer it, and construct a case in which every other judgment holds and validation fails.</a:t>
            </a:r>
          </a:p>
          <a:p>
            <a:pPr marL="256032" indent="-256032">
              <a:spcAft>
                <a:spcPts val="1000"/>
              </a:spcAft>
              <a:buChar char="7."/>
            </a:pPr>
            <a:r>
              <a:rPr sz="1800" b="0" i="0"/>
              <a:t>Read a ledger row as a claim with evidence, provenance, and a stale-when condition.</a:t>
            </a:r>
          </a:p>
          <a:p>
            <a:pPr marL="256032" indent="-256032">
              <a:spcAft>
                <a:spcPts val="1000"/>
              </a:spcAft>
              <a:buChar char="8."/>
            </a:pPr>
            <a:r>
              <a:rPr sz="1800" b="0" i="0"/>
              <a:t>Explain what a gate is and why an algorithmic gate before each commit matters when an agent is the one committing.</a:t>
            </a:r>
          </a:p>
          <a:p>
            <a:pPr marL="256032" indent="-256032">
              <a:spcAft>
                <a:spcPts val="1000"/>
              </a:spcAft>
              <a:buChar char="9."/>
            </a:pPr>
            <a:r>
              <a:rPr sz="1800" b="0" i="0"/>
              <a:t>Read a development rule in the template form and identify its decider, its evidence, and what happens on failure.</a:t>
            </a:r>
          </a:p>
          <a:p>
            <a:pPr marL="256032" indent="-256032">
              <a:spcAft>
                <a:spcPts val="1000"/>
              </a:spcAft>
              <a:buChar char="10."/>
            </a:pPr>
            <a:r>
              <a:rPr sz="1800" b="0" i="0"/>
              <a:t>Identify which elements of A0 can be set up directly in your own project and which need adaptation.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400"/>
              </a:spcAft>
            </a:pPr>
            <a:r>
              <a:rPr sz="3400" b="1" i="0"/>
              <a:t>Part 1 · Entities and judgments</a:t>
            </a:r>
          </a:p>
        </p:txBody>
      </p:sp>
      <p:sp>
        <p:nvSpPr>
          <p:cNvPr id="3" name="Text Placeholder 2"/>
          <p:cNvSpPr>
            <a:spLocks noGrp="1"/>
          </p:cNvSpPr>
          <p:nvPr>
            <p:ph type="body" idx="1"/>
          </p:nvPr>
        </p:nvSpPr>
        <p:spPr/>
        <p:txBody>
          <a:bodyPr/>
          <a:lstStyle/>
          <a:p>
            <a:pPr>
              <a:spcAft>
                <a:spcPts val="400"/>
              </a:spcAft>
            </a:pPr>
            <a:r>
              <a:rPr sz="2000" b="0" i="0">
                <a:solidFill>
                  <a:srgbClr val="595959"/>
                </a:solidFill>
              </a:rPr>
              <a:t>The picture, then one judgment at a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Three entities, five judgments, one ledger</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10</a:t>
            </a:r>
          </a:p>
        </p:txBody>
      </p:sp>
      <p:pic>
        <p:nvPicPr>
          <p:cNvPr id="5" name="Picture 4" descr="stakeholders-icon.png"/>
          <p:cNvPicPr>
            <a:picLocks noChangeAspect="1"/>
          </p:cNvPicPr>
          <p:nvPr/>
        </p:nvPicPr>
        <p:blipFill>
          <a:blip r:embed="rId3"/>
          <a:stretch>
            <a:fillRect/>
          </a:stretch>
        </p:blipFill>
        <p:spPr>
          <a:xfrm>
            <a:off x="2761488" y="1143000"/>
            <a:ext cx="868680" cy="868680"/>
          </a:xfrm>
          <a:prstGeom prst="rect">
            <a:avLst/>
          </a:prstGeom>
        </p:spPr>
      </p:pic>
      <p:sp>
        <p:nvSpPr>
          <p:cNvPr id="6" name="TextBox 5"/>
          <p:cNvSpPr txBox="1"/>
          <p:nvPr/>
        </p:nvSpPr>
        <p:spPr>
          <a:xfrm>
            <a:off x="1920240" y="1938528"/>
            <a:ext cx="2560320" cy="603504"/>
          </a:xfrm>
          <a:prstGeom prst="rect">
            <a:avLst/>
          </a:prstGeom>
          <a:noFill/>
        </p:spPr>
        <p:txBody>
          <a:bodyPr wrap="square" lIns="45720" rIns="45720">
            <a:spAutoFit/>
          </a:bodyPr>
          <a:lstStyle/>
          <a:p>
            <a:pPr algn="ctr">
              <a:spcAft>
                <a:spcPts val="0"/>
              </a:spcAft>
            </a:pPr>
            <a:r>
              <a:rPr sz="2000" b="1" i="0"/>
              <a:t>Intent</a:t>
            </a:r>
          </a:p>
          <a:p>
            <a:pPr algn="ctr">
              <a:spcAft>
                <a:spcPts val="400"/>
              </a:spcAft>
            </a:pPr>
            <a:r>
              <a:rPr sz="1400" b="0" i="0">
                <a:solidFill>
                  <a:srgbClr val="595959"/>
                </a:solidFill>
              </a:rPr>
              <a:t>the stakeholders; no artifact</a:t>
            </a:r>
          </a:p>
        </p:txBody>
      </p:sp>
      <p:sp>
        <p:nvSpPr>
          <p:cNvPr id="7" name="Rectangle 6"/>
          <p:cNvSpPr/>
          <p:nvPr/>
        </p:nvSpPr>
        <p:spPr>
          <a:xfrm>
            <a:off x="2240279" y="31089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Specifications</a:t>
            </a:r>
          </a:p>
        </p:txBody>
      </p:sp>
      <p:sp>
        <p:nvSpPr>
          <p:cNvPr id="8" name="Rectangle 7"/>
          <p:cNvSpPr/>
          <p:nvPr/>
        </p:nvSpPr>
        <p:spPr>
          <a:xfrm>
            <a:off x="2240279" y="49377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Realization</a:t>
            </a:r>
          </a:p>
        </p:txBody>
      </p:sp>
      <p:cxnSp>
        <p:nvCxnSpPr>
          <p:cNvPr id="9" name="Connector 8"/>
          <p:cNvCxnSpPr/>
          <p:nvPr/>
        </p:nvCxnSpPr>
        <p:spPr>
          <a:xfrm>
            <a:off x="3200399" y="2578608"/>
            <a:ext cx="0" cy="53035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520440" y="3886200"/>
            <a:ext cx="0" cy="1051560"/>
          </a:xfrm>
          <a:prstGeom prst="line">
            <a:avLst/>
          </a:prstGeom>
          <a:ln w="19050">
            <a:solidFill>
              <a:srgbClr val="0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560320" y="3886200"/>
            <a:ext cx="0" cy="1051560"/>
          </a:xfrm>
          <a:prstGeom prst="line">
            <a:avLst/>
          </a:prstGeom>
          <a:ln w="15875">
            <a:solidFill>
              <a:srgbClr val="595959"/>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U-Turn Arrow 11"/>
          <p:cNvSpPr/>
          <p:nvPr/>
        </p:nvSpPr>
        <p:spPr>
          <a:xfrm rot="16200000">
            <a:off x="4279392" y="31729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Turn Arrow 12"/>
          <p:cNvSpPr/>
          <p:nvPr/>
        </p:nvSpPr>
        <p:spPr>
          <a:xfrm rot="16200000">
            <a:off x="4279392" y="50017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560320"/>
            <a:ext cx="1828800" cy="548640"/>
          </a:xfrm>
          <a:prstGeom prst="rect">
            <a:avLst/>
          </a:prstGeom>
          <a:noFill/>
        </p:spPr>
        <p:txBody>
          <a:bodyPr wrap="square" lIns="45720" rIns="45720">
            <a:spAutoFit/>
          </a:bodyPr>
          <a:lstStyle/>
          <a:p>
            <a:pPr algn="l">
              <a:spcAft>
                <a:spcPts val="0"/>
              </a:spcAft>
            </a:pPr>
            <a:r>
              <a:rPr sz="1800" b="1" i="0">
                <a:solidFill>
                  <a:srgbClr val="000000"/>
                </a:solidFill>
              </a:rPr>
              <a:t>VAL</a:t>
            </a:r>
          </a:p>
          <a:p>
            <a:pPr algn="l">
              <a:spcAft>
                <a:spcPts val="400"/>
              </a:spcAft>
            </a:pPr>
            <a:r>
              <a:rPr sz="1400" b="0" i="0">
                <a:solidFill>
                  <a:srgbClr val="595959"/>
                </a:solidFill>
              </a:rPr>
              <a:t>validation</a:t>
            </a:r>
          </a:p>
        </p:txBody>
      </p:sp>
      <p:sp>
        <p:nvSpPr>
          <p:cNvPr id="15" name="TextBox 14"/>
          <p:cNvSpPr txBox="1"/>
          <p:nvPr/>
        </p:nvSpPr>
        <p:spPr>
          <a:xfrm>
            <a:off x="3657599" y="4114800"/>
            <a:ext cx="2606040" cy="566928"/>
          </a:xfrm>
          <a:prstGeom prst="rect">
            <a:avLst/>
          </a:prstGeom>
          <a:noFill/>
        </p:spPr>
        <p:txBody>
          <a:bodyPr wrap="square" lIns="45720" rIns="45720">
            <a:spAutoFit/>
          </a:bodyPr>
          <a:lstStyle/>
          <a:p>
            <a:pPr algn="l">
              <a:spcAft>
                <a:spcPts val="0"/>
              </a:spcAft>
            </a:pPr>
            <a:r>
              <a:rPr sz="1800" b="1" i="0">
                <a:solidFill>
                  <a:srgbClr val="000000"/>
                </a:solidFill>
              </a:rPr>
              <a:t>CONF</a:t>
            </a:r>
          </a:p>
          <a:p>
            <a:pPr algn="l">
              <a:spcAft>
                <a:spcPts val="400"/>
              </a:spcAft>
            </a:pPr>
            <a:r>
              <a:rPr sz="1400" b="0" i="0">
                <a:solidFill>
                  <a:srgbClr val="595959"/>
                </a:solidFill>
              </a:rPr>
              <a:t>conformance, by verification</a:t>
            </a:r>
          </a:p>
        </p:txBody>
      </p:sp>
      <p:sp>
        <p:nvSpPr>
          <p:cNvPr id="16" name="TextBox 15"/>
          <p:cNvSpPr txBox="1"/>
          <p:nvPr/>
        </p:nvSpPr>
        <p:spPr>
          <a:xfrm>
            <a:off x="777239" y="4114800"/>
            <a:ext cx="1691640" cy="548640"/>
          </a:xfrm>
          <a:prstGeom prst="rect">
            <a:avLst/>
          </a:prstGeom>
          <a:noFill/>
        </p:spPr>
        <p:txBody>
          <a:bodyPr wrap="square" lIns="45720" rIns="45720">
            <a:spAutoFit/>
          </a:bodyPr>
          <a:lstStyle/>
          <a:p>
            <a:pPr algn="r">
              <a:spcAft>
                <a:spcPts val="0"/>
              </a:spcAft>
            </a:pPr>
            <a:r>
              <a:rPr sz="1800" b="1" i="0">
                <a:solidFill>
                  <a:srgbClr val="000000"/>
                </a:solidFill>
              </a:rPr>
              <a:t>TR</a:t>
            </a:r>
          </a:p>
          <a:p>
            <a:pPr algn="r">
              <a:spcAft>
                <a:spcPts val="400"/>
              </a:spcAft>
            </a:pPr>
            <a:r>
              <a:rPr sz="1400" b="0" i="0">
                <a:solidFill>
                  <a:srgbClr val="595959"/>
                </a:solidFill>
              </a:rPr>
              <a:t>traceability</a:t>
            </a:r>
          </a:p>
        </p:txBody>
      </p:sp>
      <p:sp>
        <p:nvSpPr>
          <p:cNvPr id="17" name="TextBox 16"/>
          <p:cNvSpPr txBox="1"/>
          <p:nvPr/>
        </p:nvSpPr>
        <p:spPr>
          <a:xfrm>
            <a:off x="4937760" y="3200400"/>
            <a:ext cx="1920240" cy="548640"/>
          </a:xfrm>
          <a:prstGeom prst="rect">
            <a:avLst/>
          </a:prstGeom>
          <a:noFill/>
        </p:spPr>
        <p:txBody>
          <a:bodyPr wrap="square" lIns="45720" rIns="45720">
            <a:spAutoFit/>
          </a:bodyPr>
          <a:lstStyle/>
          <a:p>
            <a:pPr algn="l">
              <a:spcAft>
                <a:spcPts val="0"/>
              </a:spcAft>
            </a:pPr>
            <a:r>
              <a:rPr sz="1800" b="1" i="0">
                <a:solidFill>
                  <a:srgbClr val="000000"/>
                </a:solidFill>
              </a:rPr>
              <a:t>SQ</a:t>
            </a:r>
          </a:p>
          <a:p>
            <a:pPr algn="l">
              <a:spcAft>
                <a:spcPts val="400"/>
              </a:spcAft>
            </a:pPr>
            <a:r>
              <a:rPr sz="1400" b="0" i="0">
                <a:solidFill>
                  <a:srgbClr val="595959"/>
                </a:solidFill>
              </a:rPr>
              <a:t>specification quality</a:t>
            </a:r>
          </a:p>
        </p:txBody>
      </p:sp>
      <p:sp>
        <p:nvSpPr>
          <p:cNvPr id="18" name="TextBox 17"/>
          <p:cNvSpPr txBox="1"/>
          <p:nvPr/>
        </p:nvSpPr>
        <p:spPr>
          <a:xfrm>
            <a:off x="4937760" y="5029200"/>
            <a:ext cx="1920240" cy="548640"/>
          </a:xfrm>
          <a:prstGeom prst="rect">
            <a:avLst/>
          </a:prstGeom>
          <a:noFill/>
        </p:spPr>
        <p:txBody>
          <a:bodyPr wrap="square" lIns="45720" rIns="45720">
            <a:spAutoFit/>
          </a:bodyPr>
          <a:lstStyle/>
          <a:p>
            <a:pPr algn="l">
              <a:spcAft>
                <a:spcPts val="0"/>
              </a:spcAft>
            </a:pPr>
            <a:r>
              <a:rPr sz="1800" b="1" i="0">
                <a:solidFill>
                  <a:srgbClr val="000000"/>
                </a:solidFill>
              </a:rPr>
              <a:t>RQ</a:t>
            </a:r>
          </a:p>
          <a:p>
            <a:pPr algn="l">
              <a:spcAft>
                <a:spcPts val="400"/>
              </a:spcAft>
            </a:pPr>
            <a:r>
              <a:rPr sz="1400" b="0" i="0">
                <a:solidFill>
                  <a:srgbClr val="595959"/>
                </a:solidFill>
              </a:rPr>
              <a:t>realization quality</a:t>
            </a:r>
          </a:p>
        </p:txBody>
      </p:sp>
      <p:graphicFrame>
        <p:nvGraphicFramePr>
          <p:cNvPr id="19" name="Table 18"/>
          <p:cNvGraphicFramePr>
            <a:graphicFrameLocks noGrp="1"/>
          </p:cNvGraphicFramePr>
          <p:nvPr/>
        </p:nvGraphicFramePr>
        <p:xfrm>
          <a:off x="7132320" y="1325880"/>
          <a:ext cx="4663439" cy="2304288"/>
        </p:xfrm>
        <a:graphic>
          <a:graphicData uri="http://schemas.openxmlformats.org/drawingml/2006/table">
            <a:tbl>
              <a:tblPr firstRow="1" bandRow="1">
                <a:tableStyleId>{5C22544A-7EE6-4342-B048-85BDC9FD1C3A}</a:tableStyleId>
              </a:tblPr>
              <a:tblGrid>
                <a:gridCol w="1371600"/>
                <a:gridCol w="1463040"/>
                <a:gridCol w="1828799"/>
              </a:tblGrid>
              <a:tr h="384048">
                <a:tc>
                  <a:txBody>
                    <a:bodyPr wrap="square"/>
                    <a:lstStyle/>
                    <a:p>
                      <a:pPr>
                        <a:spcAft>
                          <a:spcPts val="0"/>
                        </a:spcAft>
                      </a:pPr>
                      <a:r>
                        <a:rPr sz="1600" b="1" i="0">
                          <a:solidFill>
                            <a:srgbClr val="FFFFFF"/>
                          </a:solidFill>
                        </a:rPr>
                        <a:t>Judgment</a:t>
                      </a:r>
                    </a:p>
                  </a:txBody>
                  <a:tcPr marL="73152" marR="73152" marT="36576" marB="36576">
                    <a:solidFill>
                      <a:srgbClr val="6E1EC6"/>
                    </a:solidFill>
                  </a:tcPr>
                </a:tc>
                <a:tc>
                  <a:txBody>
                    <a:bodyPr wrap="square"/>
                    <a:lstStyle/>
                    <a:p>
                      <a:pPr>
                        <a:spcAft>
                          <a:spcPts val="0"/>
                        </a:spcAft>
                      </a:pPr>
                      <a:r>
                        <a:rPr sz="1600" b="1" i="0">
                          <a:solidFill>
                            <a:srgbClr val="FFFFFF"/>
                          </a:solidFill>
                        </a:rPr>
                        <a:t>Status</a:t>
                      </a:r>
                    </a:p>
                  </a:txBody>
                  <a:tcPr marL="73152" marR="73152" marT="36576" marB="36576">
                    <a:solidFill>
                      <a:srgbClr val="6E1EC6"/>
                    </a:solidFill>
                  </a:tcPr>
                </a:tc>
                <a:tc>
                  <a:txBody>
                    <a:bodyPr wrap="square"/>
                    <a:lstStyle/>
                    <a:p>
                      <a:pPr>
                        <a:spcAft>
                          <a:spcPts val="0"/>
                        </a:spcAft>
                      </a:pPr>
                      <a:r>
                        <a:rPr sz="1600" b="1" i="0">
                          <a:solidFill>
                            <a:srgbClr val="FFFFFF"/>
                          </a:solidFill>
                        </a:rPr>
                        <a:t>Evidence</a:t>
                      </a:r>
                    </a:p>
                  </a:txBody>
                  <a:tcPr marL="73152" marR="73152" marT="36576" marB="36576">
                    <a:solidFill>
                      <a:srgbClr val="6E1EC6"/>
                    </a:solidFill>
                  </a:tcPr>
                </a:tc>
              </a:tr>
              <a:tr h="384048">
                <a:tc>
                  <a:txBody>
                    <a:bodyPr wrap="square"/>
                    <a:lstStyle/>
                    <a:p>
                      <a:pPr>
                        <a:spcAft>
                          <a:spcPts val="0"/>
                        </a:spcAft>
                      </a:pPr>
                      <a:r>
                        <a:rPr sz="1600" b="0" i="0">
                          <a:solidFill>
                            <a:srgbClr val="000000"/>
                          </a:solidFill>
                        </a:rPr>
                        <a:t>SQ</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read together</a:t>
                      </a:r>
                    </a:p>
                  </a:txBody>
                  <a:tcPr marL="73152" marR="73152" marT="36576" marB="36576">
                    <a:solidFill>
                      <a:srgbClr val="FFFFFF"/>
                    </a:solidFill>
                  </a:tcPr>
                </a:tc>
              </a:tr>
              <a:tr h="384048">
                <a:tc>
                  <a:txBody>
                    <a:bodyPr wrap="square"/>
                    <a:lstStyle/>
                    <a:p>
                      <a:pPr>
                        <a:spcAft>
                          <a:spcPts val="0"/>
                        </a:spcAft>
                      </a:pPr>
                      <a:r>
                        <a:rPr sz="1600" b="0" i="0">
                          <a:solidFill>
                            <a:srgbClr val="000000"/>
                          </a:solidFill>
                        </a:rPr>
                        <a:t>RQ</a:t>
                      </a:r>
                    </a:p>
                  </a:txBody>
                  <a:tcPr marL="73152" marR="73152" marT="36576" marB="36576">
                    <a:solidFill>
                      <a:srgbClr val="F3F0F9"/>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ruff; collects</a:t>
                      </a:r>
                    </a:p>
                  </a:txBody>
                  <a:tcPr marL="73152" marR="73152" marT="36576" marB="36576">
                    <a:solidFill>
                      <a:srgbClr val="F3F0F9"/>
                    </a:solidFill>
                  </a:tcPr>
                </a:tc>
              </a:tr>
              <a:tr h="384048">
                <a:tc>
                  <a:txBody>
                    <a:bodyPr wrap="square"/>
                    <a:lstStyle/>
                    <a:p>
                      <a:pPr>
                        <a:spcAft>
                          <a:spcPts val="0"/>
                        </a:spcAft>
                      </a:pPr>
                      <a:r>
                        <a:rPr sz="1600" b="0" i="0">
                          <a:solidFill>
                            <a:srgbClr val="000000"/>
                          </a:solidFill>
                        </a:rPr>
                        <a:t>CONF</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tests; two coverages; walked</a:t>
                      </a:r>
                    </a:p>
                  </a:txBody>
                  <a:tcPr marL="73152" marR="73152" marT="36576" marB="36576">
                    <a:solidFill>
                      <a:srgbClr val="FFFFFF"/>
                    </a:solidFill>
                  </a:tcPr>
                </a:tc>
              </a:tr>
              <a:tr h="384048">
                <a:tc>
                  <a:txBody>
                    <a:bodyPr wrap="square"/>
                    <a:lstStyle/>
                    <a:p>
                      <a:pPr>
                        <a:spcAft>
                          <a:spcPts val="0"/>
                        </a:spcAft>
                      </a:pPr>
                      <a:r>
                        <a:rPr sz="1600" b="0" i="0">
                          <a:solidFill>
                            <a:srgbClr val="000000"/>
                          </a:solidFill>
                        </a:rPr>
                        <a:t>VAL</a:t>
                      </a:r>
                    </a:p>
                  </a:txBody>
                  <a:tcPr marL="73152" marR="73152" marT="36576" marB="36576">
                    <a:solidFill>
                      <a:srgbClr val="F3F0F9"/>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sign-off</a:t>
                      </a:r>
                    </a:p>
                  </a:txBody>
                  <a:tcPr marL="73152" marR="73152" marT="36576" marB="36576">
                    <a:solidFill>
                      <a:srgbClr val="F3F0F9"/>
                    </a:solidFill>
                  </a:tcPr>
                </a:tc>
              </a:tr>
              <a:tr h="384048">
                <a:tc>
                  <a:txBody>
                    <a:bodyPr wrap="square"/>
                    <a:lstStyle/>
                    <a:p>
                      <a:pPr>
                        <a:spcAft>
                          <a:spcPts val="0"/>
                        </a:spcAft>
                      </a:pPr>
                      <a:r>
                        <a:rPr sz="1600" b="0" i="0">
                          <a:solidFill>
                            <a:srgbClr val="000000"/>
                          </a:solidFill>
                        </a:rPr>
                        <a:t>TR</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links resolve</a:t>
                      </a:r>
                    </a:p>
                  </a:txBody>
                  <a:tcPr marL="73152" marR="73152" marT="36576" marB="36576">
                    <a:solidFill>
                      <a:srgbClr val="FFFFFF"/>
                    </a:solidFill>
                  </a:tcPr>
                </a:tc>
              </a:tr>
            </a:tbl>
          </a:graphicData>
        </a:graphic>
      </p:graphicFrame>
      <p:sp>
        <p:nvSpPr>
          <p:cNvPr id="20" name="TextBox 19"/>
          <p:cNvSpPr txBox="1"/>
          <p:nvPr/>
        </p:nvSpPr>
        <p:spPr>
          <a:xfrm>
            <a:off x="7132320" y="4114800"/>
            <a:ext cx="4663440" cy="640080"/>
          </a:xfrm>
          <a:prstGeom prst="rect">
            <a:avLst/>
          </a:prstGeom>
          <a:noFill/>
        </p:spPr>
        <p:txBody>
          <a:bodyPr wrap="square" lIns="45720" rIns="45720">
            <a:spAutoFit/>
          </a:bodyPr>
          <a:lstStyle/>
          <a:p>
            <a:pPr>
              <a:spcAft>
                <a:spcPts val="400"/>
              </a:spcAft>
            </a:pPr>
            <a:r>
              <a:rPr sz="1600" b="0" i="0">
                <a:solidFill>
                  <a:srgbClr val="595959"/>
                </a:solidFill>
              </a:rPr>
              <a:t>The ledger: which judgments hold at a named commit, on what evidence.</a:t>
            </a:r>
          </a:p>
        </p:txBody>
      </p:sp>
      <p:sp>
        <p:nvSpPr>
          <p:cNvPr id="21" name="Rectangle 20"/>
          <p:cNvSpPr/>
          <p:nvPr/>
        </p:nvSpPr>
        <p:spPr>
          <a:xfrm>
            <a:off x="7132320" y="4983480"/>
            <a:ext cx="1097280" cy="640080"/>
          </a:xfrm>
          <a:prstGeom prst="rect">
            <a:avLst/>
          </a:prstGeom>
          <a:solidFill>
            <a:srgbClr val="F2F2F2"/>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600" b="0" i="0">
                <a:solidFill>
                  <a:srgbClr val="000000"/>
                </a:solidFill>
              </a:rPr>
              <a:t>work</a:t>
            </a:r>
          </a:p>
        </p:txBody>
      </p:sp>
      <p:cxnSp>
        <p:nvCxnSpPr>
          <p:cNvPr id="22" name="Connector 21"/>
          <p:cNvCxnSpPr/>
          <p:nvPr/>
        </p:nvCxnSpPr>
        <p:spPr>
          <a:xfrm>
            <a:off x="8275320" y="5303520"/>
            <a:ext cx="41148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732520" y="4846320"/>
            <a:ext cx="1737360" cy="914400"/>
          </a:xfrm>
          <a:prstGeom prst="rect">
            <a:avLst/>
          </a:prstGeom>
          <a:solidFill>
            <a:srgbClr val="FFF3B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600" b="1" i="0">
                <a:solidFill>
                  <a:srgbClr val="000000"/>
                </a:solidFill>
              </a:rPr>
              <a:t>gate</a:t>
            </a:r>
          </a:p>
          <a:p>
            <a:pPr algn="ctr">
              <a:spcAft>
                <a:spcPts val="200"/>
              </a:spcAft>
            </a:pPr>
            <a:r>
              <a:rPr sz="1400" b="0" i="0">
                <a:solidFill>
                  <a:srgbClr val="595959"/>
                </a:solidFill>
              </a:rPr>
              <a:t>an exit code</a:t>
            </a:r>
          </a:p>
        </p:txBody>
      </p:sp>
      <p:cxnSp>
        <p:nvCxnSpPr>
          <p:cNvPr id="24" name="Connector 23"/>
          <p:cNvCxnSpPr/>
          <p:nvPr/>
        </p:nvCxnSpPr>
        <p:spPr>
          <a:xfrm>
            <a:off x="10515600" y="5303520"/>
            <a:ext cx="41148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972800" y="4983480"/>
            <a:ext cx="822960" cy="640080"/>
          </a:xfrm>
          <a:prstGeom prst="rect">
            <a:avLst/>
          </a:prstGeom>
          <a:solidFill>
            <a:srgbClr val="F2F2F2"/>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200"/>
              </a:spcAft>
            </a:pPr>
            <a:r>
              <a:rPr sz="1400" b="0" i="0">
                <a:solidFill>
                  <a:srgbClr val="000000"/>
                </a:solidFill>
              </a:rPr>
              <a:t>commit</a:t>
            </a:r>
          </a:p>
        </p:txBody>
      </p:sp>
      <p:sp>
        <p:nvSpPr>
          <p:cNvPr id="26" name="TextBox 25"/>
          <p:cNvSpPr txBox="1"/>
          <p:nvPr/>
        </p:nvSpPr>
        <p:spPr>
          <a:xfrm>
            <a:off x="7132320" y="5852160"/>
            <a:ext cx="4663440" cy="502920"/>
          </a:xfrm>
          <a:prstGeom prst="rect">
            <a:avLst/>
          </a:prstGeom>
          <a:noFill/>
        </p:spPr>
        <p:txBody>
          <a:bodyPr wrap="square" lIns="45720" rIns="45720">
            <a:spAutoFit/>
          </a:bodyPr>
          <a:lstStyle/>
          <a:p>
            <a:pPr>
              <a:spcAft>
                <a:spcPts val="400"/>
              </a:spcAft>
            </a:pPr>
            <a:r>
              <a:rPr sz="1600" b="0" i="0">
                <a:solidFill>
                  <a:srgbClr val="595959"/>
                </a:solidFill>
              </a:rPr>
              <a:t>The gate: the mechanical parts, before every commit.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Intent</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11</a:t>
            </a:r>
          </a:p>
        </p:txBody>
      </p:sp>
      <p:pic>
        <p:nvPicPr>
          <p:cNvPr id="5" name="Picture 4" descr="stakeholders-icon.png"/>
          <p:cNvPicPr>
            <a:picLocks noChangeAspect="1"/>
          </p:cNvPicPr>
          <p:nvPr/>
        </p:nvPicPr>
        <p:blipFill>
          <a:blip r:embed="rId3"/>
          <a:stretch>
            <a:fillRect/>
          </a:stretch>
        </p:blipFill>
        <p:spPr>
          <a:xfrm>
            <a:off x="2761488" y="1143000"/>
            <a:ext cx="868680" cy="868680"/>
          </a:xfrm>
          <a:prstGeom prst="rect">
            <a:avLst/>
          </a:prstGeom>
        </p:spPr>
      </p:pic>
      <p:sp>
        <p:nvSpPr>
          <p:cNvPr id="6" name="TextBox 5"/>
          <p:cNvSpPr txBox="1"/>
          <p:nvPr/>
        </p:nvSpPr>
        <p:spPr>
          <a:xfrm>
            <a:off x="1920240" y="1938528"/>
            <a:ext cx="2560320" cy="603504"/>
          </a:xfrm>
          <a:prstGeom prst="rect">
            <a:avLst/>
          </a:prstGeom>
          <a:solidFill>
            <a:srgbClr val="FFCF01"/>
          </a:solidFill>
          <a:ln w="12700">
            <a:solidFill>
              <a:srgbClr val="000000"/>
            </a:solidFill>
          </a:ln>
        </p:spPr>
        <p:txBody>
          <a:bodyPr wrap="square" lIns="45720" rIns="45720">
            <a:spAutoFit/>
          </a:bodyPr>
          <a:lstStyle/>
          <a:p>
            <a:pPr algn="ctr">
              <a:spcAft>
                <a:spcPts val="0"/>
              </a:spcAft>
            </a:pPr>
            <a:r>
              <a:rPr sz="2000" b="1" i="0"/>
              <a:t>Intent</a:t>
            </a:r>
          </a:p>
          <a:p>
            <a:pPr algn="ctr">
              <a:spcAft>
                <a:spcPts val="400"/>
              </a:spcAft>
            </a:pPr>
            <a:r>
              <a:rPr sz="1400" b="0" i="0">
                <a:solidFill>
                  <a:srgbClr val="595959"/>
                </a:solidFill>
              </a:rPr>
              <a:t>the stakeholders; no artifact</a:t>
            </a:r>
          </a:p>
        </p:txBody>
      </p:sp>
      <p:sp>
        <p:nvSpPr>
          <p:cNvPr id="7" name="Rectangle 6"/>
          <p:cNvSpPr/>
          <p:nvPr/>
        </p:nvSpPr>
        <p:spPr>
          <a:xfrm>
            <a:off x="2240279" y="31089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Specifications</a:t>
            </a:r>
          </a:p>
        </p:txBody>
      </p:sp>
      <p:sp>
        <p:nvSpPr>
          <p:cNvPr id="8" name="Rectangle 7"/>
          <p:cNvSpPr/>
          <p:nvPr/>
        </p:nvSpPr>
        <p:spPr>
          <a:xfrm>
            <a:off x="2240279" y="49377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Realization</a:t>
            </a:r>
          </a:p>
        </p:txBody>
      </p:sp>
      <p:cxnSp>
        <p:nvCxnSpPr>
          <p:cNvPr id="9" name="Connector 8"/>
          <p:cNvCxnSpPr/>
          <p:nvPr/>
        </p:nvCxnSpPr>
        <p:spPr>
          <a:xfrm>
            <a:off x="3200399" y="2578608"/>
            <a:ext cx="0" cy="53035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520440" y="3886200"/>
            <a:ext cx="0" cy="1051560"/>
          </a:xfrm>
          <a:prstGeom prst="line">
            <a:avLst/>
          </a:prstGeom>
          <a:ln w="19050">
            <a:solidFill>
              <a:srgbClr val="0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560320" y="3886200"/>
            <a:ext cx="0" cy="1051560"/>
          </a:xfrm>
          <a:prstGeom prst="line">
            <a:avLst/>
          </a:prstGeom>
          <a:ln w="15875">
            <a:solidFill>
              <a:srgbClr val="595959"/>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U-Turn Arrow 11"/>
          <p:cNvSpPr/>
          <p:nvPr/>
        </p:nvSpPr>
        <p:spPr>
          <a:xfrm rot="16200000">
            <a:off x="4279392" y="31729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Turn Arrow 12"/>
          <p:cNvSpPr/>
          <p:nvPr/>
        </p:nvSpPr>
        <p:spPr>
          <a:xfrm rot="16200000">
            <a:off x="4279392" y="50017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560320"/>
            <a:ext cx="1828800" cy="548640"/>
          </a:xfrm>
          <a:prstGeom prst="rect">
            <a:avLst/>
          </a:prstGeom>
          <a:noFill/>
        </p:spPr>
        <p:txBody>
          <a:bodyPr wrap="square" lIns="45720" rIns="45720">
            <a:spAutoFit/>
          </a:bodyPr>
          <a:lstStyle/>
          <a:p>
            <a:pPr algn="l">
              <a:spcAft>
                <a:spcPts val="0"/>
              </a:spcAft>
            </a:pPr>
            <a:r>
              <a:rPr sz="1800" b="1" i="0">
                <a:solidFill>
                  <a:srgbClr val="000000"/>
                </a:solidFill>
              </a:rPr>
              <a:t>VAL</a:t>
            </a:r>
          </a:p>
          <a:p>
            <a:pPr algn="l">
              <a:spcAft>
                <a:spcPts val="400"/>
              </a:spcAft>
            </a:pPr>
            <a:r>
              <a:rPr sz="1400" b="0" i="0">
                <a:solidFill>
                  <a:srgbClr val="595959"/>
                </a:solidFill>
              </a:rPr>
              <a:t>validation</a:t>
            </a:r>
          </a:p>
        </p:txBody>
      </p:sp>
      <p:sp>
        <p:nvSpPr>
          <p:cNvPr id="15" name="TextBox 14"/>
          <p:cNvSpPr txBox="1"/>
          <p:nvPr/>
        </p:nvSpPr>
        <p:spPr>
          <a:xfrm>
            <a:off x="3657599" y="4114800"/>
            <a:ext cx="2606040" cy="566928"/>
          </a:xfrm>
          <a:prstGeom prst="rect">
            <a:avLst/>
          </a:prstGeom>
          <a:noFill/>
        </p:spPr>
        <p:txBody>
          <a:bodyPr wrap="square" lIns="45720" rIns="45720">
            <a:spAutoFit/>
          </a:bodyPr>
          <a:lstStyle/>
          <a:p>
            <a:pPr algn="l">
              <a:spcAft>
                <a:spcPts val="0"/>
              </a:spcAft>
            </a:pPr>
            <a:r>
              <a:rPr sz="1800" b="1" i="0">
                <a:solidFill>
                  <a:srgbClr val="000000"/>
                </a:solidFill>
              </a:rPr>
              <a:t>CONF</a:t>
            </a:r>
          </a:p>
          <a:p>
            <a:pPr algn="l">
              <a:spcAft>
                <a:spcPts val="400"/>
              </a:spcAft>
            </a:pPr>
            <a:r>
              <a:rPr sz="1400" b="0" i="0">
                <a:solidFill>
                  <a:srgbClr val="595959"/>
                </a:solidFill>
              </a:rPr>
              <a:t>conformance, by verification</a:t>
            </a:r>
          </a:p>
        </p:txBody>
      </p:sp>
      <p:sp>
        <p:nvSpPr>
          <p:cNvPr id="16" name="TextBox 15"/>
          <p:cNvSpPr txBox="1"/>
          <p:nvPr/>
        </p:nvSpPr>
        <p:spPr>
          <a:xfrm>
            <a:off x="777239" y="4114800"/>
            <a:ext cx="1691640" cy="548640"/>
          </a:xfrm>
          <a:prstGeom prst="rect">
            <a:avLst/>
          </a:prstGeom>
          <a:noFill/>
        </p:spPr>
        <p:txBody>
          <a:bodyPr wrap="square" lIns="45720" rIns="45720">
            <a:spAutoFit/>
          </a:bodyPr>
          <a:lstStyle/>
          <a:p>
            <a:pPr algn="r">
              <a:spcAft>
                <a:spcPts val="0"/>
              </a:spcAft>
            </a:pPr>
            <a:r>
              <a:rPr sz="1800" b="1" i="0">
                <a:solidFill>
                  <a:srgbClr val="000000"/>
                </a:solidFill>
              </a:rPr>
              <a:t>TR</a:t>
            </a:r>
          </a:p>
          <a:p>
            <a:pPr algn="r">
              <a:spcAft>
                <a:spcPts val="400"/>
              </a:spcAft>
            </a:pPr>
            <a:r>
              <a:rPr sz="1400" b="0" i="0">
                <a:solidFill>
                  <a:srgbClr val="595959"/>
                </a:solidFill>
              </a:rPr>
              <a:t>traceability</a:t>
            </a:r>
          </a:p>
        </p:txBody>
      </p:sp>
      <p:sp>
        <p:nvSpPr>
          <p:cNvPr id="17" name="TextBox 16"/>
          <p:cNvSpPr txBox="1"/>
          <p:nvPr/>
        </p:nvSpPr>
        <p:spPr>
          <a:xfrm>
            <a:off x="4937760" y="3200400"/>
            <a:ext cx="1920240" cy="548640"/>
          </a:xfrm>
          <a:prstGeom prst="rect">
            <a:avLst/>
          </a:prstGeom>
          <a:noFill/>
        </p:spPr>
        <p:txBody>
          <a:bodyPr wrap="square" lIns="45720" rIns="45720">
            <a:spAutoFit/>
          </a:bodyPr>
          <a:lstStyle/>
          <a:p>
            <a:pPr algn="l">
              <a:spcAft>
                <a:spcPts val="0"/>
              </a:spcAft>
            </a:pPr>
            <a:r>
              <a:rPr sz="1800" b="1" i="0">
                <a:solidFill>
                  <a:srgbClr val="000000"/>
                </a:solidFill>
              </a:rPr>
              <a:t>SQ</a:t>
            </a:r>
          </a:p>
          <a:p>
            <a:pPr algn="l">
              <a:spcAft>
                <a:spcPts val="400"/>
              </a:spcAft>
            </a:pPr>
            <a:r>
              <a:rPr sz="1400" b="0" i="0">
                <a:solidFill>
                  <a:srgbClr val="595959"/>
                </a:solidFill>
              </a:rPr>
              <a:t>specification quality</a:t>
            </a:r>
          </a:p>
        </p:txBody>
      </p:sp>
      <p:sp>
        <p:nvSpPr>
          <p:cNvPr id="18" name="TextBox 17"/>
          <p:cNvSpPr txBox="1"/>
          <p:nvPr/>
        </p:nvSpPr>
        <p:spPr>
          <a:xfrm>
            <a:off x="4937760" y="5029200"/>
            <a:ext cx="1920240" cy="548640"/>
          </a:xfrm>
          <a:prstGeom prst="rect">
            <a:avLst/>
          </a:prstGeom>
          <a:noFill/>
        </p:spPr>
        <p:txBody>
          <a:bodyPr wrap="square" lIns="45720" rIns="45720">
            <a:spAutoFit/>
          </a:bodyPr>
          <a:lstStyle/>
          <a:p>
            <a:pPr algn="l">
              <a:spcAft>
                <a:spcPts val="0"/>
              </a:spcAft>
            </a:pPr>
            <a:r>
              <a:rPr sz="1800" b="1" i="0">
                <a:solidFill>
                  <a:srgbClr val="000000"/>
                </a:solidFill>
              </a:rPr>
              <a:t>RQ</a:t>
            </a:r>
          </a:p>
          <a:p>
            <a:pPr algn="l">
              <a:spcAft>
                <a:spcPts val="400"/>
              </a:spcAft>
            </a:pPr>
            <a:r>
              <a:rPr sz="1400" b="0" i="0">
                <a:solidFill>
                  <a:srgbClr val="595959"/>
                </a:solidFill>
              </a:rPr>
              <a:t>realization quality</a:t>
            </a:r>
          </a:p>
        </p:txBody>
      </p:sp>
      <p:sp>
        <p:nvSpPr>
          <p:cNvPr id="19" name="Rectangle 18"/>
          <p:cNvSpPr/>
          <p:nvPr/>
        </p:nvSpPr>
        <p:spPr>
          <a:xfrm>
            <a:off x="7132320" y="1325880"/>
            <a:ext cx="4663440" cy="214884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What it is</a:t>
            </a:r>
          </a:p>
          <a:p>
            <a:pPr algn="l" marL="256032" indent="-256032">
              <a:spcAft>
                <a:spcPts val="400"/>
              </a:spcAft>
              <a:buChar char="•"/>
            </a:pPr>
            <a:r>
              <a:rPr sz="1800" b="0" i="0">
                <a:solidFill>
                  <a:srgbClr val="000000"/>
                </a:solidFill>
              </a:rPr>
              <a:t>Lives in the stakeholders' minds; never fully written down</a:t>
            </a:r>
          </a:p>
          <a:p>
            <a:pPr algn="l" marL="256032" indent="-256032">
              <a:spcAft>
                <a:spcPts val="400"/>
              </a:spcAft>
              <a:buChar char="•"/>
            </a:pPr>
            <a:r>
              <a:rPr sz="1800" b="0" i="0">
                <a:solidFill>
                  <a:srgbClr val="000000"/>
                </a:solidFill>
              </a:rPr>
              <a:t>Consulted only by asking a person: "is this what you want?"</a:t>
            </a:r>
          </a:p>
        </p:txBody>
      </p:sp>
      <p:sp>
        <p:nvSpPr>
          <p:cNvPr id="20" name="Rectangle 19"/>
          <p:cNvSpPr/>
          <p:nvPr/>
        </p:nvSpPr>
        <p:spPr>
          <a:xfrm>
            <a:off x="7132320" y="3657600"/>
            <a:ext cx="4663440" cy="201168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In the repository</a:t>
            </a:r>
          </a:p>
          <a:p>
            <a:pPr algn="l" marL="256032" indent="-256032">
              <a:spcAft>
                <a:spcPts val="400"/>
              </a:spcAft>
              <a:buChar char="•"/>
            </a:pPr>
            <a:r>
              <a:rPr sz="1800" b="0" i="0">
                <a:solidFill>
                  <a:srgbClr val="000000"/>
                </a:solidFill>
              </a:rPr>
              <a:t>No file called intent</a:t>
            </a:r>
          </a:p>
          <a:p>
            <a:pPr algn="l" marL="256032" indent="-256032">
              <a:spcAft>
                <a:spcPts val="400"/>
              </a:spcAft>
              <a:buChar char="•"/>
            </a:pPr>
            <a:r>
              <a:rPr sz="1800" b="0" i="0">
                <a:solidFill>
                  <a:srgbClr val="000000"/>
                </a:solidFill>
              </a:rPr>
              <a:t>The purpose statement that opens the concept of operations is the nearest written thing: agreed and audited, not a transcript</a:t>
            </a:r>
          </a:p>
        </p:txBody>
      </p:sp>
      <p:sp>
        <p:nvSpPr>
          <p:cNvPr id="21" name="Rectangle 20"/>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An agent reaches intent only through a person, so validation is reserved to a person.</a:t>
            </a:r>
          </a:p>
        </p:txBody>
      </p:sp>
      <p:cxnSp>
        <p:nvCxnSpPr>
          <p:cNvPr id="22" name="Connector 21"/>
          <p:cNvCxnSpPr/>
          <p:nvPr/>
        </p:nvCxnSpPr>
        <p:spPr>
          <a:xfrm flipH="1">
            <a:off x="4480560" y="2103120"/>
            <a:ext cx="2651760" cy="137160"/>
          </a:xfrm>
          <a:prstGeom prst="line">
            <a:avLst/>
          </a:prstGeom>
          <a:ln w="19050">
            <a:solidFill>
              <a:srgbClr val="C0000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Specifications</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12</a:t>
            </a:r>
          </a:p>
        </p:txBody>
      </p:sp>
      <p:pic>
        <p:nvPicPr>
          <p:cNvPr id="5" name="Picture 4" descr="stakeholders-icon.png"/>
          <p:cNvPicPr>
            <a:picLocks noChangeAspect="1"/>
          </p:cNvPicPr>
          <p:nvPr/>
        </p:nvPicPr>
        <p:blipFill>
          <a:blip r:embed="rId3"/>
          <a:stretch>
            <a:fillRect/>
          </a:stretch>
        </p:blipFill>
        <p:spPr>
          <a:xfrm>
            <a:off x="2761488" y="1143000"/>
            <a:ext cx="868680" cy="868680"/>
          </a:xfrm>
          <a:prstGeom prst="rect">
            <a:avLst/>
          </a:prstGeom>
        </p:spPr>
      </p:pic>
      <p:sp>
        <p:nvSpPr>
          <p:cNvPr id="6" name="TextBox 5"/>
          <p:cNvSpPr txBox="1"/>
          <p:nvPr/>
        </p:nvSpPr>
        <p:spPr>
          <a:xfrm>
            <a:off x="1920240" y="1938528"/>
            <a:ext cx="2560320" cy="603504"/>
          </a:xfrm>
          <a:prstGeom prst="rect">
            <a:avLst/>
          </a:prstGeom>
          <a:noFill/>
        </p:spPr>
        <p:txBody>
          <a:bodyPr wrap="square" lIns="45720" rIns="45720">
            <a:spAutoFit/>
          </a:bodyPr>
          <a:lstStyle/>
          <a:p>
            <a:pPr algn="ctr">
              <a:spcAft>
                <a:spcPts val="0"/>
              </a:spcAft>
            </a:pPr>
            <a:r>
              <a:rPr sz="2000" b="1" i="0"/>
              <a:t>Intent</a:t>
            </a:r>
          </a:p>
          <a:p>
            <a:pPr algn="ctr">
              <a:spcAft>
                <a:spcPts val="400"/>
              </a:spcAft>
            </a:pPr>
            <a:r>
              <a:rPr sz="1400" b="0" i="0">
                <a:solidFill>
                  <a:srgbClr val="595959"/>
                </a:solidFill>
              </a:rPr>
              <a:t>the stakeholders; no artifact</a:t>
            </a:r>
          </a:p>
        </p:txBody>
      </p:sp>
      <p:sp>
        <p:nvSpPr>
          <p:cNvPr id="7" name="Rectangle 6"/>
          <p:cNvSpPr/>
          <p:nvPr/>
        </p:nvSpPr>
        <p:spPr>
          <a:xfrm>
            <a:off x="2240279" y="3108960"/>
            <a:ext cx="1920240" cy="777240"/>
          </a:xfrm>
          <a:prstGeom prst="rect">
            <a:avLst/>
          </a:prstGeom>
          <a:solidFill>
            <a:srgbClr val="FFCF01"/>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1" i="0">
                <a:solidFill>
                  <a:srgbClr val="000000"/>
                </a:solidFill>
              </a:rPr>
              <a:t>Specifications</a:t>
            </a:r>
          </a:p>
        </p:txBody>
      </p:sp>
      <p:sp>
        <p:nvSpPr>
          <p:cNvPr id="8" name="Rectangle 7"/>
          <p:cNvSpPr/>
          <p:nvPr/>
        </p:nvSpPr>
        <p:spPr>
          <a:xfrm>
            <a:off x="2240279" y="49377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Realization</a:t>
            </a:r>
          </a:p>
        </p:txBody>
      </p:sp>
      <p:cxnSp>
        <p:nvCxnSpPr>
          <p:cNvPr id="9" name="Connector 8"/>
          <p:cNvCxnSpPr/>
          <p:nvPr/>
        </p:nvCxnSpPr>
        <p:spPr>
          <a:xfrm>
            <a:off x="3200399" y="2578608"/>
            <a:ext cx="0" cy="53035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520440" y="3886200"/>
            <a:ext cx="0" cy="1051560"/>
          </a:xfrm>
          <a:prstGeom prst="line">
            <a:avLst/>
          </a:prstGeom>
          <a:ln w="19050">
            <a:solidFill>
              <a:srgbClr val="0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560320" y="3886200"/>
            <a:ext cx="0" cy="1051560"/>
          </a:xfrm>
          <a:prstGeom prst="line">
            <a:avLst/>
          </a:prstGeom>
          <a:ln w="15875">
            <a:solidFill>
              <a:srgbClr val="595959"/>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U-Turn Arrow 11"/>
          <p:cNvSpPr/>
          <p:nvPr/>
        </p:nvSpPr>
        <p:spPr>
          <a:xfrm rot="16200000">
            <a:off x="4279392" y="31729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Turn Arrow 12"/>
          <p:cNvSpPr/>
          <p:nvPr/>
        </p:nvSpPr>
        <p:spPr>
          <a:xfrm rot="16200000">
            <a:off x="4279392" y="50017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560320"/>
            <a:ext cx="1828800" cy="548640"/>
          </a:xfrm>
          <a:prstGeom prst="rect">
            <a:avLst/>
          </a:prstGeom>
          <a:noFill/>
        </p:spPr>
        <p:txBody>
          <a:bodyPr wrap="square" lIns="45720" rIns="45720">
            <a:spAutoFit/>
          </a:bodyPr>
          <a:lstStyle/>
          <a:p>
            <a:pPr algn="l">
              <a:spcAft>
                <a:spcPts val="0"/>
              </a:spcAft>
            </a:pPr>
            <a:r>
              <a:rPr sz="1800" b="1" i="0">
                <a:solidFill>
                  <a:srgbClr val="000000"/>
                </a:solidFill>
              </a:rPr>
              <a:t>VAL</a:t>
            </a:r>
          </a:p>
          <a:p>
            <a:pPr algn="l">
              <a:spcAft>
                <a:spcPts val="400"/>
              </a:spcAft>
            </a:pPr>
            <a:r>
              <a:rPr sz="1400" b="0" i="0">
                <a:solidFill>
                  <a:srgbClr val="595959"/>
                </a:solidFill>
              </a:rPr>
              <a:t>validation</a:t>
            </a:r>
          </a:p>
        </p:txBody>
      </p:sp>
      <p:sp>
        <p:nvSpPr>
          <p:cNvPr id="15" name="TextBox 14"/>
          <p:cNvSpPr txBox="1"/>
          <p:nvPr/>
        </p:nvSpPr>
        <p:spPr>
          <a:xfrm>
            <a:off x="3657599" y="4114800"/>
            <a:ext cx="2606040" cy="566928"/>
          </a:xfrm>
          <a:prstGeom prst="rect">
            <a:avLst/>
          </a:prstGeom>
          <a:noFill/>
        </p:spPr>
        <p:txBody>
          <a:bodyPr wrap="square" lIns="45720" rIns="45720">
            <a:spAutoFit/>
          </a:bodyPr>
          <a:lstStyle/>
          <a:p>
            <a:pPr algn="l">
              <a:spcAft>
                <a:spcPts val="0"/>
              </a:spcAft>
            </a:pPr>
            <a:r>
              <a:rPr sz="1800" b="1" i="0">
                <a:solidFill>
                  <a:srgbClr val="000000"/>
                </a:solidFill>
              </a:rPr>
              <a:t>CONF</a:t>
            </a:r>
          </a:p>
          <a:p>
            <a:pPr algn="l">
              <a:spcAft>
                <a:spcPts val="400"/>
              </a:spcAft>
            </a:pPr>
            <a:r>
              <a:rPr sz="1400" b="0" i="0">
                <a:solidFill>
                  <a:srgbClr val="595959"/>
                </a:solidFill>
              </a:rPr>
              <a:t>conformance, by verification</a:t>
            </a:r>
          </a:p>
        </p:txBody>
      </p:sp>
      <p:sp>
        <p:nvSpPr>
          <p:cNvPr id="16" name="TextBox 15"/>
          <p:cNvSpPr txBox="1"/>
          <p:nvPr/>
        </p:nvSpPr>
        <p:spPr>
          <a:xfrm>
            <a:off x="777239" y="4114800"/>
            <a:ext cx="1691640" cy="548640"/>
          </a:xfrm>
          <a:prstGeom prst="rect">
            <a:avLst/>
          </a:prstGeom>
          <a:noFill/>
        </p:spPr>
        <p:txBody>
          <a:bodyPr wrap="square" lIns="45720" rIns="45720">
            <a:spAutoFit/>
          </a:bodyPr>
          <a:lstStyle/>
          <a:p>
            <a:pPr algn="r">
              <a:spcAft>
                <a:spcPts val="0"/>
              </a:spcAft>
            </a:pPr>
            <a:r>
              <a:rPr sz="1800" b="1" i="0">
                <a:solidFill>
                  <a:srgbClr val="000000"/>
                </a:solidFill>
              </a:rPr>
              <a:t>TR</a:t>
            </a:r>
          </a:p>
          <a:p>
            <a:pPr algn="r">
              <a:spcAft>
                <a:spcPts val="400"/>
              </a:spcAft>
            </a:pPr>
            <a:r>
              <a:rPr sz="1400" b="0" i="0">
                <a:solidFill>
                  <a:srgbClr val="595959"/>
                </a:solidFill>
              </a:rPr>
              <a:t>traceability</a:t>
            </a:r>
          </a:p>
        </p:txBody>
      </p:sp>
      <p:sp>
        <p:nvSpPr>
          <p:cNvPr id="17" name="TextBox 16"/>
          <p:cNvSpPr txBox="1"/>
          <p:nvPr/>
        </p:nvSpPr>
        <p:spPr>
          <a:xfrm>
            <a:off x="4937760" y="3200400"/>
            <a:ext cx="1920240" cy="548640"/>
          </a:xfrm>
          <a:prstGeom prst="rect">
            <a:avLst/>
          </a:prstGeom>
          <a:noFill/>
        </p:spPr>
        <p:txBody>
          <a:bodyPr wrap="square" lIns="45720" rIns="45720">
            <a:spAutoFit/>
          </a:bodyPr>
          <a:lstStyle/>
          <a:p>
            <a:pPr algn="l">
              <a:spcAft>
                <a:spcPts val="0"/>
              </a:spcAft>
            </a:pPr>
            <a:r>
              <a:rPr sz="1800" b="1" i="0">
                <a:solidFill>
                  <a:srgbClr val="000000"/>
                </a:solidFill>
              </a:rPr>
              <a:t>SQ</a:t>
            </a:r>
          </a:p>
          <a:p>
            <a:pPr algn="l">
              <a:spcAft>
                <a:spcPts val="400"/>
              </a:spcAft>
            </a:pPr>
            <a:r>
              <a:rPr sz="1400" b="0" i="0">
                <a:solidFill>
                  <a:srgbClr val="595959"/>
                </a:solidFill>
              </a:rPr>
              <a:t>specification quality</a:t>
            </a:r>
          </a:p>
        </p:txBody>
      </p:sp>
      <p:sp>
        <p:nvSpPr>
          <p:cNvPr id="18" name="TextBox 17"/>
          <p:cNvSpPr txBox="1"/>
          <p:nvPr/>
        </p:nvSpPr>
        <p:spPr>
          <a:xfrm>
            <a:off x="4937760" y="5029200"/>
            <a:ext cx="1920240" cy="548640"/>
          </a:xfrm>
          <a:prstGeom prst="rect">
            <a:avLst/>
          </a:prstGeom>
          <a:noFill/>
        </p:spPr>
        <p:txBody>
          <a:bodyPr wrap="square" lIns="45720" rIns="45720">
            <a:spAutoFit/>
          </a:bodyPr>
          <a:lstStyle/>
          <a:p>
            <a:pPr algn="l">
              <a:spcAft>
                <a:spcPts val="0"/>
              </a:spcAft>
            </a:pPr>
            <a:r>
              <a:rPr sz="1800" b="1" i="0">
                <a:solidFill>
                  <a:srgbClr val="000000"/>
                </a:solidFill>
              </a:rPr>
              <a:t>RQ</a:t>
            </a:r>
          </a:p>
          <a:p>
            <a:pPr algn="l">
              <a:spcAft>
                <a:spcPts val="400"/>
              </a:spcAft>
            </a:pPr>
            <a:r>
              <a:rPr sz="1400" b="0" i="0">
                <a:solidFill>
                  <a:srgbClr val="595959"/>
                </a:solidFill>
              </a:rPr>
              <a:t>realization quality</a:t>
            </a:r>
          </a:p>
        </p:txBody>
      </p:sp>
      <p:sp>
        <p:nvSpPr>
          <p:cNvPr id="19" name="Rectangle 18"/>
          <p:cNvSpPr/>
          <p:nvPr/>
        </p:nvSpPr>
        <p:spPr>
          <a:xfrm>
            <a:off x="7132320" y="1325880"/>
            <a:ext cx="4663440" cy="214884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Forms in A0</a:t>
            </a:r>
          </a:p>
          <a:p>
            <a:pPr algn="l" marL="256032" indent="-256032">
              <a:spcAft>
                <a:spcPts val="400"/>
              </a:spcAft>
              <a:buChar char="•"/>
            </a:pPr>
            <a:r>
              <a:rPr sz="1800" b="0" i="0">
                <a:solidFill>
                  <a:srgbClr val="000000"/>
                </a:solidFill>
              </a:rPr>
              <a:t>Concept of operations: purpose, scope and terms, user categories, user stories</a:t>
            </a:r>
          </a:p>
          <a:p>
            <a:pPr algn="l" marL="256032" indent="-256032">
              <a:spcAft>
                <a:spcPts val="400"/>
              </a:spcAft>
              <a:buChar char="•"/>
            </a:pPr>
            <a:r>
              <a:rPr sz="1800" b="0" i="0">
                <a:solidFill>
                  <a:srgbClr val="000000"/>
                </a:solidFill>
              </a:rPr>
              <a:t>Requirements: identified clauses, each with a method</a:t>
            </a:r>
          </a:p>
          <a:p>
            <a:pPr algn="l" marL="256032" indent="-256032">
              <a:spcAft>
                <a:spcPts val="400"/>
              </a:spcAft>
              <a:buChar char="•"/>
            </a:pPr>
            <a:r>
              <a:rPr sz="1600" b="0" i="0">
                <a:solidFill>
                  <a:srgbClr val="000000"/>
                </a:solidFill>
              </a:rPr>
              <a:t>Later: glossary, architecture, data format, contracts, state machines</a:t>
            </a:r>
          </a:p>
        </p:txBody>
      </p:sp>
      <p:sp>
        <p:nvSpPr>
          <p:cNvPr id="20" name="Rectangle 19"/>
          <p:cNvSpPr/>
          <p:nvPr/>
        </p:nvSpPr>
        <p:spPr>
          <a:xfrm>
            <a:off x="7132320" y="3657600"/>
            <a:ext cx="4663440" cy="201168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Role</a:t>
            </a:r>
          </a:p>
          <a:p>
            <a:pPr algn="l" marL="256032" indent="-256032">
              <a:spcAft>
                <a:spcPts val="400"/>
              </a:spcAft>
              <a:buChar char="•"/>
            </a:pPr>
            <a:r>
              <a:rPr sz="1800" b="0" i="0">
                <a:solidFill>
                  <a:srgbClr val="000000"/>
                </a:solidFill>
              </a:rPr>
              <a:t>Captures intent (should conform to it)</a:t>
            </a:r>
          </a:p>
          <a:p>
            <a:pPr algn="l" marL="256032" indent="-256032">
              <a:spcAft>
                <a:spcPts val="400"/>
              </a:spcAft>
              <a:buChar char="•"/>
            </a:pPr>
            <a:r>
              <a:rPr sz="1800" b="0" i="0">
                <a:solidFill>
                  <a:srgbClr val="000000"/>
                </a:solidFill>
              </a:rPr>
              <a:t>Directs the work: what the agent is told to build</a:t>
            </a:r>
          </a:p>
          <a:p>
            <a:pPr algn="l" marL="256032" indent="-256032">
              <a:spcAft>
                <a:spcPts val="400"/>
              </a:spcAft>
              <a:buChar char="•"/>
            </a:pPr>
            <a:r>
              <a:rPr sz="1800" b="0" i="0">
                <a:solidFill>
                  <a:srgbClr val="000000"/>
                </a:solidFill>
              </a:rPr>
              <a:t>Summarizes the system: an abstraction of the realization</a:t>
            </a:r>
          </a:p>
        </p:txBody>
      </p:sp>
      <p:sp>
        <p:nvSpPr>
          <p:cNvPr id="21" name="Rectangle 20"/>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The unit is the clause: identifier · verification method · derived from</a:t>
            </a:r>
          </a:p>
        </p:txBody>
      </p:sp>
      <p:cxnSp>
        <p:nvCxnSpPr>
          <p:cNvPr id="22" name="Connector 21"/>
          <p:cNvCxnSpPr/>
          <p:nvPr/>
        </p:nvCxnSpPr>
        <p:spPr>
          <a:xfrm flipH="1">
            <a:off x="4206240" y="2377440"/>
            <a:ext cx="2926080" cy="914400"/>
          </a:xfrm>
          <a:prstGeom prst="line">
            <a:avLst/>
          </a:prstGeom>
          <a:ln w="19050">
            <a:solidFill>
              <a:srgbClr val="C0000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Specification quality (SQ)</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13</a:t>
            </a:r>
          </a:p>
        </p:txBody>
      </p:sp>
      <p:pic>
        <p:nvPicPr>
          <p:cNvPr id="5" name="Picture 4" descr="stakeholders-icon.png"/>
          <p:cNvPicPr>
            <a:picLocks noChangeAspect="1"/>
          </p:cNvPicPr>
          <p:nvPr/>
        </p:nvPicPr>
        <p:blipFill>
          <a:blip r:embed="rId3"/>
          <a:stretch>
            <a:fillRect/>
          </a:stretch>
        </p:blipFill>
        <p:spPr>
          <a:xfrm>
            <a:off x="2761488" y="1143000"/>
            <a:ext cx="868680" cy="868680"/>
          </a:xfrm>
          <a:prstGeom prst="rect">
            <a:avLst/>
          </a:prstGeom>
        </p:spPr>
      </p:pic>
      <p:sp>
        <p:nvSpPr>
          <p:cNvPr id="6" name="TextBox 5"/>
          <p:cNvSpPr txBox="1"/>
          <p:nvPr/>
        </p:nvSpPr>
        <p:spPr>
          <a:xfrm>
            <a:off x="1920240" y="1938528"/>
            <a:ext cx="2560320" cy="603504"/>
          </a:xfrm>
          <a:prstGeom prst="rect">
            <a:avLst/>
          </a:prstGeom>
          <a:noFill/>
        </p:spPr>
        <p:txBody>
          <a:bodyPr wrap="square" lIns="45720" rIns="45720">
            <a:spAutoFit/>
          </a:bodyPr>
          <a:lstStyle/>
          <a:p>
            <a:pPr algn="ctr">
              <a:spcAft>
                <a:spcPts val="0"/>
              </a:spcAft>
            </a:pPr>
            <a:r>
              <a:rPr sz="2000" b="1" i="0"/>
              <a:t>Intent</a:t>
            </a:r>
          </a:p>
          <a:p>
            <a:pPr algn="ctr">
              <a:spcAft>
                <a:spcPts val="400"/>
              </a:spcAft>
            </a:pPr>
            <a:r>
              <a:rPr sz="1400" b="0" i="0">
                <a:solidFill>
                  <a:srgbClr val="595959"/>
                </a:solidFill>
              </a:rPr>
              <a:t>the stakeholders; no artifact</a:t>
            </a:r>
          </a:p>
        </p:txBody>
      </p:sp>
      <p:sp>
        <p:nvSpPr>
          <p:cNvPr id="7" name="Rectangle 6"/>
          <p:cNvSpPr/>
          <p:nvPr/>
        </p:nvSpPr>
        <p:spPr>
          <a:xfrm>
            <a:off x="2240279" y="31089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Specifications</a:t>
            </a:r>
          </a:p>
        </p:txBody>
      </p:sp>
      <p:sp>
        <p:nvSpPr>
          <p:cNvPr id="8" name="Rectangle 7"/>
          <p:cNvSpPr/>
          <p:nvPr/>
        </p:nvSpPr>
        <p:spPr>
          <a:xfrm>
            <a:off x="2240279" y="49377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Realization</a:t>
            </a:r>
          </a:p>
        </p:txBody>
      </p:sp>
      <p:cxnSp>
        <p:nvCxnSpPr>
          <p:cNvPr id="9" name="Connector 8"/>
          <p:cNvCxnSpPr/>
          <p:nvPr/>
        </p:nvCxnSpPr>
        <p:spPr>
          <a:xfrm>
            <a:off x="3200399" y="2578608"/>
            <a:ext cx="0" cy="53035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520440" y="3886200"/>
            <a:ext cx="0" cy="1051560"/>
          </a:xfrm>
          <a:prstGeom prst="line">
            <a:avLst/>
          </a:prstGeom>
          <a:ln w="19050">
            <a:solidFill>
              <a:srgbClr val="0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560320" y="3886200"/>
            <a:ext cx="0" cy="1051560"/>
          </a:xfrm>
          <a:prstGeom prst="line">
            <a:avLst/>
          </a:prstGeom>
          <a:ln w="15875">
            <a:solidFill>
              <a:srgbClr val="595959"/>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U-Turn Arrow 11"/>
          <p:cNvSpPr/>
          <p:nvPr/>
        </p:nvSpPr>
        <p:spPr>
          <a:xfrm rot="16200000">
            <a:off x="4279392" y="3172968"/>
            <a:ext cx="566928" cy="640080"/>
          </a:xfrm>
          <a:prstGeom prst="uturnArrow">
            <a:avLst/>
          </a:prstGeom>
          <a:solidFill>
            <a:srgbClr val="6E1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Turn Arrow 12"/>
          <p:cNvSpPr/>
          <p:nvPr/>
        </p:nvSpPr>
        <p:spPr>
          <a:xfrm rot="16200000">
            <a:off x="4279392" y="50017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560320"/>
            <a:ext cx="1828800" cy="548640"/>
          </a:xfrm>
          <a:prstGeom prst="rect">
            <a:avLst/>
          </a:prstGeom>
          <a:noFill/>
        </p:spPr>
        <p:txBody>
          <a:bodyPr wrap="square" lIns="45720" rIns="45720">
            <a:spAutoFit/>
          </a:bodyPr>
          <a:lstStyle/>
          <a:p>
            <a:pPr algn="l">
              <a:spcAft>
                <a:spcPts val="0"/>
              </a:spcAft>
            </a:pPr>
            <a:r>
              <a:rPr sz="1800" b="1" i="0">
                <a:solidFill>
                  <a:srgbClr val="000000"/>
                </a:solidFill>
              </a:rPr>
              <a:t>VAL</a:t>
            </a:r>
          </a:p>
          <a:p>
            <a:pPr algn="l">
              <a:spcAft>
                <a:spcPts val="400"/>
              </a:spcAft>
            </a:pPr>
            <a:r>
              <a:rPr sz="1400" b="0" i="0">
                <a:solidFill>
                  <a:srgbClr val="595959"/>
                </a:solidFill>
              </a:rPr>
              <a:t>validation</a:t>
            </a:r>
          </a:p>
        </p:txBody>
      </p:sp>
      <p:sp>
        <p:nvSpPr>
          <p:cNvPr id="15" name="TextBox 14"/>
          <p:cNvSpPr txBox="1"/>
          <p:nvPr/>
        </p:nvSpPr>
        <p:spPr>
          <a:xfrm>
            <a:off x="3657599" y="4114800"/>
            <a:ext cx="2606040" cy="566928"/>
          </a:xfrm>
          <a:prstGeom prst="rect">
            <a:avLst/>
          </a:prstGeom>
          <a:noFill/>
        </p:spPr>
        <p:txBody>
          <a:bodyPr wrap="square" lIns="45720" rIns="45720">
            <a:spAutoFit/>
          </a:bodyPr>
          <a:lstStyle/>
          <a:p>
            <a:pPr algn="l">
              <a:spcAft>
                <a:spcPts val="0"/>
              </a:spcAft>
            </a:pPr>
            <a:r>
              <a:rPr sz="1800" b="1" i="0">
                <a:solidFill>
                  <a:srgbClr val="000000"/>
                </a:solidFill>
              </a:rPr>
              <a:t>CONF</a:t>
            </a:r>
          </a:p>
          <a:p>
            <a:pPr algn="l">
              <a:spcAft>
                <a:spcPts val="400"/>
              </a:spcAft>
            </a:pPr>
            <a:r>
              <a:rPr sz="1400" b="0" i="0">
                <a:solidFill>
                  <a:srgbClr val="595959"/>
                </a:solidFill>
              </a:rPr>
              <a:t>conformance, by verification</a:t>
            </a:r>
          </a:p>
        </p:txBody>
      </p:sp>
      <p:sp>
        <p:nvSpPr>
          <p:cNvPr id="16" name="TextBox 15"/>
          <p:cNvSpPr txBox="1"/>
          <p:nvPr/>
        </p:nvSpPr>
        <p:spPr>
          <a:xfrm>
            <a:off x="777239" y="4114800"/>
            <a:ext cx="1691640" cy="548640"/>
          </a:xfrm>
          <a:prstGeom prst="rect">
            <a:avLst/>
          </a:prstGeom>
          <a:noFill/>
        </p:spPr>
        <p:txBody>
          <a:bodyPr wrap="square" lIns="45720" rIns="45720">
            <a:spAutoFit/>
          </a:bodyPr>
          <a:lstStyle/>
          <a:p>
            <a:pPr algn="r">
              <a:spcAft>
                <a:spcPts val="0"/>
              </a:spcAft>
            </a:pPr>
            <a:r>
              <a:rPr sz="1800" b="1" i="0">
                <a:solidFill>
                  <a:srgbClr val="000000"/>
                </a:solidFill>
              </a:rPr>
              <a:t>TR</a:t>
            </a:r>
          </a:p>
          <a:p>
            <a:pPr algn="r">
              <a:spcAft>
                <a:spcPts val="400"/>
              </a:spcAft>
            </a:pPr>
            <a:r>
              <a:rPr sz="1400" b="0" i="0">
                <a:solidFill>
                  <a:srgbClr val="595959"/>
                </a:solidFill>
              </a:rPr>
              <a:t>traceability</a:t>
            </a:r>
          </a:p>
        </p:txBody>
      </p:sp>
      <p:sp>
        <p:nvSpPr>
          <p:cNvPr id="17" name="TextBox 16"/>
          <p:cNvSpPr txBox="1"/>
          <p:nvPr/>
        </p:nvSpPr>
        <p:spPr>
          <a:xfrm>
            <a:off x="4937760" y="3200400"/>
            <a:ext cx="1920240" cy="548640"/>
          </a:xfrm>
          <a:prstGeom prst="rect">
            <a:avLst/>
          </a:prstGeom>
          <a:solidFill>
            <a:srgbClr val="FFF3B0"/>
          </a:solidFill>
          <a:ln w="12700">
            <a:solidFill>
              <a:srgbClr val="000000"/>
            </a:solidFill>
          </a:ln>
        </p:spPr>
        <p:txBody>
          <a:bodyPr wrap="square" lIns="45720" rIns="45720">
            <a:spAutoFit/>
          </a:bodyPr>
          <a:lstStyle/>
          <a:p>
            <a:pPr algn="l">
              <a:spcAft>
                <a:spcPts val="0"/>
              </a:spcAft>
            </a:pPr>
            <a:r>
              <a:rPr sz="1800" b="1" i="0">
                <a:solidFill>
                  <a:srgbClr val="6E1EC6"/>
                </a:solidFill>
              </a:rPr>
              <a:t>SQ</a:t>
            </a:r>
          </a:p>
          <a:p>
            <a:pPr algn="l">
              <a:spcAft>
                <a:spcPts val="400"/>
              </a:spcAft>
            </a:pPr>
            <a:r>
              <a:rPr sz="1400" b="0" i="0">
                <a:solidFill>
                  <a:srgbClr val="595959"/>
                </a:solidFill>
              </a:rPr>
              <a:t>specification quality</a:t>
            </a:r>
          </a:p>
        </p:txBody>
      </p:sp>
      <p:sp>
        <p:nvSpPr>
          <p:cNvPr id="18" name="TextBox 17"/>
          <p:cNvSpPr txBox="1"/>
          <p:nvPr/>
        </p:nvSpPr>
        <p:spPr>
          <a:xfrm>
            <a:off x="4937760" y="5029200"/>
            <a:ext cx="1920240" cy="548640"/>
          </a:xfrm>
          <a:prstGeom prst="rect">
            <a:avLst/>
          </a:prstGeom>
          <a:noFill/>
        </p:spPr>
        <p:txBody>
          <a:bodyPr wrap="square" lIns="45720" rIns="45720">
            <a:spAutoFit/>
          </a:bodyPr>
          <a:lstStyle/>
          <a:p>
            <a:pPr algn="l">
              <a:spcAft>
                <a:spcPts val="0"/>
              </a:spcAft>
            </a:pPr>
            <a:r>
              <a:rPr sz="1800" b="1" i="0">
                <a:solidFill>
                  <a:srgbClr val="000000"/>
                </a:solidFill>
              </a:rPr>
              <a:t>RQ</a:t>
            </a:r>
          </a:p>
          <a:p>
            <a:pPr algn="l">
              <a:spcAft>
                <a:spcPts val="400"/>
              </a:spcAft>
            </a:pPr>
            <a:r>
              <a:rPr sz="1400" b="0" i="0">
                <a:solidFill>
                  <a:srgbClr val="595959"/>
                </a:solidFill>
              </a:rPr>
              <a:t>realization quality</a:t>
            </a:r>
          </a:p>
        </p:txBody>
      </p:sp>
      <p:sp>
        <p:nvSpPr>
          <p:cNvPr id="19" name="Rectangle 18"/>
          <p:cNvSpPr/>
          <p:nvPr/>
        </p:nvSpPr>
        <p:spPr>
          <a:xfrm>
            <a:off x="7132320" y="1325880"/>
            <a:ext cx="4663440" cy="329184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The question SQ asks</a:t>
            </a:r>
          </a:p>
          <a:p>
            <a:pPr algn="l" marL="256032" indent="-256032">
              <a:spcAft>
                <a:spcPts val="400"/>
              </a:spcAft>
              <a:buChar char="•"/>
            </a:pPr>
            <a:r>
              <a:rPr sz="1800" b="1" i="0">
                <a:solidFill>
                  <a:srgbClr val="000000"/>
                </a:solidFill>
              </a:rPr>
              <a:t>Well-formed</a:t>
            </a:r>
            <a:r>
              <a:rPr sz="1800" b="0" i="0">
                <a:solidFill>
                  <a:srgbClr val="000000"/>
                </a:solidFill>
              </a:rPr>
              <a:t> — identifier and method on every clause</a:t>
            </a:r>
          </a:p>
          <a:p>
            <a:pPr algn="l" marL="256032" indent="-256032">
              <a:spcAft>
                <a:spcPts val="400"/>
              </a:spcAft>
              <a:buChar char="•"/>
            </a:pPr>
            <a:r>
              <a:rPr sz="1800" b="1" i="0">
                <a:solidFill>
                  <a:srgbClr val="000000"/>
                </a:solidFill>
              </a:rPr>
              <a:t>Unambiguous</a:t>
            </a:r>
            <a:r>
              <a:rPr sz="1800" b="0" i="0">
                <a:solidFill>
                  <a:srgbClr val="000000"/>
                </a:solidFill>
              </a:rPr>
              <a:t> — one reading</a:t>
            </a:r>
          </a:p>
          <a:p>
            <a:pPr algn="l" marL="256032" indent="-256032">
              <a:spcAft>
                <a:spcPts val="400"/>
              </a:spcAft>
              <a:buChar char="•"/>
            </a:pPr>
            <a:r>
              <a:rPr sz="1800" b="1" i="0">
                <a:solidFill>
                  <a:srgbClr val="000000"/>
                </a:solidFill>
              </a:rPr>
              <a:t>Internally consistent</a:t>
            </a:r>
            <a:r>
              <a:rPr sz="1800" b="0" i="0">
                <a:solidFill>
                  <a:srgbClr val="000000"/>
                </a:solidFill>
              </a:rPr>
              <a:t> — no two clauses contradict</a:t>
            </a:r>
          </a:p>
          <a:p>
            <a:pPr algn="l" marL="256032" indent="-256032">
              <a:spcAft>
                <a:spcPts val="400"/>
              </a:spcAft>
              <a:buChar char="•"/>
            </a:pPr>
            <a:r>
              <a:rPr sz="1800" b="1" i="0">
                <a:solidFill>
                  <a:srgbClr val="000000"/>
                </a:solidFill>
              </a:rPr>
              <a:t>Externally consistent</a:t>
            </a:r>
            <a:r>
              <a:rPr sz="1800" b="0" i="0">
                <a:solidFill>
                  <a:srgbClr val="000000"/>
                </a:solidFill>
              </a:rPr>
              <a:t> — the family agrees</a:t>
            </a:r>
          </a:p>
          <a:p>
            <a:pPr algn="l" marL="256032" indent="-256032">
              <a:spcAft>
                <a:spcPts val="400"/>
              </a:spcAft>
              <a:buChar char="•"/>
            </a:pPr>
            <a:r>
              <a:rPr sz="1800" b="1" i="0">
                <a:solidFill>
                  <a:srgbClr val="000000"/>
                </a:solidFill>
              </a:rPr>
              <a:t>Complete for its level</a:t>
            </a:r>
            <a:r>
              <a:rPr sz="1800" b="0" i="0">
                <a:solidFill>
                  <a:srgbClr val="000000"/>
                </a:solidFill>
              </a:rPr>
              <a:t> — nothing missing at the chosen abstraction</a:t>
            </a:r>
          </a:p>
        </p:txBody>
      </p:sp>
      <p:sp>
        <p:nvSpPr>
          <p:cNvPr id="20" name="Rectangle 19"/>
          <p:cNvSpPr/>
          <p:nvPr/>
        </p:nvSpPr>
        <p:spPr>
          <a:xfrm>
            <a:off x="7132320" y="4754880"/>
            <a:ext cx="4663440" cy="91440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0" i="0">
                <a:solidFill>
                  <a:srgbClr val="000000"/>
                </a:solidFill>
              </a:rPr>
              <a:t>In A0: a person read the seven clauses together (rule SQ-1)</a:t>
            </a:r>
          </a:p>
        </p:txBody>
      </p:sp>
      <p:sp>
        <p:nvSpPr>
          <p:cNvPr id="21" name="Rectangle 20"/>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Traceability is its own judgment, TR. The audit as a procedure, on gaps placed on purpose: next lecture.</a:t>
            </a:r>
          </a:p>
        </p:txBody>
      </p:sp>
      <p:cxnSp>
        <p:nvCxnSpPr>
          <p:cNvPr id="22" name="Connector 21"/>
          <p:cNvCxnSpPr/>
          <p:nvPr/>
        </p:nvCxnSpPr>
        <p:spPr>
          <a:xfrm flipH="1">
            <a:off x="4937760" y="3017520"/>
            <a:ext cx="2194560" cy="457200"/>
          </a:xfrm>
          <a:prstGeom prst="line">
            <a:avLst/>
          </a:prstGeom>
          <a:ln w="19050">
            <a:solidFill>
              <a:srgbClr val="C0000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Realization, and realization quality (RQ)</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14</a:t>
            </a:r>
          </a:p>
        </p:txBody>
      </p:sp>
      <p:pic>
        <p:nvPicPr>
          <p:cNvPr id="5" name="Picture 4" descr="stakeholders-icon.png"/>
          <p:cNvPicPr>
            <a:picLocks noChangeAspect="1"/>
          </p:cNvPicPr>
          <p:nvPr/>
        </p:nvPicPr>
        <p:blipFill>
          <a:blip r:embed="rId3"/>
          <a:stretch>
            <a:fillRect/>
          </a:stretch>
        </p:blipFill>
        <p:spPr>
          <a:xfrm>
            <a:off x="2761488" y="1143000"/>
            <a:ext cx="868680" cy="868680"/>
          </a:xfrm>
          <a:prstGeom prst="rect">
            <a:avLst/>
          </a:prstGeom>
        </p:spPr>
      </p:pic>
      <p:sp>
        <p:nvSpPr>
          <p:cNvPr id="6" name="TextBox 5"/>
          <p:cNvSpPr txBox="1"/>
          <p:nvPr/>
        </p:nvSpPr>
        <p:spPr>
          <a:xfrm>
            <a:off x="1920240" y="1938528"/>
            <a:ext cx="2560320" cy="603504"/>
          </a:xfrm>
          <a:prstGeom prst="rect">
            <a:avLst/>
          </a:prstGeom>
          <a:noFill/>
        </p:spPr>
        <p:txBody>
          <a:bodyPr wrap="square" lIns="45720" rIns="45720">
            <a:spAutoFit/>
          </a:bodyPr>
          <a:lstStyle/>
          <a:p>
            <a:pPr algn="ctr">
              <a:spcAft>
                <a:spcPts val="0"/>
              </a:spcAft>
            </a:pPr>
            <a:r>
              <a:rPr sz="2000" b="1" i="0"/>
              <a:t>Intent</a:t>
            </a:r>
          </a:p>
          <a:p>
            <a:pPr algn="ctr">
              <a:spcAft>
                <a:spcPts val="400"/>
              </a:spcAft>
            </a:pPr>
            <a:r>
              <a:rPr sz="1400" b="0" i="0">
                <a:solidFill>
                  <a:srgbClr val="595959"/>
                </a:solidFill>
              </a:rPr>
              <a:t>the stakeholders; no artifact</a:t>
            </a:r>
          </a:p>
        </p:txBody>
      </p:sp>
      <p:sp>
        <p:nvSpPr>
          <p:cNvPr id="7" name="Rectangle 6"/>
          <p:cNvSpPr/>
          <p:nvPr/>
        </p:nvSpPr>
        <p:spPr>
          <a:xfrm>
            <a:off x="2240279" y="31089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Specifications</a:t>
            </a:r>
          </a:p>
        </p:txBody>
      </p:sp>
      <p:sp>
        <p:nvSpPr>
          <p:cNvPr id="8" name="Rectangle 7"/>
          <p:cNvSpPr/>
          <p:nvPr/>
        </p:nvSpPr>
        <p:spPr>
          <a:xfrm>
            <a:off x="2240279" y="4937760"/>
            <a:ext cx="1920240" cy="777240"/>
          </a:xfrm>
          <a:prstGeom prst="rect">
            <a:avLst/>
          </a:prstGeom>
          <a:solidFill>
            <a:srgbClr val="FFCF01"/>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1" i="0">
                <a:solidFill>
                  <a:srgbClr val="000000"/>
                </a:solidFill>
              </a:rPr>
              <a:t>Realization</a:t>
            </a:r>
          </a:p>
        </p:txBody>
      </p:sp>
      <p:cxnSp>
        <p:nvCxnSpPr>
          <p:cNvPr id="9" name="Connector 8"/>
          <p:cNvCxnSpPr/>
          <p:nvPr/>
        </p:nvCxnSpPr>
        <p:spPr>
          <a:xfrm>
            <a:off x="3200399" y="2578608"/>
            <a:ext cx="0" cy="53035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520440" y="3886200"/>
            <a:ext cx="0" cy="1051560"/>
          </a:xfrm>
          <a:prstGeom prst="line">
            <a:avLst/>
          </a:prstGeom>
          <a:ln w="19050">
            <a:solidFill>
              <a:srgbClr val="0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560320" y="3886200"/>
            <a:ext cx="0" cy="1051560"/>
          </a:xfrm>
          <a:prstGeom prst="line">
            <a:avLst/>
          </a:prstGeom>
          <a:ln w="15875">
            <a:solidFill>
              <a:srgbClr val="595959"/>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U-Turn Arrow 11"/>
          <p:cNvSpPr/>
          <p:nvPr/>
        </p:nvSpPr>
        <p:spPr>
          <a:xfrm rot="16200000">
            <a:off x="4279392" y="31729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Turn Arrow 12"/>
          <p:cNvSpPr/>
          <p:nvPr/>
        </p:nvSpPr>
        <p:spPr>
          <a:xfrm rot="16200000">
            <a:off x="4279392" y="50017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560320"/>
            <a:ext cx="1828800" cy="548640"/>
          </a:xfrm>
          <a:prstGeom prst="rect">
            <a:avLst/>
          </a:prstGeom>
          <a:noFill/>
        </p:spPr>
        <p:txBody>
          <a:bodyPr wrap="square" lIns="45720" rIns="45720">
            <a:spAutoFit/>
          </a:bodyPr>
          <a:lstStyle/>
          <a:p>
            <a:pPr algn="l">
              <a:spcAft>
                <a:spcPts val="0"/>
              </a:spcAft>
            </a:pPr>
            <a:r>
              <a:rPr sz="1800" b="1" i="0">
                <a:solidFill>
                  <a:srgbClr val="000000"/>
                </a:solidFill>
              </a:rPr>
              <a:t>VAL</a:t>
            </a:r>
          </a:p>
          <a:p>
            <a:pPr algn="l">
              <a:spcAft>
                <a:spcPts val="400"/>
              </a:spcAft>
            </a:pPr>
            <a:r>
              <a:rPr sz="1400" b="0" i="0">
                <a:solidFill>
                  <a:srgbClr val="595959"/>
                </a:solidFill>
              </a:rPr>
              <a:t>validation</a:t>
            </a:r>
          </a:p>
        </p:txBody>
      </p:sp>
      <p:sp>
        <p:nvSpPr>
          <p:cNvPr id="15" name="TextBox 14"/>
          <p:cNvSpPr txBox="1"/>
          <p:nvPr/>
        </p:nvSpPr>
        <p:spPr>
          <a:xfrm>
            <a:off x="3657599" y="4114800"/>
            <a:ext cx="2606040" cy="566928"/>
          </a:xfrm>
          <a:prstGeom prst="rect">
            <a:avLst/>
          </a:prstGeom>
          <a:noFill/>
        </p:spPr>
        <p:txBody>
          <a:bodyPr wrap="square" lIns="45720" rIns="45720">
            <a:spAutoFit/>
          </a:bodyPr>
          <a:lstStyle/>
          <a:p>
            <a:pPr algn="l">
              <a:spcAft>
                <a:spcPts val="0"/>
              </a:spcAft>
            </a:pPr>
            <a:r>
              <a:rPr sz="1800" b="1" i="0">
                <a:solidFill>
                  <a:srgbClr val="000000"/>
                </a:solidFill>
              </a:rPr>
              <a:t>CONF</a:t>
            </a:r>
          </a:p>
          <a:p>
            <a:pPr algn="l">
              <a:spcAft>
                <a:spcPts val="400"/>
              </a:spcAft>
            </a:pPr>
            <a:r>
              <a:rPr sz="1400" b="0" i="0">
                <a:solidFill>
                  <a:srgbClr val="595959"/>
                </a:solidFill>
              </a:rPr>
              <a:t>conformance, by verification</a:t>
            </a:r>
          </a:p>
        </p:txBody>
      </p:sp>
      <p:sp>
        <p:nvSpPr>
          <p:cNvPr id="16" name="TextBox 15"/>
          <p:cNvSpPr txBox="1"/>
          <p:nvPr/>
        </p:nvSpPr>
        <p:spPr>
          <a:xfrm>
            <a:off x="777239" y="4114800"/>
            <a:ext cx="1691640" cy="548640"/>
          </a:xfrm>
          <a:prstGeom prst="rect">
            <a:avLst/>
          </a:prstGeom>
          <a:noFill/>
        </p:spPr>
        <p:txBody>
          <a:bodyPr wrap="square" lIns="45720" rIns="45720">
            <a:spAutoFit/>
          </a:bodyPr>
          <a:lstStyle/>
          <a:p>
            <a:pPr algn="r">
              <a:spcAft>
                <a:spcPts val="0"/>
              </a:spcAft>
            </a:pPr>
            <a:r>
              <a:rPr sz="1800" b="1" i="0">
                <a:solidFill>
                  <a:srgbClr val="000000"/>
                </a:solidFill>
              </a:rPr>
              <a:t>TR</a:t>
            </a:r>
          </a:p>
          <a:p>
            <a:pPr algn="r">
              <a:spcAft>
                <a:spcPts val="400"/>
              </a:spcAft>
            </a:pPr>
            <a:r>
              <a:rPr sz="1400" b="0" i="0">
                <a:solidFill>
                  <a:srgbClr val="595959"/>
                </a:solidFill>
              </a:rPr>
              <a:t>traceability</a:t>
            </a:r>
          </a:p>
        </p:txBody>
      </p:sp>
      <p:sp>
        <p:nvSpPr>
          <p:cNvPr id="17" name="TextBox 16"/>
          <p:cNvSpPr txBox="1"/>
          <p:nvPr/>
        </p:nvSpPr>
        <p:spPr>
          <a:xfrm>
            <a:off x="4937760" y="3200400"/>
            <a:ext cx="1920240" cy="548640"/>
          </a:xfrm>
          <a:prstGeom prst="rect">
            <a:avLst/>
          </a:prstGeom>
          <a:noFill/>
        </p:spPr>
        <p:txBody>
          <a:bodyPr wrap="square" lIns="45720" rIns="45720">
            <a:spAutoFit/>
          </a:bodyPr>
          <a:lstStyle/>
          <a:p>
            <a:pPr algn="l">
              <a:spcAft>
                <a:spcPts val="0"/>
              </a:spcAft>
            </a:pPr>
            <a:r>
              <a:rPr sz="1800" b="1" i="0">
                <a:solidFill>
                  <a:srgbClr val="000000"/>
                </a:solidFill>
              </a:rPr>
              <a:t>SQ</a:t>
            </a:r>
          </a:p>
          <a:p>
            <a:pPr algn="l">
              <a:spcAft>
                <a:spcPts val="400"/>
              </a:spcAft>
            </a:pPr>
            <a:r>
              <a:rPr sz="1400" b="0" i="0">
                <a:solidFill>
                  <a:srgbClr val="595959"/>
                </a:solidFill>
              </a:rPr>
              <a:t>specification quality</a:t>
            </a:r>
          </a:p>
        </p:txBody>
      </p:sp>
      <p:sp>
        <p:nvSpPr>
          <p:cNvPr id="18" name="TextBox 17"/>
          <p:cNvSpPr txBox="1"/>
          <p:nvPr/>
        </p:nvSpPr>
        <p:spPr>
          <a:xfrm>
            <a:off x="4937760" y="5029200"/>
            <a:ext cx="1920240" cy="548640"/>
          </a:xfrm>
          <a:prstGeom prst="rect">
            <a:avLst/>
          </a:prstGeom>
          <a:noFill/>
        </p:spPr>
        <p:txBody>
          <a:bodyPr wrap="square" lIns="45720" rIns="45720">
            <a:spAutoFit/>
          </a:bodyPr>
          <a:lstStyle/>
          <a:p>
            <a:pPr algn="l">
              <a:spcAft>
                <a:spcPts val="0"/>
              </a:spcAft>
            </a:pPr>
            <a:r>
              <a:rPr sz="1800" b="1" i="0">
                <a:solidFill>
                  <a:srgbClr val="000000"/>
                </a:solidFill>
              </a:rPr>
              <a:t>RQ</a:t>
            </a:r>
          </a:p>
          <a:p>
            <a:pPr algn="l">
              <a:spcAft>
                <a:spcPts val="400"/>
              </a:spcAft>
            </a:pPr>
            <a:r>
              <a:rPr sz="1400" b="0" i="0">
                <a:solidFill>
                  <a:srgbClr val="595959"/>
                </a:solidFill>
              </a:rPr>
              <a:t>realization quality</a:t>
            </a:r>
          </a:p>
        </p:txBody>
      </p:sp>
      <p:sp>
        <p:nvSpPr>
          <p:cNvPr id="19" name="Rectangle 18"/>
          <p:cNvSpPr/>
          <p:nvPr/>
        </p:nvSpPr>
        <p:spPr>
          <a:xfrm>
            <a:off x="7132320" y="1325880"/>
            <a:ext cx="4663440" cy="214884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Realization</a:t>
            </a:r>
          </a:p>
          <a:p>
            <a:pPr algn="l" marL="256032" indent="-256032">
              <a:spcAft>
                <a:spcPts val="400"/>
              </a:spcAft>
              <a:buChar char="•"/>
            </a:pPr>
            <a:r>
              <a:rPr sz="1800" b="0" i="0">
                <a:solidFill>
                  <a:srgbClr val="000000"/>
                </a:solidFill>
              </a:rPr>
              <a:t>Built to satisfy a specification; the code and the test suite both</a:t>
            </a:r>
          </a:p>
          <a:p>
            <a:pPr algn="l" marL="256032" indent="-256032">
              <a:spcAft>
                <a:spcPts val="400"/>
              </a:spcAft>
              <a:buChar char="•"/>
            </a:pPr>
            <a:r>
              <a:rPr sz="1800" b="0" i="0">
                <a:solidFill>
                  <a:srgbClr val="000000"/>
                </a:solidFill>
              </a:rPr>
              <a:t>One specification, many realizations</a:t>
            </a:r>
          </a:p>
        </p:txBody>
      </p:sp>
      <p:sp>
        <p:nvSpPr>
          <p:cNvPr id="20" name="Rectangle 19"/>
          <p:cNvSpPr/>
          <p:nvPr/>
        </p:nvSpPr>
        <p:spPr>
          <a:xfrm>
            <a:off x="7132320" y="3657600"/>
            <a:ext cx="4663440" cy="201168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RQ: can it be checked at all?</a:t>
            </a:r>
          </a:p>
          <a:p>
            <a:pPr algn="l" marL="256032" indent="-256032">
              <a:spcAft>
                <a:spcPts val="400"/>
              </a:spcAft>
              <a:buChar char="•"/>
            </a:pPr>
            <a:r>
              <a:rPr sz="1800" b="0" i="0">
                <a:solidFill>
                  <a:srgbClr val="000000"/>
                </a:solidFill>
              </a:rPr>
              <a:t>Lints (ruff); the suite collects</a:t>
            </a:r>
          </a:p>
          <a:p>
            <a:pPr algn="l" marL="256032" indent="-256032">
              <a:spcAft>
                <a:spcPts val="400"/>
              </a:spcAft>
              <a:buChar char="•"/>
            </a:pPr>
            <a:r>
              <a:rPr sz="1800" b="0" i="0">
                <a:solidFill>
                  <a:srgbClr val="000000"/>
                </a:solidFill>
              </a:rPr>
              <a:t>Test discipline: a test can fail; asserts no looser than its clause</a:t>
            </a:r>
          </a:p>
          <a:p>
            <a:pPr algn="l" marL="256032" indent="-256032">
              <a:spcAft>
                <a:spcPts val="400"/>
              </a:spcAft>
              <a:buChar char="•"/>
            </a:pPr>
            <a:r>
              <a:rPr sz="1800" b="0" i="0">
                <a:solidFill>
                  <a:srgbClr val="000000"/>
                </a:solidFill>
              </a:rPr>
              <a:t>Structure judged appropriate (later)</a:t>
            </a:r>
          </a:p>
        </p:txBody>
      </p:sp>
      <p:sp>
        <p:nvSpPr>
          <p:cNvPr id="21" name="Rectangle 20"/>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Separate from CONF: a suite that does not collect gives no conformance evidence at 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Conformance (CONF), by verification</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15</a:t>
            </a:r>
          </a:p>
        </p:txBody>
      </p:sp>
      <p:pic>
        <p:nvPicPr>
          <p:cNvPr id="5" name="Picture 4" descr="stakeholders-icon.png"/>
          <p:cNvPicPr>
            <a:picLocks noChangeAspect="1"/>
          </p:cNvPicPr>
          <p:nvPr/>
        </p:nvPicPr>
        <p:blipFill>
          <a:blip r:embed="rId3"/>
          <a:stretch>
            <a:fillRect/>
          </a:stretch>
        </p:blipFill>
        <p:spPr>
          <a:xfrm>
            <a:off x="2761488" y="1143000"/>
            <a:ext cx="868680" cy="868680"/>
          </a:xfrm>
          <a:prstGeom prst="rect">
            <a:avLst/>
          </a:prstGeom>
        </p:spPr>
      </p:pic>
      <p:sp>
        <p:nvSpPr>
          <p:cNvPr id="6" name="TextBox 5"/>
          <p:cNvSpPr txBox="1"/>
          <p:nvPr/>
        </p:nvSpPr>
        <p:spPr>
          <a:xfrm>
            <a:off x="1920240" y="1938528"/>
            <a:ext cx="2560320" cy="603504"/>
          </a:xfrm>
          <a:prstGeom prst="rect">
            <a:avLst/>
          </a:prstGeom>
          <a:noFill/>
        </p:spPr>
        <p:txBody>
          <a:bodyPr wrap="square" lIns="45720" rIns="45720">
            <a:spAutoFit/>
          </a:bodyPr>
          <a:lstStyle/>
          <a:p>
            <a:pPr algn="ctr">
              <a:spcAft>
                <a:spcPts val="0"/>
              </a:spcAft>
            </a:pPr>
            <a:r>
              <a:rPr sz="2000" b="1" i="0"/>
              <a:t>Intent</a:t>
            </a:r>
          </a:p>
          <a:p>
            <a:pPr algn="ctr">
              <a:spcAft>
                <a:spcPts val="400"/>
              </a:spcAft>
            </a:pPr>
            <a:r>
              <a:rPr sz="1400" b="0" i="0">
                <a:solidFill>
                  <a:srgbClr val="595959"/>
                </a:solidFill>
              </a:rPr>
              <a:t>the stakeholders; no artifact</a:t>
            </a:r>
          </a:p>
        </p:txBody>
      </p:sp>
      <p:sp>
        <p:nvSpPr>
          <p:cNvPr id="7" name="Rectangle 6"/>
          <p:cNvSpPr/>
          <p:nvPr/>
        </p:nvSpPr>
        <p:spPr>
          <a:xfrm>
            <a:off x="2240279" y="31089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Specifications</a:t>
            </a:r>
          </a:p>
        </p:txBody>
      </p:sp>
      <p:sp>
        <p:nvSpPr>
          <p:cNvPr id="8" name="Rectangle 7"/>
          <p:cNvSpPr/>
          <p:nvPr/>
        </p:nvSpPr>
        <p:spPr>
          <a:xfrm>
            <a:off x="2240279" y="49377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Realization</a:t>
            </a:r>
          </a:p>
        </p:txBody>
      </p:sp>
      <p:cxnSp>
        <p:nvCxnSpPr>
          <p:cNvPr id="9" name="Connector 8"/>
          <p:cNvCxnSpPr/>
          <p:nvPr/>
        </p:nvCxnSpPr>
        <p:spPr>
          <a:xfrm>
            <a:off x="3200399" y="2578608"/>
            <a:ext cx="0" cy="53035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520440" y="3886200"/>
            <a:ext cx="0" cy="1051560"/>
          </a:xfrm>
          <a:prstGeom prst="line">
            <a:avLst/>
          </a:prstGeom>
          <a:ln w="38100">
            <a:solidFill>
              <a:srgbClr val="6E1EC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560320" y="3886200"/>
            <a:ext cx="0" cy="1051560"/>
          </a:xfrm>
          <a:prstGeom prst="line">
            <a:avLst/>
          </a:prstGeom>
          <a:ln w="15875">
            <a:solidFill>
              <a:srgbClr val="595959"/>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U-Turn Arrow 11"/>
          <p:cNvSpPr/>
          <p:nvPr/>
        </p:nvSpPr>
        <p:spPr>
          <a:xfrm rot="16200000">
            <a:off x="4279392" y="31729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Turn Arrow 12"/>
          <p:cNvSpPr/>
          <p:nvPr/>
        </p:nvSpPr>
        <p:spPr>
          <a:xfrm rot="16200000">
            <a:off x="4279392" y="50017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560320"/>
            <a:ext cx="1828800" cy="548640"/>
          </a:xfrm>
          <a:prstGeom prst="rect">
            <a:avLst/>
          </a:prstGeom>
          <a:noFill/>
        </p:spPr>
        <p:txBody>
          <a:bodyPr wrap="square" lIns="45720" rIns="45720">
            <a:spAutoFit/>
          </a:bodyPr>
          <a:lstStyle/>
          <a:p>
            <a:pPr algn="l">
              <a:spcAft>
                <a:spcPts val="0"/>
              </a:spcAft>
            </a:pPr>
            <a:r>
              <a:rPr sz="1800" b="1" i="0">
                <a:solidFill>
                  <a:srgbClr val="000000"/>
                </a:solidFill>
              </a:rPr>
              <a:t>VAL</a:t>
            </a:r>
          </a:p>
          <a:p>
            <a:pPr algn="l">
              <a:spcAft>
                <a:spcPts val="400"/>
              </a:spcAft>
            </a:pPr>
            <a:r>
              <a:rPr sz="1400" b="0" i="0">
                <a:solidFill>
                  <a:srgbClr val="595959"/>
                </a:solidFill>
              </a:rPr>
              <a:t>validation</a:t>
            </a:r>
          </a:p>
        </p:txBody>
      </p:sp>
      <p:sp>
        <p:nvSpPr>
          <p:cNvPr id="15" name="TextBox 14"/>
          <p:cNvSpPr txBox="1"/>
          <p:nvPr/>
        </p:nvSpPr>
        <p:spPr>
          <a:xfrm>
            <a:off x="3657599" y="4114800"/>
            <a:ext cx="2606040" cy="566928"/>
          </a:xfrm>
          <a:prstGeom prst="rect">
            <a:avLst/>
          </a:prstGeom>
          <a:solidFill>
            <a:srgbClr val="FFF3B0"/>
          </a:solidFill>
          <a:ln w="12700">
            <a:solidFill>
              <a:srgbClr val="000000"/>
            </a:solidFill>
          </a:ln>
        </p:spPr>
        <p:txBody>
          <a:bodyPr wrap="square" lIns="45720" rIns="45720">
            <a:spAutoFit/>
          </a:bodyPr>
          <a:lstStyle/>
          <a:p>
            <a:pPr algn="l">
              <a:spcAft>
                <a:spcPts val="0"/>
              </a:spcAft>
            </a:pPr>
            <a:r>
              <a:rPr sz="1800" b="1" i="0">
                <a:solidFill>
                  <a:srgbClr val="6E1EC6"/>
                </a:solidFill>
              </a:rPr>
              <a:t>CONF</a:t>
            </a:r>
          </a:p>
          <a:p>
            <a:pPr algn="l">
              <a:spcAft>
                <a:spcPts val="400"/>
              </a:spcAft>
            </a:pPr>
            <a:r>
              <a:rPr sz="1400" b="0" i="0">
                <a:solidFill>
                  <a:srgbClr val="595959"/>
                </a:solidFill>
              </a:rPr>
              <a:t>conformance, by verification</a:t>
            </a:r>
          </a:p>
        </p:txBody>
      </p:sp>
      <p:sp>
        <p:nvSpPr>
          <p:cNvPr id="16" name="TextBox 15"/>
          <p:cNvSpPr txBox="1"/>
          <p:nvPr/>
        </p:nvSpPr>
        <p:spPr>
          <a:xfrm>
            <a:off x="777239" y="4114800"/>
            <a:ext cx="1691640" cy="548640"/>
          </a:xfrm>
          <a:prstGeom prst="rect">
            <a:avLst/>
          </a:prstGeom>
          <a:noFill/>
        </p:spPr>
        <p:txBody>
          <a:bodyPr wrap="square" lIns="45720" rIns="45720">
            <a:spAutoFit/>
          </a:bodyPr>
          <a:lstStyle/>
          <a:p>
            <a:pPr algn="r">
              <a:spcAft>
                <a:spcPts val="0"/>
              </a:spcAft>
            </a:pPr>
            <a:r>
              <a:rPr sz="1800" b="1" i="0">
                <a:solidFill>
                  <a:srgbClr val="000000"/>
                </a:solidFill>
              </a:rPr>
              <a:t>TR</a:t>
            </a:r>
          </a:p>
          <a:p>
            <a:pPr algn="r">
              <a:spcAft>
                <a:spcPts val="400"/>
              </a:spcAft>
            </a:pPr>
            <a:r>
              <a:rPr sz="1400" b="0" i="0">
                <a:solidFill>
                  <a:srgbClr val="595959"/>
                </a:solidFill>
              </a:rPr>
              <a:t>traceability</a:t>
            </a:r>
          </a:p>
        </p:txBody>
      </p:sp>
      <p:sp>
        <p:nvSpPr>
          <p:cNvPr id="17" name="TextBox 16"/>
          <p:cNvSpPr txBox="1"/>
          <p:nvPr/>
        </p:nvSpPr>
        <p:spPr>
          <a:xfrm>
            <a:off x="4937760" y="3200400"/>
            <a:ext cx="1920240" cy="548640"/>
          </a:xfrm>
          <a:prstGeom prst="rect">
            <a:avLst/>
          </a:prstGeom>
          <a:noFill/>
        </p:spPr>
        <p:txBody>
          <a:bodyPr wrap="square" lIns="45720" rIns="45720">
            <a:spAutoFit/>
          </a:bodyPr>
          <a:lstStyle/>
          <a:p>
            <a:pPr algn="l">
              <a:spcAft>
                <a:spcPts val="0"/>
              </a:spcAft>
            </a:pPr>
            <a:r>
              <a:rPr sz="1800" b="1" i="0">
                <a:solidFill>
                  <a:srgbClr val="000000"/>
                </a:solidFill>
              </a:rPr>
              <a:t>SQ</a:t>
            </a:r>
          </a:p>
          <a:p>
            <a:pPr algn="l">
              <a:spcAft>
                <a:spcPts val="400"/>
              </a:spcAft>
            </a:pPr>
            <a:r>
              <a:rPr sz="1400" b="0" i="0">
                <a:solidFill>
                  <a:srgbClr val="595959"/>
                </a:solidFill>
              </a:rPr>
              <a:t>specification quality</a:t>
            </a:r>
          </a:p>
        </p:txBody>
      </p:sp>
      <p:sp>
        <p:nvSpPr>
          <p:cNvPr id="18" name="TextBox 17"/>
          <p:cNvSpPr txBox="1"/>
          <p:nvPr/>
        </p:nvSpPr>
        <p:spPr>
          <a:xfrm>
            <a:off x="4937760" y="5029200"/>
            <a:ext cx="1920240" cy="548640"/>
          </a:xfrm>
          <a:prstGeom prst="rect">
            <a:avLst/>
          </a:prstGeom>
          <a:noFill/>
        </p:spPr>
        <p:txBody>
          <a:bodyPr wrap="square" lIns="45720" rIns="45720">
            <a:spAutoFit/>
          </a:bodyPr>
          <a:lstStyle/>
          <a:p>
            <a:pPr algn="l">
              <a:spcAft>
                <a:spcPts val="0"/>
              </a:spcAft>
            </a:pPr>
            <a:r>
              <a:rPr sz="1800" b="1" i="0">
                <a:solidFill>
                  <a:srgbClr val="000000"/>
                </a:solidFill>
              </a:rPr>
              <a:t>RQ</a:t>
            </a:r>
          </a:p>
          <a:p>
            <a:pPr algn="l">
              <a:spcAft>
                <a:spcPts val="400"/>
              </a:spcAft>
            </a:pPr>
            <a:r>
              <a:rPr sz="1400" b="0" i="0">
                <a:solidFill>
                  <a:srgbClr val="595959"/>
                </a:solidFill>
              </a:rPr>
              <a:t>realization quality</a:t>
            </a:r>
          </a:p>
        </p:txBody>
      </p:sp>
      <p:sp>
        <p:nvSpPr>
          <p:cNvPr id="19" name="Rectangle 18"/>
          <p:cNvSpPr/>
          <p:nvPr/>
        </p:nvSpPr>
        <p:spPr>
          <a:xfrm>
            <a:off x="7132320" y="1325880"/>
            <a:ext cx="4663440" cy="251460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Four conditions in A0</a:t>
            </a:r>
          </a:p>
          <a:p>
            <a:pPr algn="l" marL="256032" indent="-256032">
              <a:spcAft>
                <a:spcPts val="400"/>
              </a:spcAft>
              <a:buChar char="•"/>
            </a:pPr>
            <a:r>
              <a:rPr sz="1800" b="0" i="0">
                <a:solidFill>
                  <a:srgbClr val="000000"/>
                </a:solidFill>
              </a:rPr>
              <a:t>Every test passes</a:t>
            </a:r>
          </a:p>
          <a:p>
            <a:pPr algn="l" marL="256032" indent="-256032">
              <a:spcAft>
                <a:spcPts val="400"/>
              </a:spcAft>
              <a:buChar char="•"/>
            </a:pPr>
            <a:r>
              <a:rPr sz="1800" b="0" i="0">
                <a:solidFill>
                  <a:srgbClr val="000000"/>
                </a:solidFill>
              </a:rPr>
              <a:t>Requirements coverage: every test clause has a passing test</a:t>
            </a:r>
          </a:p>
          <a:p>
            <a:pPr algn="l" marL="256032" indent="-256032">
              <a:spcAft>
                <a:spcPts val="400"/>
              </a:spcAft>
              <a:buChar char="•"/>
            </a:pPr>
            <a:r>
              <a:rPr sz="1800" b="0" i="0">
                <a:solidFill>
                  <a:srgbClr val="000000"/>
                </a:solidFill>
              </a:rPr>
              <a:t>Structural coverage: every branch exercised</a:t>
            </a:r>
          </a:p>
          <a:p>
            <a:pPr algn="l" marL="256032" indent="-256032">
              <a:spcAft>
                <a:spcPts val="400"/>
              </a:spcAft>
              <a:buChar char="•"/>
            </a:pPr>
            <a:r>
              <a:rPr sz="1800" b="0" i="0">
                <a:solidFill>
                  <a:srgbClr val="000000"/>
                </a:solidFill>
              </a:rPr>
              <a:t>Every judgment clause has been walked</a:t>
            </a:r>
          </a:p>
        </p:txBody>
      </p:sp>
      <p:sp>
        <p:nvSpPr>
          <p:cNvPr id="20" name="Rectangle 19"/>
          <p:cNvSpPr/>
          <p:nvPr/>
        </p:nvSpPr>
        <p:spPr>
          <a:xfrm>
            <a:off x="7132320" y="4023360"/>
            <a:ext cx="4663440" cy="164592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Who decides</a:t>
            </a:r>
          </a:p>
          <a:p>
            <a:pPr algn="l" marL="256032" indent="-256032">
              <a:spcAft>
                <a:spcPts val="400"/>
              </a:spcAft>
              <a:buChar char="•"/>
            </a:pPr>
            <a:r>
              <a:rPr sz="1800" b="0" i="0">
                <a:solidFill>
                  <a:srgbClr val="000000"/>
                </a:solidFill>
              </a:rPr>
              <a:t>Programs for the first three; a person for the fourth</a:t>
            </a:r>
          </a:p>
          <a:p>
            <a:pPr algn="l" marL="256032" indent="-256032">
              <a:spcAft>
                <a:spcPts val="400"/>
              </a:spcAft>
              <a:buChar char="•"/>
            </a:pPr>
            <a:r>
              <a:rPr sz="1800" b="0" i="0">
                <a:solidFill>
                  <a:srgbClr val="000000"/>
                </a:solidFill>
              </a:rPr>
              <a:t>Three kinds of verifier: human, agent, algorithmic</a:t>
            </a:r>
          </a:p>
        </p:txBody>
      </p:sp>
      <p:sp>
        <p:nvSpPr>
          <p:cNvPr id="21" name="Rectangle 20"/>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Conformance: R satisfies every property S states. Verification: trying to confirm it; evidence with a scope.</a:t>
            </a:r>
          </a:p>
        </p:txBody>
      </p:sp>
      <p:cxnSp>
        <p:nvCxnSpPr>
          <p:cNvPr id="22" name="Connector 21"/>
          <p:cNvCxnSpPr/>
          <p:nvPr/>
        </p:nvCxnSpPr>
        <p:spPr>
          <a:xfrm flipH="1">
            <a:off x="5760720" y="3291840"/>
            <a:ext cx="1371600" cy="1097280"/>
          </a:xfrm>
          <a:prstGeom prst="line">
            <a:avLst/>
          </a:prstGeom>
          <a:ln w="19050">
            <a:solidFill>
              <a:srgbClr val="C0000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Validation (VAL)</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16</a:t>
            </a:r>
          </a:p>
        </p:txBody>
      </p:sp>
      <p:pic>
        <p:nvPicPr>
          <p:cNvPr id="5" name="Picture 4" descr="stakeholders-icon.png"/>
          <p:cNvPicPr>
            <a:picLocks noChangeAspect="1"/>
          </p:cNvPicPr>
          <p:nvPr/>
        </p:nvPicPr>
        <p:blipFill>
          <a:blip r:embed="rId3"/>
          <a:stretch>
            <a:fillRect/>
          </a:stretch>
        </p:blipFill>
        <p:spPr>
          <a:xfrm>
            <a:off x="2761488" y="1143000"/>
            <a:ext cx="868680" cy="868680"/>
          </a:xfrm>
          <a:prstGeom prst="rect">
            <a:avLst/>
          </a:prstGeom>
        </p:spPr>
      </p:pic>
      <p:sp>
        <p:nvSpPr>
          <p:cNvPr id="6" name="TextBox 5"/>
          <p:cNvSpPr txBox="1"/>
          <p:nvPr/>
        </p:nvSpPr>
        <p:spPr>
          <a:xfrm>
            <a:off x="1920240" y="1938528"/>
            <a:ext cx="2560320" cy="603504"/>
          </a:xfrm>
          <a:prstGeom prst="rect">
            <a:avLst/>
          </a:prstGeom>
          <a:noFill/>
        </p:spPr>
        <p:txBody>
          <a:bodyPr wrap="square" lIns="45720" rIns="45720">
            <a:spAutoFit/>
          </a:bodyPr>
          <a:lstStyle/>
          <a:p>
            <a:pPr algn="ctr">
              <a:spcAft>
                <a:spcPts val="0"/>
              </a:spcAft>
            </a:pPr>
            <a:r>
              <a:rPr sz="2000" b="1" i="0"/>
              <a:t>Intent</a:t>
            </a:r>
          </a:p>
          <a:p>
            <a:pPr algn="ctr">
              <a:spcAft>
                <a:spcPts val="400"/>
              </a:spcAft>
            </a:pPr>
            <a:r>
              <a:rPr sz="1400" b="0" i="0">
                <a:solidFill>
                  <a:srgbClr val="595959"/>
                </a:solidFill>
              </a:rPr>
              <a:t>the stakeholders; no artifact</a:t>
            </a:r>
          </a:p>
        </p:txBody>
      </p:sp>
      <p:sp>
        <p:nvSpPr>
          <p:cNvPr id="7" name="Rectangle 6"/>
          <p:cNvSpPr/>
          <p:nvPr/>
        </p:nvSpPr>
        <p:spPr>
          <a:xfrm>
            <a:off x="2240279" y="31089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Specifications</a:t>
            </a:r>
          </a:p>
        </p:txBody>
      </p:sp>
      <p:sp>
        <p:nvSpPr>
          <p:cNvPr id="8" name="Rectangle 7"/>
          <p:cNvSpPr/>
          <p:nvPr/>
        </p:nvSpPr>
        <p:spPr>
          <a:xfrm>
            <a:off x="2240279" y="49377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Realization</a:t>
            </a:r>
          </a:p>
        </p:txBody>
      </p:sp>
      <p:cxnSp>
        <p:nvCxnSpPr>
          <p:cNvPr id="9" name="Connector 8"/>
          <p:cNvCxnSpPr/>
          <p:nvPr/>
        </p:nvCxnSpPr>
        <p:spPr>
          <a:xfrm>
            <a:off x="3200399" y="2578608"/>
            <a:ext cx="0" cy="530352"/>
          </a:xfrm>
          <a:prstGeom prst="line">
            <a:avLst/>
          </a:prstGeom>
          <a:ln w="38100">
            <a:solidFill>
              <a:srgbClr val="6E1EC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520440" y="3886200"/>
            <a:ext cx="0" cy="1051560"/>
          </a:xfrm>
          <a:prstGeom prst="line">
            <a:avLst/>
          </a:prstGeom>
          <a:ln w="19050">
            <a:solidFill>
              <a:srgbClr val="0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560320" y="3886200"/>
            <a:ext cx="0" cy="1051560"/>
          </a:xfrm>
          <a:prstGeom prst="line">
            <a:avLst/>
          </a:prstGeom>
          <a:ln w="15875">
            <a:solidFill>
              <a:srgbClr val="595959"/>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U-Turn Arrow 11"/>
          <p:cNvSpPr/>
          <p:nvPr/>
        </p:nvSpPr>
        <p:spPr>
          <a:xfrm rot="16200000">
            <a:off x="4279392" y="31729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Turn Arrow 12"/>
          <p:cNvSpPr/>
          <p:nvPr/>
        </p:nvSpPr>
        <p:spPr>
          <a:xfrm rot="16200000">
            <a:off x="4279392" y="50017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560320"/>
            <a:ext cx="1828800" cy="548640"/>
          </a:xfrm>
          <a:prstGeom prst="rect">
            <a:avLst/>
          </a:prstGeom>
          <a:solidFill>
            <a:srgbClr val="FFF3B0"/>
          </a:solidFill>
          <a:ln w="12700">
            <a:solidFill>
              <a:srgbClr val="000000"/>
            </a:solidFill>
          </a:ln>
        </p:spPr>
        <p:txBody>
          <a:bodyPr wrap="square" lIns="45720" rIns="45720">
            <a:spAutoFit/>
          </a:bodyPr>
          <a:lstStyle/>
          <a:p>
            <a:pPr algn="l">
              <a:spcAft>
                <a:spcPts val="0"/>
              </a:spcAft>
            </a:pPr>
            <a:r>
              <a:rPr sz="1800" b="1" i="0">
                <a:solidFill>
                  <a:srgbClr val="6E1EC6"/>
                </a:solidFill>
              </a:rPr>
              <a:t>VAL</a:t>
            </a:r>
          </a:p>
          <a:p>
            <a:pPr algn="l">
              <a:spcAft>
                <a:spcPts val="400"/>
              </a:spcAft>
            </a:pPr>
            <a:r>
              <a:rPr sz="1400" b="0" i="0">
                <a:solidFill>
                  <a:srgbClr val="595959"/>
                </a:solidFill>
              </a:rPr>
              <a:t>validation</a:t>
            </a:r>
          </a:p>
        </p:txBody>
      </p:sp>
      <p:sp>
        <p:nvSpPr>
          <p:cNvPr id="15" name="TextBox 14"/>
          <p:cNvSpPr txBox="1"/>
          <p:nvPr/>
        </p:nvSpPr>
        <p:spPr>
          <a:xfrm>
            <a:off x="3657599" y="4114800"/>
            <a:ext cx="2606040" cy="566928"/>
          </a:xfrm>
          <a:prstGeom prst="rect">
            <a:avLst/>
          </a:prstGeom>
          <a:noFill/>
        </p:spPr>
        <p:txBody>
          <a:bodyPr wrap="square" lIns="45720" rIns="45720">
            <a:spAutoFit/>
          </a:bodyPr>
          <a:lstStyle/>
          <a:p>
            <a:pPr algn="l">
              <a:spcAft>
                <a:spcPts val="0"/>
              </a:spcAft>
            </a:pPr>
            <a:r>
              <a:rPr sz="1800" b="1" i="0">
                <a:solidFill>
                  <a:srgbClr val="000000"/>
                </a:solidFill>
              </a:rPr>
              <a:t>CONF</a:t>
            </a:r>
          </a:p>
          <a:p>
            <a:pPr algn="l">
              <a:spcAft>
                <a:spcPts val="400"/>
              </a:spcAft>
            </a:pPr>
            <a:r>
              <a:rPr sz="1400" b="0" i="0">
                <a:solidFill>
                  <a:srgbClr val="595959"/>
                </a:solidFill>
              </a:rPr>
              <a:t>conformance, by verification</a:t>
            </a:r>
          </a:p>
        </p:txBody>
      </p:sp>
      <p:sp>
        <p:nvSpPr>
          <p:cNvPr id="16" name="TextBox 15"/>
          <p:cNvSpPr txBox="1"/>
          <p:nvPr/>
        </p:nvSpPr>
        <p:spPr>
          <a:xfrm>
            <a:off x="777239" y="4114800"/>
            <a:ext cx="1691640" cy="548640"/>
          </a:xfrm>
          <a:prstGeom prst="rect">
            <a:avLst/>
          </a:prstGeom>
          <a:noFill/>
        </p:spPr>
        <p:txBody>
          <a:bodyPr wrap="square" lIns="45720" rIns="45720">
            <a:spAutoFit/>
          </a:bodyPr>
          <a:lstStyle/>
          <a:p>
            <a:pPr algn="r">
              <a:spcAft>
                <a:spcPts val="0"/>
              </a:spcAft>
            </a:pPr>
            <a:r>
              <a:rPr sz="1800" b="1" i="0">
                <a:solidFill>
                  <a:srgbClr val="000000"/>
                </a:solidFill>
              </a:rPr>
              <a:t>TR</a:t>
            </a:r>
          </a:p>
          <a:p>
            <a:pPr algn="r">
              <a:spcAft>
                <a:spcPts val="400"/>
              </a:spcAft>
            </a:pPr>
            <a:r>
              <a:rPr sz="1400" b="0" i="0">
                <a:solidFill>
                  <a:srgbClr val="595959"/>
                </a:solidFill>
              </a:rPr>
              <a:t>traceability</a:t>
            </a:r>
          </a:p>
        </p:txBody>
      </p:sp>
      <p:sp>
        <p:nvSpPr>
          <p:cNvPr id="17" name="TextBox 16"/>
          <p:cNvSpPr txBox="1"/>
          <p:nvPr/>
        </p:nvSpPr>
        <p:spPr>
          <a:xfrm>
            <a:off x="4937760" y="3200400"/>
            <a:ext cx="1920240" cy="548640"/>
          </a:xfrm>
          <a:prstGeom prst="rect">
            <a:avLst/>
          </a:prstGeom>
          <a:noFill/>
        </p:spPr>
        <p:txBody>
          <a:bodyPr wrap="square" lIns="45720" rIns="45720">
            <a:spAutoFit/>
          </a:bodyPr>
          <a:lstStyle/>
          <a:p>
            <a:pPr algn="l">
              <a:spcAft>
                <a:spcPts val="0"/>
              </a:spcAft>
            </a:pPr>
            <a:r>
              <a:rPr sz="1800" b="1" i="0">
                <a:solidFill>
                  <a:srgbClr val="000000"/>
                </a:solidFill>
              </a:rPr>
              <a:t>SQ</a:t>
            </a:r>
          </a:p>
          <a:p>
            <a:pPr algn="l">
              <a:spcAft>
                <a:spcPts val="400"/>
              </a:spcAft>
            </a:pPr>
            <a:r>
              <a:rPr sz="1400" b="0" i="0">
                <a:solidFill>
                  <a:srgbClr val="595959"/>
                </a:solidFill>
              </a:rPr>
              <a:t>specification quality</a:t>
            </a:r>
          </a:p>
        </p:txBody>
      </p:sp>
      <p:sp>
        <p:nvSpPr>
          <p:cNvPr id="18" name="TextBox 17"/>
          <p:cNvSpPr txBox="1"/>
          <p:nvPr/>
        </p:nvSpPr>
        <p:spPr>
          <a:xfrm>
            <a:off x="4937760" y="5029200"/>
            <a:ext cx="1920240" cy="548640"/>
          </a:xfrm>
          <a:prstGeom prst="rect">
            <a:avLst/>
          </a:prstGeom>
          <a:noFill/>
        </p:spPr>
        <p:txBody>
          <a:bodyPr wrap="square" lIns="45720" rIns="45720">
            <a:spAutoFit/>
          </a:bodyPr>
          <a:lstStyle/>
          <a:p>
            <a:pPr algn="l">
              <a:spcAft>
                <a:spcPts val="0"/>
              </a:spcAft>
            </a:pPr>
            <a:r>
              <a:rPr sz="1800" b="1" i="0">
                <a:solidFill>
                  <a:srgbClr val="000000"/>
                </a:solidFill>
              </a:rPr>
              <a:t>RQ</a:t>
            </a:r>
          </a:p>
          <a:p>
            <a:pPr algn="l">
              <a:spcAft>
                <a:spcPts val="400"/>
              </a:spcAft>
            </a:pPr>
            <a:r>
              <a:rPr sz="1400" b="0" i="0">
                <a:solidFill>
                  <a:srgbClr val="595959"/>
                </a:solidFill>
              </a:rPr>
              <a:t>realization quality</a:t>
            </a:r>
          </a:p>
        </p:txBody>
      </p:sp>
      <p:sp>
        <p:nvSpPr>
          <p:cNvPr id="19" name="Rectangle 18"/>
          <p:cNvSpPr/>
          <p:nvPr/>
        </p:nvSpPr>
        <p:spPr>
          <a:xfrm>
            <a:off x="7132320" y="1325880"/>
            <a:ext cx="4663440" cy="214884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Do the specifications describe what is intended?</a:t>
            </a:r>
          </a:p>
          <a:p>
            <a:pPr algn="l" marL="256032" indent="-256032">
              <a:spcAft>
                <a:spcPts val="400"/>
              </a:spcAft>
              <a:buChar char="•"/>
            </a:pPr>
            <a:r>
              <a:rPr sz="1800" b="0" i="0">
                <a:solidFill>
                  <a:srgbClr val="000000"/>
                </a:solidFill>
              </a:rPr>
              <a:t>Verification compares two artifacts, both in the repository</a:t>
            </a:r>
          </a:p>
          <a:p>
            <a:pPr algn="l" marL="256032" indent="-256032">
              <a:spcAft>
                <a:spcPts val="400"/>
              </a:spcAft>
              <a:buChar char="•"/>
            </a:pPr>
            <a:r>
              <a:rPr sz="1800" b="0" i="0">
                <a:solidFill>
                  <a:srgbClr val="000000"/>
                </a:solidFill>
              </a:rPr>
              <a:t>Validation compares an artifact with what is in a person's mind</a:t>
            </a:r>
          </a:p>
        </p:txBody>
      </p:sp>
      <p:sp>
        <p:nvSpPr>
          <p:cNvPr id="20" name="Rectangle 19"/>
          <p:cNvSpPr/>
          <p:nvPr/>
        </p:nvSpPr>
        <p:spPr>
          <a:xfrm>
            <a:off x="7132320" y="3657600"/>
            <a:ext cx="4663440" cy="201168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How it is decided</a:t>
            </a:r>
          </a:p>
          <a:p>
            <a:pPr algn="l" marL="256032" indent="-256032">
              <a:spcAft>
                <a:spcPts val="400"/>
              </a:spcAft>
              <a:buChar char="•"/>
            </a:pPr>
            <a:r>
              <a:rPr sz="1800" b="0" i="0">
                <a:solidFill>
                  <a:srgbClr val="000000"/>
                </a:solidFill>
              </a:rPr>
              <a:t>Only a person can decide it</a:t>
            </a:r>
          </a:p>
          <a:p>
            <a:pPr algn="l" marL="256032" indent="-256032">
              <a:spcAft>
                <a:spcPts val="400"/>
              </a:spcAft>
              <a:buChar char="•"/>
            </a:pPr>
            <a:r>
              <a:rPr sz="1800" b="0" i="0">
                <a:solidFill>
                  <a:srgbClr val="000000"/>
                </a:solidFill>
              </a:rPr>
              <a:t>Recorded as a sign-off: who, in which role, when, on which version</a:t>
            </a:r>
          </a:p>
        </p:txBody>
      </p:sp>
      <p:sp>
        <p:nvSpPr>
          <p:cNvPr id="21" name="Rectangle 20"/>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It can fail while SQ, RQ, CONF, and TR all hold; it goes stale when a stakeholder changes their mind.</a:t>
            </a:r>
          </a:p>
        </p:txBody>
      </p:sp>
      <p:cxnSp>
        <p:nvCxnSpPr>
          <p:cNvPr id="22" name="Connector 21"/>
          <p:cNvCxnSpPr/>
          <p:nvPr/>
        </p:nvCxnSpPr>
        <p:spPr>
          <a:xfrm flipH="1">
            <a:off x="5166360" y="2194560"/>
            <a:ext cx="1965960" cy="640080"/>
          </a:xfrm>
          <a:prstGeom prst="line">
            <a:avLst/>
          </a:prstGeom>
          <a:ln w="19050">
            <a:solidFill>
              <a:srgbClr val="C0000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Traceability (TR)</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17</a:t>
            </a:r>
          </a:p>
        </p:txBody>
      </p:sp>
      <p:pic>
        <p:nvPicPr>
          <p:cNvPr id="5" name="Picture 4" descr="stakeholders-icon.png"/>
          <p:cNvPicPr>
            <a:picLocks noChangeAspect="1"/>
          </p:cNvPicPr>
          <p:nvPr/>
        </p:nvPicPr>
        <p:blipFill>
          <a:blip r:embed="rId3"/>
          <a:stretch>
            <a:fillRect/>
          </a:stretch>
        </p:blipFill>
        <p:spPr>
          <a:xfrm>
            <a:off x="2761488" y="1143000"/>
            <a:ext cx="868680" cy="868680"/>
          </a:xfrm>
          <a:prstGeom prst="rect">
            <a:avLst/>
          </a:prstGeom>
        </p:spPr>
      </p:pic>
      <p:sp>
        <p:nvSpPr>
          <p:cNvPr id="6" name="TextBox 5"/>
          <p:cNvSpPr txBox="1"/>
          <p:nvPr/>
        </p:nvSpPr>
        <p:spPr>
          <a:xfrm>
            <a:off x="1920240" y="1938528"/>
            <a:ext cx="2560320" cy="603504"/>
          </a:xfrm>
          <a:prstGeom prst="rect">
            <a:avLst/>
          </a:prstGeom>
          <a:noFill/>
        </p:spPr>
        <p:txBody>
          <a:bodyPr wrap="square" lIns="45720" rIns="45720">
            <a:spAutoFit/>
          </a:bodyPr>
          <a:lstStyle/>
          <a:p>
            <a:pPr algn="ctr">
              <a:spcAft>
                <a:spcPts val="0"/>
              </a:spcAft>
            </a:pPr>
            <a:r>
              <a:rPr sz="2000" b="1" i="0"/>
              <a:t>Intent</a:t>
            </a:r>
          </a:p>
          <a:p>
            <a:pPr algn="ctr">
              <a:spcAft>
                <a:spcPts val="400"/>
              </a:spcAft>
            </a:pPr>
            <a:r>
              <a:rPr sz="1400" b="0" i="0">
                <a:solidFill>
                  <a:srgbClr val="595959"/>
                </a:solidFill>
              </a:rPr>
              <a:t>the stakeholders; no artifact</a:t>
            </a:r>
          </a:p>
        </p:txBody>
      </p:sp>
      <p:sp>
        <p:nvSpPr>
          <p:cNvPr id="7" name="Rectangle 6"/>
          <p:cNvSpPr/>
          <p:nvPr/>
        </p:nvSpPr>
        <p:spPr>
          <a:xfrm>
            <a:off x="2240279" y="31089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Specifications</a:t>
            </a:r>
          </a:p>
        </p:txBody>
      </p:sp>
      <p:sp>
        <p:nvSpPr>
          <p:cNvPr id="8" name="Rectangle 7"/>
          <p:cNvSpPr/>
          <p:nvPr/>
        </p:nvSpPr>
        <p:spPr>
          <a:xfrm>
            <a:off x="2240279" y="4937760"/>
            <a:ext cx="1920240" cy="77724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2000" b="0" i="0">
                <a:solidFill>
                  <a:srgbClr val="000000"/>
                </a:solidFill>
              </a:rPr>
              <a:t>Realization</a:t>
            </a:r>
          </a:p>
        </p:txBody>
      </p:sp>
      <p:cxnSp>
        <p:nvCxnSpPr>
          <p:cNvPr id="9" name="Connector 8"/>
          <p:cNvCxnSpPr/>
          <p:nvPr/>
        </p:nvCxnSpPr>
        <p:spPr>
          <a:xfrm>
            <a:off x="3200399" y="2578608"/>
            <a:ext cx="0" cy="53035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520440" y="3886200"/>
            <a:ext cx="0" cy="1051560"/>
          </a:xfrm>
          <a:prstGeom prst="line">
            <a:avLst/>
          </a:prstGeom>
          <a:ln w="19050">
            <a:solidFill>
              <a:srgbClr val="0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560320" y="3886200"/>
            <a:ext cx="0" cy="1051560"/>
          </a:xfrm>
          <a:prstGeom prst="line">
            <a:avLst/>
          </a:prstGeom>
          <a:ln w="31750">
            <a:solidFill>
              <a:srgbClr val="6E1EC6"/>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U-Turn Arrow 11"/>
          <p:cNvSpPr/>
          <p:nvPr/>
        </p:nvSpPr>
        <p:spPr>
          <a:xfrm rot="16200000">
            <a:off x="4279392" y="31729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Turn Arrow 12"/>
          <p:cNvSpPr/>
          <p:nvPr/>
        </p:nvSpPr>
        <p:spPr>
          <a:xfrm rot="16200000">
            <a:off x="4279392" y="5001768"/>
            <a:ext cx="566928" cy="640080"/>
          </a:xfrm>
          <a:prstGeom prst="uturn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560320"/>
            <a:ext cx="1828800" cy="548640"/>
          </a:xfrm>
          <a:prstGeom prst="rect">
            <a:avLst/>
          </a:prstGeom>
          <a:noFill/>
        </p:spPr>
        <p:txBody>
          <a:bodyPr wrap="square" lIns="45720" rIns="45720">
            <a:spAutoFit/>
          </a:bodyPr>
          <a:lstStyle/>
          <a:p>
            <a:pPr algn="l">
              <a:spcAft>
                <a:spcPts val="0"/>
              </a:spcAft>
            </a:pPr>
            <a:r>
              <a:rPr sz="1800" b="1" i="0">
                <a:solidFill>
                  <a:srgbClr val="000000"/>
                </a:solidFill>
              </a:rPr>
              <a:t>VAL</a:t>
            </a:r>
          </a:p>
          <a:p>
            <a:pPr algn="l">
              <a:spcAft>
                <a:spcPts val="400"/>
              </a:spcAft>
            </a:pPr>
            <a:r>
              <a:rPr sz="1400" b="0" i="0">
                <a:solidFill>
                  <a:srgbClr val="595959"/>
                </a:solidFill>
              </a:rPr>
              <a:t>validation</a:t>
            </a:r>
          </a:p>
        </p:txBody>
      </p:sp>
      <p:sp>
        <p:nvSpPr>
          <p:cNvPr id="15" name="TextBox 14"/>
          <p:cNvSpPr txBox="1"/>
          <p:nvPr/>
        </p:nvSpPr>
        <p:spPr>
          <a:xfrm>
            <a:off x="3657599" y="4114800"/>
            <a:ext cx="2606040" cy="566928"/>
          </a:xfrm>
          <a:prstGeom prst="rect">
            <a:avLst/>
          </a:prstGeom>
          <a:noFill/>
        </p:spPr>
        <p:txBody>
          <a:bodyPr wrap="square" lIns="45720" rIns="45720">
            <a:spAutoFit/>
          </a:bodyPr>
          <a:lstStyle/>
          <a:p>
            <a:pPr algn="l">
              <a:spcAft>
                <a:spcPts val="0"/>
              </a:spcAft>
            </a:pPr>
            <a:r>
              <a:rPr sz="1800" b="1" i="0">
                <a:solidFill>
                  <a:srgbClr val="000000"/>
                </a:solidFill>
              </a:rPr>
              <a:t>CONF</a:t>
            </a:r>
          </a:p>
          <a:p>
            <a:pPr algn="l">
              <a:spcAft>
                <a:spcPts val="400"/>
              </a:spcAft>
            </a:pPr>
            <a:r>
              <a:rPr sz="1400" b="0" i="0">
                <a:solidFill>
                  <a:srgbClr val="595959"/>
                </a:solidFill>
              </a:rPr>
              <a:t>conformance, by verification</a:t>
            </a:r>
          </a:p>
        </p:txBody>
      </p:sp>
      <p:sp>
        <p:nvSpPr>
          <p:cNvPr id="16" name="TextBox 15"/>
          <p:cNvSpPr txBox="1"/>
          <p:nvPr/>
        </p:nvSpPr>
        <p:spPr>
          <a:xfrm>
            <a:off x="777239" y="4114800"/>
            <a:ext cx="1691640" cy="548640"/>
          </a:xfrm>
          <a:prstGeom prst="rect">
            <a:avLst/>
          </a:prstGeom>
          <a:solidFill>
            <a:srgbClr val="FFF3B0"/>
          </a:solidFill>
          <a:ln w="12700">
            <a:solidFill>
              <a:srgbClr val="000000"/>
            </a:solidFill>
          </a:ln>
        </p:spPr>
        <p:txBody>
          <a:bodyPr wrap="square" lIns="45720" rIns="45720">
            <a:spAutoFit/>
          </a:bodyPr>
          <a:lstStyle/>
          <a:p>
            <a:pPr algn="r">
              <a:spcAft>
                <a:spcPts val="0"/>
              </a:spcAft>
            </a:pPr>
            <a:r>
              <a:rPr sz="1800" b="1" i="0">
                <a:solidFill>
                  <a:srgbClr val="6E1EC6"/>
                </a:solidFill>
              </a:rPr>
              <a:t>TR</a:t>
            </a:r>
          </a:p>
          <a:p>
            <a:pPr algn="r">
              <a:spcAft>
                <a:spcPts val="400"/>
              </a:spcAft>
            </a:pPr>
            <a:r>
              <a:rPr sz="1400" b="0" i="0">
                <a:solidFill>
                  <a:srgbClr val="595959"/>
                </a:solidFill>
              </a:rPr>
              <a:t>traceability</a:t>
            </a:r>
          </a:p>
        </p:txBody>
      </p:sp>
      <p:sp>
        <p:nvSpPr>
          <p:cNvPr id="17" name="TextBox 16"/>
          <p:cNvSpPr txBox="1"/>
          <p:nvPr/>
        </p:nvSpPr>
        <p:spPr>
          <a:xfrm>
            <a:off x="4937760" y="3200400"/>
            <a:ext cx="1920240" cy="548640"/>
          </a:xfrm>
          <a:prstGeom prst="rect">
            <a:avLst/>
          </a:prstGeom>
          <a:noFill/>
        </p:spPr>
        <p:txBody>
          <a:bodyPr wrap="square" lIns="45720" rIns="45720">
            <a:spAutoFit/>
          </a:bodyPr>
          <a:lstStyle/>
          <a:p>
            <a:pPr algn="l">
              <a:spcAft>
                <a:spcPts val="0"/>
              </a:spcAft>
            </a:pPr>
            <a:r>
              <a:rPr sz="1800" b="1" i="0">
                <a:solidFill>
                  <a:srgbClr val="000000"/>
                </a:solidFill>
              </a:rPr>
              <a:t>SQ</a:t>
            </a:r>
          </a:p>
          <a:p>
            <a:pPr algn="l">
              <a:spcAft>
                <a:spcPts val="400"/>
              </a:spcAft>
            </a:pPr>
            <a:r>
              <a:rPr sz="1400" b="0" i="0">
                <a:solidFill>
                  <a:srgbClr val="595959"/>
                </a:solidFill>
              </a:rPr>
              <a:t>specification quality</a:t>
            </a:r>
          </a:p>
        </p:txBody>
      </p:sp>
      <p:sp>
        <p:nvSpPr>
          <p:cNvPr id="18" name="TextBox 17"/>
          <p:cNvSpPr txBox="1"/>
          <p:nvPr/>
        </p:nvSpPr>
        <p:spPr>
          <a:xfrm>
            <a:off x="4937760" y="5029200"/>
            <a:ext cx="1920240" cy="548640"/>
          </a:xfrm>
          <a:prstGeom prst="rect">
            <a:avLst/>
          </a:prstGeom>
          <a:noFill/>
        </p:spPr>
        <p:txBody>
          <a:bodyPr wrap="square" lIns="45720" rIns="45720">
            <a:spAutoFit/>
          </a:bodyPr>
          <a:lstStyle/>
          <a:p>
            <a:pPr algn="l">
              <a:spcAft>
                <a:spcPts val="0"/>
              </a:spcAft>
            </a:pPr>
            <a:r>
              <a:rPr sz="1800" b="1" i="0">
                <a:solidFill>
                  <a:srgbClr val="000000"/>
                </a:solidFill>
              </a:rPr>
              <a:t>RQ</a:t>
            </a:r>
          </a:p>
          <a:p>
            <a:pPr algn="l">
              <a:spcAft>
                <a:spcPts val="400"/>
              </a:spcAft>
            </a:pPr>
            <a:r>
              <a:rPr sz="1400" b="0" i="0">
                <a:solidFill>
                  <a:srgbClr val="595959"/>
                </a:solidFill>
              </a:rPr>
              <a:t>realization quality</a:t>
            </a:r>
          </a:p>
        </p:txBody>
      </p:sp>
      <p:sp>
        <p:nvSpPr>
          <p:cNvPr id="19" name="Rectangle 18"/>
          <p:cNvSpPr/>
          <p:nvPr/>
        </p:nvSpPr>
        <p:spPr>
          <a:xfrm>
            <a:off x="7132320" y="1325880"/>
            <a:ext cx="4663440" cy="228600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What TR asks</a:t>
            </a:r>
          </a:p>
          <a:p>
            <a:pPr algn="l" marL="256032" indent="-256032">
              <a:spcAft>
                <a:spcPts val="400"/>
              </a:spcAft>
              <a:buChar char="•"/>
            </a:pPr>
            <a:r>
              <a:rPr sz="1800" b="0" i="0">
                <a:solidFill>
                  <a:srgbClr val="000000"/>
                </a:solidFill>
              </a:rPr>
              <a:t>Every clause carries an identifier</a:t>
            </a:r>
          </a:p>
          <a:p>
            <a:pPr algn="l" marL="256032" indent="-256032">
              <a:spcAft>
                <a:spcPts val="400"/>
              </a:spcAft>
              <a:buChar char="•"/>
            </a:pPr>
            <a:r>
              <a:rPr sz="1800" b="0" i="0">
                <a:solidFill>
                  <a:srgbClr val="000000"/>
                </a:solidFill>
              </a:rPr>
              <a:t>Every link resolves, both ways: story → requirement → test → report row → ledger row</a:t>
            </a:r>
          </a:p>
        </p:txBody>
      </p:sp>
      <p:sp>
        <p:nvSpPr>
          <p:cNvPr id="20" name="Rectangle 19"/>
          <p:cNvSpPr/>
          <p:nvPr/>
        </p:nvSpPr>
        <p:spPr>
          <a:xfrm>
            <a:off x="7132320" y="3794760"/>
            <a:ext cx="4663440" cy="1874519"/>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Decided by</a:t>
            </a:r>
          </a:p>
          <a:p>
            <a:pPr algn="l" marL="256032" indent="-256032">
              <a:spcAft>
                <a:spcPts val="400"/>
              </a:spcAft>
              <a:buChar char="•"/>
            </a:pPr>
            <a:r>
              <a:rPr sz="1800" b="0" i="0">
                <a:solidFill>
                  <a:srgbClr val="000000"/>
                </a:solidFill>
              </a:rPr>
              <a:t>The markers: a program lists any it cannot resolve</a:t>
            </a:r>
          </a:p>
          <a:p>
            <a:pPr algn="l" marL="256032" indent="-256032">
              <a:spcAft>
                <a:spcPts val="400"/>
              </a:spcAft>
              <a:buChar char="•"/>
            </a:pPr>
            <a:r>
              <a:rPr sz="1800" b="0" i="0">
                <a:solidFill>
                  <a:srgbClr val="000000"/>
                </a:solidFill>
              </a:rPr>
              <a:t>The "derived from" fields: a person, with SQ</a:t>
            </a:r>
          </a:p>
        </p:txBody>
      </p:sp>
      <p:sp>
        <p:nvSpPr>
          <p:cNvPr id="21" name="Rectangle 20"/>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Identifiers are the vocabulary a person, an agent, and a program share: REQ-1 means one sentence.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400"/>
              </a:spcAft>
            </a:pPr>
            <a:r>
              <a:rPr sz="3400" b="1" i="0"/>
              <a:t>Part 2 · The judgments on a real system</a:t>
            </a:r>
          </a:p>
        </p:txBody>
      </p:sp>
      <p:sp>
        <p:nvSpPr>
          <p:cNvPr id="3" name="Text Placeholder 2"/>
          <p:cNvSpPr>
            <a:spLocks noGrp="1"/>
          </p:cNvSpPr>
          <p:nvPr>
            <p:ph type="body" idx="1"/>
          </p:nvPr>
        </p:nvSpPr>
        <p:spPr/>
        <p:txBody>
          <a:bodyPr/>
          <a:lstStyle/>
          <a:p>
            <a:pPr>
              <a:spcAft>
                <a:spcPts val="400"/>
              </a:spcAft>
            </a:pPr>
            <a:r>
              <a:rPr sz="2000" b="0" i="0">
                <a:solidFill>
                  <a:srgbClr val="595959"/>
                </a:solidFill>
              </a:rPr>
              <a:t>Message guard, version A0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example: a message guard</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19</a:t>
            </a:r>
          </a:p>
        </p:txBody>
      </p:sp>
      <p:sp>
        <p:nvSpPr>
          <p:cNvPr id="5" name="TextBox 4"/>
          <p:cNvSpPr txBox="1"/>
          <p:nvPr/>
        </p:nvSpPr>
        <p:spPr>
          <a:xfrm>
            <a:off x="777240" y="1325880"/>
            <a:ext cx="5669280" cy="4937760"/>
          </a:xfrm>
          <a:prstGeom prst="rect">
            <a:avLst/>
          </a:prstGeom>
          <a:noFill/>
        </p:spPr>
        <p:txBody>
          <a:bodyPr wrap="square" lIns="45720" rIns="45720" tIns="27432" bIns="27432">
            <a:spAutoFit/>
          </a:bodyPr>
          <a:lstStyle/>
          <a:p>
            <a:pPr marL="256032" indent="-256032">
              <a:spcAft>
                <a:spcPts val="800"/>
              </a:spcAft>
              <a:buChar char="•"/>
            </a:pPr>
            <a:r>
              <a:rPr sz="1800" b="0" i="0"/>
              <a:t>A protected enclave produces messages; some must reach a less trusted network outside</a:t>
            </a:r>
          </a:p>
          <a:p>
            <a:pPr marL="256032" indent="-256032">
              <a:spcAft>
                <a:spcPts val="800"/>
              </a:spcAft>
              <a:buChar char="•"/>
            </a:pPr>
            <a:r>
              <a:rPr sz="1800" b="0" i="0"/>
              <a:t>The guard decides, one message at a time, whether a message may leave</a:t>
            </a:r>
          </a:p>
          <a:p>
            <a:pPr marL="256032" indent="-256032">
              <a:spcAft>
                <a:spcPts val="800"/>
              </a:spcAft>
              <a:buChar char="•"/>
            </a:pPr>
            <a:r>
              <a:rPr sz="1800" b="1" i="0"/>
              <a:t>A message: </a:t>
            </a:r>
            <a:r>
              <a:rPr sz="1800" b="0" i="0"/>
              <a:t>a security level (Public, Restricted, Critical) and an integer payload</a:t>
            </a:r>
          </a:p>
          <a:p>
            <a:pPr marL="256032" indent="-256032">
              <a:spcAft>
                <a:spcPts val="800"/>
              </a:spcAft>
              <a:buChar char="•"/>
            </a:pPr>
            <a:r>
              <a:rPr sz="1800" b="1" i="0"/>
              <a:t>Version A0: </a:t>
            </a:r>
            <a:r>
              <a:rPr sz="1800" b="0" i="0"/>
              <a:t>one stage, </a:t>
            </a:r>
            <a:r>
              <a:rPr sz="1800" b="1" i="0">
                <a:solidFill>
                  <a:srgbClr val="101040"/>
                </a:solidFill>
                <a:latin typeface="Courier New"/>
              </a:rPr>
              <a:t>filter</a:t>
            </a:r>
            <a:r>
              <a:rPr sz="1800" b="0" i="0"/>
              <a:t>. Critical is dropped; anything else passes unchanged</a:t>
            </a:r>
          </a:p>
        </p:txBody>
      </p:sp>
      <p:sp>
        <p:nvSpPr>
          <p:cNvPr id="6" name="Rectangle 5"/>
          <p:cNvSpPr/>
          <p:nvPr/>
        </p:nvSpPr>
        <p:spPr>
          <a:xfrm>
            <a:off x="6675120" y="1828800"/>
            <a:ext cx="1371600" cy="822960"/>
          </a:xfrm>
          <a:prstGeom prst="rect">
            <a:avLst/>
          </a:prstGeom>
          <a:solidFill>
            <a:srgbClr val="F2F2F2"/>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0" i="0">
                <a:solidFill>
                  <a:srgbClr val="000000"/>
                </a:solidFill>
              </a:rPr>
              <a:t>sender</a:t>
            </a:r>
          </a:p>
        </p:txBody>
      </p:sp>
      <p:cxnSp>
        <p:nvCxnSpPr>
          <p:cNvPr id="7" name="Connector 6"/>
          <p:cNvCxnSpPr/>
          <p:nvPr/>
        </p:nvCxnSpPr>
        <p:spPr>
          <a:xfrm>
            <a:off x="8092440" y="2240280"/>
            <a:ext cx="54864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8686800" y="1600200"/>
            <a:ext cx="1737360" cy="128016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800" b="1" i="0">
                <a:solidFill>
                  <a:srgbClr val="000000"/>
                </a:solidFill>
              </a:rPr>
              <a:t>guard</a:t>
            </a:r>
          </a:p>
          <a:p>
            <a:pPr algn="ctr">
              <a:spcAft>
                <a:spcPts val="200"/>
              </a:spcAft>
            </a:pPr>
            <a:r>
              <a:rPr sz="1600" b="1" i="0">
                <a:solidFill>
                  <a:srgbClr val="101040"/>
                </a:solidFill>
                <a:latin typeface="Courier New"/>
              </a:rPr>
              <a:t>filter</a:t>
            </a:r>
          </a:p>
        </p:txBody>
      </p:sp>
      <p:cxnSp>
        <p:nvCxnSpPr>
          <p:cNvPr id="9" name="Connector 8"/>
          <p:cNvCxnSpPr/>
          <p:nvPr/>
        </p:nvCxnSpPr>
        <p:spPr>
          <a:xfrm>
            <a:off x="10469880" y="1965960"/>
            <a:ext cx="54864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1064240" y="1737360"/>
            <a:ext cx="731520" cy="457200"/>
          </a:xfrm>
          <a:prstGeom prst="rect">
            <a:avLst/>
          </a:prstGeom>
          <a:noFill/>
        </p:spPr>
        <p:txBody>
          <a:bodyPr wrap="square" lIns="45720" rIns="45720">
            <a:spAutoFit/>
          </a:bodyPr>
          <a:lstStyle/>
          <a:p>
            <a:pPr>
              <a:spcAft>
                <a:spcPts val="400"/>
              </a:spcAft>
            </a:pPr>
            <a:r>
              <a:rPr sz="1800" b="1" i="0">
                <a:solidFill>
                  <a:srgbClr val="2E7D32"/>
                </a:solidFill>
              </a:rPr>
              <a:t>pass</a:t>
            </a:r>
          </a:p>
        </p:txBody>
      </p:sp>
      <p:cxnSp>
        <p:nvCxnSpPr>
          <p:cNvPr id="11" name="Connector 10"/>
          <p:cNvCxnSpPr/>
          <p:nvPr/>
        </p:nvCxnSpPr>
        <p:spPr>
          <a:xfrm>
            <a:off x="10469880" y="2514600"/>
            <a:ext cx="54864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1064240" y="2286000"/>
            <a:ext cx="731520" cy="457200"/>
          </a:xfrm>
          <a:prstGeom prst="rect">
            <a:avLst/>
          </a:prstGeom>
          <a:noFill/>
        </p:spPr>
        <p:txBody>
          <a:bodyPr wrap="square" lIns="45720" rIns="45720">
            <a:spAutoFit/>
          </a:bodyPr>
          <a:lstStyle/>
          <a:p>
            <a:pPr>
              <a:spcAft>
                <a:spcPts val="400"/>
              </a:spcAft>
            </a:pPr>
            <a:r>
              <a:rPr sz="1800" b="1" i="0">
                <a:solidFill>
                  <a:srgbClr val="C00000"/>
                </a:solidFill>
              </a:rPr>
              <a:t>drop</a:t>
            </a:r>
          </a:p>
        </p:txBody>
      </p:sp>
      <p:graphicFrame>
        <p:nvGraphicFramePr>
          <p:cNvPr id="13" name="Table 12"/>
          <p:cNvGraphicFramePr>
            <a:graphicFrameLocks noGrp="1"/>
          </p:cNvGraphicFramePr>
          <p:nvPr/>
        </p:nvGraphicFramePr>
        <p:xfrm>
          <a:off x="6675120" y="3383280"/>
          <a:ext cx="5120640" cy="1645920"/>
        </p:xfrm>
        <a:graphic>
          <a:graphicData uri="http://schemas.openxmlformats.org/drawingml/2006/table">
            <a:tbl>
              <a:tblPr firstRow="1" bandRow="1">
                <a:tableStyleId>{5C22544A-7EE6-4342-B048-85BDC9FD1C3A}</a:tableStyleId>
              </a:tblPr>
              <a:tblGrid>
                <a:gridCol w="1463040"/>
                <a:gridCol w="2377440"/>
                <a:gridCol w="1280160"/>
              </a:tblGrid>
              <a:tr h="411480">
                <a:tc>
                  <a:txBody>
                    <a:bodyPr wrap="square"/>
                    <a:lstStyle/>
                    <a:p>
                      <a:pPr>
                        <a:spcAft>
                          <a:spcPts val="0"/>
                        </a:spcAft>
                      </a:pPr>
                      <a:r>
                        <a:rPr sz="1600" b="1" i="0">
                          <a:solidFill>
                            <a:srgbClr val="FFFFFF"/>
                          </a:solidFill>
                        </a:rPr>
                        <a:t>Level</a:t>
                      </a:r>
                    </a:p>
                  </a:txBody>
                  <a:tcPr marL="73152" marR="73152" marT="36576" marB="36576">
                    <a:solidFill>
                      <a:srgbClr val="6E1EC6"/>
                    </a:solidFill>
                  </a:tcPr>
                </a:tc>
                <a:tc>
                  <a:txBody>
                    <a:bodyPr wrap="square"/>
                    <a:lstStyle/>
                    <a:p>
                      <a:pPr>
                        <a:spcAft>
                          <a:spcPts val="0"/>
                        </a:spcAft>
                      </a:pPr>
                      <a:r>
                        <a:rPr sz="1600" b="1" i="0">
                          <a:solidFill>
                            <a:srgbClr val="FFFFFF"/>
                          </a:solidFill>
                        </a:rPr>
                        <a:t>A0 behavior</a:t>
                      </a:r>
                    </a:p>
                  </a:txBody>
                  <a:tcPr marL="73152" marR="73152" marT="36576" marB="36576">
                    <a:solidFill>
                      <a:srgbClr val="6E1EC6"/>
                    </a:solidFill>
                  </a:tcPr>
                </a:tc>
                <a:tc>
                  <a:txBody>
                    <a:bodyPr wrap="square"/>
                    <a:lstStyle/>
                    <a:p>
                      <a:pPr>
                        <a:spcAft>
                          <a:spcPts val="0"/>
                        </a:spcAft>
                      </a:pPr>
                      <a:r>
                        <a:rPr sz="1600" b="1" i="0">
                          <a:solidFill>
                            <a:srgbClr val="FFFFFF"/>
                          </a:solidFill>
                        </a:rPr>
                        <a:t>HAMR</a:t>
                      </a:r>
                    </a:p>
                  </a:txBody>
                  <a:tcPr marL="73152" marR="73152" marT="36576" marB="36576">
                    <a:solidFill>
                      <a:srgbClr val="6E1EC6"/>
                    </a:solidFill>
                  </a:tcPr>
                </a:tc>
              </a:tr>
              <a:tr h="411480">
                <a:tc>
                  <a:txBody>
                    <a:bodyPr wrap="square"/>
                    <a:lstStyle/>
                    <a:p>
                      <a:pPr>
                        <a:spcAft>
                          <a:spcPts val="0"/>
                        </a:spcAft>
                      </a:pPr>
                      <a:r>
                        <a:rPr sz="1600" b="0" i="0">
                          <a:solidFill>
                            <a:srgbClr val="000000"/>
                          </a:solidFill>
                        </a:rPr>
                        <a:t>Public</a:t>
                      </a:r>
                    </a:p>
                  </a:txBody>
                  <a:tcPr marL="73152" marR="73152" marT="36576" marB="36576">
                    <a:solidFill>
                      <a:srgbClr val="FFFFFF"/>
                    </a:solidFill>
                  </a:tcPr>
                </a:tc>
                <a:tc>
                  <a:txBody>
                    <a:bodyPr wrap="square"/>
                    <a:lstStyle/>
                    <a:p>
                      <a:pPr>
                        <a:spcAft>
                          <a:spcPts val="0"/>
                        </a:spcAft>
                      </a:pPr>
                      <a:r>
                        <a:rPr sz="1600" b="0" i="0">
                          <a:solidFill>
                            <a:srgbClr val="000000"/>
                          </a:solidFill>
                        </a:rPr>
                        <a:t>passes unchanged</a:t>
                      </a:r>
                    </a:p>
                  </a:txBody>
                  <a:tcPr marL="73152" marR="73152" marT="36576" marB="36576">
                    <a:solidFill>
                      <a:srgbClr val="FFFFFF"/>
                    </a:solidFill>
                  </a:tcPr>
                </a:tc>
                <a:tc>
                  <a:txBody>
                    <a:bodyPr wrap="square"/>
                    <a:lstStyle/>
                    <a:p>
                      <a:pPr>
                        <a:spcAft>
                          <a:spcPts val="0"/>
                        </a:spcAft>
                      </a:pPr>
                      <a:r>
                        <a:rPr sz="1600" b="0" i="0">
                          <a:solidFill>
                            <a:srgbClr val="000000"/>
                          </a:solidFill>
                        </a:rPr>
                        <a:t>Req_P</a:t>
                      </a:r>
                    </a:p>
                  </a:txBody>
                  <a:tcPr marL="73152" marR="73152" marT="36576" marB="36576">
                    <a:solidFill>
                      <a:srgbClr val="FFFFFF"/>
                    </a:solidFill>
                  </a:tcPr>
                </a:tc>
              </a:tr>
              <a:tr h="411480">
                <a:tc>
                  <a:txBody>
                    <a:bodyPr wrap="square"/>
                    <a:lstStyle/>
                    <a:p>
                      <a:pPr>
                        <a:spcAft>
                          <a:spcPts val="0"/>
                        </a:spcAft>
                      </a:pPr>
                      <a:r>
                        <a:rPr sz="1600" b="0" i="0">
                          <a:solidFill>
                            <a:srgbClr val="000000"/>
                          </a:solidFill>
                        </a:rPr>
                        <a:t>Restricted</a:t>
                      </a:r>
                    </a:p>
                  </a:txBody>
                  <a:tcPr marL="73152" marR="73152" marT="36576" marB="36576">
                    <a:solidFill>
                      <a:srgbClr val="F3F0F9"/>
                    </a:solidFill>
                  </a:tcPr>
                </a:tc>
                <a:tc>
                  <a:txBody>
                    <a:bodyPr wrap="square"/>
                    <a:lstStyle/>
                    <a:p>
                      <a:pPr>
                        <a:spcAft>
                          <a:spcPts val="0"/>
                        </a:spcAft>
                      </a:pPr>
                      <a:r>
                        <a:rPr sz="1600" b="0" i="0">
                          <a:solidFill>
                            <a:srgbClr val="000000"/>
                          </a:solidFill>
                        </a:rPr>
                        <a:t>passes unchanged</a:t>
                      </a:r>
                    </a:p>
                  </a:txBody>
                  <a:tcPr marL="73152" marR="73152" marT="36576" marB="36576">
                    <a:solidFill>
                      <a:srgbClr val="F3F0F9"/>
                    </a:solidFill>
                  </a:tcPr>
                </a:tc>
                <a:tc>
                  <a:txBody>
                    <a:bodyPr wrap="square"/>
                    <a:lstStyle/>
                    <a:p>
                      <a:pPr>
                        <a:spcAft>
                          <a:spcPts val="0"/>
                        </a:spcAft>
                      </a:pPr>
                      <a:r>
                        <a:rPr sz="1600" b="0" i="0">
                          <a:solidFill>
                            <a:srgbClr val="000000"/>
                          </a:solidFill>
                        </a:rPr>
                        <a:t>Req_R_1</a:t>
                      </a:r>
                    </a:p>
                  </a:txBody>
                  <a:tcPr marL="73152" marR="73152" marT="36576" marB="36576">
                    <a:solidFill>
                      <a:srgbClr val="F3F0F9"/>
                    </a:solidFill>
                  </a:tcPr>
                </a:tc>
              </a:tr>
              <a:tr h="411480">
                <a:tc>
                  <a:txBody>
                    <a:bodyPr wrap="square"/>
                    <a:lstStyle/>
                    <a:p>
                      <a:pPr>
                        <a:spcAft>
                          <a:spcPts val="0"/>
                        </a:spcAft>
                      </a:pPr>
                      <a:r>
                        <a:rPr sz="1600" b="0" i="0">
                          <a:solidFill>
                            <a:srgbClr val="000000"/>
                          </a:solidFill>
                        </a:rPr>
                        <a:t>Critical</a:t>
                      </a:r>
                    </a:p>
                  </a:txBody>
                  <a:tcPr marL="73152" marR="73152" marT="36576" marB="36576">
                    <a:solidFill>
                      <a:srgbClr val="FFFFFF"/>
                    </a:solidFill>
                  </a:tcPr>
                </a:tc>
                <a:tc>
                  <a:txBody>
                    <a:bodyPr wrap="square"/>
                    <a:lstStyle/>
                    <a:p>
                      <a:pPr>
                        <a:spcAft>
                          <a:spcPts val="0"/>
                        </a:spcAft>
                      </a:pPr>
                      <a:r>
                        <a:rPr sz="1600" b="0" i="0">
                          <a:solidFill>
                            <a:srgbClr val="000000"/>
                          </a:solidFill>
                        </a:rPr>
                        <a:t>dropped: no output</a:t>
                      </a:r>
                    </a:p>
                  </a:txBody>
                  <a:tcPr marL="73152" marR="73152" marT="36576" marB="36576">
                    <a:solidFill>
                      <a:srgbClr val="FFFFFF"/>
                    </a:solidFill>
                  </a:tcPr>
                </a:tc>
                <a:tc>
                  <a:txBody>
                    <a:bodyPr wrap="square"/>
                    <a:lstStyle/>
                    <a:p>
                      <a:pPr>
                        <a:spcAft>
                          <a:spcPts val="0"/>
                        </a:spcAft>
                      </a:pPr>
                      <a:r>
                        <a:rPr sz="1600" b="0" i="0">
                          <a:solidFill>
                            <a:srgbClr val="000000"/>
                          </a:solidFill>
                        </a:rPr>
                        <a:t>Req_C</a:t>
                      </a:r>
                    </a:p>
                  </a:txBody>
                  <a:tcPr marL="73152" marR="73152" marT="36576" marB="36576">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question the code cannot answer</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20</a:t>
            </a:r>
          </a:p>
        </p:txBody>
      </p:sp>
      <p:sp>
        <p:nvSpPr>
          <p:cNvPr id="5" name="TextBox 4"/>
          <p:cNvSpPr txBox="1"/>
          <p:nvPr/>
        </p:nvSpPr>
        <p:spPr>
          <a:xfrm>
            <a:off x="777240" y="1325880"/>
            <a:ext cx="11018520" cy="3657600"/>
          </a:xfrm>
          <a:prstGeom prst="rect">
            <a:avLst/>
          </a:prstGeom>
          <a:solidFill>
            <a:srgbClr val="F2F2F2"/>
          </a:solidFill>
          <a:ln w="12700">
            <a:solidFill>
              <a:srgbClr val="BFBFBF"/>
            </a:solidFill>
          </a:ln>
        </p:spPr>
        <p:txBody>
          <a:bodyPr wrap="square" lIns="109728" rIns="109728" tIns="109728" bIns="109728">
            <a:spAutoFit/>
          </a:bodyPr>
          <a:lstStyle/>
          <a:p>
            <a:pPr>
              <a:spcAft>
                <a:spcPts val="0"/>
              </a:spcAft>
            </a:pPr>
            <a:r>
              <a:rPr sz="1600" b="1" i="0">
                <a:solidFill>
                  <a:srgbClr val="101040"/>
                </a:solidFill>
                <a:latin typeface="Courier New"/>
              </a:rPr>
              <a:t>"""The filter stage: pass or drop a message by its security level</a:t>
            </a:r>
          </a:p>
          <a:p>
            <a:pPr>
              <a:spcAft>
                <a:spcPts val="0"/>
              </a:spcAft>
            </a:pPr>
            <a:r>
              <a:rPr sz="1600" b="1" i="0">
                <a:solidFill>
                  <a:srgbClr val="101040"/>
                </a:solidFill>
                <a:latin typeface="Courier New"/>
              </a:rPr>
              <a:t>(REQ-1 to REQ-3)."""</a:t>
            </a:r>
          </a:p>
          <a:p>
            <a:pPr>
              <a:spcAft>
                <a:spcPts val="0"/>
              </a:spcAft>
            </a:pPr>
            <a:r>
              <a:rPr sz="1600" b="1" i="0">
                <a:solidFill>
                  <a:srgbClr val="101040"/>
                </a:solidFill>
                <a:latin typeface="Courier New"/>
              </a:rPr>
              <a:t> </a:t>
            </a:r>
          </a:p>
          <a:p>
            <a:pPr>
              <a:spcAft>
                <a:spcPts val="0"/>
              </a:spcAft>
            </a:pPr>
            <a:r>
              <a:rPr sz="1600" b="1" i="0">
                <a:solidFill>
                  <a:srgbClr val="101040"/>
                </a:solidFill>
                <a:latin typeface="Courier New"/>
              </a:rPr>
              <a:t>from guard.message import Message, SecurityLevel</a:t>
            </a:r>
          </a:p>
          <a:p>
            <a:pPr>
              <a:spcAft>
                <a:spcPts val="0"/>
              </a:spcAft>
            </a:pPr>
            <a:r>
              <a:rPr sz="1600" b="1" i="0">
                <a:solidFill>
                  <a:srgbClr val="101040"/>
                </a:solidFill>
                <a:latin typeface="Courier New"/>
              </a:rPr>
              <a:t> </a:t>
            </a:r>
          </a:p>
          <a:p>
            <a:pPr>
              <a:spcAft>
                <a:spcPts val="0"/>
              </a:spcAft>
            </a:pPr>
            <a:r>
              <a:rPr sz="1600" b="1" i="0">
                <a:solidFill>
                  <a:srgbClr val="101040"/>
                </a:solidFill>
                <a:latin typeface="Courier New"/>
              </a:rPr>
              <a:t> </a:t>
            </a:r>
          </a:p>
          <a:p>
            <a:pPr>
              <a:spcAft>
                <a:spcPts val="0"/>
              </a:spcAft>
            </a:pPr>
            <a:r>
              <a:rPr sz="1600" b="1" i="0">
                <a:solidFill>
                  <a:srgbClr val="101040"/>
                </a:solidFill>
                <a:latin typeface="Courier New"/>
              </a:rPr>
              <a:t>def filter_message(message: Message) -&gt; Message | None:</a:t>
            </a:r>
          </a:p>
          <a:p>
            <a:pPr>
              <a:spcAft>
                <a:spcPts val="0"/>
              </a:spcAft>
            </a:pPr>
            <a:r>
              <a:rPr sz="1600" b="1" i="0">
                <a:solidFill>
                  <a:srgbClr val="101040"/>
                </a:solidFill>
                <a:latin typeface="Courier New"/>
              </a:rPr>
              <a:t>    """Return the message unchanged if it may leave the enclave,</a:t>
            </a:r>
          </a:p>
          <a:p>
            <a:pPr>
              <a:spcAft>
                <a:spcPts val="0"/>
              </a:spcAft>
            </a:pPr>
            <a:r>
              <a:rPr sz="1600" b="1" i="0">
                <a:solidFill>
                  <a:srgbClr val="101040"/>
                </a:solidFill>
                <a:latin typeface="Courier New"/>
              </a:rPr>
              <a:t>    or None if it is dropped."""</a:t>
            </a:r>
          </a:p>
          <a:p>
            <a:pPr>
              <a:spcAft>
                <a:spcPts val="0"/>
              </a:spcAft>
            </a:pPr>
            <a:r>
              <a:rPr sz="1600" b="1" i="0">
                <a:solidFill>
                  <a:srgbClr val="101040"/>
                </a:solidFill>
                <a:latin typeface="Courier New"/>
              </a:rPr>
              <a:t>    if message.level is SecurityLevel.CRITICAL:</a:t>
            </a:r>
          </a:p>
          <a:p>
            <a:pPr>
              <a:spcAft>
                <a:spcPts val="0"/>
              </a:spcAft>
            </a:pPr>
            <a:r>
              <a:rPr sz="1600" b="1" i="0">
                <a:solidFill>
                  <a:srgbClr val="101040"/>
                </a:solidFill>
                <a:latin typeface="Courier New"/>
              </a:rPr>
              <a:t>        return None  # REQ-1</a:t>
            </a:r>
          </a:p>
          <a:p>
            <a:pPr>
              <a:spcAft>
                <a:spcPts val="0"/>
              </a:spcAft>
            </a:pPr>
            <a:r>
              <a:rPr sz="1600" b="1" i="0">
                <a:solidFill>
                  <a:srgbClr val="101040"/>
                </a:solidFill>
                <a:latin typeface="Courier New"/>
              </a:rPr>
              <a:t>    return message  # REQ-2, REQ-3</a:t>
            </a:r>
          </a:p>
        </p:txBody>
      </p:sp>
      <p:sp>
        <p:nvSpPr>
          <p:cNvPr id="6" name="TextBox 5"/>
          <p:cNvSpPr txBox="1"/>
          <p:nvPr/>
        </p:nvSpPr>
        <p:spPr>
          <a:xfrm>
            <a:off x="777240" y="5029200"/>
            <a:ext cx="1101852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guard/filter.py, the whole file (two docstrings wrapped to fit)</a:t>
            </a:r>
          </a:p>
        </p:txBody>
      </p:sp>
      <p:sp>
        <p:nvSpPr>
          <p:cNvPr id="7" name="Rectangle 6"/>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Is this code right?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Three things the code does not say</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21</a:t>
            </a:r>
          </a:p>
        </p:txBody>
      </p:sp>
      <p:sp>
        <p:nvSpPr>
          <p:cNvPr id="5" name="TextBox 4"/>
          <p:cNvSpPr txBox="1"/>
          <p:nvPr/>
        </p:nvSpPr>
        <p:spPr>
          <a:xfrm>
            <a:off x="777240" y="1325880"/>
            <a:ext cx="11018520" cy="2651760"/>
          </a:xfrm>
          <a:prstGeom prst="rect">
            <a:avLst/>
          </a:prstGeom>
          <a:noFill/>
        </p:spPr>
        <p:txBody>
          <a:bodyPr wrap="square" lIns="45720" rIns="45720" tIns="27432" bIns="27432">
            <a:spAutoFit/>
          </a:bodyPr>
          <a:lstStyle/>
          <a:p>
            <a:pPr marL="256032" indent="-256032">
              <a:spcAft>
                <a:spcPts val="800"/>
              </a:spcAft>
              <a:buChar char="•"/>
            </a:pPr>
            <a:r>
              <a:rPr sz="1800" b="1" i="0"/>
              <a:t>What was asked for</a:t>
            </a:r>
            <a:r>
              <a:rPr sz="1800" b="0" i="0"/>
              <a:t> — which levels were meant to be stopped</a:t>
            </a:r>
          </a:p>
          <a:p>
            <a:pPr marL="256032" indent="-256032">
              <a:spcAft>
                <a:spcPts val="800"/>
              </a:spcAft>
              <a:buChar char="•"/>
            </a:pPr>
            <a:r>
              <a:rPr sz="1800" b="1" i="0"/>
              <a:t>What was promised</a:t>
            </a:r>
            <a:r>
              <a:rPr sz="1800" b="0" i="0"/>
              <a:t> — a statement someone responsible agreed to</a:t>
            </a:r>
          </a:p>
          <a:p>
            <a:pPr marL="256032" indent="-256032">
              <a:spcAft>
                <a:spcPts val="800"/>
              </a:spcAft>
              <a:buChar char="•"/>
            </a:pPr>
            <a:r>
              <a:rPr sz="1800" b="1" i="0"/>
              <a:t>Whether the promise was checked</a:t>
            </a:r>
            <a:r>
              <a:rPr sz="1800" b="0" i="0"/>
              <a:t> — by what, and when</a:t>
            </a:r>
          </a:p>
          <a:p>
            <a:pPr>
              <a:spcAft>
                <a:spcPts val="800"/>
              </a:spcAft>
            </a:pPr>
            <a:r>
              <a:rPr sz="1800" b="0" i="1"/>
              <a:t>The code would look exactly like this if Restricted messages were meant to be stopped too.</a:t>
            </a:r>
          </a:p>
        </p:txBody>
      </p:sp>
      <p:sp>
        <p:nvSpPr>
          <p:cNvPr id="6" name="Rectangle 5"/>
          <p:cNvSpPr/>
          <p:nvPr/>
        </p:nvSpPr>
        <p:spPr>
          <a:xfrm>
            <a:off x="777240" y="411480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With an agent writing the code, the person reads the specification, the evidence of conformance, and the record of whether that evidence is current.</a:t>
            </a:r>
          </a:p>
        </p:txBody>
      </p:sp>
      <p:sp>
        <p:nvSpPr>
          <p:cNvPr id="7" name="TextBox 6"/>
          <p:cNvSpPr txBox="1"/>
          <p:nvPr/>
        </p:nvSpPr>
        <p:spPr>
          <a:xfrm>
            <a:off x="777240" y="5166360"/>
            <a:ext cx="11018520" cy="1097280"/>
          </a:xfrm>
          <a:prstGeom prst="rect">
            <a:avLst/>
          </a:prstGeom>
          <a:noFill/>
        </p:spPr>
        <p:txBody>
          <a:bodyPr wrap="square" lIns="45720" rIns="45720">
            <a:spAutoFit/>
          </a:bodyPr>
          <a:lstStyle/>
          <a:p>
            <a:pPr>
              <a:spcAft>
                <a:spcPts val="400"/>
              </a:spcAft>
            </a:pPr>
            <a:r>
              <a:rPr sz="1800" b="0" i="0"/>
              <a:t>An agent's description of its own work is not evidence about the work. When the three things exist and can be trusted, a person can direct the work, review it, and take responsibility for code they have not read line by line.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Version A0, by category</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22</a:t>
            </a:r>
          </a:p>
        </p:txBody>
      </p:sp>
      <p:graphicFrame>
        <p:nvGraphicFramePr>
          <p:cNvPr id="5" name="Table 4"/>
          <p:cNvGraphicFramePr>
            <a:graphicFrameLocks noGrp="1"/>
          </p:cNvGraphicFramePr>
          <p:nvPr/>
        </p:nvGraphicFramePr>
        <p:xfrm>
          <a:off x="777240" y="1325880"/>
          <a:ext cx="11018520" cy="4242816"/>
        </p:xfrm>
        <a:graphic>
          <a:graphicData uri="http://schemas.openxmlformats.org/drawingml/2006/table">
            <a:tbl>
              <a:tblPr firstRow="1" bandRow="1">
                <a:tableStyleId>{5C22544A-7EE6-4342-B048-85BDC9FD1C3A}</a:tableStyleId>
              </a:tblPr>
              <a:tblGrid>
                <a:gridCol w="2103120"/>
                <a:gridCol w="4572000"/>
                <a:gridCol w="4343400"/>
              </a:tblGrid>
              <a:tr h="530352">
                <a:tc>
                  <a:txBody>
                    <a:bodyPr wrap="square"/>
                    <a:lstStyle/>
                    <a:p>
                      <a:pPr>
                        <a:spcAft>
                          <a:spcPts val="0"/>
                        </a:spcAft>
                      </a:pPr>
                      <a:r>
                        <a:rPr sz="1600" b="1" i="0">
                          <a:solidFill>
                            <a:srgbClr val="FFFFFF"/>
                          </a:solidFill>
                        </a:rPr>
                        <a:t>Category</a:t>
                      </a:r>
                    </a:p>
                  </a:txBody>
                  <a:tcPr marL="73152" marR="73152" marT="36576" marB="36576">
                    <a:solidFill>
                      <a:srgbClr val="6E1EC6"/>
                    </a:solidFill>
                  </a:tcPr>
                </a:tc>
                <a:tc>
                  <a:txBody>
                    <a:bodyPr wrap="square"/>
                    <a:lstStyle/>
                    <a:p>
                      <a:pPr>
                        <a:spcAft>
                          <a:spcPts val="0"/>
                        </a:spcAft>
                      </a:pPr>
                      <a:r>
                        <a:rPr sz="1600" b="1" i="0">
                          <a:solidFill>
                            <a:srgbClr val="FFFFFF"/>
                          </a:solidFill>
                        </a:rPr>
                        <a:t>Files</a:t>
                      </a:r>
                    </a:p>
                  </a:txBody>
                  <a:tcPr marL="73152" marR="73152" marT="36576" marB="36576">
                    <a:solidFill>
                      <a:srgbClr val="6E1EC6"/>
                    </a:solidFill>
                  </a:tcPr>
                </a:tc>
                <a:tc>
                  <a:txBody>
                    <a:bodyPr wrap="square"/>
                    <a:lstStyle/>
                    <a:p>
                      <a:pPr>
                        <a:spcAft>
                          <a:spcPts val="0"/>
                        </a:spcAft>
                      </a:pPr>
                      <a:r>
                        <a:rPr sz="1600" b="1" i="0">
                          <a:solidFill>
                            <a:srgbClr val="FFFFFF"/>
                          </a:solidFill>
                        </a:rPr>
                        <a:t>Role</a:t>
                      </a:r>
                    </a:p>
                  </a:txBody>
                  <a:tcPr marL="73152" marR="73152" marT="36576" marB="36576">
                    <a:solidFill>
                      <a:srgbClr val="6E1EC6"/>
                    </a:solidFill>
                  </a:tcPr>
                </a:tc>
              </a:tr>
              <a:tr h="530352">
                <a:tc>
                  <a:txBody>
                    <a:bodyPr wrap="square"/>
                    <a:lstStyle/>
                    <a:p>
                      <a:pPr>
                        <a:spcAft>
                          <a:spcPts val="0"/>
                        </a:spcAft>
                      </a:pPr>
                      <a:r>
                        <a:rPr sz="1600" b="0" i="0">
                          <a:solidFill>
                            <a:srgbClr val="000000"/>
                          </a:solidFill>
                        </a:rPr>
                        <a:t>Intent</a:t>
                      </a:r>
                    </a:p>
                  </a:txBody>
                  <a:tcPr marL="73152" marR="73152" marT="36576" marB="36576">
                    <a:solidFill>
                      <a:srgbClr val="FFFFFF"/>
                    </a:solidFill>
                  </a:tcPr>
                </a:tc>
                <a:tc>
                  <a:txBody>
                    <a:bodyPr wrap="square"/>
                    <a:lstStyle/>
                    <a:p>
                      <a:pPr>
                        <a:spcAft>
                          <a:spcPts val="0"/>
                        </a:spcAft>
                      </a:pPr>
                      <a:r>
                        <a:rPr sz="1600" b="0" i="0">
                          <a:solidFill>
                            <a:srgbClr val="000000"/>
                          </a:solidFill>
                        </a:rPr>
                        <a:t>none</a:t>
                      </a:r>
                    </a:p>
                  </a:txBody>
                  <a:tcPr marL="73152" marR="73152" marT="36576" marB="36576">
                    <a:solidFill>
                      <a:srgbClr val="FFFFFF"/>
                    </a:solidFill>
                  </a:tcPr>
                </a:tc>
                <a:tc>
                  <a:txBody>
                    <a:bodyPr wrap="square"/>
                    <a:lstStyle/>
                    <a:p>
                      <a:pPr>
                        <a:spcAft>
                          <a:spcPts val="0"/>
                        </a:spcAft>
                      </a:pPr>
                      <a:r>
                        <a:rPr sz="1600" b="0" i="0">
                          <a:solidFill>
                            <a:srgbClr val="000000"/>
                          </a:solidFill>
                        </a:rPr>
                        <a:t>lives with the stakeholders</a:t>
                      </a:r>
                    </a:p>
                  </a:txBody>
                  <a:tcPr marL="73152" marR="73152" marT="36576" marB="36576">
                    <a:solidFill>
                      <a:srgbClr val="FFFFFF"/>
                    </a:solidFill>
                  </a:tcPr>
                </a:tc>
              </a:tr>
              <a:tr h="530352">
                <a:tc>
                  <a:txBody>
                    <a:bodyPr wrap="square"/>
                    <a:lstStyle/>
                    <a:p>
                      <a:pPr>
                        <a:spcAft>
                          <a:spcPts val="0"/>
                        </a:spcAft>
                      </a:pPr>
                      <a:r>
                        <a:rPr sz="1600" b="0" i="0">
                          <a:solidFill>
                            <a:srgbClr val="000000"/>
                          </a:solidFill>
                        </a:rPr>
                        <a:t>Specifications</a:t>
                      </a:r>
                    </a:p>
                  </a:txBody>
                  <a:tcPr marL="73152" marR="73152" marT="36576" marB="36576">
                    <a:solidFill>
                      <a:srgbClr val="F3F0F9"/>
                    </a:solidFill>
                  </a:tcPr>
                </a:tc>
                <a:tc>
                  <a:txBody>
                    <a:bodyPr wrap="square"/>
                    <a:lstStyle/>
                    <a:p>
                      <a:pPr>
                        <a:spcAft>
                          <a:spcPts val="0"/>
                        </a:spcAft>
                      </a:pPr>
                      <a:r>
                        <a:rPr sz="1600" b="0" i="0">
                          <a:solidFill>
                            <a:srgbClr val="000000"/>
                          </a:solidFill>
                        </a:rPr>
                        <a:t>specs/conops.md · specs/requirements.md</a:t>
                      </a:r>
                    </a:p>
                  </a:txBody>
                  <a:tcPr marL="73152" marR="73152" marT="36576" marB="36576">
                    <a:solidFill>
                      <a:srgbClr val="F3F0F9"/>
                    </a:solidFill>
                  </a:tcPr>
                </a:tc>
                <a:tc>
                  <a:txBody>
                    <a:bodyPr wrap="square"/>
                    <a:lstStyle/>
                    <a:p>
                      <a:pPr>
                        <a:spcAft>
                          <a:spcPts val="0"/>
                        </a:spcAft>
                      </a:pPr>
                      <a:r>
                        <a:rPr sz="1600" b="0" i="0">
                          <a:solidFill>
                            <a:srgbClr val="000000"/>
                          </a:solidFill>
                        </a:rPr>
                        <a:t>what the system must do, as clauses</a:t>
                      </a:r>
                    </a:p>
                  </a:txBody>
                  <a:tcPr marL="73152" marR="73152" marT="36576" marB="36576">
                    <a:solidFill>
                      <a:srgbClr val="F3F0F9"/>
                    </a:solidFill>
                  </a:tcPr>
                </a:tc>
              </a:tr>
              <a:tr h="530352">
                <a:tc>
                  <a:txBody>
                    <a:bodyPr wrap="square"/>
                    <a:lstStyle/>
                    <a:p>
                      <a:pPr>
                        <a:spcAft>
                          <a:spcPts val="0"/>
                        </a:spcAft>
                      </a:pPr>
                      <a:r>
                        <a:rPr sz="1600" b="0" i="0">
                          <a:solidFill>
                            <a:srgbClr val="000000"/>
                          </a:solidFill>
                        </a:rPr>
                        <a:t>Realization</a:t>
                      </a:r>
                    </a:p>
                  </a:txBody>
                  <a:tcPr marL="73152" marR="73152" marT="36576" marB="36576">
                    <a:solidFill>
                      <a:srgbClr val="FFFFFF"/>
                    </a:solidFill>
                  </a:tcPr>
                </a:tc>
                <a:tc>
                  <a:txBody>
                    <a:bodyPr wrap="square"/>
                    <a:lstStyle/>
                    <a:p>
                      <a:pPr>
                        <a:spcAft>
                          <a:spcPts val="0"/>
                        </a:spcAft>
                      </a:pPr>
                      <a:r>
                        <a:rPr sz="1600" b="0" i="0">
                          <a:solidFill>
                            <a:srgbClr val="000000"/>
                          </a:solidFill>
                        </a:rPr>
                        <a:t>guard/ · tests/</a:t>
                      </a:r>
                    </a:p>
                  </a:txBody>
                  <a:tcPr marL="73152" marR="73152" marT="36576" marB="36576">
                    <a:solidFill>
                      <a:srgbClr val="FFFFFF"/>
                    </a:solidFill>
                  </a:tcPr>
                </a:tc>
                <a:tc>
                  <a:txBody>
                    <a:bodyPr wrap="square"/>
                    <a:lstStyle/>
                    <a:p>
                      <a:pPr>
                        <a:spcAft>
                          <a:spcPts val="0"/>
                        </a:spcAft>
                      </a:pPr>
                      <a:r>
                        <a:rPr sz="1600" b="0" i="0">
                          <a:solidFill>
                            <a:srgbClr val="000000"/>
                          </a:solidFill>
                        </a:rPr>
                        <a:t>the code, and the executable claims about it</a:t>
                      </a:r>
                    </a:p>
                  </a:txBody>
                  <a:tcPr marL="73152" marR="73152" marT="36576" marB="36576">
                    <a:solidFill>
                      <a:srgbClr val="FFFFFF"/>
                    </a:solidFill>
                  </a:tcPr>
                </a:tc>
              </a:tr>
              <a:tr h="530352">
                <a:tc>
                  <a:txBody>
                    <a:bodyPr wrap="square"/>
                    <a:lstStyle/>
                    <a:p>
                      <a:pPr>
                        <a:spcAft>
                          <a:spcPts val="0"/>
                        </a:spcAft>
                      </a:pPr>
                      <a:r>
                        <a:rPr sz="1600" b="0" i="0">
                          <a:solidFill>
                            <a:srgbClr val="000000"/>
                          </a:solidFill>
                        </a:rPr>
                        <a:t>Development rules</a:t>
                      </a:r>
                    </a:p>
                  </a:txBody>
                  <a:tcPr marL="73152" marR="73152" marT="36576" marB="36576">
                    <a:solidFill>
                      <a:srgbClr val="F3F0F9"/>
                    </a:solidFill>
                  </a:tcPr>
                </a:tc>
                <a:tc>
                  <a:txBody>
                    <a:bodyPr wrap="square"/>
                    <a:lstStyle/>
                    <a:p>
                      <a:pPr>
                        <a:spcAft>
                          <a:spcPts val="0"/>
                        </a:spcAft>
                      </a:pPr>
                      <a:r>
                        <a:rPr sz="1600" b="0" i="0">
                          <a:solidFill>
                            <a:srgbClr val="000000"/>
                          </a:solidFill>
                        </a:rPr>
                        <a:t>process/rules.md</a:t>
                      </a:r>
                    </a:p>
                  </a:txBody>
                  <a:tcPr marL="73152" marR="73152" marT="36576" marB="36576">
                    <a:solidFill>
                      <a:srgbClr val="F3F0F9"/>
                    </a:solidFill>
                  </a:tcPr>
                </a:tc>
                <a:tc>
                  <a:txBody>
                    <a:bodyPr wrap="square"/>
                    <a:lstStyle/>
                    <a:p>
                      <a:pPr>
                        <a:spcAft>
                          <a:spcPts val="0"/>
                        </a:spcAft>
                      </a:pPr>
                      <a:r>
                        <a:rPr sz="1600" b="0" i="0">
                          <a:solidFill>
                            <a:srgbClr val="000000"/>
                          </a:solidFill>
                        </a:rPr>
                        <a:t>how each judgment is established</a:t>
                      </a:r>
                    </a:p>
                  </a:txBody>
                  <a:tcPr marL="73152" marR="73152" marT="36576" marB="36576">
                    <a:solidFill>
                      <a:srgbClr val="F3F0F9"/>
                    </a:solidFill>
                  </a:tcPr>
                </a:tc>
              </a:tr>
              <a:tr h="530352">
                <a:tc>
                  <a:txBody>
                    <a:bodyPr wrap="square"/>
                    <a:lstStyle/>
                    <a:p>
                      <a:pPr>
                        <a:spcAft>
                          <a:spcPts val="0"/>
                        </a:spcAft>
                      </a:pPr>
                      <a:r>
                        <a:rPr sz="1600" b="0" i="0">
                          <a:solidFill>
                            <a:srgbClr val="000000"/>
                          </a:solidFill>
                        </a:rPr>
                        <a:t>Reports</a:t>
                      </a:r>
                    </a:p>
                  </a:txBody>
                  <a:tcPr marL="73152" marR="73152" marT="36576" marB="36576">
                    <a:solidFill>
                      <a:srgbClr val="FFFFFF"/>
                    </a:solidFill>
                  </a:tcPr>
                </a:tc>
                <a:tc>
                  <a:txBody>
                    <a:bodyPr wrap="square"/>
                    <a:lstStyle/>
                    <a:p>
                      <a:pPr>
                        <a:spcAft>
                          <a:spcPts val="0"/>
                        </a:spcAft>
                      </a:pPr>
                      <a:r>
                        <a:rPr sz="1600" b="0" i="0">
                          <a:solidFill>
                            <a:srgbClr val="000000"/>
                          </a:solidFill>
                        </a:rPr>
                        <a:t>reports/ledger.md · dev-log.md · walkthrough.md · conformance.md</a:t>
                      </a:r>
                    </a:p>
                  </a:txBody>
                  <a:tcPr marL="73152" marR="73152" marT="36576" marB="36576">
                    <a:solidFill>
                      <a:srgbClr val="FFFFFF"/>
                    </a:solidFill>
                  </a:tcPr>
                </a:tc>
                <a:tc>
                  <a:txBody>
                    <a:bodyPr wrap="square"/>
                    <a:lstStyle/>
                    <a:p>
                      <a:pPr>
                        <a:spcAft>
                          <a:spcPts val="0"/>
                        </a:spcAft>
                      </a:pPr>
                      <a:r>
                        <a:rPr sz="1600" b="0" i="0">
                          <a:solidFill>
                            <a:srgbClr val="000000"/>
                          </a:solidFill>
                        </a:rPr>
                        <a:t>the development state, without reading the code</a:t>
                      </a:r>
                    </a:p>
                  </a:txBody>
                  <a:tcPr marL="73152" marR="73152" marT="36576" marB="36576">
                    <a:solidFill>
                      <a:srgbClr val="FFFFFF"/>
                    </a:solidFill>
                  </a:tcPr>
                </a:tc>
              </a:tr>
              <a:tr h="530352">
                <a:tc>
                  <a:txBody>
                    <a:bodyPr wrap="square"/>
                    <a:lstStyle/>
                    <a:p>
                      <a:pPr>
                        <a:spcAft>
                          <a:spcPts val="0"/>
                        </a:spcAft>
                      </a:pPr>
                      <a:r>
                        <a:rPr sz="1600" b="0" i="0">
                          <a:solidFill>
                            <a:srgbClr val="000000"/>
                          </a:solidFill>
                        </a:rPr>
                        <a:t>Technology</a:t>
                      </a:r>
                    </a:p>
                  </a:txBody>
                  <a:tcPr marL="73152" marR="73152" marT="36576" marB="36576">
                    <a:solidFill>
                      <a:srgbClr val="F3F0F9"/>
                    </a:solidFill>
                  </a:tcPr>
                </a:tc>
                <a:tc>
                  <a:txBody>
                    <a:bodyPr wrap="square"/>
                    <a:lstStyle/>
                    <a:p>
                      <a:pPr>
                        <a:spcAft>
                          <a:spcPts val="0"/>
                        </a:spcAft>
                      </a:pPr>
                      <a:r>
                        <a:rPr sz="1600" b="0" i="0">
                          <a:solidFill>
                            <a:srgbClr val="000000"/>
                          </a:solidFill>
                        </a:rPr>
                        <a:t>pyproject.toml · uv.lock</a:t>
                      </a:r>
                    </a:p>
                  </a:txBody>
                  <a:tcPr marL="73152" marR="73152" marT="36576" marB="36576">
                    <a:solidFill>
                      <a:srgbClr val="F3F0F9"/>
                    </a:solidFill>
                  </a:tcPr>
                </a:tc>
                <a:tc>
                  <a:txBody>
                    <a:bodyPr wrap="square"/>
                    <a:lstStyle/>
                    <a:p>
                      <a:pPr>
                        <a:spcAft>
                          <a:spcPts val="0"/>
                        </a:spcAft>
                      </a:pPr>
                      <a:r>
                        <a:rPr sz="1600" b="0" i="0">
                          <a:solidFill>
                            <a:srgbClr val="000000"/>
                          </a:solidFill>
                        </a:rPr>
                        <a:t>Python 3.12+; pytest, pytest-cov, ruff; uv</a:t>
                      </a:r>
                    </a:p>
                  </a:txBody>
                  <a:tcPr marL="73152" marR="73152" marT="36576" marB="36576">
                    <a:solidFill>
                      <a:srgbClr val="F3F0F9"/>
                    </a:solidFill>
                  </a:tcPr>
                </a:tc>
              </a:tr>
              <a:tr h="530352">
                <a:tc>
                  <a:txBody>
                    <a:bodyPr wrap="square"/>
                    <a:lstStyle/>
                    <a:p>
                      <a:pPr>
                        <a:spcAft>
                          <a:spcPts val="0"/>
                        </a:spcAft>
                      </a:pPr>
                      <a:r>
                        <a:rPr sz="1600" b="0" i="0">
                          <a:solidFill>
                            <a:srgbClr val="000000"/>
                          </a:solidFill>
                        </a:rPr>
                        <a:t>Support</a:t>
                      </a:r>
                    </a:p>
                  </a:txBody>
                  <a:tcPr marL="73152" marR="73152" marT="36576" marB="36576">
                    <a:solidFill>
                      <a:srgbClr val="FFFFFF"/>
                    </a:solidFill>
                  </a:tcPr>
                </a:tc>
                <a:tc>
                  <a:txBody>
                    <a:bodyPr wrap="square"/>
                    <a:lstStyle/>
                    <a:p>
                      <a:pPr>
                        <a:spcAft>
                          <a:spcPts val="0"/>
                        </a:spcAft>
                      </a:pPr>
                      <a:r>
                        <a:rPr sz="1600" b="0" i="0">
                          <a:solidFill>
                            <a:srgbClr val="000000"/>
                          </a:solidFill>
                        </a:rPr>
                        <a:t>tools/gate.sh · tools/walk.py · CLAUDE.md</a:t>
                      </a:r>
                    </a:p>
                  </a:txBody>
                  <a:tcPr marL="73152" marR="73152" marT="36576" marB="36576">
                    <a:solidFill>
                      <a:srgbClr val="FFFFFF"/>
                    </a:solidFill>
                  </a:tcPr>
                </a:tc>
                <a:tc>
                  <a:txBody>
                    <a:bodyPr wrap="square"/>
                    <a:lstStyle/>
                    <a:p>
                      <a:pPr>
                        <a:spcAft>
                          <a:spcPts val="0"/>
                        </a:spcAft>
                      </a:pPr>
                      <a:r>
                        <a:rPr sz="1600" b="0" i="0">
                          <a:solidFill>
                            <a:srgbClr val="000000"/>
                          </a:solidFill>
                        </a:rPr>
                        <a:t>the gate; the walkthrough helper; what an agent reads first</a:t>
                      </a:r>
                    </a:p>
                  </a:txBody>
                  <a:tcPr marL="73152" marR="73152" marT="36576" marB="36576">
                    <a:solidFill>
                      <a:srgbClr val="FFFFFF"/>
                    </a:solidFill>
                  </a:tcPr>
                </a:tc>
              </a:tr>
            </a:tbl>
          </a:graphicData>
        </a:graphic>
      </p:graphicFrame>
      <p:sp>
        <p:nvSpPr>
          <p:cNvPr id="6" name="Rectangle 5"/>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Every entity and every judgment in Part 1 is now a file or a row that can be opened.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Intent in A0: the purpose statement</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23</a:t>
            </a:r>
          </a:p>
        </p:txBody>
      </p:sp>
      <p:sp>
        <p:nvSpPr>
          <p:cNvPr id="5" name="Rectangle 4"/>
          <p:cNvSpPr/>
          <p:nvPr/>
        </p:nvSpPr>
        <p:spPr>
          <a:xfrm>
            <a:off x="777240" y="1325880"/>
            <a:ext cx="11018520" cy="1600200"/>
          </a:xfrm>
          <a:prstGeom prst="rect">
            <a:avLst/>
          </a:prstGeom>
          <a:solidFill>
            <a:srgbClr val="FFF3B0"/>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lstStyle/>
          <a:p>
            <a:pPr algn="l">
              <a:spcAft>
                <a:spcPts val="200"/>
              </a:spcAft>
            </a:pPr>
            <a:r>
              <a:rPr sz="1800" b="0" i="1">
                <a:solidFill>
                  <a:srgbClr val="000000"/>
                </a:solidFill>
              </a:rPr>
              <a:t>An organization keeps a protected enclave whose systems produce messages of differing sensitivity, and it needs some of those messages to reach a less trusted network outside the enclave. The message guard sits on that boundary and decides, one message at a time, whether a message may leave. Nothing leaves the enclave except through the guard.</a:t>
            </a:r>
          </a:p>
        </p:txBody>
      </p:sp>
      <p:sp>
        <p:nvSpPr>
          <p:cNvPr id="6" name="TextBox 5"/>
          <p:cNvSpPr txBox="1"/>
          <p:nvPr/>
        </p:nvSpPr>
        <p:spPr>
          <a:xfrm>
            <a:off x="777240" y="2971800"/>
            <a:ext cx="1101852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specs/conops.md, section 1, first paragraph</a:t>
            </a:r>
          </a:p>
        </p:txBody>
      </p:sp>
      <p:sp>
        <p:nvSpPr>
          <p:cNvPr id="7" name="TextBox 6"/>
          <p:cNvSpPr txBox="1"/>
          <p:nvPr/>
        </p:nvSpPr>
        <p:spPr>
          <a:xfrm>
            <a:off x="777240" y="3429000"/>
            <a:ext cx="11018520" cy="2011680"/>
          </a:xfrm>
          <a:prstGeom prst="rect">
            <a:avLst/>
          </a:prstGeom>
          <a:noFill/>
        </p:spPr>
        <p:txBody>
          <a:bodyPr wrap="square" lIns="45720" rIns="45720" tIns="27432" bIns="27432">
            <a:spAutoFit/>
          </a:bodyPr>
          <a:lstStyle/>
          <a:p>
            <a:pPr marL="256032" indent="-256032">
              <a:spcAft>
                <a:spcPts val="600"/>
              </a:spcAft>
              <a:buChar char="•"/>
            </a:pPr>
            <a:r>
              <a:rPr sz="1800" b="0" i="0"/>
              <a:t>A short text the stakeholders revised until they agreed; audited like any clause</a:t>
            </a:r>
          </a:p>
          <a:p>
            <a:pPr marL="256032" indent="-256032">
              <a:spcAft>
                <a:spcPts val="600"/>
              </a:spcAft>
              <a:buChar char="•"/>
            </a:pPr>
            <a:r>
              <a:rPr sz="1800" b="0" i="0"/>
              <a:t>Not a transcript; a transcript is reference material and is not checked</a:t>
            </a:r>
          </a:p>
          <a:p>
            <a:pPr marL="256032" indent="-256032">
              <a:spcAft>
                <a:spcPts val="600"/>
              </a:spcAft>
              <a:buChar char="•"/>
            </a:pPr>
            <a:r>
              <a:rPr sz="1800" b="0" i="0"/>
              <a:t>No file called intent anywhere in v0</a:t>
            </a:r>
          </a:p>
        </p:txBody>
      </p:sp>
      <p:sp>
        <p:nvSpPr>
          <p:cNvPr id="8" name="Rectangle 7"/>
          <p:cNvSpPr/>
          <p:nvPr/>
        </p:nvSpPr>
        <p:spPr>
          <a:xfrm>
            <a:off x="777240" y="5715000"/>
            <a:ext cx="11018520" cy="54864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How it was obtained from the stakeholders is the next lecture: elicitation, on version A1.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specifications in A0: a family of two</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24</a:t>
            </a:r>
          </a:p>
        </p:txBody>
      </p:sp>
      <p:sp>
        <p:nvSpPr>
          <p:cNvPr id="5" name="TextBox 4"/>
          <p:cNvSpPr txBox="1"/>
          <p:nvPr/>
        </p:nvSpPr>
        <p:spPr>
          <a:xfrm>
            <a:off x="777240" y="1325880"/>
            <a:ext cx="5486400" cy="4297680"/>
          </a:xfrm>
          <a:prstGeom prst="rect">
            <a:avLst/>
          </a:prstGeom>
          <a:noFill/>
        </p:spPr>
        <p:txBody>
          <a:bodyPr wrap="square" lIns="45720" rIns="45720" tIns="27432" bIns="27432">
            <a:spAutoFit/>
          </a:bodyPr>
          <a:lstStyle/>
          <a:p>
            <a:pPr>
              <a:spcAft>
                <a:spcPts val="800"/>
              </a:spcAft>
            </a:pPr>
            <a:r>
              <a:rPr sz="1800" b="1" i="0">
                <a:solidFill>
                  <a:srgbClr val="990099"/>
                </a:solidFill>
              </a:rPr>
              <a:t>specs/conops.md</a:t>
            </a:r>
          </a:p>
          <a:p>
            <a:pPr marL="256032" indent="-256032">
              <a:spcAft>
                <a:spcPts val="600"/>
              </a:spcAft>
              <a:buChar char="•"/>
            </a:pPr>
            <a:r>
              <a:rPr sz="1800" b="1" i="0"/>
              <a:t>1  Purpose</a:t>
            </a:r>
            <a:r>
              <a:rPr sz="1800" b="0" i="0"/>
              <a:t> — the agreed purpose statement</a:t>
            </a:r>
          </a:p>
          <a:p>
            <a:pPr marL="256032" indent="-256032">
              <a:spcAft>
                <a:spcPts val="600"/>
              </a:spcAft>
              <a:buChar char="•"/>
            </a:pPr>
            <a:r>
              <a:rPr sz="1800" b="1" i="0"/>
              <a:t>2  Scope</a:t>
            </a:r>
            <a:r>
              <a:rPr sz="1800" b="0" i="0"/>
              <a:t> — the boundary, and the terms</a:t>
            </a:r>
          </a:p>
          <a:p>
            <a:pPr marL="256032" indent="-256032">
              <a:spcAft>
                <a:spcPts val="600"/>
              </a:spcAft>
              <a:buChar char="•"/>
            </a:pPr>
            <a:r>
              <a:rPr sz="1800" b="1" i="0"/>
              <a:t>3  User categories</a:t>
            </a:r>
            <a:r>
              <a:rPr sz="1800" b="0" i="0"/>
              <a:t> — message sender; security officer</a:t>
            </a:r>
          </a:p>
          <a:p>
            <a:pPr marL="256032" indent="-256032">
              <a:spcAft>
                <a:spcPts val="600"/>
              </a:spcAft>
              <a:buChar char="•"/>
            </a:pPr>
            <a:r>
              <a:rPr sz="1800" b="1" i="0"/>
              <a:t>4  User stories</a:t>
            </a:r>
            <a:r>
              <a:rPr sz="1800" b="0" i="0"/>
              <a:t> — US-1 to US-3, each with an example, marked walkthrough</a:t>
            </a:r>
          </a:p>
          <a:p>
            <a:pPr marL="256032" indent="-256032">
              <a:spcAft>
                <a:spcPts val="600"/>
              </a:spcAft>
              <a:buChar char="•"/>
            </a:pPr>
            <a:r>
              <a:rPr sz="1800" b="1" i="0"/>
              <a:t>5  Sign-off</a:t>
            </a:r>
            <a:r>
              <a:rPr sz="1800" b="0" i="0"/>
              <a:t> — a pointer to the record</a:t>
            </a:r>
          </a:p>
        </p:txBody>
      </p:sp>
      <p:sp>
        <p:nvSpPr>
          <p:cNvPr id="6" name="TextBox 5"/>
          <p:cNvSpPr txBox="1"/>
          <p:nvPr/>
        </p:nvSpPr>
        <p:spPr>
          <a:xfrm>
            <a:off x="6492240" y="1325880"/>
            <a:ext cx="5303520" cy="4297680"/>
          </a:xfrm>
          <a:prstGeom prst="rect">
            <a:avLst/>
          </a:prstGeom>
          <a:noFill/>
        </p:spPr>
        <p:txBody>
          <a:bodyPr wrap="square" lIns="45720" rIns="45720" tIns="27432" bIns="27432">
            <a:spAutoFit/>
          </a:bodyPr>
          <a:lstStyle/>
          <a:p>
            <a:pPr>
              <a:spcAft>
                <a:spcPts val="800"/>
              </a:spcAft>
            </a:pPr>
            <a:r>
              <a:rPr sz="1800" b="1" i="0">
                <a:solidFill>
                  <a:srgbClr val="990099"/>
                </a:solidFill>
              </a:rPr>
              <a:t>specs/requirements.md</a:t>
            </a:r>
          </a:p>
          <a:p>
            <a:pPr marL="256032" indent="-256032">
              <a:spcAft>
                <a:spcPts val="600"/>
              </a:spcAft>
              <a:buChar char="•"/>
            </a:pPr>
            <a:r>
              <a:rPr sz="1800" b="1" i="0"/>
              <a:t>REQ-0</a:t>
            </a:r>
            <a:r>
              <a:rPr sz="1800" b="0" i="0"/>
              <a:t>  a message is a level, one of three, and an integer payload</a:t>
            </a:r>
          </a:p>
          <a:p>
            <a:pPr marL="256032" indent="-256032">
              <a:spcAft>
                <a:spcPts val="600"/>
              </a:spcAft>
              <a:buChar char="•"/>
            </a:pPr>
            <a:r>
              <a:rPr sz="1800" b="1" i="0"/>
              <a:t>REQ-1</a:t>
            </a:r>
            <a:r>
              <a:rPr sz="1800" b="0" i="0"/>
              <a:t>  drops every Critical message</a:t>
            </a:r>
          </a:p>
          <a:p>
            <a:pPr marL="256032" indent="-256032">
              <a:spcAft>
                <a:spcPts val="600"/>
              </a:spcAft>
              <a:buChar char="•"/>
            </a:pPr>
            <a:r>
              <a:rPr sz="1800" b="1" i="0"/>
              <a:t>REQ-2</a:t>
            </a:r>
            <a:r>
              <a:rPr sz="1800" b="0" i="0"/>
              <a:t>  passes every Restricted message unchanged</a:t>
            </a:r>
          </a:p>
          <a:p>
            <a:pPr marL="256032" indent="-256032">
              <a:spcAft>
                <a:spcPts val="600"/>
              </a:spcAft>
              <a:buChar char="•"/>
            </a:pPr>
            <a:r>
              <a:rPr sz="1800" b="1" i="0"/>
              <a:t>REQ-3</a:t>
            </a:r>
            <a:r>
              <a:rPr sz="1800" b="0" i="0"/>
              <a:t>  passes every Public message unchanged</a:t>
            </a:r>
          </a:p>
          <a:p>
            <a:pPr>
              <a:spcAft>
                <a:spcPts val="600"/>
              </a:spcAft>
            </a:pPr>
            <a:r>
              <a:rPr sz="1600" b="0" i="1">
                <a:solidFill>
                  <a:srgbClr val="595959"/>
                </a:solidFill>
              </a:rPr>
              <a:t>each marked test; each names what it derives from</a:t>
            </a:r>
          </a:p>
        </p:txBody>
      </p:sp>
      <p:sp>
        <p:nvSpPr>
          <p:cNvPr id="7" name="Rectangle 6"/>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A family: two documents of different kinds that govern one system and must agree with each other.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clause is the unit</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25</a:t>
            </a:r>
          </a:p>
        </p:txBody>
      </p:sp>
      <p:sp>
        <p:nvSpPr>
          <p:cNvPr id="5" name="TextBox 4"/>
          <p:cNvSpPr txBox="1"/>
          <p:nvPr/>
        </p:nvSpPr>
        <p:spPr>
          <a:xfrm>
            <a:off x="777240" y="1325880"/>
            <a:ext cx="11018520" cy="2011680"/>
          </a:xfrm>
          <a:prstGeom prst="rect">
            <a:avLst/>
          </a:prstGeom>
          <a:solidFill>
            <a:srgbClr val="F2F2F2"/>
          </a:solidFill>
          <a:ln w="12700">
            <a:solidFill>
              <a:srgbClr val="BFBFBF"/>
            </a:solidFill>
          </a:ln>
        </p:spPr>
        <p:txBody>
          <a:bodyPr wrap="square" lIns="109728" rIns="109728" tIns="109728" bIns="109728">
            <a:spAutoFit/>
          </a:bodyPr>
          <a:lstStyle/>
          <a:p>
            <a:pPr>
              <a:spcAft>
                <a:spcPts val="0"/>
              </a:spcAft>
            </a:pPr>
            <a:r>
              <a:rPr sz="1600" b="1" i="0">
                <a:solidFill>
                  <a:srgbClr val="101040"/>
                </a:solidFill>
                <a:latin typeface="Courier New"/>
              </a:rPr>
              <a:t>**US-1** · Method: walkthrough (human) · User category: message sender</a:t>
            </a:r>
          </a:p>
          <a:p>
            <a:pPr>
              <a:spcAft>
                <a:spcPts val="0"/>
              </a:spcAft>
            </a:pPr>
            <a:r>
              <a:rPr sz="1600" b="1" i="0">
                <a:solidFill>
                  <a:srgbClr val="101040"/>
                </a:solidFill>
                <a:latin typeface="Courier New"/>
              </a:rPr>
              <a:t> </a:t>
            </a:r>
          </a:p>
          <a:p>
            <a:pPr>
              <a:spcAft>
                <a:spcPts val="0"/>
              </a:spcAft>
            </a:pPr>
            <a:r>
              <a:rPr sz="1600" b="1" i="0">
                <a:solidFill>
                  <a:srgbClr val="101040"/>
                </a:solidFill>
                <a:latin typeface="Courier New"/>
              </a:rPr>
              <a:t>As a message sender, when I send a Public message, I expect it to</a:t>
            </a:r>
          </a:p>
          <a:p>
            <a:pPr>
              <a:spcAft>
                <a:spcPts val="0"/>
              </a:spcAft>
            </a:pPr>
            <a:r>
              <a:rPr sz="1600" b="1" i="0">
                <a:solidFill>
                  <a:srgbClr val="101040"/>
                </a:solidFill>
                <a:latin typeface="Courier New"/>
              </a:rPr>
              <a:t>arrive outside the enclave unchanged.</a:t>
            </a:r>
          </a:p>
          <a:p>
            <a:pPr>
              <a:spcAft>
                <a:spcPts val="0"/>
              </a:spcAft>
            </a:pPr>
            <a:r>
              <a:rPr sz="1600" b="1" i="0">
                <a:solidFill>
                  <a:srgbClr val="101040"/>
                </a:solidFill>
                <a:latin typeface="Courier New"/>
              </a:rPr>
              <a:t> </a:t>
            </a:r>
          </a:p>
          <a:p>
            <a:pPr>
              <a:spcAft>
                <a:spcPts val="0"/>
              </a:spcAft>
            </a:pPr>
            <a:r>
              <a:rPr sz="1600" b="1" i="0">
                <a:solidFill>
                  <a:srgbClr val="101040"/>
                </a:solidFill>
                <a:latin typeface="Courier New"/>
              </a:rPr>
              <a:t>Example: the guard is given (Public, 42); it outputs (Public, 42).</a:t>
            </a:r>
          </a:p>
        </p:txBody>
      </p:sp>
      <p:sp>
        <p:nvSpPr>
          <p:cNvPr id="6" name="TextBox 5"/>
          <p:cNvSpPr txBox="1"/>
          <p:nvPr/>
        </p:nvSpPr>
        <p:spPr>
          <a:xfrm>
            <a:off x="777240" y="3383280"/>
            <a:ext cx="1101852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specs/conops.md</a:t>
            </a:r>
          </a:p>
        </p:txBody>
      </p:sp>
      <p:sp>
        <p:nvSpPr>
          <p:cNvPr id="7" name="TextBox 6"/>
          <p:cNvSpPr txBox="1"/>
          <p:nvPr/>
        </p:nvSpPr>
        <p:spPr>
          <a:xfrm>
            <a:off x="777240" y="3840480"/>
            <a:ext cx="11018520" cy="1508760"/>
          </a:xfrm>
          <a:prstGeom prst="rect">
            <a:avLst/>
          </a:prstGeom>
          <a:solidFill>
            <a:srgbClr val="F2F2F2"/>
          </a:solidFill>
          <a:ln w="12700">
            <a:solidFill>
              <a:srgbClr val="BFBFBF"/>
            </a:solidFill>
          </a:ln>
        </p:spPr>
        <p:txBody>
          <a:bodyPr wrap="square" lIns="109728" rIns="109728" tIns="109728" bIns="109728">
            <a:spAutoFit/>
          </a:bodyPr>
          <a:lstStyle/>
          <a:p>
            <a:pPr>
              <a:spcAft>
                <a:spcPts val="0"/>
              </a:spcAft>
            </a:pPr>
            <a:r>
              <a:rPr sz="1600" b="1" i="0">
                <a:solidFill>
                  <a:srgbClr val="101040"/>
                </a:solidFill>
                <a:latin typeface="Courier New"/>
              </a:rPr>
              <a:t>**REQ-1** · Method: test · Derived from: US-3</a:t>
            </a:r>
          </a:p>
          <a:p>
            <a:pPr>
              <a:spcAft>
                <a:spcPts val="0"/>
              </a:spcAft>
            </a:pPr>
            <a:r>
              <a:rPr sz="1600" b="1" i="0">
                <a:solidFill>
                  <a:srgbClr val="101040"/>
                </a:solidFill>
                <a:latin typeface="Courier New"/>
              </a:rPr>
              <a:t> </a:t>
            </a:r>
          </a:p>
          <a:p>
            <a:pPr>
              <a:spcAft>
                <a:spcPts val="0"/>
              </a:spcAft>
            </a:pPr>
            <a:r>
              <a:rPr sz="1600" b="1" i="0">
                <a:solidFill>
                  <a:srgbClr val="101040"/>
                </a:solidFill>
                <a:latin typeface="Courier New"/>
              </a:rPr>
              <a:t>The filter drops every message whose security level is Critical:</a:t>
            </a:r>
          </a:p>
          <a:p>
            <a:pPr>
              <a:spcAft>
                <a:spcPts val="0"/>
              </a:spcAft>
            </a:pPr>
            <a:r>
              <a:rPr sz="1600" b="1" i="0">
                <a:solidFill>
                  <a:srgbClr val="101040"/>
                </a:solidFill>
                <a:latin typeface="Courier New"/>
              </a:rPr>
              <a:t>for such a message it produces no output.</a:t>
            </a:r>
          </a:p>
        </p:txBody>
      </p:sp>
      <p:sp>
        <p:nvSpPr>
          <p:cNvPr id="8" name="TextBox 7"/>
          <p:cNvSpPr txBox="1"/>
          <p:nvPr/>
        </p:nvSpPr>
        <p:spPr>
          <a:xfrm>
            <a:off x="777240" y="5394959"/>
            <a:ext cx="1101852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specs/requirements.md</a:t>
            </a:r>
          </a:p>
        </p:txBody>
      </p:sp>
      <p:sp>
        <p:nvSpPr>
          <p:cNvPr id="9" name="Rectangle 8"/>
          <p:cNvSpPr/>
          <p:nvPr/>
        </p:nvSpPr>
        <p:spPr>
          <a:xfrm>
            <a:off x="777240" y="5806440"/>
            <a:ext cx="11018520" cy="5029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Every clause: an identifier, a verification method, and what it derives from.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three fields of a clause</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26</a:t>
            </a:r>
          </a:p>
        </p:txBody>
      </p:sp>
      <p:sp>
        <p:nvSpPr>
          <p:cNvPr id="5" name="Rectangle 4"/>
          <p:cNvSpPr/>
          <p:nvPr/>
        </p:nvSpPr>
        <p:spPr>
          <a:xfrm>
            <a:off x="777240" y="1325880"/>
            <a:ext cx="3520440" cy="246888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Identifier</a:t>
            </a:r>
          </a:p>
          <a:p>
            <a:pPr algn="l" marL="256032" indent="-256032">
              <a:spcAft>
                <a:spcPts val="400"/>
              </a:spcAft>
              <a:buChar char="•"/>
            </a:pPr>
            <a:r>
              <a:rPr sz="1800" b="0" i="0">
                <a:solidFill>
                  <a:srgbClr val="000000"/>
                </a:solidFill>
              </a:rPr>
              <a:t>What a report cites</a:t>
            </a:r>
          </a:p>
          <a:p>
            <a:pPr algn="l" marL="256032" indent="-256032">
              <a:spcAft>
                <a:spcPts val="400"/>
              </a:spcAft>
              <a:buChar char="•"/>
            </a:pPr>
            <a:r>
              <a:rPr sz="1800" b="0" i="0">
                <a:solidFill>
                  <a:srgbClr val="000000"/>
                </a:solidFill>
              </a:rPr>
              <a:t>A person, an agent, and a program all say REQ-1 and mean the same sentence</a:t>
            </a:r>
          </a:p>
        </p:txBody>
      </p:sp>
      <p:sp>
        <p:nvSpPr>
          <p:cNvPr id="6" name="Rectangle 5"/>
          <p:cNvSpPr/>
          <p:nvPr/>
        </p:nvSpPr>
        <p:spPr>
          <a:xfrm>
            <a:off x="4526280" y="1325880"/>
            <a:ext cx="3520440" cy="246888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Verification method</a:t>
            </a:r>
          </a:p>
          <a:p>
            <a:pPr algn="l" marL="256032" indent="-256032">
              <a:spcAft>
                <a:spcPts val="400"/>
              </a:spcAft>
              <a:buChar char="•"/>
            </a:pPr>
            <a:r>
              <a:rPr sz="1800" b="0" i="0">
                <a:solidFill>
                  <a:srgbClr val="000000"/>
                </a:solidFill>
              </a:rPr>
              <a:t>How the clause is verified, so who can verify it</a:t>
            </a:r>
          </a:p>
          <a:p>
            <a:pPr algn="l" marL="256032" indent="-256032">
              <a:spcAft>
                <a:spcPts val="400"/>
              </a:spcAft>
              <a:buChar char="•"/>
            </a:pPr>
            <a:r>
              <a:rPr sz="1800" b="0" i="0">
                <a:solidFill>
                  <a:srgbClr val="000000"/>
                </a:solidFill>
              </a:rPr>
              <a:t>test: a program decides; walkthrough: a person judges</a:t>
            </a:r>
          </a:p>
          <a:p>
            <a:pPr algn="l" marL="256032" indent="-256032">
              <a:spcAft>
                <a:spcPts val="400"/>
              </a:spcAft>
              <a:buChar char="•"/>
            </a:pPr>
            <a:r>
              <a:rPr sz="1800" b="0" i="0">
                <a:solidFill>
                  <a:srgbClr val="000000"/>
                </a:solidFill>
              </a:rPr>
              <a:t>Recorded on the clause</a:t>
            </a:r>
          </a:p>
        </p:txBody>
      </p:sp>
      <p:sp>
        <p:nvSpPr>
          <p:cNvPr id="7" name="Rectangle 6"/>
          <p:cNvSpPr/>
          <p:nvPr/>
        </p:nvSpPr>
        <p:spPr>
          <a:xfrm>
            <a:off x="8275320" y="1325880"/>
            <a:ext cx="3520440" cy="246888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Derived from</a:t>
            </a:r>
          </a:p>
          <a:p>
            <a:pPr algn="l" marL="256032" indent="-256032">
              <a:spcAft>
                <a:spcPts val="400"/>
              </a:spcAft>
              <a:buChar char="•"/>
            </a:pPr>
            <a:r>
              <a:rPr sz="1800" b="0" i="0">
                <a:solidFill>
                  <a:srgbClr val="000000"/>
                </a:solidFill>
              </a:rPr>
              <a:t>Links a requirement to the story or term it refines</a:t>
            </a:r>
          </a:p>
          <a:p>
            <a:pPr algn="l" marL="256032" indent="-256032">
              <a:spcAft>
                <a:spcPts val="400"/>
              </a:spcAft>
              <a:buChar char="•"/>
            </a:pPr>
            <a:r>
              <a:rPr sz="1800" b="0" i="0">
                <a:solidFill>
                  <a:srgbClr val="000000"/>
                </a:solidFill>
              </a:rPr>
              <a:t>Every requirement traces back to something a stakeholder wanted</a:t>
            </a:r>
          </a:p>
        </p:txBody>
      </p:sp>
      <p:sp>
        <p:nvSpPr>
          <p:cNvPr id="8" name="Rectangle 7"/>
          <p:cNvSpPr/>
          <p:nvPr/>
        </p:nvSpPr>
        <p:spPr>
          <a:xfrm>
            <a:off x="777240" y="411480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What the specifications leave open on purpose: transport, how the level was assigned, what happens to a dropped message. Outside the boundary.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Mechanical clauses and judgment clauses</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27</a:t>
            </a:r>
          </a:p>
        </p:txBody>
      </p:sp>
      <p:graphicFrame>
        <p:nvGraphicFramePr>
          <p:cNvPr id="5" name="Table 4"/>
          <p:cNvGraphicFramePr>
            <a:graphicFrameLocks noGrp="1"/>
          </p:cNvGraphicFramePr>
          <p:nvPr/>
        </p:nvGraphicFramePr>
        <p:xfrm>
          <a:off x="777240" y="1325880"/>
          <a:ext cx="11018520" cy="2743200"/>
        </p:xfrm>
        <a:graphic>
          <a:graphicData uri="http://schemas.openxmlformats.org/drawingml/2006/table">
            <a:tbl>
              <a:tblPr firstRow="1" bandRow="1">
                <a:tableStyleId>{5C22544A-7EE6-4342-B048-85BDC9FD1C3A}</a:tableStyleId>
              </a:tblPr>
              <a:tblGrid>
                <a:gridCol w="2194560"/>
                <a:gridCol w="5120640"/>
                <a:gridCol w="2103120"/>
                <a:gridCol w="1600200"/>
              </a:tblGrid>
              <a:tr h="548640">
                <a:tc>
                  <a:txBody>
                    <a:bodyPr wrap="square"/>
                    <a:lstStyle/>
                    <a:p>
                      <a:pPr>
                        <a:spcAft>
                          <a:spcPts val="0"/>
                        </a:spcAft>
                      </a:pPr>
                      <a:r>
                        <a:rPr sz="1600" b="1" i="0">
                          <a:solidFill>
                            <a:srgbClr val="FFFFFF"/>
                          </a:solidFill>
                        </a:rPr>
                        <a:t>Method</a:t>
                      </a:r>
                    </a:p>
                  </a:txBody>
                  <a:tcPr marL="73152" marR="73152" marT="36576" marB="36576">
                    <a:solidFill>
                      <a:srgbClr val="6E1EC6"/>
                    </a:solidFill>
                  </a:tcPr>
                </a:tc>
                <a:tc>
                  <a:txBody>
                    <a:bodyPr wrap="square"/>
                    <a:lstStyle/>
                    <a:p>
                      <a:pPr>
                        <a:spcAft>
                          <a:spcPts val="0"/>
                        </a:spcAft>
                      </a:pPr>
                      <a:r>
                        <a:rPr sz="1600" b="1" i="0">
                          <a:solidFill>
                            <a:srgbClr val="FFFFFF"/>
                          </a:solidFill>
                        </a:rPr>
                        <a:t>Who decides</a:t>
                      </a:r>
                    </a:p>
                  </a:txBody>
                  <a:tcPr marL="73152" marR="73152" marT="36576" marB="36576">
                    <a:solidFill>
                      <a:srgbClr val="6E1EC6"/>
                    </a:solidFill>
                  </a:tcPr>
                </a:tc>
                <a:tc>
                  <a:txBody>
                    <a:bodyPr wrap="square"/>
                    <a:lstStyle/>
                    <a:p>
                      <a:pPr>
                        <a:spcAft>
                          <a:spcPts val="0"/>
                        </a:spcAft>
                      </a:pPr>
                      <a:r>
                        <a:rPr sz="1600" b="1" i="0">
                          <a:solidFill>
                            <a:srgbClr val="FFFFFF"/>
                          </a:solidFill>
                        </a:rPr>
                        <a:t>In A0</a:t>
                      </a:r>
                    </a:p>
                  </a:txBody>
                  <a:tcPr marL="73152" marR="73152" marT="36576" marB="36576">
                    <a:solidFill>
                      <a:srgbClr val="6E1EC6"/>
                    </a:solidFill>
                  </a:tcPr>
                </a:tc>
                <a:tc>
                  <a:txBody>
                    <a:bodyPr wrap="square"/>
                    <a:lstStyle/>
                    <a:p>
                      <a:pPr>
                        <a:spcAft>
                          <a:spcPts val="0"/>
                        </a:spcAft>
                      </a:pPr>
                      <a:r>
                        <a:rPr sz="1600" b="1" i="0">
                          <a:solidFill>
                            <a:srgbClr val="FFFFFF"/>
                          </a:solidFill>
                        </a:rPr>
                        <a:t>In a gate?</a:t>
                      </a:r>
                    </a:p>
                  </a:txBody>
                  <a:tcPr marL="73152" marR="73152" marT="36576" marB="36576">
                    <a:solidFill>
                      <a:srgbClr val="6E1EC6"/>
                    </a:solidFill>
                  </a:tcPr>
                </a:tc>
              </a:tr>
              <a:tr h="548640">
                <a:tc>
                  <a:txBody>
                    <a:bodyPr wrap="square"/>
                    <a:lstStyle/>
                    <a:p>
                      <a:pPr>
                        <a:spcAft>
                          <a:spcPts val="0"/>
                        </a:spcAft>
                      </a:pPr>
                      <a:r>
                        <a:rPr sz="1600" b="0" i="0">
                          <a:solidFill>
                            <a:srgbClr val="000000"/>
                          </a:solidFill>
                        </a:rPr>
                        <a:t>test</a:t>
                      </a:r>
                    </a:p>
                  </a:txBody>
                  <a:tcPr marL="73152" marR="73152" marT="36576" marB="36576">
                    <a:solidFill>
                      <a:srgbClr val="FFFFFF"/>
                    </a:solidFill>
                  </a:tcPr>
                </a:tc>
                <a:tc>
                  <a:txBody>
                    <a:bodyPr wrap="square"/>
                    <a:lstStyle/>
                    <a:p>
                      <a:pPr>
                        <a:spcAft>
                          <a:spcPts val="0"/>
                        </a:spcAft>
                      </a:pPr>
                      <a:r>
                        <a:rPr sz="1600" b="0" i="0">
                          <a:solidFill>
                            <a:srgbClr val="000000"/>
                          </a:solidFill>
                        </a:rPr>
                        <a:t>a program: a test cites the clause and passes or fails</a:t>
                      </a:r>
                    </a:p>
                  </a:txBody>
                  <a:tcPr marL="73152" marR="73152" marT="36576" marB="36576">
                    <a:solidFill>
                      <a:srgbClr val="FFFFFF"/>
                    </a:solidFill>
                  </a:tcPr>
                </a:tc>
                <a:tc>
                  <a:txBody>
                    <a:bodyPr wrap="square"/>
                    <a:lstStyle/>
                    <a:p>
                      <a:pPr>
                        <a:spcAft>
                          <a:spcPts val="0"/>
                        </a:spcAft>
                      </a:pPr>
                      <a:r>
                        <a:rPr sz="1600" b="0" i="0">
                          <a:solidFill>
                            <a:srgbClr val="000000"/>
                          </a:solidFill>
                        </a:rPr>
                        <a:t>REQ-0 to REQ-3</a:t>
                      </a:r>
                    </a:p>
                  </a:txBody>
                  <a:tcPr marL="73152" marR="73152" marT="36576" marB="36576">
                    <a:solidFill>
                      <a:srgbClr val="FFFFFF"/>
                    </a:solidFill>
                  </a:tcPr>
                </a:tc>
                <a:tc>
                  <a:txBody>
                    <a:bodyPr wrap="square"/>
                    <a:lstStyle/>
                    <a:p>
                      <a:pPr>
                        <a:spcAft>
                          <a:spcPts val="0"/>
                        </a:spcAft>
                      </a:pPr>
                      <a:r>
                        <a:rPr sz="1600" b="0" i="0">
                          <a:solidFill>
                            <a:srgbClr val="000000"/>
                          </a:solidFill>
                        </a:rPr>
                        <a:t>yes</a:t>
                      </a:r>
                    </a:p>
                  </a:txBody>
                  <a:tcPr marL="73152" marR="73152" marT="36576" marB="36576">
                    <a:solidFill>
                      <a:srgbClr val="FFFFFF"/>
                    </a:solidFill>
                  </a:tcPr>
                </a:tc>
              </a:tr>
              <a:tr h="548640">
                <a:tc>
                  <a:txBody>
                    <a:bodyPr wrap="square"/>
                    <a:lstStyle/>
                    <a:p>
                      <a:pPr>
                        <a:spcAft>
                          <a:spcPts val="0"/>
                        </a:spcAft>
                      </a:pPr>
                      <a:r>
                        <a:rPr sz="1600" b="0" i="0">
                          <a:solidFill>
                            <a:srgbClr val="000000"/>
                          </a:solidFill>
                        </a:rPr>
                        <a:t>walkthrough</a:t>
                      </a:r>
                    </a:p>
                  </a:txBody>
                  <a:tcPr marL="73152" marR="73152" marT="36576" marB="36576">
                    <a:solidFill>
                      <a:srgbClr val="F3F0F9"/>
                    </a:solidFill>
                  </a:tcPr>
                </a:tc>
                <a:tc>
                  <a:txBody>
                    <a:bodyPr wrap="square"/>
                    <a:lstStyle/>
                    <a:p>
                      <a:pPr>
                        <a:spcAft>
                          <a:spcPts val="0"/>
                        </a:spcAft>
                      </a:pPr>
                      <a:r>
                        <a:rPr sz="1600" b="0" i="0">
                          <a:solidFill>
                            <a:srgbClr val="000000"/>
                          </a:solidFill>
                        </a:rPr>
                        <a:t>a person exercises the system and judges</a:t>
                      </a:r>
                    </a:p>
                  </a:txBody>
                  <a:tcPr marL="73152" marR="73152" marT="36576" marB="36576">
                    <a:solidFill>
                      <a:srgbClr val="F3F0F9"/>
                    </a:solidFill>
                  </a:tcPr>
                </a:tc>
                <a:tc>
                  <a:txBody>
                    <a:bodyPr wrap="square"/>
                    <a:lstStyle/>
                    <a:p>
                      <a:pPr>
                        <a:spcAft>
                          <a:spcPts val="0"/>
                        </a:spcAft>
                      </a:pPr>
                      <a:r>
                        <a:rPr sz="1600" b="0" i="0">
                          <a:solidFill>
                            <a:srgbClr val="000000"/>
                          </a:solidFill>
                        </a:rPr>
                        <a:t>US-1 to US-3</a:t>
                      </a:r>
                    </a:p>
                  </a:txBody>
                  <a:tcPr marL="73152" marR="73152" marT="36576" marB="36576">
                    <a:solidFill>
                      <a:srgbClr val="F3F0F9"/>
                    </a:solidFill>
                  </a:tcPr>
                </a:tc>
                <a:tc>
                  <a:txBody>
                    <a:bodyPr wrap="square"/>
                    <a:lstStyle/>
                    <a:p>
                      <a:pPr>
                        <a:spcAft>
                          <a:spcPts val="0"/>
                        </a:spcAft>
                      </a:pPr>
                      <a:r>
                        <a:rPr sz="1600" b="0" i="0">
                          <a:solidFill>
                            <a:srgbClr val="000000"/>
                          </a:solidFill>
                        </a:rPr>
                        <a:t>no</a:t>
                      </a:r>
                    </a:p>
                  </a:txBody>
                  <a:tcPr marL="73152" marR="73152" marT="36576" marB="36576">
                    <a:solidFill>
                      <a:srgbClr val="F3F0F9"/>
                    </a:solidFill>
                  </a:tcPr>
                </a:tc>
              </a:tr>
              <a:tr h="548640">
                <a:tc>
                  <a:txBody>
                    <a:bodyPr wrap="square"/>
                    <a:lstStyle/>
                    <a:p>
                      <a:pPr>
                        <a:spcAft>
                          <a:spcPts val="0"/>
                        </a:spcAft>
                      </a:pPr>
                      <a:r>
                        <a:rPr sz="1600" b="0" i="0">
                          <a:solidFill>
                            <a:srgbClr val="000000"/>
                          </a:solidFill>
                        </a:rPr>
                        <a:t>analysis (later)</a:t>
                      </a:r>
                    </a:p>
                  </a:txBody>
                  <a:tcPr marL="73152" marR="73152" marT="36576" marB="36576">
                    <a:solidFill>
                      <a:srgbClr val="FFFFFF"/>
                    </a:solidFill>
                  </a:tcPr>
                </a:tc>
                <a:tc>
                  <a:txBody>
                    <a:bodyPr wrap="square"/>
                    <a:lstStyle/>
                    <a:p>
                      <a:pPr>
                        <a:spcAft>
                          <a:spcPts val="0"/>
                        </a:spcAft>
                      </a:pPr>
                      <a:r>
                        <a:rPr sz="1600" b="0" i="0">
                          <a:solidFill>
                            <a:srgbClr val="000000"/>
                          </a:solidFill>
                        </a:rPr>
                        <a:t>a program, by examining the artifact: type checker, import rule</a:t>
                      </a:r>
                    </a:p>
                  </a:txBody>
                  <a:tcPr marL="73152" marR="73152" marT="36576" marB="36576">
                    <a:solidFill>
                      <a:srgbClr val="FFFFFF"/>
                    </a:solidFill>
                  </a:tcPr>
                </a:tc>
                <a:tc>
                  <a:txBody>
                    <a:bodyPr wrap="square"/>
                    <a:lstStyle/>
                    <a:p>
                      <a:pPr>
                        <a:spcAft>
                          <a:spcPts val="0"/>
                        </a:spcAft>
                      </a:pPr>
                      <a:r>
                        <a:rPr sz="1600" b="0" i="0">
                          <a:solidFill>
                            <a:srgbClr val="000000"/>
                          </a:solidFill>
                        </a:rPr>
                        <a:t>A2</a:t>
                      </a:r>
                    </a:p>
                  </a:txBody>
                  <a:tcPr marL="73152" marR="73152" marT="36576" marB="36576">
                    <a:solidFill>
                      <a:srgbClr val="FFFFFF"/>
                    </a:solidFill>
                  </a:tcPr>
                </a:tc>
                <a:tc>
                  <a:txBody>
                    <a:bodyPr wrap="square"/>
                    <a:lstStyle/>
                    <a:p>
                      <a:pPr>
                        <a:spcAft>
                          <a:spcPts val="0"/>
                        </a:spcAft>
                      </a:pPr>
                      <a:r>
                        <a:rPr sz="1600" b="0" i="0">
                          <a:solidFill>
                            <a:srgbClr val="000000"/>
                          </a:solidFill>
                        </a:rPr>
                        <a:t>yes</a:t>
                      </a:r>
                    </a:p>
                  </a:txBody>
                  <a:tcPr marL="73152" marR="73152" marT="36576" marB="36576">
                    <a:solidFill>
                      <a:srgbClr val="FFFFFF"/>
                    </a:solidFill>
                  </a:tcPr>
                </a:tc>
              </a:tr>
              <a:tr h="548640">
                <a:tc>
                  <a:txBody>
                    <a:bodyPr wrap="square"/>
                    <a:lstStyle/>
                    <a:p>
                      <a:pPr>
                        <a:spcAft>
                          <a:spcPts val="0"/>
                        </a:spcAft>
                      </a:pPr>
                      <a:r>
                        <a:rPr sz="1600" b="0" i="0">
                          <a:solidFill>
                            <a:srgbClr val="000000"/>
                          </a:solidFill>
                        </a:rPr>
                        <a:t>review (later)</a:t>
                      </a:r>
                    </a:p>
                  </a:txBody>
                  <a:tcPr marL="73152" marR="73152" marT="36576" marB="36576">
                    <a:solidFill>
                      <a:srgbClr val="F3F0F9"/>
                    </a:solidFill>
                  </a:tcPr>
                </a:tc>
                <a:tc>
                  <a:txBody>
                    <a:bodyPr wrap="square"/>
                    <a:lstStyle/>
                    <a:p>
                      <a:pPr>
                        <a:spcAft>
                          <a:spcPts val="0"/>
                        </a:spcAft>
                      </a:pPr>
                      <a:r>
                        <a:rPr sz="1600" b="0" i="0">
                          <a:solidFill>
                            <a:srgbClr val="000000"/>
                          </a:solidFill>
                        </a:rPr>
                        <a:t>a reader, from the text: a person or an agent</a:t>
                      </a:r>
                    </a:p>
                  </a:txBody>
                  <a:tcPr marL="73152" marR="73152" marT="36576" marB="36576">
                    <a:solidFill>
                      <a:srgbClr val="F3F0F9"/>
                    </a:solidFill>
                  </a:tcPr>
                </a:tc>
                <a:tc>
                  <a:txBody>
                    <a:bodyPr wrap="square"/>
                    <a:lstStyle/>
                    <a:p>
                      <a:pPr>
                        <a:spcAft>
                          <a:spcPts val="0"/>
                        </a:spcAft>
                      </a:pPr>
                      <a:r>
                        <a:rPr sz="1600" b="0" i="0">
                          <a:solidFill>
                            <a:srgbClr val="000000"/>
                          </a:solidFill>
                        </a:rPr>
                        <a:t>A2</a:t>
                      </a:r>
                    </a:p>
                  </a:txBody>
                  <a:tcPr marL="73152" marR="73152" marT="36576" marB="36576">
                    <a:solidFill>
                      <a:srgbClr val="F3F0F9"/>
                    </a:solidFill>
                  </a:tcPr>
                </a:tc>
                <a:tc>
                  <a:txBody>
                    <a:bodyPr wrap="square"/>
                    <a:lstStyle/>
                    <a:p>
                      <a:pPr>
                        <a:spcAft>
                          <a:spcPts val="0"/>
                        </a:spcAft>
                      </a:pPr>
                      <a:r>
                        <a:rPr sz="1600" b="0" i="0">
                          <a:solidFill>
                            <a:srgbClr val="000000"/>
                          </a:solidFill>
                        </a:rPr>
                        <a:t>no</a:t>
                      </a:r>
                    </a:p>
                  </a:txBody>
                  <a:tcPr marL="73152" marR="73152" marT="36576" marB="36576">
                    <a:solidFill>
                      <a:srgbClr val="F3F0F9"/>
                    </a:solidFill>
                  </a:tcPr>
                </a:tc>
              </a:tr>
            </a:tbl>
          </a:graphicData>
        </a:graphic>
      </p:graphicFrame>
      <p:sp>
        <p:nvSpPr>
          <p:cNvPr id="6" name="Rectangle 5"/>
          <p:cNvSpPr/>
          <p:nvPr/>
        </p:nvSpPr>
        <p:spPr>
          <a:xfrm>
            <a:off x="777240" y="484632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Mechanical: a program can decide it. Judgment: it needs a reader. Push clauses toward mechanical, and record the choice on the clause.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Specification quality on A0</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28</a:t>
            </a:r>
          </a:p>
        </p:txBody>
      </p:sp>
      <p:graphicFrame>
        <p:nvGraphicFramePr>
          <p:cNvPr id="5" name="Table 4"/>
          <p:cNvGraphicFramePr>
            <a:graphicFrameLocks noGrp="1"/>
          </p:cNvGraphicFramePr>
          <p:nvPr/>
        </p:nvGraphicFramePr>
        <p:xfrm>
          <a:off x="777240" y="1325880"/>
          <a:ext cx="11018520" cy="3401568"/>
        </p:xfrm>
        <a:graphic>
          <a:graphicData uri="http://schemas.openxmlformats.org/drawingml/2006/table">
            <a:tbl>
              <a:tblPr firstRow="1" bandRow="1">
                <a:tableStyleId>{5C22544A-7EE6-4342-B048-85BDC9FD1C3A}</a:tableStyleId>
              </a:tblPr>
              <a:tblGrid>
                <a:gridCol w="2743200"/>
                <a:gridCol w="8275320"/>
              </a:tblGrid>
              <a:tr h="566928">
                <a:tc>
                  <a:txBody>
                    <a:bodyPr wrap="square"/>
                    <a:lstStyle/>
                    <a:p>
                      <a:pPr>
                        <a:spcAft>
                          <a:spcPts val="0"/>
                        </a:spcAft>
                      </a:pPr>
                      <a:r>
                        <a:rPr sz="1600" b="1" i="0">
                          <a:solidFill>
                            <a:srgbClr val="FFFFFF"/>
                          </a:solidFill>
                        </a:rPr>
                        <a:t>Property</a:t>
                      </a:r>
                    </a:p>
                  </a:txBody>
                  <a:tcPr marL="73152" marR="73152" marT="36576" marB="36576">
                    <a:solidFill>
                      <a:srgbClr val="6E1EC6"/>
                    </a:solidFill>
                  </a:tcPr>
                </a:tc>
                <a:tc>
                  <a:txBody>
                    <a:bodyPr wrap="square"/>
                    <a:lstStyle/>
                    <a:p>
                      <a:pPr>
                        <a:spcAft>
                          <a:spcPts val="0"/>
                        </a:spcAft>
                      </a:pPr>
                      <a:r>
                        <a:rPr sz="1600" b="1" i="0">
                          <a:solidFill>
                            <a:srgbClr val="FFFFFF"/>
                          </a:solidFill>
                        </a:rPr>
                        <a:t>Where to look in A0</a:t>
                      </a:r>
                    </a:p>
                  </a:txBody>
                  <a:tcPr marL="73152" marR="73152" marT="36576" marB="36576">
                    <a:solidFill>
                      <a:srgbClr val="6E1EC6"/>
                    </a:solidFill>
                  </a:tcPr>
                </a:tc>
              </a:tr>
              <a:tr h="566928">
                <a:tc>
                  <a:txBody>
                    <a:bodyPr wrap="square"/>
                    <a:lstStyle/>
                    <a:p>
                      <a:pPr>
                        <a:spcAft>
                          <a:spcPts val="0"/>
                        </a:spcAft>
                      </a:pPr>
                      <a:r>
                        <a:rPr sz="1600" b="0" i="0">
                          <a:solidFill>
                            <a:srgbClr val="000000"/>
                          </a:solidFill>
                        </a:rPr>
                        <a:t>Well-formed</a:t>
                      </a:r>
                    </a:p>
                  </a:txBody>
                  <a:tcPr marL="73152" marR="73152" marT="36576" marB="36576">
                    <a:solidFill>
                      <a:srgbClr val="FFFFFF"/>
                    </a:solidFill>
                  </a:tcPr>
                </a:tc>
                <a:tc>
                  <a:txBody>
                    <a:bodyPr wrap="square"/>
                    <a:lstStyle/>
                    <a:p>
                      <a:pPr>
                        <a:spcAft>
                          <a:spcPts val="0"/>
                        </a:spcAft>
                      </a:pPr>
                      <a:r>
                        <a:rPr sz="1600" b="0" i="0">
                          <a:solidFill>
                            <a:srgbClr val="000000"/>
                          </a:solidFill>
                        </a:rPr>
                        <a:t>the header line **REQ-1** · Method: test; the report plugin parses it</a:t>
                      </a:r>
                    </a:p>
                  </a:txBody>
                  <a:tcPr marL="73152" marR="73152" marT="36576" marB="36576">
                    <a:solidFill>
                      <a:srgbClr val="FFFFFF"/>
                    </a:solidFill>
                  </a:tcPr>
                </a:tc>
              </a:tr>
              <a:tr h="566928">
                <a:tc>
                  <a:txBody>
                    <a:bodyPr wrap="square"/>
                    <a:lstStyle/>
                    <a:p>
                      <a:pPr>
                        <a:spcAft>
                          <a:spcPts val="0"/>
                        </a:spcAft>
                      </a:pPr>
                      <a:r>
                        <a:rPr sz="1600" b="0" i="0">
                          <a:solidFill>
                            <a:srgbClr val="000000"/>
                          </a:solidFill>
                        </a:rPr>
                        <a:t>Unambiguous</a:t>
                      </a:r>
                    </a:p>
                  </a:txBody>
                  <a:tcPr marL="73152" marR="73152" marT="36576" marB="36576">
                    <a:solidFill>
                      <a:srgbClr val="F3F0F9"/>
                    </a:solidFill>
                  </a:tcPr>
                </a:tc>
                <a:tc>
                  <a:txBody>
                    <a:bodyPr wrap="square"/>
                    <a:lstStyle/>
                    <a:p>
                      <a:pPr>
                        <a:spcAft>
                          <a:spcPts val="0"/>
                        </a:spcAft>
                      </a:pPr>
                      <a:r>
                        <a:rPr sz="1600" b="0" i="0">
                          <a:solidFill>
                            <a:srgbClr val="000000"/>
                          </a:solidFill>
                        </a:rPr>
                        <a:t>REQ-1 says what drop means. REQ-2 says "unchanged": is equality the only reading?</a:t>
                      </a:r>
                    </a:p>
                  </a:txBody>
                  <a:tcPr marL="73152" marR="73152" marT="36576" marB="36576">
                    <a:solidFill>
                      <a:srgbClr val="F3F0F9"/>
                    </a:solidFill>
                  </a:tcPr>
                </a:tc>
              </a:tr>
              <a:tr h="566928">
                <a:tc>
                  <a:txBody>
                    <a:bodyPr wrap="square"/>
                    <a:lstStyle/>
                    <a:p>
                      <a:pPr>
                        <a:spcAft>
                          <a:spcPts val="0"/>
                        </a:spcAft>
                      </a:pPr>
                      <a:r>
                        <a:rPr sz="1600" b="0" i="0">
                          <a:solidFill>
                            <a:srgbClr val="000000"/>
                          </a:solidFill>
                        </a:rPr>
                        <a:t>Internally consistent</a:t>
                      </a:r>
                    </a:p>
                  </a:txBody>
                  <a:tcPr marL="73152" marR="73152" marT="36576" marB="36576">
                    <a:solidFill>
                      <a:srgbClr val="FFFFFF"/>
                    </a:solidFill>
                  </a:tcPr>
                </a:tc>
                <a:tc>
                  <a:txBody>
                    <a:bodyPr wrap="square"/>
                    <a:lstStyle/>
                    <a:p>
                      <a:pPr>
                        <a:spcAft>
                          <a:spcPts val="0"/>
                        </a:spcAft>
                      </a:pPr>
                      <a:r>
                        <a:rPr sz="1600" b="0" i="0">
                          <a:solidFill>
                            <a:srgbClr val="000000"/>
                          </a:solidFill>
                        </a:rPr>
                        <a:t>REQ-1 to REQ-3 give each level one outcome</a:t>
                      </a:r>
                    </a:p>
                  </a:txBody>
                  <a:tcPr marL="73152" marR="73152" marT="36576" marB="36576">
                    <a:solidFill>
                      <a:srgbClr val="FFFFFF"/>
                    </a:solidFill>
                  </a:tcPr>
                </a:tc>
              </a:tr>
              <a:tr h="566928">
                <a:tc>
                  <a:txBody>
                    <a:bodyPr wrap="square"/>
                    <a:lstStyle/>
                    <a:p>
                      <a:pPr>
                        <a:spcAft>
                          <a:spcPts val="0"/>
                        </a:spcAft>
                      </a:pPr>
                      <a:r>
                        <a:rPr sz="1600" b="0" i="0">
                          <a:solidFill>
                            <a:srgbClr val="000000"/>
                          </a:solidFill>
                        </a:rPr>
                        <a:t>Externally consistent</a:t>
                      </a:r>
                    </a:p>
                  </a:txBody>
                  <a:tcPr marL="73152" marR="73152" marT="36576" marB="36576">
                    <a:solidFill>
                      <a:srgbClr val="F3F0F9"/>
                    </a:solidFill>
                  </a:tcPr>
                </a:tc>
                <a:tc>
                  <a:txBody>
                    <a:bodyPr wrap="square"/>
                    <a:lstStyle/>
                    <a:p>
                      <a:pPr>
                        <a:spcAft>
                          <a:spcPts val="0"/>
                        </a:spcAft>
                      </a:pPr>
                      <a:r>
                        <a:rPr sz="1600" b="0" i="0">
                          <a:solidFill>
                            <a:srgbClr val="000000"/>
                          </a:solidFill>
                        </a:rPr>
                        <a:t>every REQ derives from a story or a term; the same words in both files</a:t>
                      </a:r>
                    </a:p>
                  </a:txBody>
                  <a:tcPr marL="73152" marR="73152" marT="36576" marB="36576">
                    <a:solidFill>
                      <a:srgbClr val="F3F0F9"/>
                    </a:solidFill>
                  </a:tcPr>
                </a:tc>
              </a:tr>
              <a:tr h="566928">
                <a:tc>
                  <a:txBody>
                    <a:bodyPr wrap="square"/>
                    <a:lstStyle/>
                    <a:p>
                      <a:pPr>
                        <a:spcAft>
                          <a:spcPts val="0"/>
                        </a:spcAft>
                      </a:pPr>
                      <a:r>
                        <a:rPr sz="1600" b="0" i="0">
                          <a:solidFill>
                            <a:srgbClr val="000000"/>
                          </a:solidFill>
                        </a:rPr>
                        <a:t>Complete for its level</a:t>
                      </a:r>
                    </a:p>
                  </a:txBody>
                  <a:tcPr marL="73152" marR="73152" marT="36576" marB="36576">
                    <a:solidFill>
                      <a:srgbClr val="FFFFFF"/>
                    </a:solidFill>
                  </a:tcPr>
                </a:tc>
                <a:tc>
                  <a:txBody>
                    <a:bodyPr wrap="square"/>
                    <a:lstStyle/>
                    <a:p>
                      <a:pPr>
                        <a:spcAft>
                          <a:spcPts val="0"/>
                        </a:spcAft>
                      </a:pPr>
                      <a:r>
                        <a:rPr sz="1600" b="0" i="0">
                          <a:solidFill>
                            <a:srgbClr val="000000"/>
                          </a:solidFill>
                        </a:rPr>
                        <a:t>three levels, three requirements; transport is outside the boundary</a:t>
                      </a:r>
                    </a:p>
                  </a:txBody>
                  <a:tcPr marL="73152" marR="73152" marT="36576" marB="36576">
                    <a:solidFill>
                      <a:srgbClr val="FFFFFF"/>
                    </a:solidFill>
                  </a:tcPr>
                </a:tc>
              </a:tr>
            </a:tbl>
          </a:graphicData>
        </a:graphic>
      </p:graphicFrame>
      <p:sp>
        <p:nvSpPr>
          <p:cNvPr id="6" name="Rectangle 5"/>
          <p:cNvSpPr/>
          <p:nvPr/>
        </p:nvSpPr>
        <p:spPr>
          <a:xfrm>
            <a:off x="777240" y="502920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Established in A0 by rule SQ-1: a person read the seven clauses together and recorded who, when, and which clauses in the ledger.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realization</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29</a:t>
            </a:r>
          </a:p>
        </p:txBody>
      </p:sp>
      <p:sp>
        <p:nvSpPr>
          <p:cNvPr id="5" name="TextBox 4"/>
          <p:cNvSpPr txBox="1"/>
          <p:nvPr/>
        </p:nvSpPr>
        <p:spPr>
          <a:xfrm>
            <a:off x="777240" y="1325880"/>
            <a:ext cx="6583680" cy="4114800"/>
          </a:xfrm>
          <a:prstGeom prst="rect">
            <a:avLst/>
          </a:prstGeom>
          <a:solidFill>
            <a:srgbClr val="F2F2F2"/>
          </a:solidFill>
          <a:ln w="12700">
            <a:solidFill>
              <a:srgbClr val="BFBFBF"/>
            </a:solidFill>
          </a:ln>
        </p:spPr>
        <p:txBody>
          <a:bodyPr wrap="square" lIns="109728" rIns="109728" tIns="109728" bIns="109728">
            <a:spAutoFit/>
          </a:bodyPr>
          <a:lstStyle/>
          <a:p>
            <a:pPr>
              <a:spcAft>
                <a:spcPts val="0"/>
              </a:spcAft>
            </a:pPr>
            <a:r>
              <a:rPr sz="1500" b="1" i="0">
                <a:solidFill>
                  <a:srgbClr val="101040"/>
                </a:solidFill>
                <a:latin typeface="Courier New"/>
              </a:rPr>
              <a:t>class SecurityLevel(Enum):</a:t>
            </a:r>
          </a:p>
          <a:p>
            <a:pPr>
              <a:spcAft>
                <a:spcPts val="0"/>
              </a:spcAft>
            </a:pPr>
            <a:r>
              <a:rPr sz="1500" b="1" i="0">
                <a:solidFill>
                  <a:srgbClr val="101040"/>
                </a:solidFill>
                <a:latin typeface="Courier New"/>
              </a:rPr>
              <a:t>    PUBLIC = "Public"</a:t>
            </a:r>
          </a:p>
          <a:p>
            <a:pPr>
              <a:spcAft>
                <a:spcPts val="0"/>
              </a:spcAft>
            </a:pPr>
            <a:r>
              <a:rPr sz="1500" b="1" i="0">
                <a:solidFill>
                  <a:srgbClr val="101040"/>
                </a:solidFill>
                <a:latin typeface="Courier New"/>
              </a:rPr>
              <a:t>    RESTRICTED = "Restricted"</a:t>
            </a:r>
          </a:p>
          <a:p>
            <a:pPr>
              <a:spcAft>
                <a:spcPts val="0"/>
              </a:spcAft>
            </a:pPr>
            <a:r>
              <a:rPr sz="1500" b="1" i="0">
                <a:solidFill>
                  <a:srgbClr val="101040"/>
                </a:solidFill>
                <a:latin typeface="Courier New"/>
              </a:rPr>
              <a:t>    CRITICAL = "Critical"</a:t>
            </a:r>
          </a:p>
          <a:p>
            <a:pPr>
              <a:spcAft>
                <a:spcPts val="0"/>
              </a:spcAft>
            </a:pPr>
            <a:r>
              <a:rPr sz="1500" b="1" i="0">
                <a:solidFill>
                  <a:srgbClr val="101040"/>
                </a:solidFill>
                <a:latin typeface="Courier New"/>
              </a:rPr>
              <a:t> </a:t>
            </a:r>
          </a:p>
          <a:p>
            <a:pPr>
              <a:spcAft>
                <a:spcPts val="0"/>
              </a:spcAft>
            </a:pPr>
            <a:r>
              <a:rPr sz="1500" b="1" i="0">
                <a:solidFill>
                  <a:srgbClr val="101040"/>
                </a:solidFill>
                <a:latin typeface="Courier New"/>
              </a:rPr>
              <a:t> </a:t>
            </a:r>
          </a:p>
          <a:p>
            <a:pPr>
              <a:spcAft>
                <a:spcPts val="0"/>
              </a:spcAft>
            </a:pPr>
            <a:r>
              <a:rPr sz="1500" b="1" i="0">
                <a:solidFill>
                  <a:srgbClr val="101040"/>
                </a:solidFill>
                <a:latin typeface="Courier New"/>
              </a:rPr>
              <a:t>@dataclass(frozen=True)</a:t>
            </a:r>
          </a:p>
          <a:p>
            <a:pPr>
              <a:spcAft>
                <a:spcPts val="0"/>
              </a:spcAft>
            </a:pPr>
            <a:r>
              <a:rPr sz="1500" b="1" i="0">
                <a:solidFill>
                  <a:srgbClr val="101040"/>
                </a:solidFill>
                <a:latin typeface="Courier New"/>
              </a:rPr>
              <a:t>class Message:</a:t>
            </a:r>
          </a:p>
          <a:p>
            <a:pPr>
              <a:spcAft>
                <a:spcPts val="0"/>
              </a:spcAft>
            </a:pPr>
            <a:r>
              <a:rPr sz="1500" b="1" i="0">
                <a:solidFill>
                  <a:srgbClr val="101040"/>
                </a:solidFill>
                <a:latin typeface="Courier New"/>
              </a:rPr>
              <a:t>    level: SecurityLevel</a:t>
            </a:r>
          </a:p>
          <a:p>
            <a:pPr>
              <a:spcAft>
                <a:spcPts val="0"/>
              </a:spcAft>
            </a:pPr>
            <a:r>
              <a:rPr sz="1500" b="1" i="0">
                <a:solidFill>
                  <a:srgbClr val="101040"/>
                </a:solidFill>
                <a:latin typeface="Courier New"/>
              </a:rPr>
              <a:t>    payload: int</a:t>
            </a:r>
          </a:p>
          <a:p>
            <a:pPr>
              <a:spcAft>
                <a:spcPts val="0"/>
              </a:spcAft>
            </a:pPr>
            <a:r>
              <a:rPr sz="1500" b="1" i="0">
                <a:solidFill>
                  <a:srgbClr val="101040"/>
                </a:solidFill>
                <a:latin typeface="Courier New"/>
              </a:rPr>
              <a:t> </a:t>
            </a:r>
          </a:p>
          <a:p>
            <a:pPr>
              <a:spcAft>
                <a:spcPts val="0"/>
              </a:spcAft>
            </a:pPr>
            <a:r>
              <a:rPr sz="1500" b="1" i="0">
                <a:solidFill>
                  <a:srgbClr val="101040"/>
                </a:solidFill>
                <a:latin typeface="Courier New"/>
              </a:rPr>
              <a:t>    def __post_init__(self) -&gt; None:</a:t>
            </a:r>
          </a:p>
          <a:p>
            <a:pPr>
              <a:spcAft>
                <a:spcPts val="0"/>
              </a:spcAft>
            </a:pPr>
            <a:r>
              <a:rPr sz="1500" b="1" i="0">
                <a:solidFill>
                  <a:srgbClr val="101040"/>
                </a:solidFill>
                <a:latin typeface="Courier New"/>
              </a:rPr>
              <a:t>        if not isinstance(self.level, SecurityLevel):</a:t>
            </a:r>
          </a:p>
          <a:p>
            <a:pPr>
              <a:spcAft>
                <a:spcPts val="0"/>
              </a:spcAft>
            </a:pPr>
            <a:r>
              <a:rPr sz="1500" b="1" i="0">
                <a:solidFill>
                  <a:srgbClr val="101040"/>
                </a:solidFill>
                <a:latin typeface="Courier New"/>
              </a:rPr>
              <a:t>            raise TypeError(...)</a:t>
            </a:r>
          </a:p>
          <a:p>
            <a:pPr>
              <a:spcAft>
                <a:spcPts val="0"/>
              </a:spcAft>
            </a:pPr>
            <a:r>
              <a:rPr sz="1500" b="1" i="0">
                <a:solidFill>
                  <a:srgbClr val="101040"/>
                </a:solidFill>
                <a:latin typeface="Courier New"/>
              </a:rPr>
              <a:t>        if not isinstance(self.payload, int):</a:t>
            </a:r>
          </a:p>
          <a:p>
            <a:pPr>
              <a:spcAft>
                <a:spcPts val="0"/>
              </a:spcAft>
            </a:pPr>
            <a:r>
              <a:rPr sz="1500" b="1" i="0">
                <a:solidFill>
                  <a:srgbClr val="101040"/>
                </a:solidFill>
                <a:latin typeface="Courier New"/>
              </a:rPr>
              <a:t>            raise TypeError(...)</a:t>
            </a:r>
          </a:p>
        </p:txBody>
      </p:sp>
      <p:sp>
        <p:nvSpPr>
          <p:cNvPr id="6" name="TextBox 5"/>
          <p:cNvSpPr txBox="1"/>
          <p:nvPr/>
        </p:nvSpPr>
        <p:spPr>
          <a:xfrm>
            <a:off x="777240" y="5486400"/>
            <a:ext cx="658368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guard/message.py (abridged): REQ-0 made concrete</a:t>
            </a:r>
          </a:p>
        </p:txBody>
      </p:sp>
      <p:sp>
        <p:nvSpPr>
          <p:cNvPr id="7" name="TextBox 6"/>
          <p:cNvSpPr txBox="1"/>
          <p:nvPr/>
        </p:nvSpPr>
        <p:spPr>
          <a:xfrm>
            <a:off x="7589520" y="1325880"/>
            <a:ext cx="4206240" cy="4846320"/>
          </a:xfrm>
          <a:prstGeom prst="rect">
            <a:avLst/>
          </a:prstGeom>
          <a:noFill/>
        </p:spPr>
        <p:txBody>
          <a:bodyPr wrap="square" lIns="45720" rIns="45720" tIns="27432" bIns="27432">
            <a:spAutoFit/>
          </a:bodyPr>
          <a:lstStyle/>
          <a:p>
            <a:pPr marL="256032" indent="-256032">
              <a:spcAft>
                <a:spcPts val="1000"/>
              </a:spcAft>
              <a:buChar char="•"/>
            </a:pPr>
            <a:r>
              <a:rPr sz="1800" b="0" i="0"/>
              <a:t>The code and the test suite are both realization</a:t>
            </a:r>
          </a:p>
          <a:p>
            <a:pPr marL="256032" indent="-256032">
              <a:spcAft>
                <a:spcPts val="1000"/>
              </a:spcAft>
              <a:buChar char="•"/>
            </a:pPr>
            <a:r>
              <a:rPr sz="1800" b="0" i="0"/>
              <a:t>One specification, many realizations: another language, another design, the same clauses</a:t>
            </a:r>
          </a:p>
          <a:p>
            <a:pPr marL="256032" indent="-256032">
              <a:spcAft>
                <a:spcPts val="1000"/>
              </a:spcAft>
              <a:buChar char="•"/>
            </a:pPr>
            <a:r>
              <a:rPr sz="1600" b="0" i="0"/>
              <a:t>Under thirty lines of code; over three hundred of specifications, rules, and reports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Tests as executable specification</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30</a:t>
            </a:r>
          </a:p>
        </p:txBody>
      </p:sp>
      <p:sp>
        <p:nvSpPr>
          <p:cNvPr id="5" name="TextBox 4"/>
          <p:cNvSpPr txBox="1"/>
          <p:nvPr/>
        </p:nvSpPr>
        <p:spPr>
          <a:xfrm>
            <a:off x="777240" y="1325880"/>
            <a:ext cx="11018520" cy="4114800"/>
          </a:xfrm>
          <a:prstGeom prst="rect">
            <a:avLst/>
          </a:prstGeom>
          <a:solidFill>
            <a:srgbClr val="F2F2F2"/>
          </a:solidFill>
          <a:ln w="12700">
            <a:solidFill>
              <a:srgbClr val="BFBFBF"/>
            </a:solidFill>
          </a:ln>
        </p:spPr>
        <p:txBody>
          <a:bodyPr wrap="square" lIns="109728" rIns="109728" tIns="109728" bIns="109728">
            <a:spAutoFit/>
          </a:bodyPr>
          <a:lstStyle/>
          <a:p>
            <a:pPr>
              <a:spcAft>
                <a:spcPts val="0"/>
              </a:spcAft>
            </a:pPr>
            <a:r>
              <a:rPr sz="1500" b="1" i="0">
                <a:solidFill>
                  <a:srgbClr val="101040"/>
                </a:solidFill>
                <a:latin typeface="Courier New"/>
              </a:rPr>
              <a:t>@pytest.mark.req("REQ-1")</a:t>
            </a:r>
          </a:p>
          <a:p>
            <a:pPr>
              <a:spcAft>
                <a:spcPts val="0"/>
              </a:spcAft>
            </a:pPr>
            <a:r>
              <a:rPr sz="1500" b="1" i="0">
                <a:solidFill>
                  <a:srgbClr val="101040"/>
                </a:solidFill>
                <a:latin typeface="Courier New"/>
              </a:rPr>
              <a:t>@pytest.mark.parametrize("payload", [0, 100, -5])</a:t>
            </a:r>
          </a:p>
          <a:p>
            <a:pPr>
              <a:spcAft>
                <a:spcPts val="0"/>
              </a:spcAft>
            </a:pPr>
            <a:r>
              <a:rPr sz="1500" b="1" i="0">
                <a:solidFill>
                  <a:srgbClr val="101040"/>
                </a:solidFill>
                <a:latin typeface="Courier New"/>
              </a:rPr>
              <a:t>def test_critical_is_dropped(payload):</a:t>
            </a:r>
          </a:p>
          <a:p>
            <a:pPr>
              <a:spcAft>
                <a:spcPts val="0"/>
              </a:spcAft>
            </a:pPr>
            <a:r>
              <a:rPr sz="1500" b="1" i="0">
                <a:solidFill>
                  <a:srgbClr val="101040"/>
                </a:solidFill>
                <a:latin typeface="Courier New"/>
              </a:rPr>
              <a:t>    assert filter_message(Message(SecurityLevel.CRITICAL, payload)) is None</a:t>
            </a:r>
          </a:p>
          <a:p>
            <a:pPr>
              <a:spcAft>
                <a:spcPts val="0"/>
              </a:spcAft>
            </a:pPr>
            <a:r>
              <a:rPr sz="1500" b="1" i="0">
                <a:solidFill>
                  <a:srgbClr val="101040"/>
                </a:solidFill>
                <a:latin typeface="Courier New"/>
              </a:rPr>
              <a:t> </a:t>
            </a:r>
          </a:p>
          <a:p>
            <a:pPr>
              <a:spcAft>
                <a:spcPts val="0"/>
              </a:spcAft>
            </a:pPr>
            <a:r>
              <a:rPr sz="1500" b="1" i="0">
                <a:solidFill>
                  <a:srgbClr val="101040"/>
                </a:solidFill>
                <a:latin typeface="Courier New"/>
              </a:rPr>
              <a:t> </a:t>
            </a:r>
          </a:p>
          <a:p>
            <a:pPr>
              <a:spcAft>
                <a:spcPts val="0"/>
              </a:spcAft>
            </a:pPr>
            <a:r>
              <a:rPr sz="1500" b="1" i="0">
                <a:solidFill>
                  <a:srgbClr val="101040"/>
                </a:solidFill>
                <a:latin typeface="Courier New"/>
              </a:rPr>
              <a:t>@pytest.mark.req("REQ-2")</a:t>
            </a:r>
          </a:p>
          <a:p>
            <a:pPr>
              <a:spcAft>
                <a:spcPts val="0"/>
              </a:spcAft>
            </a:pPr>
            <a:r>
              <a:rPr sz="1500" b="1" i="0">
                <a:solidFill>
                  <a:srgbClr val="101040"/>
                </a:solidFill>
                <a:latin typeface="Courier New"/>
              </a:rPr>
              <a:t>def test_restricted_passes_unchanged():</a:t>
            </a:r>
          </a:p>
          <a:p>
            <a:pPr>
              <a:spcAft>
                <a:spcPts val="0"/>
              </a:spcAft>
            </a:pPr>
            <a:r>
              <a:rPr sz="1500" b="1" i="0">
                <a:solidFill>
                  <a:srgbClr val="101040"/>
                </a:solidFill>
                <a:latin typeface="Courier New"/>
              </a:rPr>
              <a:t>    message = Message(SecurityLevel.RESTRICTED, 7)</a:t>
            </a:r>
          </a:p>
          <a:p>
            <a:pPr>
              <a:spcAft>
                <a:spcPts val="0"/>
              </a:spcAft>
            </a:pPr>
            <a:r>
              <a:rPr sz="1500" b="1" i="0">
                <a:solidFill>
                  <a:srgbClr val="101040"/>
                </a:solidFill>
                <a:latin typeface="Courier New"/>
              </a:rPr>
              <a:t>    assert filter_message(message) == message</a:t>
            </a:r>
          </a:p>
          <a:p>
            <a:pPr>
              <a:spcAft>
                <a:spcPts val="0"/>
              </a:spcAft>
            </a:pPr>
            <a:r>
              <a:rPr sz="1500" b="1" i="0">
                <a:solidFill>
                  <a:srgbClr val="101040"/>
                </a:solidFill>
                <a:latin typeface="Courier New"/>
              </a:rPr>
              <a:t> </a:t>
            </a:r>
          </a:p>
          <a:p>
            <a:pPr>
              <a:spcAft>
                <a:spcPts val="0"/>
              </a:spcAft>
            </a:pPr>
            <a:r>
              <a:rPr sz="1500" b="1" i="0">
                <a:solidFill>
                  <a:srgbClr val="101040"/>
                </a:solidFill>
                <a:latin typeface="Courier New"/>
              </a:rPr>
              <a:t> </a:t>
            </a:r>
          </a:p>
          <a:p>
            <a:pPr>
              <a:spcAft>
                <a:spcPts val="0"/>
              </a:spcAft>
            </a:pPr>
            <a:r>
              <a:rPr sz="1500" b="1" i="0">
                <a:solidFill>
                  <a:srgbClr val="101040"/>
                </a:solidFill>
                <a:latin typeface="Courier New"/>
              </a:rPr>
              <a:t>@pytest.mark.req("REQ-3")</a:t>
            </a:r>
          </a:p>
          <a:p>
            <a:pPr>
              <a:spcAft>
                <a:spcPts val="0"/>
              </a:spcAft>
            </a:pPr>
            <a:r>
              <a:rPr sz="1500" b="1" i="0">
                <a:solidFill>
                  <a:srgbClr val="101040"/>
                </a:solidFill>
                <a:latin typeface="Courier New"/>
              </a:rPr>
              <a:t>def test_public_passes_unchanged():</a:t>
            </a:r>
          </a:p>
          <a:p>
            <a:pPr>
              <a:spcAft>
                <a:spcPts val="0"/>
              </a:spcAft>
            </a:pPr>
            <a:r>
              <a:rPr sz="1500" b="1" i="0">
                <a:solidFill>
                  <a:srgbClr val="101040"/>
                </a:solidFill>
                <a:latin typeface="Courier New"/>
              </a:rPr>
              <a:t>    message = Message(SecurityLevel.PUBLIC, 42)</a:t>
            </a:r>
          </a:p>
          <a:p>
            <a:pPr>
              <a:spcAft>
                <a:spcPts val="0"/>
              </a:spcAft>
            </a:pPr>
            <a:r>
              <a:rPr sz="1500" b="1" i="0">
                <a:solidFill>
                  <a:srgbClr val="101040"/>
                </a:solidFill>
                <a:latin typeface="Courier New"/>
              </a:rPr>
              <a:t>    assert filter_message(message) == message</a:t>
            </a:r>
          </a:p>
        </p:txBody>
      </p:sp>
      <p:sp>
        <p:nvSpPr>
          <p:cNvPr id="6" name="TextBox 5"/>
          <p:cNvSpPr txBox="1"/>
          <p:nvPr/>
        </p:nvSpPr>
        <p:spPr>
          <a:xfrm>
            <a:off x="777240" y="5486400"/>
            <a:ext cx="1101852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tests/test_filter.py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marker serves three readers</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31</a:t>
            </a:r>
          </a:p>
        </p:txBody>
      </p:sp>
      <p:sp>
        <p:nvSpPr>
          <p:cNvPr id="5" name="Rectangle 4"/>
          <p:cNvSpPr/>
          <p:nvPr/>
        </p:nvSpPr>
        <p:spPr>
          <a:xfrm>
            <a:off x="777240" y="1325880"/>
            <a:ext cx="11018520" cy="210312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800" b="1" i="0">
                <a:solidFill>
                  <a:srgbClr val="000000"/>
                </a:solidFill>
              </a:rPr>
              <a:t>@pytest.mark.req("REQ-1")</a:t>
            </a:r>
          </a:p>
          <a:p>
            <a:pPr algn="l" marL="256032" indent="-256032">
              <a:spcAft>
                <a:spcPts val="400"/>
              </a:spcAft>
              <a:buChar char="•"/>
            </a:pPr>
            <a:r>
              <a:rPr sz="1800" b="1" i="0">
                <a:solidFill>
                  <a:srgbClr val="000000"/>
                </a:solidFill>
              </a:rPr>
              <a:t>A program</a:t>
            </a:r>
            <a:r>
              <a:rPr sz="1800" b="0" i="0">
                <a:solidFill>
                  <a:srgbClr val="000000"/>
                </a:solidFill>
              </a:rPr>
              <a:t> computes which clauses have tests and which do not</a:t>
            </a:r>
          </a:p>
          <a:p>
            <a:pPr algn="l" marL="256032" indent="-256032">
              <a:spcAft>
                <a:spcPts val="400"/>
              </a:spcAft>
              <a:buChar char="•"/>
            </a:pPr>
            <a:r>
              <a:rPr sz="1800" b="1" i="0">
                <a:solidFill>
                  <a:srgbClr val="000000"/>
                </a:solidFill>
              </a:rPr>
              <a:t>A person</a:t>
            </a:r>
            <a:r>
              <a:rPr sz="1800" b="0" i="0">
                <a:solidFill>
                  <a:srgbClr val="000000"/>
                </a:solidFill>
              </a:rPr>
              <a:t> who sees the test fail knows which clause is in question</a:t>
            </a:r>
          </a:p>
          <a:p>
            <a:pPr algn="l" marL="256032" indent="-256032">
              <a:spcAft>
                <a:spcPts val="400"/>
              </a:spcAft>
              <a:buChar char="•"/>
            </a:pPr>
            <a:r>
              <a:rPr sz="1800" b="1" i="0">
                <a:solidFill>
                  <a:srgbClr val="000000"/>
                </a:solidFill>
              </a:rPr>
              <a:t>An agent</a:t>
            </a:r>
            <a:r>
              <a:rPr sz="1800" b="0" i="0">
                <a:solidFill>
                  <a:srgbClr val="000000"/>
                </a:solidFill>
              </a:rPr>
              <a:t> writing a test must say which clause it is evidence for</a:t>
            </a:r>
          </a:p>
        </p:txBody>
      </p:sp>
      <p:sp>
        <p:nvSpPr>
          <p:cNvPr id="6" name="Rectangle 5"/>
          <p:cNvSpPr/>
          <p:nvPr/>
        </p:nvSpPr>
        <p:spPr>
          <a:xfrm>
            <a:off x="777240" y="3749039"/>
            <a:ext cx="11018520" cy="6400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A test that cites no clause is not allowed in the suite (rules CONF-1 and TR-1).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Realization quality (RQ) in A0</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32</a:t>
            </a:r>
          </a:p>
        </p:txBody>
      </p:sp>
      <p:sp>
        <p:nvSpPr>
          <p:cNvPr id="5" name="TextBox 4"/>
          <p:cNvSpPr txBox="1"/>
          <p:nvPr/>
        </p:nvSpPr>
        <p:spPr>
          <a:xfrm>
            <a:off x="777240" y="1325880"/>
            <a:ext cx="5486400" cy="4846320"/>
          </a:xfrm>
          <a:prstGeom prst="rect">
            <a:avLst/>
          </a:prstGeom>
          <a:noFill/>
        </p:spPr>
        <p:txBody>
          <a:bodyPr wrap="square" lIns="45720" rIns="45720" tIns="27432" bIns="27432">
            <a:spAutoFit/>
          </a:bodyPr>
          <a:lstStyle/>
          <a:p>
            <a:pPr marL="256032" indent="-256032">
              <a:spcAft>
                <a:spcPts val="1000"/>
              </a:spcAft>
              <a:buChar char="•"/>
            </a:pPr>
            <a:r>
              <a:rPr sz="1800" b="1" i="0">
                <a:solidFill>
                  <a:srgbClr val="101040"/>
                </a:solidFill>
                <a:latin typeface="Courier New"/>
              </a:rPr>
              <a:t>ruff check</a:t>
            </a:r>
            <a:r>
              <a:rPr sz="1800" b="0" i="0"/>
              <a:t>  unused and undefined names, syntax that will not run</a:t>
            </a:r>
          </a:p>
          <a:p>
            <a:pPr marL="256032" indent="-256032">
              <a:spcAft>
                <a:spcPts val="1000"/>
              </a:spcAft>
              <a:buChar char="•"/>
            </a:pPr>
            <a:r>
              <a:rPr sz="1800" b="1" i="0">
                <a:solidFill>
                  <a:srgbClr val="101040"/>
                </a:solidFill>
                <a:latin typeface="Courier New"/>
              </a:rPr>
              <a:t>pytest --collect-only</a:t>
            </a:r>
            <a:r>
              <a:rPr sz="1800" b="0" i="0"/>
              <a:t>  every test file imports; every marker is declared</a:t>
            </a:r>
          </a:p>
          <a:p>
            <a:pPr marL="256032" indent="-256032">
              <a:spcAft>
                <a:spcPts val="1000"/>
              </a:spcAft>
              <a:buChar char="•"/>
            </a:pPr>
            <a:r>
              <a:rPr sz="1800" b="1" i="0"/>
              <a:t>Test discipline</a:t>
            </a:r>
            <a:r>
              <a:rPr sz="1800" b="0" i="0"/>
              <a:t> (reviewed): a test can fail; asserts no more loosely than its clause</a:t>
            </a:r>
          </a:p>
        </p:txBody>
      </p:sp>
      <p:graphicFrame>
        <p:nvGraphicFramePr>
          <p:cNvPr id="6" name="Table 5"/>
          <p:cNvGraphicFramePr>
            <a:graphicFrameLocks noGrp="1"/>
          </p:cNvGraphicFramePr>
          <p:nvPr/>
        </p:nvGraphicFramePr>
        <p:xfrm>
          <a:off x="6492240" y="1325880"/>
          <a:ext cx="5303520" cy="3200400"/>
        </p:xfrm>
        <a:graphic>
          <a:graphicData uri="http://schemas.openxmlformats.org/drawingml/2006/table">
            <a:tbl>
              <a:tblPr firstRow="1" bandRow="1">
                <a:tableStyleId>{5C22544A-7EE6-4342-B048-85BDC9FD1C3A}</a:tableStyleId>
              </a:tblPr>
              <a:tblGrid>
                <a:gridCol w="1463040"/>
                <a:gridCol w="3840480"/>
              </a:tblGrid>
              <a:tr h="457200">
                <a:tc>
                  <a:txBody>
                    <a:bodyPr wrap="square"/>
                    <a:lstStyle/>
                    <a:p>
                      <a:pPr>
                        <a:spcAft>
                          <a:spcPts val="0"/>
                        </a:spcAft>
                      </a:pPr>
                      <a:r>
                        <a:rPr sz="1600" b="1" i="0">
                          <a:solidFill>
                            <a:srgbClr val="FFFFFF"/>
                          </a:solidFill>
                        </a:rPr>
                        <a:t>RQ-1</a:t>
                      </a:r>
                    </a:p>
                  </a:txBody>
                  <a:tcPr marL="73152" marR="73152" marT="36576" marB="36576">
                    <a:solidFill>
                      <a:srgbClr val="990099"/>
                    </a:solidFill>
                  </a:tcPr>
                </a:tc>
                <a:tc>
                  <a:txBody>
                    <a:bodyPr wrap="square"/>
                    <a:lstStyle/>
                    <a:p>
                      <a:pPr>
                        <a:spcAft>
                          <a:spcPts val="0"/>
                        </a:spcAft>
                      </a:pPr>
                      <a:r>
                        <a:rPr sz="1600" b="1" i="0">
                          <a:solidFill>
                            <a:srgbClr val="FFFFFF"/>
                          </a:solidFill>
                        </a:rPr>
                        <a:t/>
                      </a:r>
                    </a:p>
                  </a:txBody>
                  <a:tcPr marL="73152" marR="73152" marT="36576" marB="36576">
                    <a:solidFill>
                      <a:srgbClr val="990099"/>
                    </a:solidFill>
                  </a:tcPr>
                </a:tc>
              </a:tr>
              <a:tr h="457200">
                <a:tc>
                  <a:txBody>
                    <a:bodyPr wrap="square"/>
                    <a:lstStyle/>
                    <a:p>
                      <a:pPr>
                        <a:spcAft>
                          <a:spcPts val="0"/>
                        </a:spcAft>
                      </a:pPr>
                      <a:r>
                        <a:rPr sz="1600" b="0" i="0">
                          <a:solidFill>
                            <a:srgbClr val="000000"/>
                          </a:solidFill>
                        </a:rPr>
                        <a:t>Style</a:t>
                      </a:r>
                    </a:p>
                  </a:txBody>
                  <a:tcPr marL="73152" marR="73152" marT="36576" marB="36576">
                    <a:solidFill>
                      <a:srgbClr val="FFFFFF"/>
                    </a:solidFill>
                  </a:tcPr>
                </a:tc>
                <a:tc>
                  <a:txBody>
                    <a:bodyPr wrap="square"/>
                    <a:lstStyle/>
                    <a:p>
                      <a:pPr>
                        <a:spcAft>
                          <a:spcPts val="0"/>
                        </a:spcAft>
                      </a:pPr>
                      <a:r>
                        <a:rPr sz="1600" b="0" i="0">
                          <a:solidFill>
                            <a:srgbClr val="000000"/>
                          </a:solidFill>
                        </a:rPr>
                        <a:t>obligation</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Maintains</a:t>
                      </a:r>
                    </a:p>
                  </a:txBody>
                  <a:tcPr marL="73152" marR="73152" marT="36576" marB="36576">
                    <a:solidFill>
                      <a:srgbClr val="F3F0F9"/>
                    </a:solidFill>
                  </a:tcPr>
                </a:tc>
                <a:tc>
                  <a:txBody>
                    <a:bodyPr wrap="square"/>
                    <a:lstStyle/>
                    <a:p>
                      <a:pPr>
                        <a:spcAft>
                          <a:spcPts val="0"/>
                        </a:spcAft>
                      </a:pPr>
                      <a:r>
                        <a:rPr sz="1600" b="0" i="0">
                          <a:solidFill>
                            <a:srgbClr val="000000"/>
                          </a:solidFill>
                        </a:rPr>
                        <a:t>RQ</a:t>
                      </a:r>
                    </a:p>
                  </a:txBody>
                  <a:tcPr marL="73152" marR="73152" marT="36576" marB="36576">
                    <a:solidFill>
                      <a:srgbClr val="F3F0F9"/>
                    </a:solidFill>
                  </a:tcPr>
                </a:tc>
              </a:tr>
              <a:tr h="457200">
                <a:tc>
                  <a:txBody>
                    <a:bodyPr wrap="square"/>
                    <a:lstStyle/>
                    <a:p>
                      <a:pPr>
                        <a:spcAft>
                          <a:spcPts val="0"/>
                        </a:spcAft>
                      </a:pPr>
                      <a:r>
                        <a:rPr sz="1600" b="0" i="0">
                          <a:solidFill>
                            <a:srgbClr val="000000"/>
                          </a:solidFill>
                        </a:rPr>
                        <a:t>Statement</a:t>
                      </a:r>
                    </a:p>
                  </a:txBody>
                  <a:tcPr marL="73152" marR="73152" marT="36576" marB="36576">
                    <a:solidFill>
                      <a:srgbClr val="FFFFFF"/>
                    </a:solidFill>
                  </a:tcPr>
                </a:tc>
                <a:tc>
                  <a:txBody>
                    <a:bodyPr wrap="square"/>
                    <a:lstStyle/>
                    <a:p>
                      <a:pPr>
                        <a:spcAft>
                          <a:spcPts val="0"/>
                        </a:spcAft>
                      </a:pPr>
                      <a:r>
                        <a:rPr sz="1600" b="0" i="0">
                          <a:solidFill>
                            <a:srgbClr val="000000"/>
                          </a:solidFill>
                        </a:rPr>
                        <a:t>The realization MUST pass ruff check, and the suite MUST collect without error.</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Decided by</a:t>
                      </a:r>
                    </a:p>
                  </a:txBody>
                  <a:tcPr marL="73152" marR="73152" marT="36576" marB="36576">
                    <a:solidFill>
                      <a:srgbClr val="F3F0F9"/>
                    </a:solidFill>
                  </a:tcPr>
                </a:tc>
                <a:tc>
                  <a:txBody>
                    <a:bodyPr wrap="square"/>
                    <a:lstStyle/>
                    <a:p>
                      <a:pPr>
                        <a:spcAft>
                          <a:spcPts val="0"/>
                        </a:spcAft>
                      </a:pPr>
                      <a:r>
                        <a:rPr sz="1600" b="0" i="0">
                          <a:solidFill>
                            <a:srgbClr val="000000"/>
                          </a:solidFill>
                        </a:rPr>
                        <a:t>analysis: the two commands</a:t>
                      </a:r>
                    </a:p>
                  </a:txBody>
                  <a:tcPr marL="73152" marR="73152" marT="36576" marB="36576">
                    <a:solidFill>
                      <a:srgbClr val="F3F0F9"/>
                    </a:solidFill>
                  </a:tcPr>
                </a:tc>
              </a:tr>
              <a:tr h="457200">
                <a:tc>
                  <a:txBody>
                    <a:bodyPr wrap="square"/>
                    <a:lstStyle/>
                    <a:p>
                      <a:pPr>
                        <a:spcAft>
                          <a:spcPts val="0"/>
                        </a:spcAft>
                      </a:pPr>
                      <a:r>
                        <a:rPr sz="1600" b="0" i="0">
                          <a:solidFill>
                            <a:srgbClr val="000000"/>
                          </a:solidFill>
                        </a:rPr>
                        <a:t>Evidence</a:t>
                      </a:r>
                    </a:p>
                  </a:txBody>
                  <a:tcPr marL="73152" marR="73152" marT="36576" marB="36576">
                    <a:solidFill>
                      <a:srgbClr val="FFFFFF"/>
                    </a:solidFill>
                  </a:tcPr>
                </a:tc>
                <a:tc>
                  <a:txBody>
                    <a:bodyPr wrap="square"/>
                    <a:lstStyle/>
                    <a:p>
                      <a:pPr>
                        <a:spcAft>
                          <a:spcPts val="0"/>
                        </a:spcAft>
                      </a:pPr>
                      <a:r>
                        <a:rPr sz="1600" b="0" i="0">
                          <a:solidFill>
                            <a:srgbClr val="000000"/>
                          </a:solidFill>
                        </a:rPr>
                        <a:t>exit codes, in the dev log</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On failure</a:t>
                      </a:r>
                    </a:p>
                  </a:txBody>
                  <a:tcPr marL="73152" marR="73152" marT="36576" marB="36576">
                    <a:solidFill>
                      <a:srgbClr val="F3F0F9"/>
                    </a:solidFill>
                  </a:tcPr>
                </a:tc>
                <a:tc>
                  <a:txBody>
                    <a:bodyPr wrap="square"/>
                    <a:lstStyle/>
                    <a:p>
                      <a:pPr>
                        <a:spcAft>
                          <a:spcPts val="0"/>
                        </a:spcAft>
                      </a:pPr>
                      <a:r>
                        <a:rPr sz="1600" b="0" i="0">
                          <a:solidFill>
                            <a:srgbClr val="000000"/>
                          </a:solidFill>
                        </a:rPr>
                        <a:t>fixed before the commit</a:t>
                      </a:r>
                    </a:p>
                  </a:txBody>
                  <a:tcPr marL="73152" marR="73152" marT="36576" marB="36576">
                    <a:solidFill>
                      <a:srgbClr val="F3F0F9"/>
                    </a:solidFill>
                  </a:tcPr>
                </a:tc>
              </a:tr>
            </a:tbl>
          </a:graphicData>
        </a:graphic>
      </p:graphicFrame>
      <p:sp>
        <p:nvSpPr>
          <p:cNvPr id="7" name="Rectangle 6"/>
          <p:cNvSpPr/>
          <p:nvPr/>
        </p:nvSpPr>
        <p:spPr>
          <a:xfrm>
            <a:off x="777240" y="5577840"/>
            <a:ext cx="11018520" cy="6400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Why a separate row: a suite that does not collect produces no conformance evidence at all.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Conformance is four conditions</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33</a:t>
            </a:r>
          </a:p>
        </p:txBody>
      </p:sp>
      <p:sp>
        <p:nvSpPr>
          <p:cNvPr id="5" name="Rectangle 4"/>
          <p:cNvSpPr/>
          <p:nvPr/>
        </p:nvSpPr>
        <p:spPr>
          <a:xfrm>
            <a:off x="777240" y="1188720"/>
            <a:ext cx="11018520" cy="54864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A passing test suite, on its own, establishes only that the suite's own claims hold.</a:t>
            </a:r>
          </a:p>
        </p:txBody>
      </p:sp>
      <p:sp>
        <p:nvSpPr>
          <p:cNvPr id="6" name="Rectangle 5"/>
          <p:cNvSpPr/>
          <p:nvPr/>
        </p:nvSpPr>
        <p:spPr>
          <a:xfrm>
            <a:off x="777240" y="1965960"/>
            <a:ext cx="2606040" cy="91440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1" i="0">
                <a:solidFill>
                  <a:srgbClr val="000000"/>
                </a:solidFill>
              </a:rPr>
              <a:t>1  Every test passes</a:t>
            </a:r>
          </a:p>
        </p:txBody>
      </p:sp>
      <p:sp>
        <p:nvSpPr>
          <p:cNvPr id="7" name="TextBox 6"/>
          <p:cNvSpPr txBox="1"/>
          <p:nvPr/>
        </p:nvSpPr>
        <p:spPr>
          <a:xfrm>
            <a:off x="777240" y="2971800"/>
            <a:ext cx="2606040" cy="1554480"/>
          </a:xfrm>
          <a:prstGeom prst="rect">
            <a:avLst/>
          </a:prstGeom>
          <a:noFill/>
        </p:spPr>
        <p:txBody>
          <a:bodyPr wrap="square" lIns="45720" rIns="45720">
            <a:spAutoFit/>
          </a:bodyPr>
          <a:lstStyle/>
          <a:p>
            <a:pPr>
              <a:spcAft>
                <a:spcPts val="400"/>
              </a:spcAft>
            </a:pPr>
            <a:r>
              <a:rPr sz="1800" b="0" i="0"/>
              <a:t>the run itself</a:t>
            </a:r>
          </a:p>
        </p:txBody>
      </p:sp>
      <p:sp>
        <p:nvSpPr>
          <p:cNvPr id="8" name="Rectangle 7"/>
          <p:cNvSpPr/>
          <p:nvPr/>
        </p:nvSpPr>
        <p:spPr>
          <a:xfrm>
            <a:off x="777240" y="4572000"/>
            <a:ext cx="2606040" cy="548640"/>
          </a:xfrm>
          <a:prstGeom prst="rect">
            <a:avLst/>
          </a:prstGeom>
          <a:solidFill>
            <a:srgbClr val="FFF3B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600" b="0" i="0">
                <a:solidFill>
                  <a:srgbClr val="595959"/>
                </a:solidFill>
              </a:rPr>
              <a:t>decided by </a:t>
            </a:r>
            <a:r>
              <a:rPr sz="1600" b="1" i="0">
                <a:solidFill>
                  <a:srgbClr val="000000"/>
                </a:solidFill>
              </a:rPr>
              <a:t>program</a:t>
            </a:r>
          </a:p>
        </p:txBody>
      </p:sp>
      <p:sp>
        <p:nvSpPr>
          <p:cNvPr id="9" name="Rectangle 8"/>
          <p:cNvSpPr/>
          <p:nvPr/>
        </p:nvSpPr>
        <p:spPr>
          <a:xfrm>
            <a:off x="3566160" y="1965960"/>
            <a:ext cx="2606040" cy="91440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1" i="0">
                <a:solidFill>
                  <a:srgbClr val="000000"/>
                </a:solidFill>
              </a:rPr>
              <a:t>2  Requirements coverage</a:t>
            </a:r>
          </a:p>
        </p:txBody>
      </p:sp>
      <p:sp>
        <p:nvSpPr>
          <p:cNvPr id="10" name="TextBox 9"/>
          <p:cNvSpPr txBox="1"/>
          <p:nvPr/>
        </p:nvSpPr>
        <p:spPr>
          <a:xfrm>
            <a:off x="3566160" y="2971800"/>
            <a:ext cx="2606040" cy="1554480"/>
          </a:xfrm>
          <a:prstGeom prst="rect">
            <a:avLst/>
          </a:prstGeom>
          <a:noFill/>
        </p:spPr>
        <p:txBody>
          <a:bodyPr wrap="square" lIns="45720" rIns="45720">
            <a:spAutoFit/>
          </a:bodyPr>
          <a:lstStyle/>
          <a:p>
            <a:pPr>
              <a:spcAft>
                <a:spcPts val="400"/>
              </a:spcAft>
            </a:pPr>
            <a:r>
              <a:rPr sz="1800" b="0" i="0"/>
              <a:t>every test clause is cited by a passing test</a:t>
            </a:r>
          </a:p>
        </p:txBody>
      </p:sp>
      <p:sp>
        <p:nvSpPr>
          <p:cNvPr id="11" name="Rectangle 10"/>
          <p:cNvSpPr/>
          <p:nvPr/>
        </p:nvSpPr>
        <p:spPr>
          <a:xfrm>
            <a:off x="3566160" y="4572000"/>
            <a:ext cx="2606040" cy="548640"/>
          </a:xfrm>
          <a:prstGeom prst="rect">
            <a:avLst/>
          </a:prstGeom>
          <a:solidFill>
            <a:srgbClr val="FFF3B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600" b="0" i="0">
                <a:solidFill>
                  <a:srgbClr val="595959"/>
                </a:solidFill>
              </a:rPr>
              <a:t>decided by </a:t>
            </a:r>
            <a:r>
              <a:rPr sz="1600" b="1" i="0">
                <a:solidFill>
                  <a:srgbClr val="000000"/>
                </a:solidFill>
              </a:rPr>
              <a:t>program</a:t>
            </a:r>
          </a:p>
        </p:txBody>
      </p:sp>
      <p:sp>
        <p:nvSpPr>
          <p:cNvPr id="12" name="Rectangle 11"/>
          <p:cNvSpPr/>
          <p:nvPr/>
        </p:nvSpPr>
        <p:spPr>
          <a:xfrm>
            <a:off x="6355079" y="1965960"/>
            <a:ext cx="2606040" cy="91440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1" i="0">
                <a:solidFill>
                  <a:srgbClr val="000000"/>
                </a:solidFill>
              </a:rPr>
              <a:t>3  Structural coverage</a:t>
            </a:r>
          </a:p>
        </p:txBody>
      </p:sp>
      <p:sp>
        <p:nvSpPr>
          <p:cNvPr id="13" name="TextBox 12"/>
          <p:cNvSpPr txBox="1"/>
          <p:nvPr/>
        </p:nvSpPr>
        <p:spPr>
          <a:xfrm>
            <a:off x="6355079" y="2971800"/>
            <a:ext cx="2606040" cy="1554480"/>
          </a:xfrm>
          <a:prstGeom prst="rect">
            <a:avLst/>
          </a:prstGeom>
          <a:noFill/>
        </p:spPr>
        <p:txBody>
          <a:bodyPr wrap="square" lIns="45720" rIns="45720">
            <a:spAutoFit/>
          </a:bodyPr>
          <a:lstStyle/>
          <a:p>
            <a:pPr>
              <a:spcAft>
                <a:spcPts val="400"/>
              </a:spcAft>
            </a:pPr>
            <a:r>
              <a:rPr sz="1800" b="0" i="0"/>
              <a:t>every branch of guard/ exercised</a:t>
            </a:r>
          </a:p>
        </p:txBody>
      </p:sp>
      <p:sp>
        <p:nvSpPr>
          <p:cNvPr id="14" name="Rectangle 13"/>
          <p:cNvSpPr/>
          <p:nvPr/>
        </p:nvSpPr>
        <p:spPr>
          <a:xfrm>
            <a:off x="6355079" y="4572000"/>
            <a:ext cx="2606040" cy="548640"/>
          </a:xfrm>
          <a:prstGeom prst="rect">
            <a:avLst/>
          </a:prstGeom>
          <a:solidFill>
            <a:srgbClr val="FFF3B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600" b="0" i="0">
                <a:solidFill>
                  <a:srgbClr val="595959"/>
                </a:solidFill>
              </a:rPr>
              <a:t>decided by </a:t>
            </a:r>
            <a:r>
              <a:rPr sz="1600" b="1" i="0">
                <a:solidFill>
                  <a:srgbClr val="000000"/>
                </a:solidFill>
              </a:rPr>
              <a:t>program</a:t>
            </a:r>
          </a:p>
        </p:txBody>
      </p:sp>
      <p:sp>
        <p:nvSpPr>
          <p:cNvPr id="15" name="Rectangle 14"/>
          <p:cNvSpPr/>
          <p:nvPr/>
        </p:nvSpPr>
        <p:spPr>
          <a:xfrm>
            <a:off x="9143999" y="1965960"/>
            <a:ext cx="2606040" cy="91440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1" i="0">
                <a:solidFill>
                  <a:srgbClr val="000000"/>
                </a:solidFill>
              </a:rPr>
              <a:t>4  Judgment clauses walked</a:t>
            </a:r>
          </a:p>
        </p:txBody>
      </p:sp>
      <p:sp>
        <p:nvSpPr>
          <p:cNvPr id="16" name="TextBox 15"/>
          <p:cNvSpPr txBox="1"/>
          <p:nvPr/>
        </p:nvSpPr>
        <p:spPr>
          <a:xfrm>
            <a:off x="9143999" y="2971800"/>
            <a:ext cx="2606040" cy="1554480"/>
          </a:xfrm>
          <a:prstGeom prst="rect">
            <a:avLst/>
          </a:prstGeom>
          <a:noFill/>
        </p:spPr>
        <p:txBody>
          <a:bodyPr wrap="square" lIns="45720" rIns="45720">
            <a:spAutoFit/>
          </a:bodyPr>
          <a:lstStyle/>
          <a:p>
            <a:pPr>
              <a:spcAft>
                <a:spcPts val="400"/>
              </a:spcAft>
            </a:pPr>
            <a:r>
              <a:rPr sz="1800" b="0" i="0"/>
              <a:t>each story exercised by a person in its role</a:t>
            </a:r>
          </a:p>
        </p:txBody>
      </p:sp>
      <p:sp>
        <p:nvSpPr>
          <p:cNvPr id="17" name="Rectangle 16"/>
          <p:cNvSpPr/>
          <p:nvPr/>
        </p:nvSpPr>
        <p:spPr>
          <a:xfrm>
            <a:off x="9143999" y="4572000"/>
            <a:ext cx="2606040" cy="548640"/>
          </a:xfrm>
          <a:prstGeom prst="rect">
            <a:avLst/>
          </a:prstGeom>
          <a:solidFill>
            <a:srgbClr val="FFF3B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600" b="0" i="0">
                <a:solidFill>
                  <a:srgbClr val="595959"/>
                </a:solidFill>
              </a:rPr>
              <a:t>decided by </a:t>
            </a:r>
            <a:r>
              <a:rPr sz="1600" b="1" i="0">
                <a:solidFill>
                  <a:srgbClr val="000000"/>
                </a:solidFill>
              </a:rPr>
              <a:t>a person</a:t>
            </a:r>
          </a:p>
        </p:txBody>
      </p:sp>
      <p:sp>
        <p:nvSpPr>
          <p:cNvPr id="18" name="Rectangle 17"/>
          <p:cNvSpPr/>
          <p:nvPr/>
        </p:nvSpPr>
        <p:spPr>
          <a:xfrm>
            <a:off x="777240" y="5440680"/>
            <a:ext cx="11018520" cy="7315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Three ways a green suite misleads: no test for a clause; code never exercised; stories silently skipped.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evidence: the conformance report</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34</a:t>
            </a:r>
          </a:p>
        </p:txBody>
      </p:sp>
      <p:graphicFrame>
        <p:nvGraphicFramePr>
          <p:cNvPr id="5" name="Table 4"/>
          <p:cNvGraphicFramePr>
            <a:graphicFrameLocks noGrp="1"/>
          </p:cNvGraphicFramePr>
          <p:nvPr/>
        </p:nvGraphicFramePr>
        <p:xfrm>
          <a:off x="777240" y="1325880"/>
          <a:ext cx="11018520" cy="2743200"/>
        </p:xfrm>
        <a:graphic>
          <a:graphicData uri="http://schemas.openxmlformats.org/drawingml/2006/table">
            <a:tbl>
              <a:tblPr firstRow="1" bandRow="1">
                <a:tableStyleId>{5C22544A-7EE6-4342-B048-85BDC9FD1C3A}</a:tableStyleId>
              </a:tblPr>
              <a:tblGrid>
                <a:gridCol w="2011680"/>
                <a:gridCol w="1828800"/>
                <a:gridCol w="4846320"/>
                <a:gridCol w="2331720"/>
              </a:tblGrid>
              <a:tr h="457200">
                <a:tc>
                  <a:txBody>
                    <a:bodyPr wrap="square"/>
                    <a:lstStyle/>
                    <a:p>
                      <a:pPr>
                        <a:spcAft>
                          <a:spcPts val="0"/>
                        </a:spcAft>
                      </a:pPr>
                      <a:r>
                        <a:rPr sz="1600" b="1" i="0">
                          <a:solidFill>
                            <a:srgbClr val="FFFFFF"/>
                          </a:solidFill>
                        </a:rPr>
                        <a:t>Clause</a:t>
                      </a:r>
                    </a:p>
                  </a:txBody>
                  <a:tcPr marL="73152" marR="73152" marT="36576" marB="36576">
                    <a:solidFill>
                      <a:srgbClr val="6E1EC6"/>
                    </a:solidFill>
                  </a:tcPr>
                </a:tc>
                <a:tc>
                  <a:txBody>
                    <a:bodyPr wrap="square"/>
                    <a:lstStyle/>
                    <a:p>
                      <a:pPr>
                        <a:spcAft>
                          <a:spcPts val="0"/>
                        </a:spcAft>
                      </a:pPr>
                      <a:r>
                        <a:rPr sz="1600" b="1" i="0">
                          <a:solidFill>
                            <a:srgbClr val="FFFFFF"/>
                          </a:solidFill>
                        </a:rPr>
                        <a:t>Method</a:t>
                      </a:r>
                    </a:p>
                  </a:txBody>
                  <a:tcPr marL="73152" marR="73152" marT="36576" marB="36576">
                    <a:solidFill>
                      <a:srgbClr val="6E1EC6"/>
                    </a:solidFill>
                  </a:tcPr>
                </a:tc>
                <a:tc>
                  <a:txBody>
                    <a:bodyPr wrap="square"/>
                    <a:lstStyle/>
                    <a:p>
                      <a:pPr>
                        <a:spcAft>
                          <a:spcPts val="0"/>
                        </a:spcAft>
                      </a:pPr>
                      <a:r>
                        <a:rPr sz="1600" b="1" i="0">
                          <a:solidFill>
                            <a:srgbClr val="FFFFFF"/>
                          </a:solidFill>
                        </a:rPr>
                        <a:t>Tests citing it</a:t>
                      </a:r>
                    </a:p>
                  </a:txBody>
                  <a:tcPr marL="73152" marR="73152" marT="36576" marB="36576">
                    <a:solidFill>
                      <a:srgbClr val="6E1EC6"/>
                    </a:solidFill>
                  </a:tcPr>
                </a:tc>
                <a:tc>
                  <a:txBody>
                    <a:bodyPr wrap="square"/>
                    <a:lstStyle/>
                    <a:p>
                      <a:pPr>
                        <a:spcAft>
                          <a:spcPts val="0"/>
                        </a:spcAft>
                      </a:pPr>
                      <a:r>
                        <a:rPr sz="1600" b="1" i="0">
                          <a:solidFill>
                            <a:srgbClr val="FFFFFF"/>
                          </a:solidFill>
                        </a:rPr>
                        <a:t>Status</a:t>
                      </a:r>
                    </a:p>
                  </a:txBody>
                  <a:tcPr marL="73152" marR="73152" marT="36576" marB="36576">
                    <a:solidFill>
                      <a:srgbClr val="6E1EC6"/>
                    </a:solidFill>
                  </a:tcPr>
                </a:tc>
              </a:tr>
              <a:tr h="457200">
                <a:tc>
                  <a:txBody>
                    <a:bodyPr wrap="square"/>
                    <a:lstStyle/>
                    <a:p>
                      <a:pPr>
                        <a:spcAft>
                          <a:spcPts val="0"/>
                        </a:spcAft>
                      </a:pPr>
                      <a:r>
                        <a:rPr sz="1600" b="0" i="0">
                          <a:solidFill>
                            <a:srgbClr val="000000"/>
                          </a:solidFill>
                        </a:rPr>
                        <a:t>US-1 to US-3</a:t>
                      </a:r>
                    </a:p>
                  </a:txBody>
                  <a:tcPr marL="73152" marR="73152" marT="36576" marB="36576">
                    <a:solidFill>
                      <a:srgbClr val="FFFFFF"/>
                    </a:solidFill>
                  </a:tcPr>
                </a:tc>
                <a:tc>
                  <a:txBody>
                    <a:bodyPr wrap="square"/>
                    <a:lstStyle/>
                    <a:p>
                      <a:pPr>
                        <a:spcAft>
                          <a:spcPts val="0"/>
                        </a:spcAft>
                      </a:pPr>
                      <a:r>
                        <a:rPr sz="1600" b="0" i="0">
                          <a:solidFill>
                            <a:srgbClr val="000000"/>
                          </a:solidFill>
                        </a:rPr>
                        <a:t>walkthrough</a:t>
                      </a:r>
                    </a:p>
                  </a:txBody>
                  <a:tcPr marL="73152" marR="73152" marT="36576" marB="36576">
                    <a:solidFill>
                      <a:srgbClr val="FFFFFF"/>
                    </a:solidFill>
                  </a:tcPr>
                </a:tc>
                <a:tc>
                  <a:txBody>
                    <a:bodyPr wrap="square"/>
                    <a:lstStyle/>
                    <a:p>
                      <a:pPr>
                        <a:spcAft>
                          <a:spcPts val="0"/>
                        </a:spcAft>
                      </a:pPr>
                      <a:r>
                        <a:rPr sz="1600" b="0" i="0">
                          <a:solidFill>
                            <a:srgbClr val="000000"/>
                          </a:solidFill>
                        </a:rPr>
                        <a:t>—</a:t>
                      </a:r>
                    </a:p>
                  </a:txBody>
                  <a:tcPr marL="73152" marR="73152" marT="36576" marB="36576">
                    <a:solidFill>
                      <a:srgbClr val="FFFFFF"/>
                    </a:solidFill>
                  </a:tcPr>
                </a:tc>
                <a:tc>
                  <a:txBody>
                    <a:bodyPr wrap="square"/>
                    <a:lstStyle/>
                    <a:p>
                      <a:pPr>
                        <a:spcAft>
                          <a:spcPts val="0"/>
                        </a:spcAft>
                      </a:pPr>
                      <a:r>
                        <a:rPr sz="1600" b="0" i="0">
                          <a:solidFill>
                            <a:srgbClr val="000000"/>
                          </a:solidFill>
                        </a:rPr>
                        <a:t>see walkthrough.md</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REQ-0</a:t>
                      </a:r>
                    </a:p>
                  </a:txBody>
                  <a:tcPr marL="73152" marR="73152" marT="36576" marB="36576">
                    <a:solidFill>
                      <a:srgbClr val="F3F0F9"/>
                    </a:solidFill>
                  </a:tcPr>
                </a:tc>
                <a:tc>
                  <a:txBody>
                    <a:bodyPr wrap="square"/>
                    <a:lstStyle/>
                    <a:p>
                      <a:pPr>
                        <a:spcAft>
                          <a:spcPts val="0"/>
                        </a:spcAft>
                      </a:pPr>
                      <a:r>
                        <a:rPr sz="1600" b="0" i="0">
                          <a:solidFill>
                            <a:srgbClr val="000000"/>
                          </a:solidFill>
                        </a:rPr>
                        <a:t>test</a:t>
                      </a:r>
                    </a:p>
                  </a:txBody>
                  <a:tcPr marL="73152" marR="73152" marT="36576" marB="36576">
                    <a:solidFill>
                      <a:srgbClr val="F3F0F9"/>
                    </a:solidFill>
                  </a:tcPr>
                </a:tc>
                <a:tc>
                  <a:txBody>
                    <a:bodyPr wrap="square"/>
                    <a:lstStyle/>
                    <a:p>
                      <a:pPr>
                        <a:spcAft>
                          <a:spcPts val="0"/>
                        </a:spcAft>
                      </a:pPr>
                      <a:r>
                        <a:rPr sz="1600" b="0" i="0">
                          <a:solidFill>
                            <a:srgbClr val="000000"/>
                          </a:solidFill>
                        </a:rPr>
                        <a:t>five tests in test_message.py</a:t>
                      </a:r>
                    </a:p>
                  </a:txBody>
                  <a:tcPr marL="73152" marR="73152" marT="36576" marB="36576">
                    <a:solidFill>
                      <a:srgbClr val="F3F0F9"/>
                    </a:solidFill>
                  </a:tcPr>
                </a:tc>
                <a:tc>
                  <a:txBody>
                    <a:bodyPr wrap="square"/>
                    <a:lstStyle/>
                    <a:p>
                      <a:pPr>
                        <a:spcAft>
                          <a:spcPts val="0"/>
                        </a:spcAft>
                      </a:pPr>
                      <a:r>
                        <a:rPr sz="1600" b="1" i="0">
                          <a:solidFill>
                            <a:srgbClr val="2E7D32"/>
                          </a:solidFill>
                        </a:rPr>
                        <a:t>pass</a:t>
                      </a:r>
                    </a:p>
                  </a:txBody>
                  <a:tcPr marL="73152" marR="73152" marT="36576" marB="36576">
                    <a:solidFill>
                      <a:srgbClr val="F3F0F9"/>
                    </a:solidFill>
                  </a:tcPr>
                </a:tc>
              </a:tr>
              <a:tr h="457200">
                <a:tc>
                  <a:txBody>
                    <a:bodyPr wrap="square"/>
                    <a:lstStyle/>
                    <a:p>
                      <a:pPr>
                        <a:spcAft>
                          <a:spcPts val="0"/>
                        </a:spcAft>
                      </a:pPr>
                      <a:r>
                        <a:rPr sz="1600" b="0" i="0">
                          <a:solidFill>
                            <a:srgbClr val="000000"/>
                          </a:solidFill>
                        </a:rPr>
                        <a:t>REQ-1</a:t>
                      </a:r>
                    </a:p>
                  </a:txBody>
                  <a:tcPr marL="73152" marR="73152" marT="36576" marB="36576">
                    <a:solidFill>
                      <a:srgbClr val="FFFFFF"/>
                    </a:solidFill>
                  </a:tcPr>
                </a:tc>
                <a:tc>
                  <a:txBody>
                    <a:bodyPr wrap="square"/>
                    <a:lstStyle/>
                    <a:p>
                      <a:pPr>
                        <a:spcAft>
                          <a:spcPts val="0"/>
                        </a:spcAft>
                      </a:pPr>
                      <a:r>
                        <a:rPr sz="1600" b="0" i="0">
                          <a:solidFill>
                            <a:srgbClr val="000000"/>
                          </a:solidFill>
                        </a:rPr>
                        <a:t>test</a:t>
                      </a:r>
                    </a:p>
                  </a:txBody>
                  <a:tcPr marL="73152" marR="73152" marT="36576" marB="36576">
                    <a:solidFill>
                      <a:srgbClr val="FFFFFF"/>
                    </a:solidFill>
                  </a:tcPr>
                </a:tc>
                <a:tc>
                  <a:txBody>
                    <a:bodyPr wrap="square"/>
                    <a:lstStyle/>
                    <a:p>
                      <a:pPr>
                        <a:spcAft>
                          <a:spcPts val="0"/>
                        </a:spcAft>
                      </a:pPr>
                      <a:r>
                        <a:rPr sz="1600" b="0" i="0">
                          <a:solidFill>
                            <a:srgbClr val="000000"/>
                          </a:solidFill>
                        </a:rPr>
                        <a:t>test_critical_is_dropped [0], [100], [-5]</a:t>
                      </a:r>
                    </a:p>
                  </a:txBody>
                  <a:tcPr marL="73152" marR="73152" marT="36576" marB="36576">
                    <a:solidFill>
                      <a:srgbClr val="FFFFFF"/>
                    </a:solidFill>
                  </a:tcPr>
                </a:tc>
                <a:tc>
                  <a:txBody>
                    <a:bodyPr wrap="square"/>
                    <a:lstStyle/>
                    <a:p>
                      <a:pPr>
                        <a:spcAft>
                          <a:spcPts val="0"/>
                        </a:spcAft>
                      </a:pPr>
                      <a:r>
                        <a:rPr sz="1600" b="1" i="0">
                          <a:solidFill>
                            <a:srgbClr val="2E7D32"/>
                          </a:solidFill>
                        </a:rPr>
                        <a:t>pass</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REQ-2</a:t>
                      </a:r>
                    </a:p>
                  </a:txBody>
                  <a:tcPr marL="73152" marR="73152" marT="36576" marB="36576">
                    <a:solidFill>
                      <a:srgbClr val="F3F0F9"/>
                    </a:solidFill>
                  </a:tcPr>
                </a:tc>
                <a:tc>
                  <a:txBody>
                    <a:bodyPr wrap="square"/>
                    <a:lstStyle/>
                    <a:p>
                      <a:pPr>
                        <a:spcAft>
                          <a:spcPts val="0"/>
                        </a:spcAft>
                      </a:pPr>
                      <a:r>
                        <a:rPr sz="1600" b="0" i="0">
                          <a:solidFill>
                            <a:srgbClr val="000000"/>
                          </a:solidFill>
                        </a:rPr>
                        <a:t>test</a:t>
                      </a:r>
                    </a:p>
                  </a:txBody>
                  <a:tcPr marL="73152" marR="73152" marT="36576" marB="36576">
                    <a:solidFill>
                      <a:srgbClr val="F3F0F9"/>
                    </a:solidFill>
                  </a:tcPr>
                </a:tc>
                <a:tc>
                  <a:txBody>
                    <a:bodyPr wrap="square"/>
                    <a:lstStyle/>
                    <a:p>
                      <a:pPr>
                        <a:spcAft>
                          <a:spcPts val="0"/>
                        </a:spcAft>
                      </a:pPr>
                      <a:r>
                        <a:rPr sz="1600" b="0" i="0">
                          <a:solidFill>
                            <a:srgbClr val="000000"/>
                          </a:solidFill>
                        </a:rPr>
                        <a:t>test_restricted_passes_unchanged</a:t>
                      </a:r>
                    </a:p>
                  </a:txBody>
                  <a:tcPr marL="73152" marR="73152" marT="36576" marB="36576">
                    <a:solidFill>
                      <a:srgbClr val="F3F0F9"/>
                    </a:solidFill>
                  </a:tcPr>
                </a:tc>
                <a:tc>
                  <a:txBody>
                    <a:bodyPr wrap="square"/>
                    <a:lstStyle/>
                    <a:p>
                      <a:pPr>
                        <a:spcAft>
                          <a:spcPts val="0"/>
                        </a:spcAft>
                      </a:pPr>
                      <a:r>
                        <a:rPr sz="1600" b="1" i="0">
                          <a:solidFill>
                            <a:srgbClr val="2E7D32"/>
                          </a:solidFill>
                        </a:rPr>
                        <a:t>pass</a:t>
                      </a:r>
                    </a:p>
                  </a:txBody>
                  <a:tcPr marL="73152" marR="73152" marT="36576" marB="36576">
                    <a:solidFill>
                      <a:srgbClr val="F3F0F9"/>
                    </a:solidFill>
                  </a:tcPr>
                </a:tc>
              </a:tr>
              <a:tr h="457200">
                <a:tc>
                  <a:txBody>
                    <a:bodyPr wrap="square"/>
                    <a:lstStyle/>
                    <a:p>
                      <a:pPr>
                        <a:spcAft>
                          <a:spcPts val="0"/>
                        </a:spcAft>
                      </a:pPr>
                      <a:r>
                        <a:rPr sz="1600" b="0" i="0">
                          <a:solidFill>
                            <a:srgbClr val="000000"/>
                          </a:solidFill>
                        </a:rPr>
                        <a:t>REQ-3</a:t>
                      </a:r>
                    </a:p>
                  </a:txBody>
                  <a:tcPr marL="73152" marR="73152" marT="36576" marB="36576">
                    <a:solidFill>
                      <a:srgbClr val="FFFFFF"/>
                    </a:solidFill>
                  </a:tcPr>
                </a:tc>
                <a:tc>
                  <a:txBody>
                    <a:bodyPr wrap="square"/>
                    <a:lstStyle/>
                    <a:p>
                      <a:pPr>
                        <a:spcAft>
                          <a:spcPts val="0"/>
                        </a:spcAft>
                      </a:pPr>
                      <a:r>
                        <a:rPr sz="1600" b="0" i="0">
                          <a:solidFill>
                            <a:srgbClr val="000000"/>
                          </a:solidFill>
                        </a:rPr>
                        <a:t>test</a:t>
                      </a:r>
                    </a:p>
                  </a:txBody>
                  <a:tcPr marL="73152" marR="73152" marT="36576" marB="36576">
                    <a:solidFill>
                      <a:srgbClr val="FFFFFF"/>
                    </a:solidFill>
                  </a:tcPr>
                </a:tc>
                <a:tc>
                  <a:txBody>
                    <a:bodyPr wrap="square"/>
                    <a:lstStyle/>
                    <a:p>
                      <a:pPr>
                        <a:spcAft>
                          <a:spcPts val="0"/>
                        </a:spcAft>
                      </a:pPr>
                      <a:r>
                        <a:rPr sz="1600" b="0" i="0">
                          <a:solidFill>
                            <a:srgbClr val="000000"/>
                          </a:solidFill>
                        </a:rPr>
                        <a:t>test_public_passes_unchanged</a:t>
                      </a:r>
                    </a:p>
                  </a:txBody>
                  <a:tcPr marL="73152" marR="73152" marT="36576" marB="36576">
                    <a:solidFill>
                      <a:srgbClr val="FFFFFF"/>
                    </a:solidFill>
                  </a:tcPr>
                </a:tc>
                <a:tc>
                  <a:txBody>
                    <a:bodyPr wrap="square"/>
                    <a:lstStyle/>
                    <a:p>
                      <a:pPr>
                        <a:spcAft>
                          <a:spcPts val="0"/>
                        </a:spcAft>
                      </a:pPr>
                      <a:r>
                        <a:rPr sz="1600" b="1" i="0">
                          <a:solidFill>
                            <a:srgbClr val="2E7D32"/>
                          </a:solidFill>
                        </a:rPr>
                        <a:t>pass</a:t>
                      </a:r>
                    </a:p>
                  </a:txBody>
                  <a:tcPr marL="73152" marR="73152" marT="36576" marB="36576">
                    <a:solidFill>
                      <a:srgbClr val="FFFFFF"/>
                    </a:solidFill>
                  </a:tcPr>
                </a:tc>
              </a:tr>
            </a:tbl>
          </a:graphicData>
        </a:graphic>
      </p:graphicFrame>
      <p:sp>
        <p:nvSpPr>
          <p:cNvPr id="6" name="TextBox 5"/>
          <p:cNvSpPr txBox="1"/>
          <p:nvPr/>
        </p:nvSpPr>
        <p:spPr>
          <a:xfrm>
            <a:off x="777240" y="4206240"/>
            <a:ext cx="11018520" cy="365760"/>
          </a:xfrm>
          <a:prstGeom prst="rect">
            <a:avLst/>
          </a:prstGeom>
          <a:noFill/>
        </p:spPr>
        <p:txBody>
          <a:bodyPr wrap="square" lIns="45720" rIns="45720">
            <a:spAutoFit/>
          </a:bodyPr>
          <a:lstStyle/>
          <a:p>
            <a:pPr>
              <a:spcAft>
                <a:spcPts val="400"/>
              </a:spcAft>
            </a:pPr>
            <a:r>
              <a:rPr sz="1400" b="0" i="0">
                <a:solidFill>
                  <a:srgbClr val="595959"/>
                </a:solidFill>
                <a:latin typeface="Courier New"/>
              </a:rPr>
              <a:t>reports/conformance.md</a:t>
            </a:r>
          </a:p>
        </p:txBody>
      </p:sp>
      <p:sp>
        <p:nvSpPr>
          <p:cNvPr id="7" name="Rectangle 6"/>
          <p:cNvSpPr/>
          <p:nvPr/>
        </p:nvSpPr>
        <p:spPr>
          <a:xfrm>
            <a:off x="777240" y="475488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Requirements coverage: 4 of 4 test clauses have passing evidence. Unknown identifiers: none. A clause with no citing test would show "no evidence" and fail the run.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evidence: the coverage table</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35</a:t>
            </a:r>
          </a:p>
        </p:txBody>
      </p:sp>
      <p:sp>
        <p:nvSpPr>
          <p:cNvPr id="5" name="TextBox 4"/>
          <p:cNvSpPr txBox="1"/>
          <p:nvPr/>
        </p:nvSpPr>
        <p:spPr>
          <a:xfrm>
            <a:off x="777240" y="1325880"/>
            <a:ext cx="11018520" cy="1920240"/>
          </a:xfrm>
          <a:prstGeom prst="rect">
            <a:avLst/>
          </a:prstGeom>
          <a:solidFill>
            <a:srgbClr val="F2F2F2"/>
          </a:solidFill>
          <a:ln w="12700">
            <a:solidFill>
              <a:srgbClr val="BFBFBF"/>
            </a:solidFill>
          </a:ln>
        </p:spPr>
        <p:txBody>
          <a:bodyPr wrap="square" lIns="109728" rIns="109728" tIns="109728" bIns="109728">
            <a:spAutoFit/>
          </a:bodyPr>
          <a:lstStyle/>
          <a:p>
            <a:pPr>
              <a:spcAft>
                <a:spcPts val="0"/>
              </a:spcAft>
            </a:pPr>
            <a:r>
              <a:rPr sz="1600" b="1" i="0">
                <a:solidFill>
                  <a:srgbClr val="101040"/>
                </a:solidFill>
                <a:latin typeface="Courier New"/>
              </a:rPr>
              <a:t>Name                Stmts   Miss Branch BrPart  Cover</a:t>
            </a:r>
          </a:p>
          <a:p>
            <a:pPr>
              <a:spcAft>
                <a:spcPts val="0"/>
              </a:spcAft>
            </a:pPr>
            <a:r>
              <a:rPr sz="1600" b="1" i="0">
                <a:solidFill>
                  <a:srgbClr val="101040"/>
                </a:solidFill>
                <a:latin typeface="Courier New"/>
              </a:rPr>
              <a:t>guard/__init__.py       3      0      0      0   100%</a:t>
            </a:r>
          </a:p>
          <a:p>
            <a:pPr>
              <a:spcAft>
                <a:spcPts val="0"/>
              </a:spcAft>
            </a:pPr>
            <a:r>
              <a:rPr sz="1600" b="1" i="0">
                <a:solidFill>
                  <a:srgbClr val="101040"/>
                </a:solidFill>
                <a:latin typeface="Courier New"/>
              </a:rPr>
              <a:t>guard/filter.py         5      0      2      0   100%</a:t>
            </a:r>
          </a:p>
          <a:p>
            <a:pPr>
              <a:spcAft>
                <a:spcPts val="0"/>
              </a:spcAft>
            </a:pPr>
            <a:r>
              <a:rPr sz="1600" b="1" i="0">
                <a:solidFill>
                  <a:srgbClr val="101040"/>
                </a:solidFill>
                <a:latin typeface="Courier New"/>
              </a:rPr>
              <a:t>guard/message.py       13      0      4      0   100%</a:t>
            </a:r>
          </a:p>
          <a:p>
            <a:pPr>
              <a:spcAft>
                <a:spcPts val="0"/>
              </a:spcAft>
            </a:pPr>
            <a:r>
              <a:rPr sz="1600" b="1" i="0">
                <a:solidFill>
                  <a:srgbClr val="101040"/>
                </a:solidFill>
                <a:latin typeface="Courier New"/>
              </a:rPr>
              <a:t>TOTAL                  21      0      6      0   100%</a:t>
            </a:r>
          </a:p>
        </p:txBody>
      </p:sp>
      <p:sp>
        <p:nvSpPr>
          <p:cNvPr id="6" name="TextBox 5"/>
          <p:cNvSpPr txBox="1"/>
          <p:nvPr/>
        </p:nvSpPr>
        <p:spPr>
          <a:xfrm>
            <a:off x="777240" y="3291839"/>
            <a:ext cx="1101852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pytest-cov: branch coverage of guard/; the run fails below 100 percent</a:t>
            </a:r>
          </a:p>
        </p:txBody>
      </p:sp>
      <p:sp>
        <p:nvSpPr>
          <p:cNvPr id="7" name="TextBox 6"/>
          <p:cNvSpPr txBox="1"/>
          <p:nvPr/>
        </p:nvSpPr>
        <p:spPr>
          <a:xfrm>
            <a:off x="777240" y="3749039"/>
            <a:ext cx="11018520" cy="2468880"/>
          </a:xfrm>
          <a:prstGeom prst="rect">
            <a:avLst/>
          </a:prstGeom>
          <a:noFill/>
        </p:spPr>
        <p:txBody>
          <a:bodyPr wrap="square" lIns="45720" rIns="45720" tIns="27432" bIns="27432">
            <a:spAutoFit/>
          </a:bodyPr>
          <a:lstStyle/>
          <a:p>
            <a:pPr marL="256032" indent="-256032">
              <a:spcAft>
                <a:spcPts val="1000"/>
              </a:spcAft>
              <a:buChar char="•"/>
            </a:pPr>
            <a:r>
              <a:rPr sz="1800" b="0" i="0"/>
              <a:t>Requirements coverage is a coverage measure over the specification, as branch coverage is one over the code</a:t>
            </a:r>
          </a:p>
          <a:p>
            <a:pPr marL="256032" indent="-256032">
              <a:spcAft>
                <a:spcPts val="1000"/>
              </a:spcAft>
              <a:buChar char="•"/>
            </a:pPr>
            <a:r>
              <a:rPr sz="1800" b="0" i="0"/>
              <a:t>Branch coverage is not strong: a branch was taken, not that the test checked anything useful there. But a branch no test took is a place where the code can do anything unnoticed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Who decided: the walkthroughs</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36</a:t>
            </a:r>
          </a:p>
        </p:txBody>
      </p:sp>
      <p:graphicFrame>
        <p:nvGraphicFramePr>
          <p:cNvPr id="5" name="Table 4"/>
          <p:cNvGraphicFramePr>
            <a:graphicFrameLocks noGrp="1"/>
          </p:cNvGraphicFramePr>
          <p:nvPr/>
        </p:nvGraphicFramePr>
        <p:xfrm>
          <a:off x="777240" y="1325880"/>
          <a:ext cx="11018520" cy="1828800"/>
        </p:xfrm>
        <a:graphic>
          <a:graphicData uri="http://schemas.openxmlformats.org/drawingml/2006/table">
            <a:tbl>
              <a:tblPr firstRow="1" bandRow="1">
                <a:tableStyleId>{5C22544A-7EE6-4342-B048-85BDC9FD1C3A}</a:tableStyleId>
              </a:tblPr>
              <a:tblGrid>
                <a:gridCol w="1188720"/>
                <a:gridCol w="2377440"/>
                <a:gridCol w="4480560"/>
                <a:gridCol w="2971800"/>
              </a:tblGrid>
              <a:tr h="457200">
                <a:tc>
                  <a:txBody>
                    <a:bodyPr wrap="square"/>
                    <a:lstStyle/>
                    <a:p>
                      <a:pPr>
                        <a:spcAft>
                          <a:spcPts val="0"/>
                        </a:spcAft>
                      </a:pPr>
                      <a:r>
                        <a:rPr sz="1600" b="1" i="0">
                          <a:solidFill>
                            <a:srgbClr val="FFFFFF"/>
                          </a:solidFill>
                        </a:rPr>
                        <a:t>Clause</a:t>
                      </a:r>
                    </a:p>
                  </a:txBody>
                  <a:tcPr marL="73152" marR="73152" marT="36576" marB="36576">
                    <a:solidFill>
                      <a:srgbClr val="6E1EC6"/>
                    </a:solidFill>
                  </a:tcPr>
                </a:tc>
                <a:tc>
                  <a:txBody>
                    <a:bodyPr wrap="square"/>
                    <a:lstStyle/>
                    <a:p>
                      <a:pPr>
                        <a:spcAft>
                          <a:spcPts val="0"/>
                        </a:spcAft>
                      </a:pPr>
                      <a:r>
                        <a:rPr sz="1600" b="1" i="0">
                          <a:solidFill>
                            <a:srgbClr val="FFFFFF"/>
                          </a:solidFill>
                        </a:rPr>
                        <a:t>Role</a:t>
                      </a:r>
                    </a:p>
                  </a:txBody>
                  <a:tcPr marL="73152" marR="73152" marT="36576" marB="36576">
                    <a:solidFill>
                      <a:srgbClr val="6E1EC6"/>
                    </a:solidFill>
                  </a:tcPr>
                </a:tc>
                <a:tc>
                  <a:txBody>
                    <a:bodyPr wrap="square"/>
                    <a:lstStyle/>
                    <a:p>
                      <a:pPr>
                        <a:spcAft>
                          <a:spcPts val="0"/>
                        </a:spcAft>
                      </a:pPr>
                      <a:r>
                        <a:rPr sz="1600" b="1" i="0">
                          <a:solidFill>
                            <a:srgbClr val="FFFFFF"/>
                          </a:solidFill>
                        </a:rPr>
                        <a:t>Command</a:t>
                      </a:r>
                    </a:p>
                  </a:txBody>
                  <a:tcPr marL="73152" marR="73152" marT="36576" marB="36576">
                    <a:solidFill>
                      <a:srgbClr val="6E1EC6"/>
                    </a:solidFill>
                  </a:tcPr>
                </a:tc>
                <a:tc>
                  <a:txBody>
                    <a:bodyPr wrap="square"/>
                    <a:lstStyle/>
                    <a:p>
                      <a:pPr>
                        <a:spcAft>
                          <a:spcPts val="0"/>
                        </a:spcAft>
                      </a:pPr>
                      <a:r>
                        <a:rPr sz="1600" b="1" i="0">
                          <a:solidFill>
                            <a:srgbClr val="FFFFFF"/>
                          </a:solidFill>
                        </a:rPr>
                        <a:t>Observed</a:t>
                      </a:r>
                    </a:p>
                  </a:txBody>
                  <a:tcPr marL="73152" marR="73152" marT="36576" marB="36576">
                    <a:solidFill>
                      <a:srgbClr val="6E1EC6"/>
                    </a:solidFill>
                  </a:tcPr>
                </a:tc>
              </a:tr>
              <a:tr h="457200">
                <a:tc>
                  <a:txBody>
                    <a:bodyPr wrap="square"/>
                    <a:lstStyle/>
                    <a:p>
                      <a:pPr>
                        <a:spcAft>
                          <a:spcPts val="0"/>
                        </a:spcAft>
                      </a:pPr>
                      <a:r>
                        <a:rPr sz="1600" b="0" i="0">
                          <a:solidFill>
                            <a:srgbClr val="000000"/>
                          </a:solidFill>
                        </a:rPr>
                        <a:t>US-1</a:t>
                      </a:r>
                    </a:p>
                  </a:txBody>
                  <a:tcPr marL="73152" marR="73152" marT="36576" marB="36576">
                    <a:solidFill>
                      <a:srgbClr val="FFFFFF"/>
                    </a:solidFill>
                  </a:tcPr>
                </a:tc>
                <a:tc>
                  <a:txBody>
                    <a:bodyPr wrap="square"/>
                    <a:lstStyle/>
                    <a:p>
                      <a:pPr>
                        <a:spcAft>
                          <a:spcPts val="0"/>
                        </a:spcAft>
                      </a:pPr>
                      <a:r>
                        <a:rPr sz="1600" b="0" i="0">
                          <a:solidFill>
                            <a:srgbClr val="000000"/>
                          </a:solidFill>
                        </a:rPr>
                        <a:t>message sender</a:t>
                      </a:r>
                    </a:p>
                  </a:txBody>
                  <a:tcPr marL="73152" marR="73152" marT="36576" marB="36576">
                    <a:solidFill>
                      <a:srgbClr val="FFFFFF"/>
                    </a:solidFill>
                  </a:tcPr>
                </a:tc>
                <a:tc>
                  <a:txBody>
                    <a:bodyPr wrap="square"/>
                    <a:lstStyle/>
                    <a:p>
                      <a:pPr>
                        <a:spcAft>
                          <a:spcPts val="0"/>
                        </a:spcAft>
                      </a:pPr>
                      <a:r>
                        <a:rPr sz="1600" b="0" i="0">
                          <a:solidFill>
                            <a:srgbClr val="000000"/>
                          </a:solidFill>
                        </a:rPr>
                        <a:t>tools/walk.py Public 42</a:t>
                      </a:r>
                    </a:p>
                  </a:txBody>
                  <a:tcPr marL="73152" marR="73152" marT="36576" marB="36576">
                    <a:solidFill>
                      <a:srgbClr val="FFFFFF"/>
                    </a:solidFill>
                  </a:tcPr>
                </a:tc>
                <a:tc>
                  <a:txBody>
                    <a:bodyPr wrap="square"/>
                    <a:lstStyle/>
                    <a:p>
                      <a:pPr>
                        <a:spcAft>
                          <a:spcPts val="0"/>
                        </a:spcAft>
                      </a:pPr>
                      <a:r>
                        <a:rPr sz="1600" b="0" i="0">
                          <a:solidFill>
                            <a:srgbClr val="000000"/>
                          </a:solidFill>
                        </a:rPr>
                        <a:t>pass: Public 42</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US-2</a:t>
                      </a:r>
                    </a:p>
                  </a:txBody>
                  <a:tcPr marL="73152" marR="73152" marT="36576" marB="36576">
                    <a:solidFill>
                      <a:srgbClr val="F3F0F9"/>
                    </a:solidFill>
                  </a:tcPr>
                </a:tc>
                <a:tc>
                  <a:txBody>
                    <a:bodyPr wrap="square"/>
                    <a:lstStyle/>
                    <a:p>
                      <a:pPr>
                        <a:spcAft>
                          <a:spcPts val="0"/>
                        </a:spcAft>
                      </a:pPr>
                      <a:r>
                        <a:rPr sz="1600" b="0" i="0">
                          <a:solidFill>
                            <a:srgbClr val="000000"/>
                          </a:solidFill>
                        </a:rPr>
                        <a:t>message sender</a:t>
                      </a:r>
                    </a:p>
                  </a:txBody>
                  <a:tcPr marL="73152" marR="73152" marT="36576" marB="36576">
                    <a:solidFill>
                      <a:srgbClr val="F3F0F9"/>
                    </a:solidFill>
                  </a:tcPr>
                </a:tc>
                <a:tc>
                  <a:txBody>
                    <a:bodyPr wrap="square"/>
                    <a:lstStyle/>
                    <a:p>
                      <a:pPr>
                        <a:spcAft>
                          <a:spcPts val="0"/>
                        </a:spcAft>
                      </a:pPr>
                      <a:r>
                        <a:rPr sz="1600" b="0" i="0">
                          <a:solidFill>
                            <a:srgbClr val="000000"/>
                          </a:solidFill>
                        </a:rPr>
                        <a:t>tools/walk.py Restricted 7</a:t>
                      </a:r>
                    </a:p>
                  </a:txBody>
                  <a:tcPr marL="73152" marR="73152" marT="36576" marB="36576">
                    <a:solidFill>
                      <a:srgbClr val="F3F0F9"/>
                    </a:solidFill>
                  </a:tcPr>
                </a:tc>
                <a:tc>
                  <a:txBody>
                    <a:bodyPr wrap="square"/>
                    <a:lstStyle/>
                    <a:p>
                      <a:pPr>
                        <a:spcAft>
                          <a:spcPts val="0"/>
                        </a:spcAft>
                      </a:pPr>
                      <a:r>
                        <a:rPr sz="1600" b="0" i="0">
                          <a:solidFill>
                            <a:srgbClr val="000000"/>
                          </a:solidFill>
                        </a:rPr>
                        <a:t>pass: Restricted 7</a:t>
                      </a:r>
                    </a:p>
                  </a:txBody>
                  <a:tcPr marL="73152" marR="73152" marT="36576" marB="36576">
                    <a:solidFill>
                      <a:srgbClr val="F3F0F9"/>
                    </a:solidFill>
                  </a:tcPr>
                </a:tc>
              </a:tr>
              <a:tr h="457200">
                <a:tc>
                  <a:txBody>
                    <a:bodyPr wrap="square"/>
                    <a:lstStyle/>
                    <a:p>
                      <a:pPr>
                        <a:spcAft>
                          <a:spcPts val="0"/>
                        </a:spcAft>
                      </a:pPr>
                      <a:r>
                        <a:rPr sz="1600" b="0" i="0">
                          <a:solidFill>
                            <a:srgbClr val="000000"/>
                          </a:solidFill>
                        </a:rPr>
                        <a:t>US-3</a:t>
                      </a:r>
                    </a:p>
                  </a:txBody>
                  <a:tcPr marL="73152" marR="73152" marT="36576" marB="36576">
                    <a:solidFill>
                      <a:srgbClr val="FFFFFF"/>
                    </a:solidFill>
                  </a:tcPr>
                </a:tc>
                <a:tc>
                  <a:txBody>
                    <a:bodyPr wrap="square"/>
                    <a:lstStyle/>
                    <a:p>
                      <a:pPr>
                        <a:spcAft>
                          <a:spcPts val="0"/>
                        </a:spcAft>
                      </a:pPr>
                      <a:r>
                        <a:rPr sz="1600" b="0" i="0">
                          <a:solidFill>
                            <a:srgbClr val="000000"/>
                          </a:solidFill>
                        </a:rPr>
                        <a:t>security officer</a:t>
                      </a:r>
                    </a:p>
                  </a:txBody>
                  <a:tcPr marL="73152" marR="73152" marT="36576" marB="36576">
                    <a:solidFill>
                      <a:srgbClr val="FFFFFF"/>
                    </a:solidFill>
                  </a:tcPr>
                </a:tc>
                <a:tc>
                  <a:txBody>
                    <a:bodyPr wrap="square"/>
                    <a:lstStyle/>
                    <a:p>
                      <a:pPr>
                        <a:spcAft>
                          <a:spcPts val="0"/>
                        </a:spcAft>
                      </a:pPr>
                      <a:r>
                        <a:rPr sz="1600" b="0" i="0">
                          <a:solidFill>
                            <a:srgbClr val="000000"/>
                          </a:solidFill>
                        </a:rPr>
                        <a:t>tools/walk.py Critical 100, then 0</a:t>
                      </a:r>
                    </a:p>
                  </a:txBody>
                  <a:tcPr marL="73152" marR="73152" marT="36576" marB="36576">
                    <a:solidFill>
                      <a:srgbClr val="FFFFFF"/>
                    </a:solidFill>
                  </a:tcPr>
                </a:tc>
                <a:tc>
                  <a:txBody>
                    <a:bodyPr wrap="square"/>
                    <a:lstStyle/>
                    <a:p>
                      <a:pPr>
                        <a:spcAft>
                          <a:spcPts val="0"/>
                        </a:spcAft>
                      </a:pPr>
                      <a:r>
                        <a:rPr sz="1600" b="0" i="0">
                          <a:solidFill>
                            <a:srgbClr val="000000"/>
                          </a:solidFill>
                        </a:rPr>
                        <a:t>drop, both times</a:t>
                      </a:r>
                    </a:p>
                  </a:txBody>
                  <a:tcPr marL="73152" marR="73152" marT="36576" marB="36576">
                    <a:solidFill>
                      <a:srgbClr val="FFFFFF"/>
                    </a:solidFill>
                  </a:tcPr>
                </a:tc>
              </a:tr>
            </a:tbl>
          </a:graphicData>
        </a:graphic>
      </p:graphicFrame>
      <p:sp>
        <p:nvSpPr>
          <p:cNvPr id="6" name="TextBox 5"/>
          <p:cNvSpPr txBox="1"/>
          <p:nvPr/>
        </p:nvSpPr>
        <p:spPr>
          <a:xfrm>
            <a:off x="777240" y="3291840"/>
            <a:ext cx="11018520" cy="365760"/>
          </a:xfrm>
          <a:prstGeom prst="rect">
            <a:avLst/>
          </a:prstGeom>
          <a:noFill/>
        </p:spPr>
        <p:txBody>
          <a:bodyPr wrap="square" lIns="45720" rIns="45720">
            <a:spAutoFit/>
          </a:bodyPr>
          <a:lstStyle/>
          <a:p>
            <a:pPr>
              <a:spcAft>
                <a:spcPts val="400"/>
              </a:spcAft>
            </a:pPr>
            <a:r>
              <a:rPr sz="1400" b="0" i="0">
                <a:solidFill>
                  <a:srgbClr val="595959"/>
                </a:solidFill>
              </a:rPr>
              <a:t>reports/walkthrough.md — walked by the instructor, in each role, on 2026-10-20, against v0</a:t>
            </a:r>
          </a:p>
        </p:txBody>
      </p:sp>
      <p:sp>
        <p:nvSpPr>
          <p:cNvPr id="7" name="Rectangle 6"/>
          <p:cNvSpPr/>
          <p:nvPr/>
        </p:nvSpPr>
        <p:spPr>
          <a:xfrm>
            <a:off x="777240" y="393192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Each story is a judgment clause: a person, in the role the story names, exercises the guard and judges what they observe.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Three kinds of verifier</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37</a:t>
            </a:r>
          </a:p>
        </p:txBody>
      </p:sp>
      <p:graphicFrame>
        <p:nvGraphicFramePr>
          <p:cNvPr id="5" name="Table 4"/>
          <p:cNvGraphicFramePr>
            <a:graphicFrameLocks noGrp="1"/>
          </p:cNvGraphicFramePr>
          <p:nvPr/>
        </p:nvGraphicFramePr>
        <p:xfrm>
          <a:off x="777240" y="1325880"/>
          <a:ext cx="11018520" cy="3017520"/>
        </p:xfrm>
        <a:graphic>
          <a:graphicData uri="http://schemas.openxmlformats.org/drawingml/2006/table">
            <a:tbl>
              <a:tblPr firstRow="1" bandRow="1">
                <a:tableStyleId>{5C22544A-7EE6-4342-B048-85BDC9FD1C3A}</a:tableStyleId>
              </a:tblPr>
              <a:tblGrid>
                <a:gridCol w="2743200"/>
                <a:gridCol w="2651760"/>
                <a:gridCol w="2651760"/>
                <a:gridCol w="2971800"/>
              </a:tblGrid>
              <a:tr h="502920">
                <a:tc>
                  <a:txBody>
                    <a:bodyPr wrap="square"/>
                    <a:lstStyle/>
                    <a:p>
                      <a:pPr>
                        <a:spcAft>
                          <a:spcPts val="0"/>
                        </a:spcAft>
                      </a:pPr>
                      <a:r>
                        <a:rPr sz="1600" b="1" i="0">
                          <a:solidFill>
                            <a:srgbClr val="FFFFFF"/>
                          </a:solidFill>
                        </a:rPr>
                        <a:t/>
                      </a:r>
                    </a:p>
                  </a:txBody>
                  <a:tcPr marL="73152" marR="73152" marT="36576" marB="36576">
                    <a:solidFill>
                      <a:srgbClr val="6E1EC6"/>
                    </a:solidFill>
                  </a:tcPr>
                </a:tc>
                <a:tc>
                  <a:txBody>
                    <a:bodyPr wrap="square"/>
                    <a:lstStyle/>
                    <a:p>
                      <a:pPr>
                        <a:spcAft>
                          <a:spcPts val="0"/>
                        </a:spcAft>
                      </a:pPr>
                      <a:r>
                        <a:rPr sz="1600" b="1" i="0">
                          <a:solidFill>
                            <a:srgbClr val="FFFFFF"/>
                          </a:solidFill>
                        </a:rPr>
                        <a:t>Human</a:t>
                      </a:r>
                    </a:p>
                  </a:txBody>
                  <a:tcPr marL="73152" marR="73152" marT="36576" marB="36576">
                    <a:solidFill>
                      <a:srgbClr val="6E1EC6"/>
                    </a:solidFill>
                  </a:tcPr>
                </a:tc>
                <a:tc>
                  <a:txBody>
                    <a:bodyPr wrap="square"/>
                    <a:lstStyle/>
                    <a:p>
                      <a:pPr>
                        <a:spcAft>
                          <a:spcPts val="0"/>
                        </a:spcAft>
                      </a:pPr>
                      <a:r>
                        <a:rPr sz="1600" b="1" i="0">
                          <a:solidFill>
                            <a:srgbClr val="FFFFFF"/>
                          </a:solidFill>
                        </a:rPr>
                        <a:t>Agent</a:t>
                      </a:r>
                    </a:p>
                  </a:txBody>
                  <a:tcPr marL="73152" marR="73152" marT="36576" marB="36576">
                    <a:solidFill>
                      <a:srgbClr val="6E1EC6"/>
                    </a:solidFill>
                  </a:tcPr>
                </a:tc>
                <a:tc>
                  <a:txBody>
                    <a:bodyPr wrap="square"/>
                    <a:lstStyle/>
                    <a:p>
                      <a:pPr>
                        <a:spcAft>
                          <a:spcPts val="0"/>
                        </a:spcAft>
                      </a:pPr>
                      <a:r>
                        <a:rPr sz="1600" b="1" i="0">
                          <a:solidFill>
                            <a:srgbClr val="FFFFFF"/>
                          </a:solidFill>
                        </a:rPr>
                        <a:t>Algorithmic</a:t>
                      </a:r>
                    </a:p>
                  </a:txBody>
                  <a:tcPr marL="73152" marR="73152" marT="36576" marB="36576">
                    <a:solidFill>
                      <a:srgbClr val="6E1EC6"/>
                    </a:solidFill>
                  </a:tcPr>
                </a:tc>
              </a:tr>
              <a:tr h="502920">
                <a:tc>
                  <a:txBody>
                    <a:bodyPr wrap="square"/>
                    <a:lstStyle/>
                    <a:p>
                      <a:pPr>
                        <a:spcAft>
                          <a:spcPts val="0"/>
                        </a:spcAft>
                      </a:pPr>
                      <a:r>
                        <a:rPr sz="1600" b="0" i="0">
                          <a:solidFill>
                            <a:srgbClr val="000000"/>
                          </a:solidFill>
                        </a:rPr>
                        <a:t>Cost per check</a:t>
                      </a:r>
                    </a:p>
                  </a:txBody>
                  <a:tcPr marL="73152" marR="73152" marT="36576" marB="36576">
                    <a:solidFill>
                      <a:srgbClr val="FFFFFF"/>
                    </a:solidFill>
                  </a:tcPr>
                </a:tc>
                <a:tc>
                  <a:txBody>
                    <a:bodyPr wrap="square"/>
                    <a:lstStyle/>
                    <a:p>
                      <a:pPr>
                        <a:spcAft>
                          <a:spcPts val="0"/>
                        </a:spcAft>
                      </a:pPr>
                      <a:r>
                        <a:rPr sz="1600" b="0" i="0">
                          <a:solidFill>
                            <a:srgbClr val="000000"/>
                          </a:solidFill>
                        </a:rPr>
                        <a:t>minutes of attention</a:t>
                      </a:r>
                    </a:p>
                  </a:txBody>
                  <a:tcPr marL="73152" marR="73152" marT="36576" marB="36576">
                    <a:solidFill>
                      <a:srgbClr val="FFFFFF"/>
                    </a:solidFill>
                  </a:tcPr>
                </a:tc>
                <a:tc>
                  <a:txBody>
                    <a:bodyPr wrap="square"/>
                    <a:lstStyle/>
                    <a:p>
                      <a:pPr>
                        <a:spcAft>
                          <a:spcPts val="0"/>
                        </a:spcAft>
                      </a:pPr>
                      <a:r>
                        <a:rPr sz="1600" b="0" i="0">
                          <a:solidFill>
                            <a:srgbClr val="000000"/>
                          </a:solidFill>
                        </a:rPr>
                        <a:t>tokens</a:t>
                      </a:r>
                    </a:p>
                  </a:txBody>
                  <a:tcPr marL="73152" marR="73152" marT="36576" marB="36576">
                    <a:solidFill>
                      <a:srgbClr val="FFFFFF"/>
                    </a:solidFill>
                  </a:tcPr>
                </a:tc>
                <a:tc>
                  <a:txBody>
                    <a:bodyPr wrap="square"/>
                    <a:lstStyle/>
                    <a:p>
                      <a:pPr>
                        <a:spcAft>
                          <a:spcPts val="0"/>
                        </a:spcAft>
                      </a:pPr>
                      <a:r>
                        <a:rPr sz="1600" b="0" i="0">
                          <a:solidFill>
                            <a:srgbClr val="000000"/>
                          </a:solidFill>
                        </a:rPr>
                        <a:t>milliseconds</a:t>
                      </a:r>
                    </a:p>
                  </a:txBody>
                  <a:tcPr marL="73152" marR="73152" marT="36576" marB="36576">
                    <a:solidFill>
                      <a:srgbClr val="FFFFFF"/>
                    </a:solidFill>
                  </a:tcPr>
                </a:tc>
              </a:tr>
              <a:tr h="502920">
                <a:tc>
                  <a:txBody>
                    <a:bodyPr wrap="square"/>
                    <a:lstStyle/>
                    <a:p>
                      <a:pPr>
                        <a:spcAft>
                          <a:spcPts val="0"/>
                        </a:spcAft>
                      </a:pPr>
                      <a:r>
                        <a:rPr sz="1600" b="0" i="0">
                          <a:solidFill>
                            <a:srgbClr val="000000"/>
                          </a:solidFill>
                        </a:rPr>
                        <a:t>Same result on repeat</a:t>
                      </a:r>
                    </a:p>
                  </a:txBody>
                  <a:tcPr marL="73152" marR="73152" marT="36576" marB="36576">
                    <a:solidFill>
                      <a:srgbClr val="F3F0F9"/>
                    </a:solidFill>
                  </a:tcPr>
                </a:tc>
                <a:tc>
                  <a:txBody>
                    <a:bodyPr wrap="square"/>
                    <a:lstStyle/>
                    <a:p>
                      <a:pPr>
                        <a:spcAft>
                          <a:spcPts val="0"/>
                        </a:spcAft>
                      </a:pPr>
                      <a:r>
                        <a:rPr sz="1600" b="0" i="0">
                          <a:solidFill>
                            <a:srgbClr val="000000"/>
                          </a:solidFill>
                        </a:rPr>
                        <a:t>not guaranteed</a:t>
                      </a:r>
                    </a:p>
                  </a:txBody>
                  <a:tcPr marL="73152" marR="73152" marT="36576" marB="36576">
                    <a:solidFill>
                      <a:srgbClr val="F3F0F9"/>
                    </a:solidFill>
                  </a:tcPr>
                </a:tc>
                <a:tc>
                  <a:txBody>
                    <a:bodyPr wrap="square"/>
                    <a:lstStyle/>
                    <a:p>
                      <a:pPr>
                        <a:spcAft>
                          <a:spcPts val="0"/>
                        </a:spcAft>
                      </a:pPr>
                      <a:r>
                        <a:rPr sz="1600" b="0" i="0">
                          <a:solidFill>
                            <a:srgbClr val="000000"/>
                          </a:solidFill>
                        </a:rPr>
                        <a:t>not guaranteed</a:t>
                      </a:r>
                    </a:p>
                  </a:txBody>
                  <a:tcPr marL="73152" marR="73152" marT="36576" marB="36576">
                    <a:solidFill>
                      <a:srgbClr val="F3F0F9"/>
                    </a:solidFill>
                  </a:tcPr>
                </a:tc>
                <a:tc>
                  <a:txBody>
                    <a:bodyPr wrap="square"/>
                    <a:lstStyle/>
                    <a:p>
                      <a:pPr>
                        <a:spcAft>
                          <a:spcPts val="0"/>
                        </a:spcAft>
                      </a:pPr>
                      <a:r>
                        <a:rPr sz="1600" b="0" i="0">
                          <a:solidFill>
                            <a:srgbClr val="000000"/>
                          </a:solidFill>
                        </a:rPr>
                        <a:t>yes</a:t>
                      </a:r>
                    </a:p>
                  </a:txBody>
                  <a:tcPr marL="73152" marR="73152" marT="36576" marB="36576">
                    <a:solidFill>
                      <a:srgbClr val="F3F0F9"/>
                    </a:solidFill>
                  </a:tcPr>
                </a:tc>
              </a:tr>
              <a:tr h="502920">
                <a:tc>
                  <a:txBody>
                    <a:bodyPr wrap="square"/>
                    <a:lstStyle/>
                    <a:p>
                      <a:pPr>
                        <a:spcAft>
                          <a:spcPts val="0"/>
                        </a:spcAft>
                      </a:pPr>
                      <a:r>
                        <a:rPr sz="1600" b="0" i="0">
                          <a:solidFill>
                            <a:srgbClr val="000000"/>
                          </a:solidFill>
                        </a:rPr>
                        <a:t>Decides judgment clauses</a:t>
                      </a:r>
                    </a:p>
                  </a:txBody>
                  <a:tcPr marL="73152" marR="73152" marT="36576" marB="36576">
                    <a:solidFill>
                      <a:srgbClr val="FFFFFF"/>
                    </a:solidFill>
                  </a:tcPr>
                </a:tc>
                <a:tc>
                  <a:txBody>
                    <a:bodyPr wrap="square"/>
                    <a:lstStyle/>
                    <a:p>
                      <a:pPr>
                        <a:spcAft>
                          <a:spcPts val="0"/>
                        </a:spcAft>
                      </a:pPr>
                      <a:r>
                        <a:rPr sz="1600" b="0" i="0">
                          <a:solidFill>
                            <a:srgbClr val="000000"/>
                          </a:solidFill>
                        </a:rPr>
                        <a:t>yes</a:t>
                      </a:r>
                    </a:p>
                  </a:txBody>
                  <a:tcPr marL="73152" marR="73152" marT="36576" marB="36576">
                    <a:solidFill>
                      <a:srgbClr val="FFFFFF"/>
                    </a:solidFill>
                  </a:tcPr>
                </a:tc>
                <a:tc>
                  <a:txBody>
                    <a:bodyPr wrap="square"/>
                    <a:lstStyle/>
                    <a:p>
                      <a:pPr>
                        <a:spcAft>
                          <a:spcPts val="0"/>
                        </a:spcAft>
                      </a:pPr>
                      <a:r>
                        <a:rPr sz="1600" b="0" i="0">
                          <a:solidFill>
                            <a:srgbClr val="000000"/>
                          </a:solidFill>
                        </a:rPr>
                        <a:t>yes</a:t>
                      </a:r>
                    </a:p>
                  </a:txBody>
                  <a:tcPr marL="73152" marR="73152" marT="36576" marB="36576">
                    <a:solidFill>
                      <a:srgbClr val="FFFFFF"/>
                    </a:solidFill>
                  </a:tcPr>
                </a:tc>
                <a:tc>
                  <a:txBody>
                    <a:bodyPr wrap="square"/>
                    <a:lstStyle/>
                    <a:p>
                      <a:pPr>
                        <a:spcAft>
                          <a:spcPts val="0"/>
                        </a:spcAft>
                      </a:pPr>
                      <a:r>
                        <a:rPr sz="1600" b="0" i="0">
                          <a:solidFill>
                            <a:srgbClr val="000000"/>
                          </a:solidFill>
                        </a:rPr>
                        <a:t>no</a:t>
                      </a:r>
                    </a:p>
                  </a:txBody>
                  <a:tcPr marL="73152" marR="73152" marT="36576" marB="36576">
                    <a:solidFill>
                      <a:srgbClr val="FFFFFF"/>
                    </a:solidFill>
                  </a:tcPr>
                </a:tc>
              </a:tr>
              <a:tr h="502920">
                <a:tc>
                  <a:txBody>
                    <a:bodyPr wrap="square"/>
                    <a:lstStyle/>
                    <a:p>
                      <a:pPr>
                        <a:spcAft>
                          <a:spcPts val="0"/>
                        </a:spcAft>
                      </a:pPr>
                      <a:r>
                        <a:rPr sz="1600" b="0" i="0">
                          <a:solidFill>
                            <a:srgbClr val="000000"/>
                          </a:solidFill>
                        </a:rPr>
                        <a:t>Can stand in a gate</a:t>
                      </a:r>
                    </a:p>
                  </a:txBody>
                  <a:tcPr marL="73152" marR="73152" marT="36576" marB="36576">
                    <a:solidFill>
                      <a:srgbClr val="F3F0F9"/>
                    </a:solidFill>
                  </a:tcPr>
                </a:tc>
                <a:tc>
                  <a:txBody>
                    <a:bodyPr wrap="square"/>
                    <a:lstStyle/>
                    <a:p>
                      <a:pPr>
                        <a:spcAft>
                          <a:spcPts val="0"/>
                        </a:spcAft>
                      </a:pPr>
                      <a:r>
                        <a:rPr sz="1600" b="0" i="0">
                          <a:solidFill>
                            <a:srgbClr val="000000"/>
                          </a:solidFill>
                        </a:rPr>
                        <a:t>no</a:t>
                      </a:r>
                    </a:p>
                  </a:txBody>
                  <a:tcPr marL="73152" marR="73152" marT="36576" marB="36576">
                    <a:solidFill>
                      <a:srgbClr val="F3F0F9"/>
                    </a:solidFill>
                  </a:tcPr>
                </a:tc>
                <a:tc>
                  <a:txBody>
                    <a:bodyPr wrap="square"/>
                    <a:lstStyle/>
                    <a:p>
                      <a:pPr>
                        <a:spcAft>
                          <a:spcPts val="0"/>
                        </a:spcAft>
                      </a:pPr>
                      <a:r>
                        <a:rPr sz="1600" b="0" i="0">
                          <a:solidFill>
                            <a:srgbClr val="000000"/>
                          </a:solidFill>
                        </a:rPr>
                        <a:t>with effort</a:t>
                      </a:r>
                    </a:p>
                  </a:txBody>
                  <a:tcPr marL="73152" marR="73152" marT="36576" marB="36576">
                    <a:solidFill>
                      <a:srgbClr val="F3F0F9"/>
                    </a:solidFill>
                  </a:tcPr>
                </a:tc>
                <a:tc>
                  <a:txBody>
                    <a:bodyPr wrap="square"/>
                    <a:lstStyle/>
                    <a:p>
                      <a:pPr>
                        <a:spcAft>
                          <a:spcPts val="0"/>
                        </a:spcAft>
                      </a:pPr>
                      <a:r>
                        <a:rPr sz="1600" b="0" i="0">
                          <a:solidFill>
                            <a:srgbClr val="000000"/>
                          </a:solidFill>
                        </a:rPr>
                        <a:t>yes, via the exit code</a:t>
                      </a:r>
                    </a:p>
                  </a:txBody>
                  <a:tcPr marL="73152" marR="73152" marT="36576" marB="36576">
                    <a:solidFill>
                      <a:srgbClr val="F3F0F9"/>
                    </a:solidFill>
                  </a:tcPr>
                </a:tc>
              </a:tr>
              <a:tr h="502920">
                <a:tc>
                  <a:txBody>
                    <a:bodyPr wrap="square"/>
                    <a:lstStyle/>
                    <a:p>
                      <a:pPr>
                        <a:spcAft>
                          <a:spcPts val="0"/>
                        </a:spcAft>
                      </a:pPr>
                      <a:r>
                        <a:rPr sz="1600" b="0" i="0">
                          <a:solidFill>
                            <a:srgbClr val="000000"/>
                          </a:solidFill>
                        </a:rPr>
                        <a:t>In A0</a:t>
                      </a:r>
                    </a:p>
                  </a:txBody>
                  <a:tcPr marL="73152" marR="73152" marT="36576" marB="36576">
                    <a:solidFill>
                      <a:srgbClr val="FFFFFF"/>
                    </a:solidFill>
                  </a:tcPr>
                </a:tc>
                <a:tc>
                  <a:txBody>
                    <a:bodyPr wrap="square"/>
                    <a:lstStyle/>
                    <a:p>
                      <a:pPr>
                        <a:spcAft>
                          <a:spcPts val="0"/>
                        </a:spcAft>
                      </a:pPr>
                      <a:r>
                        <a:rPr sz="1600" b="0" i="0">
                          <a:solidFill>
                            <a:srgbClr val="000000"/>
                          </a:solidFill>
                        </a:rPr>
                        <a:t>walkthroughs; SQ; sign-off</a:t>
                      </a:r>
                    </a:p>
                  </a:txBody>
                  <a:tcPr marL="73152" marR="73152" marT="36576" marB="36576">
                    <a:solidFill>
                      <a:srgbClr val="FFFFFF"/>
                    </a:solidFill>
                  </a:tcPr>
                </a:tc>
                <a:tc>
                  <a:txBody>
                    <a:bodyPr wrap="square"/>
                    <a:lstStyle/>
                    <a:p>
                      <a:pPr>
                        <a:spcAft>
                          <a:spcPts val="0"/>
                        </a:spcAft>
                      </a:pPr>
                      <a:r>
                        <a:rPr sz="1600" b="0" i="0">
                          <a:solidFill>
                            <a:srgbClr val="000000"/>
                          </a:solidFill>
                        </a:rPr>
                        <a:t>not yet (A1: the auditor)</a:t>
                      </a:r>
                    </a:p>
                  </a:txBody>
                  <a:tcPr marL="73152" marR="73152" marT="36576" marB="36576">
                    <a:solidFill>
                      <a:srgbClr val="FFFFFF"/>
                    </a:solidFill>
                  </a:tcPr>
                </a:tc>
                <a:tc>
                  <a:txBody>
                    <a:bodyPr wrap="square"/>
                    <a:lstStyle/>
                    <a:p>
                      <a:pPr>
                        <a:spcAft>
                          <a:spcPts val="0"/>
                        </a:spcAft>
                      </a:pPr>
                      <a:r>
                        <a:rPr sz="1600" b="0" i="0">
                          <a:solidFill>
                            <a:srgbClr val="000000"/>
                          </a:solidFill>
                        </a:rPr>
                        <a:t>pytest, the plugin, pytest-cov, ruff</a:t>
                      </a:r>
                    </a:p>
                  </a:txBody>
                  <a:tcPr marL="73152" marR="73152" marT="36576" marB="36576">
                    <a:solidFill>
                      <a:srgbClr val="FFFFFF"/>
                    </a:solidFill>
                  </a:tcPr>
                </a:tc>
              </a:tr>
            </a:tbl>
          </a:graphicData>
        </a:graphic>
      </p:graphicFrame>
      <p:sp>
        <p:nvSpPr>
          <p:cNvPr id="6" name="Rectangle 5"/>
          <p:cNvSpPr/>
          <p:nvPr/>
        </p:nvSpPr>
        <p:spPr>
          <a:xfrm>
            <a:off x="777240" y="484632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A verifier can be wrong: a test can assert the wrong thing. The ledger records which verifier made each claim, so a wrong one can be traced. More later.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Validation in A0: the sign-off</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38</a:t>
            </a:r>
          </a:p>
        </p:txBody>
      </p:sp>
      <p:sp>
        <p:nvSpPr>
          <p:cNvPr id="5" name="Rectangle 4"/>
          <p:cNvSpPr/>
          <p:nvPr/>
        </p:nvSpPr>
        <p:spPr>
          <a:xfrm>
            <a:off x="777240" y="1325880"/>
            <a:ext cx="11018520" cy="1783080"/>
          </a:xfrm>
          <a:prstGeom prst="rect">
            <a:avLst/>
          </a:prstGeom>
          <a:solidFill>
            <a:srgbClr val="FFF3B0"/>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lstStyle/>
          <a:p>
            <a:pPr algn="l">
              <a:spcAft>
                <a:spcPts val="1000"/>
              </a:spcAft>
            </a:pPr>
            <a:r>
              <a:rPr sz="1800" b="0" i="1">
                <a:solidFill>
                  <a:srgbClr val="000000"/>
                </a:solidFill>
              </a:rPr>
              <a:t>"The concept of operations, version A0, describes the guard I intend: a Critical message never leaves, and anything else leaves as it arrived."</a:t>
            </a:r>
          </a:p>
          <a:p>
            <a:pPr algn="l">
              <a:spcAft>
                <a:spcPts val="200"/>
              </a:spcAft>
            </a:pPr>
            <a:r>
              <a:rPr sz="1600" b="0" i="0">
                <a:solidFill>
                  <a:srgbClr val="000000"/>
                </a:solidFill>
              </a:rPr>
              <a:t>Security officer: role played by the instructor, 2026-10-20, on specs/conops.md version A0.</a:t>
            </a:r>
          </a:p>
          <a:p>
            <a:pPr algn="l">
              <a:spcAft>
                <a:spcPts val="200"/>
              </a:spcAft>
            </a:pPr>
            <a:r>
              <a:rPr sz="1600" b="0" i="0">
                <a:solidFill>
                  <a:srgbClr val="000000"/>
                </a:solidFill>
              </a:rPr>
              <a:t>Message sender: role played by the instructor, 2026-10-20, on specs/conops.md version A0.</a:t>
            </a:r>
          </a:p>
        </p:txBody>
      </p:sp>
      <p:sp>
        <p:nvSpPr>
          <p:cNvPr id="6" name="TextBox 5"/>
          <p:cNvSpPr txBox="1"/>
          <p:nvPr/>
        </p:nvSpPr>
        <p:spPr>
          <a:xfrm>
            <a:off x="777240" y="3154680"/>
            <a:ext cx="1101852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reports/walkthrough.md, section Sign-off (rule VAL-1: one from each user category)</a:t>
            </a:r>
          </a:p>
        </p:txBody>
      </p:sp>
      <p:sp>
        <p:nvSpPr>
          <p:cNvPr id="7" name="TextBox 6"/>
          <p:cNvSpPr txBox="1"/>
          <p:nvPr/>
        </p:nvSpPr>
        <p:spPr>
          <a:xfrm>
            <a:off x="777240" y="3611880"/>
            <a:ext cx="11018520" cy="1645920"/>
          </a:xfrm>
          <a:prstGeom prst="rect">
            <a:avLst/>
          </a:prstGeom>
          <a:noFill/>
        </p:spPr>
        <p:txBody>
          <a:bodyPr wrap="square" lIns="45720" rIns="45720" tIns="27432" bIns="27432">
            <a:spAutoFit/>
          </a:bodyPr>
          <a:lstStyle/>
          <a:p>
            <a:pPr marL="256032" indent="-256032">
              <a:spcAft>
                <a:spcPts val="600"/>
              </a:spcAft>
              <a:buChar char="•"/>
            </a:pPr>
            <a:r>
              <a:rPr sz="1800" b="0" i="0"/>
              <a:t>Validation compares an artifact with what is in a person's mind, so only a person can decide it</a:t>
            </a:r>
          </a:p>
          <a:p>
            <a:pPr marL="256032" indent="-256032">
              <a:spcAft>
                <a:spcPts val="600"/>
              </a:spcAft>
              <a:buChar char="•"/>
            </a:pPr>
            <a:r>
              <a:rPr sz="1800" b="0" i="0"/>
              <a:t>The decision is recorded: who, in which role, when, on which version</a:t>
            </a:r>
          </a:p>
        </p:txBody>
      </p:sp>
      <p:sp>
        <p:nvSpPr>
          <p:cNvPr id="8" name="Rectangle 7"/>
          <p:cNvSpPr/>
          <p:nvPr/>
        </p:nvSpPr>
        <p:spPr>
          <a:xfrm>
            <a:off x="777240" y="5715000"/>
            <a:ext cx="11018520" cy="54864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The VAL row can go stale when no file has changed: a stakeholder changes their mind and says so (A3).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One activity, two questions</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39</a:t>
            </a:r>
          </a:p>
        </p:txBody>
      </p:sp>
      <p:sp>
        <p:nvSpPr>
          <p:cNvPr id="5" name="TextBox 4"/>
          <p:cNvSpPr txBox="1"/>
          <p:nvPr/>
        </p:nvSpPr>
        <p:spPr>
          <a:xfrm>
            <a:off x="777240" y="1325880"/>
            <a:ext cx="11018520" cy="2743200"/>
          </a:xfrm>
          <a:prstGeom prst="rect">
            <a:avLst/>
          </a:prstGeom>
          <a:noFill/>
        </p:spPr>
        <p:txBody>
          <a:bodyPr wrap="square" lIns="45720" rIns="45720" tIns="27432" bIns="27432">
            <a:spAutoFit/>
          </a:bodyPr>
          <a:lstStyle/>
          <a:p>
            <a:pPr>
              <a:spcAft>
                <a:spcPts val="800"/>
              </a:spcAft>
            </a:pPr>
            <a:r>
              <a:rPr sz="1800" b="0" i="0"/>
              <a:t>When the officer walks US-3 and sees </a:t>
            </a:r>
            <a:r>
              <a:rPr sz="1800" b="1" i="0">
                <a:solidFill>
                  <a:srgbClr val="101040"/>
                </a:solidFill>
                <a:latin typeface="Courier New"/>
              </a:rPr>
              <a:t>drop</a:t>
            </a:r>
            <a:r>
              <a:rPr sz="1800" b="0" i="0"/>
              <a:t>, two questions are answered at once:</a:t>
            </a:r>
          </a:p>
          <a:p>
            <a:pPr marL="256032" indent="-256032">
              <a:spcAft>
                <a:spcPts val="800"/>
              </a:spcAft>
              <a:buChar char="•"/>
            </a:pPr>
            <a:r>
              <a:rPr sz="1800" b="0" i="0"/>
              <a:t>Does the system behave as the story says? (conformance of a judgment clause)</a:t>
            </a:r>
          </a:p>
          <a:p>
            <a:pPr marL="256032" indent="-256032">
              <a:spcAft>
                <a:spcPts val="800"/>
              </a:spcAft>
              <a:buChar char="•"/>
            </a:pPr>
            <a:r>
              <a:rPr sz="1800" b="0" i="0"/>
              <a:t>Is the story what the officer wants? (validation)</a:t>
            </a:r>
          </a:p>
          <a:p>
            <a:pPr>
              <a:spcAft>
                <a:spcPts val="800"/>
              </a:spcAft>
            </a:pPr>
            <a:r>
              <a:rPr sz="1800" b="0" i="1"/>
              <a:t>A different officer could answer the first yes and the second no.</a:t>
            </a:r>
          </a:p>
        </p:txBody>
      </p:sp>
      <p:sp>
        <p:nvSpPr>
          <p:cNvPr id="6" name="Rectangle 5"/>
          <p:cNvSpPr/>
          <p:nvPr/>
        </p:nvSpPr>
        <p:spPr>
          <a:xfrm>
            <a:off x="777240" y="4389120"/>
            <a:ext cx="11018520" cy="11887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An agent given a specification will realize it, and a well-run process will certify that. The sign-off is the one place the process asks a person whether the certified system is the one they wanted.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Breaking it: a wrong system with a green ledger</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40</a:t>
            </a:r>
          </a:p>
        </p:txBody>
      </p:sp>
      <p:sp>
        <p:nvSpPr>
          <p:cNvPr id="5" name="Rectangle 4"/>
          <p:cNvSpPr/>
          <p:nvPr/>
        </p:nvSpPr>
        <p:spPr>
          <a:xfrm>
            <a:off x="777240" y="118872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Suppose the security officer meant that Restricted messages must be stopped as well, and the author of the concept of operations did not understand this.</a:t>
            </a:r>
          </a:p>
        </p:txBody>
      </p:sp>
      <p:graphicFrame>
        <p:nvGraphicFramePr>
          <p:cNvPr id="6" name="Table 5"/>
          <p:cNvGraphicFramePr>
            <a:graphicFrameLocks noGrp="1"/>
          </p:cNvGraphicFramePr>
          <p:nvPr/>
        </p:nvGraphicFramePr>
        <p:xfrm>
          <a:off x="777240" y="2377440"/>
          <a:ext cx="6035039" cy="2468880"/>
        </p:xfrm>
        <a:graphic>
          <a:graphicData uri="http://schemas.openxmlformats.org/drawingml/2006/table">
            <a:tbl>
              <a:tblPr firstRow="1" bandRow="1">
                <a:tableStyleId>{5C22544A-7EE6-4342-B048-85BDC9FD1C3A}</a:tableStyleId>
              </a:tblPr>
              <a:tblGrid>
                <a:gridCol w="1371600"/>
                <a:gridCol w="1463040"/>
                <a:gridCol w="3200399"/>
              </a:tblGrid>
              <a:tr h="411480">
                <a:tc>
                  <a:txBody>
                    <a:bodyPr wrap="square"/>
                    <a:lstStyle/>
                    <a:p>
                      <a:pPr>
                        <a:spcAft>
                          <a:spcPts val="0"/>
                        </a:spcAft>
                      </a:pPr>
                      <a:r>
                        <a:rPr sz="1600" b="1" i="0">
                          <a:solidFill>
                            <a:srgbClr val="FFFFFF"/>
                          </a:solidFill>
                        </a:rPr>
                        <a:t>Judgment</a:t>
                      </a:r>
                    </a:p>
                  </a:txBody>
                  <a:tcPr marL="73152" marR="73152" marT="36576" marB="36576">
                    <a:solidFill>
                      <a:srgbClr val="6E1EC6"/>
                    </a:solidFill>
                  </a:tcPr>
                </a:tc>
                <a:tc>
                  <a:txBody>
                    <a:bodyPr wrap="square"/>
                    <a:lstStyle/>
                    <a:p>
                      <a:pPr>
                        <a:spcAft>
                          <a:spcPts val="0"/>
                        </a:spcAft>
                      </a:pPr>
                      <a:r>
                        <a:rPr sz="1600" b="1" i="0">
                          <a:solidFill>
                            <a:srgbClr val="FFFFFF"/>
                          </a:solidFill>
                        </a:rPr>
                        <a:t>Status</a:t>
                      </a:r>
                    </a:p>
                  </a:txBody>
                  <a:tcPr marL="73152" marR="73152" marT="36576" marB="36576">
                    <a:solidFill>
                      <a:srgbClr val="6E1EC6"/>
                    </a:solidFill>
                  </a:tcPr>
                </a:tc>
                <a:tc>
                  <a:txBody>
                    <a:bodyPr wrap="square"/>
                    <a:lstStyle/>
                    <a:p>
                      <a:pPr>
                        <a:spcAft>
                          <a:spcPts val="0"/>
                        </a:spcAft>
                      </a:pPr>
                      <a:r>
                        <a:rPr sz="1600" b="1" i="0">
                          <a:solidFill>
                            <a:srgbClr val="FFFFFF"/>
                          </a:solidFill>
                        </a:rPr>
                        <a:t>Evidence</a:t>
                      </a:r>
                    </a:p>
                  </a:txBody>
                  <a:tcPr marL="73152" marR="73152" marT="36576" marB="36576">
                    <a:solidFill>
                      <a:srgbClr val="6E1EC6"/>
                    </a:solidFill>
                  </a:tcPr>
                </a:tc>
              </a:tr>
              <a:tr h="411480">
                <a:tc>
                  <a:txBody>
                    <a:bodyPr wrap="square"/>
                    <a:lstStyle/>
                    <a:p>
                      <a:pPr>
                        <a:spcAft>
                          <a:spcPts val="0"/>
                        </a:spcAft>
                      </a:pPr>
                      <a:r>
                        <a:rPr sz="1600" b="0" i="0">
                          <a:solidFill>
                            <a:srgbClr val="000000"/>
                          </a:solidFill>
                        </a:rPr>
                        <a:t>SQ</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read together</a:t>
                      </a:r>
                    </a:p>
                  </a:txBody>
                  <a:tcPr marL="73152" marR="73152" marT="36576" marB="36576">
                    <a:solidFill>
                      <a:srgbClr val="FFFFFF"/>
                    </a:solidFill>
                  </a:tcPr>
                </a:tc>
              </a:tr>
              <a:tr h="411480">
                <a:tc>
                  <a:txBody>
                    <a:bodyPr wrap="square"/>
                    <a:lstStyle/>
                    <a:p>
                      <a:pPr>
                        <a:spcAft>
                          <a:spcPts val="0"/>
                        </a:spcAft>
                      </a:pPr>
                      <a:r>
                        <a:rPr sz="1600" b="0" i="0">
                          <a:solidFill>
                            <a:srgbClr val="000000"/>
                          </a:solidFill>
                        </a:rPr>
                        <a:t>RQ</a:t>
                      </a:r>
                    </a:p>
                  </a:txBody>
                  <a:tcPr marL="73152" marR="73152" marT="36576" marB="36576">
                    <a:solidFill>
                      <a:srgbClr val="F3F0F9"/>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ruff; collects</a:t>
                      </a:r>
                    </a:p>
                  </a:txBody>
                  <a:tcPr marL="73152" marR="73152" marT="36576" marB="36576">
                    <a:solidFill>
                      <a:srgbClr val="F3F0F9"/>
                    </a:solidFill>
                  </a:tcPr>
                </a:tc>
              </a:tr>
              <a:tr h="411480">
                <a:tc>
                  <a:txBody>
                    <a:bodyPr wrap="square"/>
                    <a:lstStyle/>
                    <a:p>
                      <a:pPr>
                        <a:spcAft>
                          <a:spcPts val="0"/>
                        </a:spcAft>
                      </a:pPr>
                      <a:r>
                        <a:rPr sz="1600" b="0" i="0">
                          <a:solidFill>
                            <a:srgbClr val="000000"/>
                          </a:solidFill>
                        </a:rPr>
                        <a:t>CONF</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tests; two coverages; walked</a:t>
                      </a:r>
                    </a:p>
                  </a:txBody>
                  <a:tcPr marL="73152" marR="73152" marT="36576" marB="36576">
                    <a:solidFill>
                      <a:srgbClr val="FFFFFF"/>
                    </a:solidFill>
                  </a:tcPr>
                </a:tc>
              </a:tr>
              <a:tr h="411480">
                <a:tc>
                  <a:txBody>
                    <a:bodyPr wrap="square"/>
                    <a:lstStyle/>
                    <a:p>
                      <a:pPr>
                        <a:spcAft>
                          <a:spcPts val="0"/>
                        </a:spcAft>
                      </a:pPr>
                      <a:r>
                        <a:rPr sz="1600" b="0" i="0">
                          <a:solidFill>
                            <a:srgbClr val="000000"/>
                          </a:solidFill>
                        </a:rPr>
                        <a:t>VAL</a:t>
                      </a:r>
                    </a:p>
                  </a:txBody>
                  <a:tcPr marL="73152" marR="73152" marT="36576" marB="36576">
                    <a:solidFill>
                      <a:srgbClr val="F3F0F9"/>
                    </a:solidFill>
                  </a:tcPr>
                </a:tc>
                <a:tc>
                  <a:txBody>
                    <a:bodyPr wrap="square"/>
                    <a:lstStyle/>
                    <a:p>
                      <a:pPr>
                        <a:spcAft>
                          <a:spcPts val="0"/>
                        </a:spcAft>
                      </a:pPr>
                      <a:r>
                        <a:rPr sz="1600" b="1" i="0">
                          <a:solidFill>
                            <a:srgbClr val="000000"/>
                          </a:solidFill>
                        </a:rPr>
                        <a:t>signed, unread?</a:t>
                      </a:r>
                    </a:p>
                  </a:txBody>
                  <a:tcPr marL="73152" marR="73152" marT="36576" marB="36576">
                    <a:solidFill>
                      <a:srgbClr val="FFF3B0"/>
                    </a:solidFill>
                  </a:tcPr>
                </a:tc>
                <a:tc>
                  <a:txBody>
                    <a:bodyPr wrap="square"/>
                    <a:lstStyle/>
                    <a:p>
                      <a:pPr>
                        <a:spcAft>
                          <a:spcPts val="0"/>
                        </a:spcAft>
                      </a:pPr>
                      <a:r>
                        <a:rPr sz="1600" b="0" i="0">
                          <a:solidFill>
                            <a:srgbClr val="000000"/>
                          </a:solidFill>
                        </a:rPr>
                        <a:t>sign-off</a:t>
                      </a:r>
                    </a:p>
                  </a:txBody>
                  <a:tcPr marL="73152" marR="73152" marT="36576" marB="36576">
                    <a:solidFill>
                      <a:srgbClr val="F3F0F9"/>
                    </a:solidFill>
                  </a:tcPr>
                </a:tc>
              </a:tr>
              <a:tr h="411480">
                <a:tc>
                  <a:txBody>
                    <a:bodyPr wrap="square"/>
                    <a:lstStyle/>
                    <a:p>
                      <a:pPr>
                        <a:spcAft>
                          <a:spcPts val="0"/>
                        </a:spcAft>
                      </a:pPr>
                      <a:r>
                        <a:rPr sz="1600" b="0" i="0">
                          <a:solidFill>
                            <a:srgbClr val="000000"/>
                          </a:solidFill>
                        </a:rPr>
                        <a:t>TR</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links resolve</a:t>
                      </a:r>
                    </a:p>
                  </a:txBody>
                  <a:tcPr marL="73152" marR="73152" marT="36576" marB="36576">
                    <a:solidFill>
                      <a:srgbClr val="FFFFFF"/>
                    </a:solidFill>
                  </a:tcPr>
                </a:tc>
              </a:tr>
            </a:tbl>
          </a:graphicData>
        </a:graphic>
      </p:graphicFrame>
      <p:sp>
        <p:nvSpPr>
          <p:cNvPr id="7" name="TextBox 6"/>
          <p:cNvSpPr txBox="1"/>
          <p:nvPr/>
        </p:nvSpPr>
        <p:spPr>
          <a:xfrm>
            <a:off x="7040880" y="2377440"/>
            <a:ext cx="4754880" cy="3840480"/>
          </a:xfrm>
          <a:prstGeom prst="rect">
            <a:avLst/>
          </a:prstGeom>
          <a:noFill/>
        </p:spPr>
        <p:txBody>
          <a:bodyPr wrap="square" lIns="45720" rIns="45720" tIns="27432" bIns="27432">
            <a:spAutoFit/>
          </a:bodyPr>
          <a:lstStyle/>
          <a:p>
            <a:pPr marL="256032" indent="-256032">
              <a:spcAft>
                <a:spcPts val="800"/>
              </a:spcAft>
              <a:buChar char="•"/>
            </a:pPr>
            <a:r>
              <a:rPr sz="1800" b="0" i="0"/>
              <a:t>US-2 and REQ-2 agree: consistent</a:t>
            </a:r>
          </a:p>
          <a:p>
            <a:pPr marL="256032" indent="-256032">
              <a:spcAft>
                <a:spcPts val="800"/>
              </a:spcAft>
              <a:buChar char="•"/>
            </a:pPr>
            <a:r>
              <a:rPr sz="1800" b="0" i="0"/>
              <a:t>Every requirement has a passing test; coverage is complete; every identifier resolves</a:t>
            </a:r>
          </a:p>
          <a:p>
            <a:pPr marL="256032" indent="-256032">
              <a:spcAft>
                <a:spcPts val="800"/>
              </a:spcAft>
              <a:buChar char="•"/>
            </a:pPr>
            <a:r>
              <a:rPr sz="1800" b="1" i="0"/>
              <a:t>Nothing in the repository can detect it</a:t>
            </a:r>
          </a:p>
        </p:txBody>
      </p:sp>
      <p:sp>
        <p:nvSpPr>
          <p:cNvPr id="8" name="Rectangle 7"/>
          <p:cNvSpPr/>
          <p:nvPr/>
        </p:nvSpPr>
        <p:spPr>
          <a:xfrm>
            <a:off x="777240" y="539496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What catches it: the officer walking US-2, seeing pass: Restricted 7, and saying this is not what they want. There is no command for this; that is its point.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Traceability in A0: the chain</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41</a:t>
            </a:r>
          </a:p>
        </p:txBody>
      </p:sp>
      <p:sp>
        <p:nvSpPr>
          <p:cNvPr id="5" name="Rectangle 4"/>
          <p:cNvSpPr/>
          <p:nvPr/>
        </p:nvSpPr>
        <p:spPr>
          <a:xfrm>
            <a:off x="777240" y="1508760"/>
            <a:ext cx="2011680" cy="128016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800" b="1" i="0">
                <a:solidFill>
                  <a:srgbClr val="000000"/>
                </a:solidFill>
              </a:rPr>
              <a:t>US-3</a:t>
            </a:r>
          </a:p>
          <a:p>
            <a:pPr algn="ctr">
              <a:spcAft>
                <a:spcPts val="200"/>
              </a:spcAft>
            </a:pPr>
            <a:r>
              <a:rPr sz="1400" b="0" i="0">
                <a:solidFill>
                  <a:srgbClr val="595959"/>
                </a:solidFill>
              </a:rPr>
              <a:t>story</a:t>
            </a:r>
          </a:p>
        </p:txBody>
      </p:sp>
      <p:cxnSp>
        <p:nvCxnSpPr>
          <p:cNvPr id="6" name="Connector 5"/>
          <p:cNvCxnSpPr/>
          <p:nvPr/>
        </p:nvCxnSpPr>
        <p:spPr>
          <a:xfrm>
            <a:off x="2807208" y="2148840"/>
            <a:ext cx="192024"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17520" y="1508760"/>
            <a:ext cx="2011680" cy="128016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800" b="1" i="0">
                <a:solidFill>
                  <a:srgbClr val="000000"/>
                </a:solidFill>
              </a:rPr>
              <a:t>REQ-1</a:t>
            </a:r>
          </a:p>
          <a:p>
            <a:pPr algn="ctr">
              <a:spcAft>
                <a:spcPts val="200"/>
              </a:spcAft>
            </a:pPr>
            <a:r>
              <a:rPr sz="1400" b="0" i="0">
                <a:solidFill>
                  <a:srgbClr val="595959"/>
                </a:solidFill>
              </a:rPr>
              <a:t>requirement</a:t>
            </a:r>
          </a:p>
        </p:txBody>
      </p:sp>
      <p:cxnSp>
        <p:nvCxnSpPr>
          <p:cNvPr id="8" name="Connector 7"/>
          <p:cNvCxnSpPr/>
          <p:nvPr/>
        </p:nvCxnSpPr>
        <p:spPr>
          <a:xfrm>
            <a:off x="5047488" y="2148840"/>
            <a:ext cx="192024"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57800" y="1508760"/>
            <a:ext cx="2011680" cy="1280160"/>
          </a:xfrm>
          <a:prstGeom prst="rect">
            <a:avLst/>
          </a:prstGeom>
          <a:solidFill>
            <a:srgbClr val="D9D2E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600" b="1" i="0">
                <a:solidFill>
                  <a:srgbClr val="101040"/>
                </a:solidFill>
                <a:latin typeface="Courier New"/>
              </a:rPr>
              <a:t>test_critical_
is_dropped</a:t>
            </a:r>
          </a:p>
          <a:p>
            <a:pPr algn="ctr">
              <a:spcAft>
                <a:spcPts val="200"/>
              </a:spcAft>
            </a:pPr>
            <a:r>
              <a:rPr sz="1400" b="0" i="0">
                <a:solidFill>
                  <a:srgbClr val="595959"/>
                </a:solidFill>
              </a:rPr>
              <a:t>test</a:t>
            </a:r>
          </a:p>
        </p:txBody>
      </p:sp>
      <p:cxnSp>
        <p:nvCxnSpPr>
          <p:cNvPr id="10" name="Connector 9"/>
          <p:cNvCxnSpPr/>
          <p:nvPr/>
        </p:nvCxnSpPr>
        <p:spPr>
          <a:xfrm>
            <a:off x="7287768" y="2148840"/>
            <a:ext cx="192024"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498080" y="1508760"/>
            <a:ext cx="2011680" cy="1280160"/>
          </a:xfrm>
          <a:prstGeom prst="rect">
            <a:avLst/>
          </a:prstGeom>
          <a:solidFill>
            <a:srgbClr val="FFF3B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800" b="1" i="0">
                <a:solidFill>
                  <a:srgbClr val="000000"/>
                </a:solidFill>
              </a:rPr>
              <a:t>REQ-1 row</a:t>
            </a:r>
          </a:p>
          <a:p>
            <a:pPr algn="ctr">
              <a:spcAft>
                <a:spcPts val="200"/>
              </a:spcAft>
            </a:pPr>
            <a:r>
              <a:rPr sz="1400" b="0" i="0">
                <a:solidFill>
                  <a:srgbClr val="595959"/>
                </a:solidFill>
              </a:rPr>
              <a:t>report</a:t>
            </a:r>
          </a:p>
        </p:txBody>
      </p:sp>
      <p:cxnSp>
        <p:nvCxnSpPr>
          <p:cNvPr id="12" name="Connector 11"/>
          <p:cNvCxnSpPr/>
          <p:nvPr/>
        </p:nvCxnSpPr>
        <p:spPr>
          <a:xfrm>
            <a:off x="9528048" y="2148840"/>
            <a:ext cx="192024"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738360" y="1508760"/>
            <a:ext cx="2011680" cy="1280160"/>
          </a:xfrm>
          <a:prstGeom prst="rect">
            <a:avLst/>
          </a:prstGeom>
          <a:solidFill>
            <a:srgbClr val="FFF3B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800" b="1" i="0">
                <a:solidFill>
                  <a:srgbClr val="000000"/>
                </a:solidFill>
              </a:rPr>
              <a:t>CONF row</a:t>
            </a:r>
          </a:p>
          <a:p>
            <a:pPr algn="ctr">
              <a:spcAft>
                <a:spcPts val="200"/>
              </a:spcAft>
            </a:pPr>
            <a:r>
              <a:rPr sz="1400" b="0" i="0">
                <a:solidFill>
                  <a:srgbClr val="595959"/>
                </a:solidFill>
              </a:rPr>
              <a:t>ledger</a:t>
            </a:r>
          </a:p>
        </p:txBody>
      </p:sp>
      <p:sp>
        <p:nvSpPr>
          <p:cNvPr id="14" name="TextBox 13"/>
          <p:cNvSpPr txBox="1"/>
          <p:nvPr/>
        </p:nvSpPr>
        <p:spPr>
          <a:xfrm>
            <a:off x="777240" y="3108960"/>
            <a:ext cx="11018520" cy="2286000"/>
          </a:xfrm>
          <a:prstGeom prst="rect">
            <a:avLst/>
          </a:prstGeom>
          <a:noFill/>
        </p:spPr>
        <p:txBody>
          <a:bodyPr wrap="square" lIns="45720" rIns="45720" tIns="27432" bIns="27432">
            <a:spAutoFit/>
          </a:bodyPr>
          <a:lstStyle/>
          <a:p>
            <a:pPr marL="256032" indent="-256032">
              <a:spcAft>
                <a:spcPts val="800"/>
              </a:spcAft>
              <a:buChar char="•"/>
            </a:pPr>
            <a:r>
              <a:rPr sz="1800" b="0" i="0"/>
              <a:t>Every link resolves in both directions: from any claim to its evidence, and from any change to its consequences</a:t>
            </a:r>
          </a:p>
          <a:p>
            <a:pPr marL="256032" indent="-256032">
              <a:spcAft>
                <a:spcPts val="800"/>
              </a:spcAft>
              <a:buChar char="•"/>
            </a:pPr>
            <a:r>
              <a:rPr sz="1800" b="0" i="0"/>
              <a:t>The markers are decided by a program (unknown identifiers fail the run); the "derived from" fields by a person</a:t>
            </a:r>
          </a:p>
        </p:txBody>
      </p:sp>
      <p:sp>
        <p:nvSpPr>
          <p:cNvPr id="15" name="Rectangle 14"/>
          <p:cNvSpPr/>
          <p:nvPr/>
        </p:nvSpPr>
        <p:spPr>
          <a:xfrm>
            <a:off x="777240" y="5577840"/>
            <a:ext cx="11018520" cy="6400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Its own row: a program decides it cheaply, and the other four rows depend on it clause by clause.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ledger at v0</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42</a:t>
            </a:r>
          </a:p>
        </p:txBody>
      </p:sp>
      <p:graphicFrame>
        <p:nvGraphicFramePr>
          <p:cNvPr id="5" name="Table 4"/>
          <p:cNvGraphicFramePr>
            <a:graphicFrameLocks noGrp="1"/>
          </p:cNvGraphicFramePr>
          <p:nvPr/>
        </p:nvGraphicFramePr>
        <p:xfrm>
          <a:off x="777240" y="1325880"/>
          <a:ext cx="11018520" cy="3017520"/>
        </p:xfrm>
        <a:graphic>
          <a:graphicData uri="http://schemas.openxmlformats.org/drawingml/2006/table">
            <a:tbl>
              <a:tblPr firstRow="1" bandRow="1">
                <a:tableStyleId>{5C22544A-7EE6-4342-B048-85BDC9FD1C3A}</a:tableStyleId>
              </a:tblPr>
              <a:tblGrid>
                <a:gridCol w="1371600"/>
                <a:gridCol w="1463040"/>
                <a:gridCol w="8183880"/>
              </a:tblGrid>
              <a:tr h="502920">
                <a:tc>
                  <a:txBody>
                    <a:bodyPr wrap="square"/>
                    <a:lstStyle/>
                    <a:p>
                      <a:pPr>
                        <a:spcAft>
                          <a:spcPts val="0"/>
                        </a:spcAft>
                      </a:pPr>
                      <a:r>
                        <a:rPr sz="1600" b="1" i="0">
                          <a:solidFill>
                            <a:srgbClr val="FFFFFF"/>
                          </a:solidFill>
                        </a:rPr>
                        <a:t>Judgment</a:t>
                      </a:r>
                    </a:p>
                  </a:txBody>
                  <a:tcPr marL="73152" marR="73152" marT="36576" marB="36576">
                    <a:solidFill>
                      <a:srgbClr val="6E1EC6"/>
                    </a:solidFill>
                  </a:tcPr>
                </a:tc>
                <a:tc>
                  <a:txBody>
                    <a:bodyPr wrap="square"/>
                    <a:lstStyle/>
                    <a:p>
                      <a:pPr>
                        <a:spcAft>
                          <a:spcPts val="0"/>
                        </a:spcAft>
                      </a:pPr>
                      <a:r>
                        <a:rPr sz="1600" b="1" i="0">
                          <a:solidFill>
                            <a:srgbClr val="FFFFFF"/>
                          </a:solidFill>
                        </a:rPr>
                        <a:t>Status</a:t>
                      </a:r>
                    </a:p>
                  </a:txBody>
                  <a:tcPr marL="73152" marR="73152" marT="36576" marB="36576">
                    <a:solidFill>
                      <a:srgbClr val="6E1EC6"/>
                    </a:solidFill>
                  </a:tcPr>
                </a:tc>
                <a:tc>
                  <a:txBody>
                    <a:bodyPr wrap="square"/>
                    <a:lstStyle/>
                    <a:p>
                      <a:pPr>
                        <a:spcAft>
                          <a:spcPts val="0"/>
                        </a:spcAft>
                      </a:pPr>
                      <a:r>
                        <a:rPr sz="1600" b="1" i="0">
                          <a:solidFill>
                            <a:srgbClr val="FFFFFF"/>
                          </a:solidFill>
                        </a:rPr>
                        <a:t>Evidence</a:t>
                      </a:r>
                    </a:p>
                  </a:txBody>
                  <a:tcPr marL="73152" marR="73152" marT="36576" marB="36576">
                    <a:solidFill>
                      <a:srgbClr val="6E1EC6"/>
                    </a:solidFill>
                  </a:tcPr>
                </a:tc>
              </a:tr>
              <a:tr h="502920">
                <a:tc>
                  <a:txBody>
                    <a:bodyPr wrap="square"/>
                    <a:lstStyle/>
                    <a:p>
                      <a:pPr>
                        <a:spcAft>
                          <a:spcPts val="0"/>
                        </a:spcAft>
                      </a:pPr>
                      <a:r>
                        <a:rPr sz="1600" b="0" i="0">
                          <a:solidFill>
                            <a:srgbClr val="000000"/>
                          </a:solidFill>
                        </a:rPr>
                        <a:t>SQ</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two specifications read together; 7 clauses; no gap</a:t>
                      </a:r>
                    </a:p>
                  </a:txBody>
                  <a:tcPr marL="73152" marR="73152" marT="36576" marB="36576">
                    <a:solidFill>
                      <a:srgbClr val="FFFFFF"/>
                    </a:solidFill>
                  </a:tcPr>
                </a:tc>
              </a:tr>
              <a:tr h="502920">
                <a:tc>
                  <a:txBody>
                    <a:bodyPr wrap="square"/>
                    <a:lstStyle/>
                    <a:p>
                      <a:pPr>
                        <a:spcAft>
                          <a:spcPts val="0"/>
                        </a:spcAft>
                      </a:pPr>
                      <a:r>
                        <a:rPr sz="1600" b="0" i="0">
                          <a:solidFill>
                            <a:srgbClr val="000000"/>
                          </a:solidFill>
                        </a:rPr>
                        <a:t>RQ</a:t>
                      </a:r>
                    </a:p>
                  </a:txBody>
                  <a:tcPr marL="73152" marR="73152" marT="36576" marB="36576">
                    <a:solidFill>
                      <a:srgbClr val="F3F0F9"/>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ruff exit 0; suite collects (10 tests)</a:t>
                      </a:r>
                    </a:p>
                  </a:txBody>
                  <a:tcPr marL="73152" marR="73152" marT="36576" marB="36576">
                    <a:solidFill>
                      <a:srgbClr val="F3F0F9"/>
                    </a:solidFill>
                  </a:tcPr>
                </a:tc>
              </a:tr>
              <a:tr h="502920">
                <a:tc>
                  <a:txBody>
                    <a:bodyPr wrap="square"/>
                    <a:lstStyle/>
                    <a:p>
                      <a:pPr>
                        <a:spcAft>
                          <a:spcPts val="0"/>
                        </a:spcAft>
                      </a:pPr>
                      <a:r>
                        <a:rPr sz="1600" b="0" i="0">
                          <a:solidFill>
                            <a:srgbClr val="000000"/>
                          </a:solidFill>
                        </a:rPr>
                        <a:t>CONF</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10 passed; 4 of 4 test clauses; 100% branches; 3 stories walked</a:t>
                      </a:r>
                    </a:p>
                  </a:txBody>
                  <a:tcPr marL="73152" marR="73152" marT="36576" marB="36576">
                    <a:solidFill>
                      <a:srgbClr val="FFFFFF"/>
                    </a:solidFill>
                  </a:tcPr>
                </a:tc>
              </a:tr>
              <a:tr h="502920">
                <a:tc>
                  <a:txBody>
                    <a:bodyPr wrap="square"/>
                    <a:lstStyle/>
                    <a:p>
                      <a:pPr>
                        <a:spcAft>
                          <a:spcPts val="0"/>
                        </a:spcAft>
                      </a:pPr>
                      <a:r>
                        <a:rPr sz="1600" b="0" i="0">
                          <a:solidFill>
                            <a:srgbClr val="000000"/>
                          </a:solidFill>
                        </a:rPr>
                        <a:t>VAL</a:t>
                      </a:r>
                    </a:p>
                  </a:txBody>
                  <a:tcPr marL="73152" marR="73152" marT="36576" marB="36576">
                    <a:solidFill>
                      <a:srgbClr val="F3F0F9"/>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sign-off by both user categories on conops.md A0</a:t>
                      </a:r>
                    </a:p>
                  </a:txBody>
                  <a:tcPr marL="73152" marR="73152" marT="36576" marB="36576">
                    <a:solidFill>
                      <a:srgbClr val="F3F0F9"/>
                    </a:solidFill>
                  </a:tcPr>
                </a:tc>
              </a:tr>
              <a:tr h="502920">
                <a:tc>
                  <a:txBody>
                    <a:bodyPr wrap="square"/>
                    <a:lstStyle/>
                    <a:p>
                      <a:pPr>
                        <a:spcAft>
                          <a:spcPts val="0"/>
                        </a:spcAft>
                      </a:pPr>
                      <a:r>
                        <a:rPr sz="1600" b="0" i="0">
                          <a:solidFill>
                            <a:srgbClr val="000000"/>
                          </a:solidFill>
                        </a:rPr>
                        <a:t>TR</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every marker and every derived-from resolves</a:t>
                      </a:r>
                    </a:p>
                  </a:txBody>
                  <a:tcPr marL="73152" marR="73152" marT="36576" marB="36576">
                    <a:solidFill>
                      <a:srgbClr val="FFFFFF"/>
                    </a:solidFill>
                  </a:tcPr>
                </a:tc>
              </a:tr>
            </a:tbl>
          </a:graphicData>
        </a:graphic>
      </p:graphicFrame>
      <p:graphicFrame>
        <p:nvGraphicFramePr>
          <p:cNvPr id="6" name="Table 5"/>
          <p:cNvGraphicFramePr>
            <a:graphicFrameLocks noGrp="1"/>
          </p:cNvGraphicFramePr>
          <p:nvPr/>
        </p:nvGraphicFramePr>
        <p:xfrm>
          <a:off x="777240" y="4480560"/>
          <a:ext cx="11018520" cy="1645920"/>
        </p:xfrm>
        <a:graphic>
          <a:graphicData uri="http://schemas.openxmlformats.org/drawingml/2006/table">
            <a:tbl>
              <a:tblPr firstRow="1" bandRow="1">
                <a:tableStyleId>{5C22544A-7EE6-4342-B048-85BDC9FD1C3A}</a:tableStyleId>
              </a:tblPr>
              <a:tblGrid>
                <a:gridCol w="2194560"/>
                <a:gridCol w="8823960"/>
              </a:tblGrid>
              <a:tr h="411480">
                <a:tc>
                  <a:txBody>
                    <a:bodyPr wrap="square"/>
                    <a:lstStyle/>
                    <a:p>
                      <a:pPr>
                        <a:spcAft>
                          <a:spcPts val="0"/>
                        </a:spcAft>
                      </a:pPr>
                      <a:r>
                        <a:rPr sz="1600" b="1" i="0">
                          <a:solidFill>
                            <a:srgbClr val="FFFFFF"/>
                          </a:solidFill>
                        </a:rPr>
                        <a:t>Goes stale when</a:t>
                      </a:r>
                    </a:p>
                  </a:txBody>
                  <a:tcPr marL="73152" marR="73152" marT="36576" marB="36576">
                    <a:solidFill>
                      <a:srgbClr val="990099"/>
                    </a:solidFill>
                  </a:tcPr>
                </a:tc>
                <a:tc>
                  <a:txBody>
                    <a:bodyPr wrap="square"/>
                    <a:lstStyle/>
                    <a:p>
                      <a:pPr>
                        <a:spcAft>
                          <a:spcPts val="0"/>
                        </a:spcAft>
                      </a:pPr>
                      <a:r>
                        <a:rPr sz="1600" b="1" i="0">
                          <a:solidFill>
                            <a:srgbClr val="FFFFFF"/>
                          </a:solidFill>
                        </a:rPr>
                        <a:t/>
                      </a:r>
                    </a:p>
                  </a:txBody>
                  <a:tcPr marL="73152" marR="73152" marT="36576" marB="36576">
                    <a:solidFill>
                      <a:srgbClr val="990099"/>
                    </a:solidFill>
                  </a:tcPr>
                </a:tc>
              </a:tr>
              <a:tr h="411480">
                <a:tc>
                  <a:txBody>
                    <a:bodyPr wrap="square"/>
                    <a:lstStyle/>
                    <a:p>
                      <a:pPr>
                        <a:spcAft>
                          <a:spcPts val="0"/>
                        </a:spcAft>
                      </a:pPr>
                      <a:r>
                        <a:rPr sz="1600" b="0" i="0">
                          <a:solidFill>
                            <a:srgbClr val="000000"/>
                          </a:solidFill>
                        </a:rPr>
                        <a:t>SQ, VAL</a:t>
                      </a:r>
                    </a:p>
                  </a:txBody>
                  <a:tcPr marL="73152" marR="73152" marT="36576" marB="36576">
                    <a:solidFill>
                      <a:srgbClr val="FFFFFF"/>
                    </a:solidFill>
                  </a:tcPr>
                </a:tc>
                <a:tc>
                  <a:txBody>
                    <a:bodyPr wrap="square"/>
                    <a:lstStyle/>
                    <a:p>
                      <a:pPr>
                        <a:spcAft>
                          <a:spcPts val="0"/>
                        </a:spcAft>
                      </a:pPr>
                      <a:r>
                        <a:rPr sz="1600" b="0" i="0">
                          <a:solidFill>
                            <a:srgbClr val="000000"/>
                          </a:solidFill>
                        </a:rPr>
                        <a:t>any specification changes; VAL also on a declared change of mind</a:t>
                      </a:r>
                    </a:p>
                  </a:txBody>
                  <a:tcPr marL="73152" marR="73152" marT="36576" marB="36576">
                    <a:solidFill>
                      <a:srgbClr val="FFFFFF"/>
                    </a:solidFill>
                  </a:tcPr>
                </a:tc>
              </a:tr>
              <a:tr h="411480">
                <a:tc>
                  <a:txBody>
                    <a:bodyPr wrap="square"/>
                    <a:lstStyle/>
                    <a:p>
                      <a:pPr>
                        <a:spcAft>
                          <a:spcPts val="0"/>
                        </a:spcAft>
                      </a:pPr>
                      <a:r>
                        <a:rPr sz="1600" b="0" i="0">
                          <a:solidFill>
                            <a:srgbClr val="000000"/>
                          </a:solidFill>
                        </a:rPr>
                        <a:t>RQ, CONF</a:t>
                      </a:r>
                    </a:p>
                  </a:txBody>
                  <a:tcPr marL="73152" marR="73152" marT="36576" marB="36576">
                    <a:solidFill>
                      <a:srgbClr val="F3F0F9"/>
                    </a:solidFill>
                  </a:tcPr>
                </a:tc>
                <a:tc>
                  <a:txBody>
                    <a:bodyPr wrap="square"/>
                    <a:lstStyle/>
                    <a:p>
                      <a:pPr>
                        <a:spcAft>
                          <a:spcPts val="0"/>
                        </a:spcAft>
                      </a:pPr>
                      <a:r>
                        <a:rPr sz="1600" b="0" i="0">
                          <a:solidFill>
                            <a:srgbClr val="000000"/>
                          </a:solidFill>
                        </a:rPr>
                        <a:t>the code or the tests change; CONF also when a specification changes</a:t>
                      </a:r>
                    </a:p>
                  </a:txBody>
                  <a:tcPr marL="73152" marR="73152" marT="36576" marB="36576">
                    <a:solidFill>
                      <a:srgbClr val="F3F0F9"/>
                    </a:solidFill>
                  </a:tcPr>
                </a:tc>
              </a:tr>
              <a:tr h="411480">
                <a:tc>
                  <a:txBody>
                    <a:bodyPr wrap="square"/>
                    <a:lstStyle/>
                    <a:p>
                      <a:pPr>
                        <a:spcAft>
                          <a:spcPts val="0"/>
                        </a:spcAft>
                      </a:pPr>
                      <a:r>
                        <a:rPr sz="1600" b="0" i="0">
                          <a:solidFill>
                            <a:srgbClr val="000000"/>
                          </a:solidFill>
                        </a:rPr>
                        <a:t>TR</a:t>
                      </a:r>
                    </a:p>
                  </a:txBody>
                  <a:tcPr marL="73152" marR="73152" marT="36576" marB="36576">
                    <a:solidFill>
                      <a:srgbClr val="FFFFFF"/>
                    </a:solidFill>
                  </a:tcPr>
                </a:tc>
                <a:tc>
                  <a:txBody>
                    <a:bodyPr wrap="square"/>
                    <a:lstStyle/>
                    <a:p>
                      <a:pPr>
                        <a:spcAft>
                          <a:spcPts val="0"/>
                        </a:spcAft>
                      </a:pPr>
                      <a:r>
                        <a:rPr sz="1600" b="0" i="0">
                          <a:solidFill>
                            <a:srgbClr val="000000"/>
                          </a:solidFill>
                        </a:rPr>
                        <a:t>any artifact changes</a:t>
                      </a:r>
                    </a:p>
                  </a:txBody>
                  <a:tcPr marL="73152" marR="73152" marT="36576" marB="36576">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A row has four parts</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43</a:t>
            </a:r>
          </a:p>
        </p:txBody>
      </p:sp>
      <p:sp>
        <p:nvSpPr>
          <p:cNvPr id="5" name="TextBox 4"/>
          <p:cNvSpPr txBox="1"/>
          <p:nvPr/>
        </p:nvSpPr>
        <p:spPr>
          <a:xfrm>
            <a:off x="777240" y="1325880"/>
            <a:ext cx="11018520" cy="3291840"/>
          </a:xfrm>
          <a:prstGeom prst="rect">
            <a:avLst/>
          </a:prstGeom>
          <a:noFill/>
        </p:spPr>
        <p:txBody>
          <a:bodyPr wrap="square" lIns="45720" rIns="45720" tIns="27432" bIns="27432">
            <a:spAutoFit/>
          </a:bodyPr>
          <a:lstStyle/>
          <a:p>
            <a:pPr marL="256032" indent="-256032">
              <a:spcAft>
                <a:spcPts val="800"/>
              </a:spcAft>
              <a:buChar char="•"/>
            </a:pPr>
            <a:r>
              <a:rPr sz="1800" b="1" i="0"/>
              <a:t>Status</a:t>
            </a:r>
            <a:r>
              <a:rPr sz="1800" b="0" i="0"/>
              <a:t> — established or stale</a:t>
            </a:r>
          </a:p>
          <a:p>
            <a:pPr marL="256032" indent="-256032">
              <a:spcAft>
                <a:spcPts val="800"/>
              </a:spcAft>
              <a:buChar char="•"/>
            </a:pPr>
            <a:r>
              <a:rPr sz="1800" b="1" i="0"/>
              <a:t>Evidence</a:t>
            </a:r>
            <a:r>
              <a:rPr sz="1800" b="0" i="0"/>
              <a:t> — what was produced, named precisely enough to be found</a:t>
            </a:r>
          </a:p>
          <a:p>
            <a:pPr marL="256032" indent="-256032">
              <a:spcAft>
                <a:spcPts val="800"/>
              </a:spcAft>
              <a:buChar char="•"/>
            </a:pPr>
            <a:r>
              <a:rPr sz="1800" b="1" i="0"/>
              <a:t>Provenance</a:t>
            </a:r>
            <a:r>
              <a:rPr sz="1800" b="0" i="0"/>
              <a:t> — which verifier and version, which artifacts at which version, which clauses</a:t>
            </a:r>
          </a:p>
          <a:p>
            <a:pPr marL="256032" indent="-256032">
              <a:spcAft>
                <a:spcPts val="800"/>
              </a:spcAft>
              <a:buChar char="•"/>
            </a:pPr>
            <a:r>
              <a:rPr sz="1800" b="1" i="0"/>
              <a:t>Stale when</a:t>
            </a:r>
            <a:r>
              <a:rPr sz="1800" b="0" i="0"/>
              <a:t> — the change that would require re-establishing it</a:t>
            </a:r>
          </a:p>
        </p:txBody>
      </p:sp>
      <p:sp>
        <p:nvSpPr>
          <p:cNvPr id="6" name="TextBox 5"/>
          <p:cNvSpPr txBox="1"/>
          <p:nvPr/>
        </p:nvSpPr>
        <p:spPr>
          <a:xfrm>
            <a:off x="777240" y="4160520"/>
            <a:ext cx="11018520" cy="777240"/>
          </a:xfrm>
          <a:prstGeom prst="rect">
            <a:avLst/>
          </a:prstGeom>
          <a:solidFill>
            <a:srgbClr val="F2F2F2"/>
          </a:solidFill>
          <a:ln w="12700">
            <a:solidFill>
              <a:srgbClr val="BFBFBF"/>
            </a:solidFill>
          </a:ln>
        </p:spPr>
        <p:txBody>
          <a:bodyPr wrap="square" lIns="109728" rIns="109728" tIns="109728" bIns="109728">
            <a:spAutoFit/>
          </a:bodyPr>
          <a:lstStyle/>
          <a:p>
            <a:pPr>
              <a:spcAft>
                <a:spcPts val="0"/>
              </a:spcAft>
            </a:pPr>
            <a:r>
              <a:rPr sz="1500" b="1" i="0">
                <a:solidFill>
                  <a:srgbClr val="101040"/>
                </a:solidFill>
                <a:latin typeface="Courier New"/>
              </a:rPr>
              <a:t>analysis: pytest 9.1.1 with pytest-cov 7.1.0 and the plugin, at v0, REQ-0 to REQ-3</a:t>
            </a:r>
          </a:p>
        </p:txBody>
      </p:sp>
      <p:sp>
        <p:nvSpPr>
          <p:cNvPr id="7" name="TextBox 6"/>
          <p:cNvSpPr txBox="1"/>
          <p:nvPr/>
        </p:nvSpPr>
        <p:spPr>
          <a:xfrm>
            <a:off x="777240" y="4983479"/>
            <a:ext cx="1101852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the CONF row's provenance</a:t>
            </a:r>
          </a:p>
        </p:txBody>
      </p:sp>
      <p:sp>
        <p:nvSpPr>
          <p:cNvPr id="8" name="Rectangle 7"/>
          <p:cNvSpPr/>
          <p:nvPr/>
        </p:nvSpPr>
        <p:spPr>
          <a:xfrm>
            <a:off x="777240" y="5440680"/>
            <a:ext cx="11018520" cy="82296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A row is a claim made by a verifier, not a fact. "pytest 9.1.1 exited 0 at v0" can be rerun; "all tests pass" in an agent's message cannot.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gate</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44</a:t>
            </a:r>
          </a:p>
        </p:txBody>
      </p:sp>
      <p:sp>
        <p:nvSpPr>
          <p:cNvPr id="5" name="Rectangle 4"/>
          <p:cNvSpPr/>
          <p:nvPr/>
        </p:nvSpPr>
        <p:spPr>
          <a:xfrm>
            <a:off x="777240" y="1417320"/>
            <a:ext cx="1737360" cy="1005840"/>
          </a:xfrm>
          <a:prstGeom prst="rect">
            <a:avLst/>
          </a:prstGeom>
          <a:solidFill>
            <a:srgbClr val="F2F2F2"/>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0" i="0">
                <a:solidFill>
                  <a:srgbClr val="000000"/>
                </a:solidFill>
              </a:rPr>
              <a:t>work on a task</a:t>
            </a:r>
          </a:p>
        </p:txBody>
      </p:sp>
      <p:cxnSp>
        <p:nvCxnSpPr>
          <p:cNvPr id="6" name="Connector 5"/>
          <p:cNvCxnSpPr/>
          <p:nvPr/>
        </p:nvCxnSpPr>
        <p:spPr>
          <a:xfrm>
            <a:off x="2560320" y="1920240"/>
            <a:ext cx="45720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63240" y="1325880"/>
            <a:ext cx="4114800" cy="1188720"/>
          </a:xfrm>
          <a:prstGeom prst="rect">
            <a:avLst/>
          </a:prstGeom>
          <a:solidFill>
            <a:srgbClr val="FFF3B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1" i="0">
                <a:solidFill>
                  <a:srgbClr val="101040"/>
                </a:solidFill>
                <a:latin typeface="Courier New"/>
              </a:rPr>
              <a:t>tools/gate.sh</a:t>
            </a:r>
          </a:p>
          <a:p>
            <a:pPr algn="ctr">
              <a:spcAft>
                <a:spcPts val="200"/>
              </a:spcAft>
            </a:pPr>
            <a:r>
              <a:rPr sz="1600" b="0" i="0">
                <a:solidFill>
                  <a:srgbClr val="000000"/>
                </a:solidFill>
              </a:rPr>
              <a:t>ruff, then pytest with coverage and the plugin</a:t>
            </a:r>
          </a:p>
        </p:txBody>
      </p:sp>
      <p:cxnSp>
        <p:nvCxnSpPr>
          <p:cNvPr id="8" name="Connector 7"/>
          <p:cNvCxnSpPr/>
          <p:nvPr/>
        </p:nvCxnSpPr>
        <p:spPr>
          <a:xfrm>
            <a:off x="7223760" y="1920240"/>
            <a:ext cx="45720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726679" y="1417320"/>
            <a:ext cx="1371600" cy="1005840"/>
          </a:xfrm>
          <a:prstGeom prst="rect">
            <a:avLst/>
          </a:prstGeom>
          <a:solidFill>
            <a:srgbClr val="DDF2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1" i="0">
                <a:solidFill>
                  <a:srgbClr val="2E7D32"/>
                </a:solidFill>
              </a:rPr>
              <a:t>exit 0</a:t>
            </a:r>
          </a:p>
        </p:txBody>
      </p:sp>
      <p:cxnSp>
        <p:nvCxnSpPr>
          <p:cNvPr id="10" name="Connector 9"/>
          <p:cNvCxnSpPr/>
          <p:nvPr/>
        </p:nvCxnSpPr>
        <p:spPr>
          <a:xfrm>
            <a:off x="9144000" y="1920240"/>
            <a:ext cx="45720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646920" y="1417320"/>
            <a:ext cx="1371600" cy="1005840"/>
          </a:xfrm>
          <a:prstGeom prst="rect">
            <a:avLst/>
          </a:prstGeom>
          <a:solidFill>
            <a:srgbClr val="F2F2F2"/>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0" i="0">
                <a:solidFill>
                  <a:srgbClr val="000000"/>
                </a:solidFill>
              </a:rPr>
              <a:t>commit</a:t>
            </a:r>
          </a:p>
        </p:txBody>
      </p:sp>
      <p:sp>
        <p:nvSpPr>
          <p:cNvPr id="12" name="Rectangle 11"/>
          <p:cNvSpPr/>
          <p:nvPr/>
        </p:nvSpPr>
        <p:spPr>
          <a:xfrm>
            <a:off x="7726679" y="2697480"/>
            <a:ext cx="1371600" cy="822960"/>
          </a:xfrm>
          <a:prstGeom prst="rect">
            <a:avLst/>
          </a:prstGeom>
          <a:solidFill>
            <a:srgbClr val="F8D7D7"/>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200"/>
              </a:spcAft>
            </a:pPr>
            <a:r>
              <a:rPr sz="1800" b="1" i="0">
                <a:solidFill>
                  <a:srgbClr val="C00000"/>
                </a:solidFill>
              </a:rPr>
              <a:t>exit 1</a:t>
            </a:r>
          </a:p>
        </p:txBody>
      </p:sp>
      <p:cxnSp>
        <p:nvCxnSpPr>
          <p:cNvPr id="13" name="Connector 12"/>
          <p:cNvCxnSpPr/>
          <p:nvPr/>
        </p:nvCxnSpPr>
        <p:spPr>
          <a:xfrm>
            <a:off x="9144000" y="3108960"/>
            <a:ext cx="45720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646920" y="2788920"/>
            <a:ext cx="2148840" cy="731520"/>
          </a:xfrm>
          <a:prstGeom prst="rect">
            <a:avLst/>
          </a:prstGeom>
          <a:noFill/>
        </p:spPr>
        <p:txBody>
          <a:bodyPr wrap="square" lIns="45720" rIns="45720">
            <a:spAutoFit/>
          </a:bodyPr>
          <a:lstStyle/>
          <a:p>
            <a:pPr>
              <a:spcAft>
                <a:spcPts val="400"/>
              </a:spcAft>
            </a:pPr>
            <a:r>
              <a:rPr sz="1600" b="0" i="0"/>
              <a:t>the work is returned</a:t>
            </a:r>
          </a:p>
        </p:txBody>
      </p:sp>
      <p:sp>
        <p:nvSpPr>
          <p:cNvPr id="15" name="TextBox 14"/>
          <p:cNvSpPr txBox="1"/>
          <p:nvPr/>
        </p:nvSpPr>
        <p:spPr>
          <a:xfrm>
            <a:off x="777240" y="3840480"/>
            <a:ext cx="11018520" cy="1828800"/>
          </a:xfrm>
          <a:prstGeom prst="rect">
            <a:avLst/>
          </a:prstGeom>
          <a:noFill/>
        </p:spPr>
        <p:txBody>
          <a:bodyPr wrap="square" lIns="45720" rIns="45720" tIns="27432" bIns="27432">
            <a:spAutoFit/>
          </a:bodyPr>
          <a:lstStyle/>
          <a:p>
            <a:pPr marL="256032" indent="-256032">
              <a:spcAft>
                <a:spcPts val="800"/>
              </a:spcAft>
              <a:buChar char="•"/>
            </a:pPr>
            <a:r>
              <a:rPr sz="1800" b="1" i="0"/>
              <a:t>Algorithmic gate: </a:t>
            </a:r>
            <a:r>
              <a:rPr sz="1800" b="0" i="0"/>
              <a:t>a program decides; the decision is an exit code (rule WF-1)</a:t>
            </a:r>
          </a:p>
          <a:p>
            <a:pPr marL="256032" indent="-256032">
              <a:spcAft>
                <a:spcPts val="800"/>
              </a:spcAft>
              <a:buChar char="•"/>
            </a:pPr>
            <a:r>
              <a:rPr sz="1800" b="1" i="0"/>
              <a:t>Approval gate: </a:t>
            </a:r>
            <a:r>
              <a:rPr sz="1800" b="0" i="0"/>
              <a:t>a recorded human decision; the first in front of a commit arrives with the build plan in A2</a:t>
            </a:r>
          </a:p>
        </p:txBody>
      </p:sp>
      <p:sp>
        <p:nvSpPr>
          <p:cNvPr id="16" name="Rectangle 15"/>
          <p:cNvSpPr/>
          <p:nvPr/>
        </p:nvSpPr>
        <p:spPr>
          <a:xfrm>
            <a:off x="777240" y="5577840"/>
            <a:ext cx="11018520" cy="73152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An agent commits often; a rule that depends on someone remembering will be skipped. A gate makes the checks a property of every commit.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Breaking it: a wrong realization</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45</a:t>
            </a:r>
          </a:p>
        </p:txBody>
      </p:sp>
      <p:sp>
        <p:nvSpPr>
          <p:cNvPr id="5" name="TextBox 4"/>
          <p:cNvSpPr txBox="1"/>
          <p:nvPr/>
        </p:nvSpPr>
        <p:spPr>
          <a:xfrm>
            <a:off x="777240" y="1325880"/>
            <a:ext cx="6035040" cy="868680"/>
          </a:xfrm>
          <a:prstGeom prst="rect">
            <a:avLst/>
          </a:prstGeom>
          <a:solidFill>
            <a:srgbClr val="F2F2F2"/>
          </a:solidFill>
          <a:ln w="12700">
            <a:solidFill>
              <a:srgbClr val="BFBFBF"/>
            </a:solidFill>
          </a:ln>
        </p:spPr>
        <p:txBody>
          <a:bodyPr wrap="square" lIns="109728" rIns="109728" tIns="109728" bIns="109728">
            <a:spAutoFit/>
          </a:bodyPr>
          <a:lstStyle/>
          <a:p>
            <a:pPr>
              <a:spcAft>
                <a:spcPts val="0"/>
              </a:spcAft>
            </a:pPr>
            <a:r>
              <a:rPr sz="1500" b="1" i="0">
                <a:solidFill>
                  <a:srgbClr val="101040"/>
                </a:solidFill>
                <a:latin typeface="Courier New"/>
              </a:rPr>
              <a:t>- if message.level is SecurityLevel.CRITICAL:</a:t>
            </a:r>
          </a:p>
          <a:p>
            <a:pPr>
              <a:spcAft>
                <a:spcPts val="0"/>
              </a:spcAft>
            </a:pPr>
            <a:r>
              <a:rPr sz="1500" b="1" i="0">
                <a:solidFill>
                  <a:srgbClr val="101040"/>
                </a:solidFill>
                <a:latin typeface="Courier New"/>
              </a:rPr>
              <a:t>+ if message.level is SecurityLevel.RESTRICTED:</a:t>
            </a:r>
          </a:p>
        </p:txBody>
      </p:sp>
      <p:sp>
        <p:nvSpPr>
          <p:cNvPr id="6" name="TextBox 5"/>
          <p:cNvSpPr txBox="1"/>
          <p:nvPr/>
        </p:nvSpPr>
        <p:spPr>
          <a:xfrm>
            <a:off x="777240" y="2240279"/>
            <a:ext cx="603504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guard/filter.py, changed</a:t>
            </a:r>
          </a:p>
        </p:txBody>
      </p:sp>
      <p:sp>
        <p:nvSpPr>
          <p:cNvPr id="7" name="TextBox 6"/>
          <p:cNvSpPr txBox="1"/>
          <p:nvPr/>
        </p:nvSpPr>
        <p:spPr>
          <a:xfrm>
            <a:off x="777240" y="2743200"/>
            <a:ext cx="6035040" cy="1828800"/>
          </a:xfrm>
          <a:prstGeom prst="rect">
            <a:avLst/>
          </a:prstGeom>
          <a:solidFill>
            <a:srgbClr val="F2F2F2"/>
          </a:solidFill>
          <a:ln w="12700">
            <a:solidFill>
              <a:srgbClr val="BFBFBF"/>
            </a:solidFill>
          </a:ln>
        </p:spPr>
        <p:txBody>
          <a:bodyPr wrap="square" lIns="109728" rIns="109728" tIns="109728" bIns="109728">
            <a:spAutoFit/>
          </a:bodyPr>
          <a:lstStyle/>
          <a:p>
            <a:pPr>
              <a:spcAft>
                <a:spcPts val="0"/>
              </a:spcAft>
            </a:pPr>
            <a:r>
              <a:rPr sz="1500" b="1" i="0">
                <a:solidFill>
                  <a:srgbClr val="101040"/>
                </a:solidFill>
                <a:latin typeface="Courier New"/>
              </a:rPr>
              <a:t>conformance: REQ-1: FAIL</a:t>
            </a:r>
          </a:p>
          <a:p>
            <a:pPr>
              <a:spcAft>
                <a:spcPts val="0"/>
              </a:spcAft>
            </a:pPr>
            <a:r>
              <a:rPr sz="1500" b="1" i="0">
                <a:solidFill>
                  <a:srgbClr val="101040"/>
                </a:solidFill>
                <a:latin typeface="Courier New"/>
              </a:rPr>
              <a:t>conformance: REQ-2: FAIL</a:t>
            </a:r>
          </a:p>
          <a:p>
            <a:pPr>
              <a:spcAft>
                <a:spcPts val="0"/>
              </a:spcAft>
            </a:pPr>
            <a:r>
              <a:rPr sz="1500" b="1" i="0">
                <a:solidFill>
                  <a:srgbClr val="101040"/>
                </a:solidFill>
                <a:latin typeface="Courier New"/>
              </a:rPr>
              <a:t>TOTAL   21  0  6  0  100%</a:t>
            </a:r>
          </a:p>
          <a:p>
            <a:pPr>
              <a:spcAft>
                <a:spcPts val="0"/>
              </a:spcAft>
            </a:pPr>
            <a:r>
              <a:rPr sz="1500" b="1" i="0">
                <a:solidFill>
                  <a:srgbClr val="101040"/>
                </a:solidFill>
                <a:latin typeface="Courier New"/>
              </a:rPr>
              <a:t>4 failed, 6 passed in 0.05s</a:t>
            </a:r>
          </a:p>
        </p:txBody>
      </p:sp>
      <p:sp>
        <p:nvSpPr>
          <p:cNvPr id="8" name="TextBox 7"/>
          <p:cNvSpPr txBox="1"/>
          <p:nvPr/>
        </p:nvSpPr>
        <p:spPr>
          <a:xfrm>
            <a:off x="777240" y="4617720"/>
            <a:ext cx="6035040" cy="320040"/>
          </a:xfrm>
          <a:prstGeom prst="rect">
            <a:avLst/>
          </a:prstGeom>
          <a:noFill/>
        </p:spPr>
        <p:txBody>
          <a:bodyPr wrap="square" lIns="45720" rIns="45720">
            <a:spAutoFit/>
          </a:bodyPr>
          <a:lstStyle/>
          <a:p>
            <a:pPr>
              <a:spcAft>
                <a:spcPts val="400"/>
              </a:spcAft>
            </a:pPr>
            <a:r>
              <a:rPr sz="1400" b="0" i="0">
                <a:solidFill>
                  <a:srgbClr val="595959"/>
                </a:solidFill>
                <a:latin typeface="Courier New"/>
              </a:rPr>
              <a:t>tools/gate.sh, exit 1</a:t>
            </a:r>
          </a:p>
        </p:txBody>
      </p:sp>
      <p:graphicFrame>
        <p:nvGraphicFramePr>
          <p:cNvPr id="9" name="Table 8"/>
          <p:cNvGraphicFramePr>
            <a:graphicFrameLocks noGrp="1"/>
          </p:cNvGraphicFramePr>
          <p:nvPr/>
        </p:nvGraphicFramePr>
        <p:xfrm>
          <a:off x="7040880" y="1325880"/>
          <a:ext cx="4754880" cy="2743200"/>
        </p:xfrm>
        <a:graphic>
          <a:graphicData uri="http://schemas.openxmlformats.org/drawingml/2006/table">
            <a:tbl>
              <a:tblPr firstRow="1" bandRow="1">
                <a:tableStyleId>{5C22544A-7EE6-4342-B048-85BDC9FD1C3A}</a:tableStyleId>
              </a:tblPr>
              <a:tblGrid>
                <a:gridCol w="1371600"/>
                <a:gridCol w="1463040"/>
                <a:gridCol w="1920240"/>
              </a:tblGrid>
              <a:tr h="457200">
                <a:tc>
                  <a:txBody>
                    <a:bodyPr wrap="square"/>
                    <a:lstStyle/>
                    <a:p>
                      <a:pPr>
                        <a:spcAft>
                          <a:spcPts val="0"/>
                        </a:spcAft>
                      </a:pPr>
                      <a:r>
                        <a:rPr sz="1600" b="1" i="0">
                          <a:solidFill>
                            <a:srgbClr val="FFFFFF"/>
                          </a:solidFill>
                        </a:rPr>
                        <a:t>Judgment</a:t>
                      </a:r>
                    </a:p>
                  </a:txBody>
                  <a:tcPr marL="73152" marR="73152" marT="36576" marB="36576">
                    <a:solidFill>
                      <a:srgbClr val="6E1EC6"/>
                    </a:solidFill>
                  </a:tcPr>
                </a:tc>
                <a:tc>
                  <a:txBody>
                    <a:bodyPr wrap="square"/>
                    <a:lstStyle/>
                    <a:p>
                      <a:pPr>
                        <a:spcAft>
                          <a:spcPts val="0"/>
                        </a:spcAft>
                      </a:pPr>
                      <a:r>
                        <a:rPr sz="1600" b="1" i="0">
                          <a:solidFill>
                            <a:srgbClr val="FFFFFF"/>
                          </a:solidFill>
                        </a:rPr>
                        <a:t>Status</a:t>
                      </a:r>
                    </a:p>
                  </a:txBody>
                  <a:tcPr marL="73152" marR="73152" marT="36576" marB="36576">
                    <a:solidFill>
                      <a:srgbClr val="6E1EC6"/>
                    </a:solidFill>
                  </a:tcPr>
                </a:tc>
                <a:tc>
                  <a:txBody>
                    <a:bodyPr wrap="square"/>
                    <a:lstStyle/>
                    <a:p>
                      <a:pPr>
                        <a:spcAft>
                          <a:spcPts val="0"/>
                        </a:spcAft>
                      </a:pPr>
                      <a:r>
                        <a:rPr sz="1600" b="1" i="0">
                          <a:solidFill>
                            <a:srgbClr val="FFFFFF"/>
                          </a:solidFill>
                        </a:rPr>
                        <a:t>Evidence</a:t>
                      </a:r>
                    </a:p>
                  </a:txBody>
                  <a:tcPr marL="73152" marR="73152" marT="36576" marB="36576">
                    <a:solidFill>
                      <a:srgbClr val="6E1EC6"/>
                    </a:solidFill>
                  </a:tcPr>
                </a:tc>
              </a:tr>
              <a:tr h="457200">
                <a:tc>
                  <a:txBody>
                    <a:bodyPr wrap="square"/>
                    <a:lstStyle/>
                    <a:p>
                      <a:pPr>
                        <a:spcAft>
                          <a:spcPts val="0"/>
                        </a:spcAft>
                      </a:pPr>
                      <a:r>
                        <a:rPr sz="1600" b="0" i="0">
                          <a:solidFill>
                            <a:srgbClr val="000000"/>
                          </a:solidFill>
                        </a:rPr>
                        <a:t>SQ</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read together</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RQ</a:t>
                      </a:r>
                    </a:p>
                  </a:txBody>
                  <a:tcPr marL="73152" marR="73152" marT="36576" marB="36576">
                    <a:solidFill>
                      <a:srgbClr val="F3F0F9"/>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ruff; collects</a:t>
                      </a:r>
                    </a:p>
                  </a:txBody>
                  <a:tcPr marL="73152" marR="73152" marT="36576" marB="36576">
                    <a:solidFill>
                      <a:srgbClr val="F3F0F9"/>
                    </a:solidFill>
                  </a:tcPr>
                </a:tc>
              </a:tr>
              <a:tr h="457200">
                <a:tc>
                  <a:txBody>
                    <a:bodyPr wrap="square"/>
                    <a:lstStyle/>
                    <a:p>
                      <a:pPr>
                        <a:spcAft>
                          <a:spcPts val="0"/>
                        </a:spcAft>
                      </a:pPr>
                      <a:r>
                        <a:rPr sz="1600" b="0" i="0">
                          <a:solidFill>
                            <a:srgbClr val="000000"/>
                          </a:solidFill>
                        </a:rPr>
                        <a:t>CONF</a:t>
                      </a:r>
                    </a:p>
                  </a:txBody>
                  <a:tcPr marL="73152" marR="73152" marT="36576" marB="36576">
                    <a:solidFill>
                      <a:srgbClr val="FFFFFF"/>
                    </a:solidFill>
                  </a:tcPr>
                </a:tc>
                <a:tc>
                  <a:txBody>
                    <a:bodyPr wrap="square"/>
                    <a:lstStyle/>
                    <a:p>
                      <a:pPr>
                        <a:spcAft>
                          <a:spcPts val="0"/>
                        </a:spcAft>
                      </a:pPr>
                      <a:r>
                        <a:rPr sz="1600" b="1" i="0">
                          <a:solidFill>
                            <a:srgbClr val="C00000"/>
                          </a:solidFill>
                        </a:rPr>
                        <a:t>stale</a:t>
                      </a:r>
                    </a:p>
                  </a:txBody>
                  <a:tcPr marL="73152" marR="73152" marT="36576" marB="36576">
                    <a:solidFill>
                      <a:srgbClr val="F8D7D7"/>
                    </a:solidFill>
                  </a:tcPr>
                </a:tc>
                <a:tc>
                  <a:txBody>
                    <a:bodyPr wrap="square"/>
                    <a:lstStyle/>
                    <a:p>
                      <a:pPr>
                        <a:spcAft>
                          <a:spcPts val="0"/>
                        </a:spcAft>
                      </a:pPr>
                      <a:r>
                        <a:rPr sz="1600" b="0" i="0">
                          <a:solidFill>
                            <a:srgbClr val="000000"/>
                          </a:solidFill>
                        </a:rPr>
                        <a:t>tests; two coverages; walked</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VAL</a:t>
                      </a:r>
                    </a:p>
                  </a:txBody>
                  <a:tcPr marL="73152" marR="73152" marT="36576" marB="36576">
                    <a:solidFill>
                      <a:srgbClr val="F3F0F9"/>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sign-off</a:t>
                      </a:r>
                    </a:p>
                  </a:txBody>
                  <a:tcPr marL="73152" marR="73152" marT="36576" marB="36576">
                    <a:solidFill>
                      <a:srgbClr val="F3F0F9"/>
                    </a:solidFill>
                  </a:tcPr>
                </a:tc>
              </a:tr>
              <a:tr h="457200">
                <a:tc>
                  <a:txBody>
                    <a:bodyPr wrap="square"/>
                    <a:lstStyle/>
                    <a:p>
                      <a:pPr>
                        <a:spcAft>
                          <a:spcPts val="0"/>
                        </a:spcAft>
                      </a:pPr>
                      <a:r>
                        <a:rPr sz="1600" b="0" i="0">
                          <a:solidFill>
                            <a:srgbClr val="000000"/>
                          </a:solidFill>
                        </a:rPr>
                        <a:t>TR</a:t>
                      </a:r>
                    </a:p>
                  </a:txBody>
                  <a:tcPr marL="73152" marR="73152" marT="36576" marB="36576">
                    <a:solidFill>
                      <a:srgbClr val="FFFFFF"/>
                    </a:solidFill>
                  </a:tcPr>
                </a:tc>
                <a:tc>
                  <a:txBody>
                    <a:bodyPr wrap="square"/>
                    <a:lstStyle/>
                    <a:p>
                      <a:pPr>
                        <a:spcAft>
                          <a:spcPts val="0"/>
                        </a:spcAft>
                      </a:pPr>
                      <a:r>
                        <a:rPr sz="1600" b="1" i="0">
                          <a:solidFill>
                            <a:srgbClr val="2E7D32"/>
                          </a:solidFill>
                        </a:rPr>
                        <a:t>established</a:t>
                      </a:r>
                    </a:p>
                  </a:txBody>
                  <a:tcPr marL="73152" marR="73152" marT="36576" marB="36576">
                    <a:solidFill>
                      <a:srgbClr val="DDF2DD"/>
                    </a:solidFill>
                  </a:tcPr>
                </a:tc>
                <a:tc>
                  <a:txBody>
                    <a:bodyPr wrap="square"/>
                    <a:lstStyle/>
                    <a:p>
                      <a:pPr>
                        <a:spcAft>
                          <a:spcPts val="0"/>
                        </a:spcAft>
                      </a:pPr>
                      <a:r>
                        <a:rPr sz="1600" b="0" i="0">
                          <a:solidFill>
                            <a:srgbClr val="000000"/>
                          </a:solidFill>
                        </a:rPr>
                        <a:t>links resolve</a:t>
                      </a:r>
                    </a:p>
                  </a:txBody>
                  <a:tcPr marL="73152" marR="73152" marT="36576" marB="36576">
                    <a:solidFill>
                      <a:srgbClr val="FFFFFF"/>
                    </a:solidFill>
                  </a:tcPr>
                </a:tc>
              </a:tr>
            </a:tbl>
          </a:graphicData>
        </a:graphic>
      </p:graphicFrame>
      <p:sp>
        <p:nvSpPr>
          <p:cNvPr id="10" name="TextBox 9"/>
          <p:cNvSpPr txBox="1"/>
          <p:nvPr/>
        </p:nvSpPr>
        <p:spPr>
          <a:xfrm>
            <a:off x="7040880" y="4206240"/>
            <a:ext cx="4754880" cy="2103120"/>
          </a:xfrm>
          <a:prstGeom prst="rect">
            <a:avLst/>
          </a:prstGeom>
          <a:noFill/>
        </p:spPr>
        <p:txBody>
          <a:bodyPr wrap="square" lIns="45720" rIns="45720" tIns="27432" bIns="27432">
            <a:spAutoFit/>
          </a:bodyPr>
          <a:lstStyle/>
          <a:p>
            <a:pPr marL="256032" indent="-256032">
              <a:spcAft>
                <a:spcPts val="600"/>
              </a:spcAft>
              <a:buChar char="•"/>
            </a:pPr>
            <a:r>
              <a:rPr sz="1800" b="1" i="0"/>
              <a:t>Coverage is still 100 percent: </a:t>
            </a:r>
            <a:r>
              <a:rPr sz="1800" b="0" i="0"/>
              <a:t>coverage says which code ran, not whether it was right</a:t>
            </a:r>
          </a:p>
        </p:txBody>
      </p:sp>
      <p:sp>
        <p:nvSpPr>
          <p:cNvPr id="11" name="Rectangle 10"/>
          <p:cNvSpPr/>
          <p:nvPr/>
        </p:nvSpPr>
        <p:spPr>
          <a:xfrm>
            <a:off x="777240" y="5120640"/>
            <a:ext cx="6035040" cy="68580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Only CONF turned red; the verifier that caught it is the test suite. SQ, VAL, and TR are untouched.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A failed check is a fact about the pair</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46</a:t>
            </a:r>
          </a:p>
        </p:txBody>
      </p:sp>
      <p:sp>
        <p:nvSpPr>
          <p:cNvPr id="5" name="TextBox 4"/>
          <p:cNvSpPr txBox="1"/>
          <p:nvPr/>
        </p:nvSpPr>
        <p:spPr>
          <a:xfrm>
            <a:off x="777240" y="1325880"/>
            <a:ext cx="11018520" cy="3108960"/>
          </a:xfrm>
          <a:prstGeom prst="rect">
            <a:avLst/>
          </a:prstGeom>
          <a:noFill/>
        </p:spPr>
        <p:txBody>
          <a:bodyPr wrap="square" lIns="45720" rIns="45720" tIns="27432" bIns="27432">
            <a:spAutoFit/>
          </a:bodyPr>
          <a:lstStyle/>
          <a:p>
            <a:pPr marL="256032" indent="-256032">
              <a:spcAft>
                <a:spcPts val="1000"/>
              </a:spcAft>
              <a:buChar char="•"/>
            </a:pPr>
            <a:r>
              <a:rPr sz="1800" b="0" i="0"/>
              <a:t>The specification and the realization do not agree; the check does not say which side is wrong</a:t>
            </a:r>
          </a:p>
          <a:p>
            <a:pPr marL="256032" indent="-256032">
              <a:spcAft>
                <a:spcPts val="1000"/>
              </a:spcAft>
              <a:buChar char="•"/>
            </a:pPr>
            <a:r>
              <a:rPr sz="1800" b="0" i="0"/>
              <a:t>Here the specification is right and the code moved back</a:t>
            </a:r>
          </a:p>
          <a:p>
            <a:pPr marL="256032" indent="-256032">
              <a:spcAft>
                <a:spcPts val="1000"/>
              </a:spcAft>
              <a:buChar char="•"/>
            </a:pPr>
            <a:r>
              <a:rPr sz="1800" b="0" i="0"/>
              <a:t>In other cases the realization is what the stakeholders want and the specification is amended</a:t>
            </a:r>
          </a:p>
        </p:txBody>
      </p:sp>
      <p:sp>
        <p:nvSpPr>
          <p:cNvPr id="6" name="Rectangle 5"/>
          <p:cNvSpPr/>
          <p:nvPr/>
        </p:nvSpPr>
        <p:spPr>
          <a:xfrm>
            <a:off x="777240" y="457200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Which side moves is an engineering decision, made by a person and recorded: in A0, the dev log. Amendments and change requests arrive in version A3.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The development rules: eight, by judgment</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47</a:t>
            </a:r>
          </a:p>
        </p:txBody>
      </p:sp>
      <p:sp>
        <p:nvSpPr>
          <p:cNvPr id="5" name="TextBox 4"/>
          <p:cNvSpPr txBox="1"/>
          <p:nvPr/>
        </p:nvSpPr>
        <p:spPr>
          <a:xfrm>
            <a:off x="777240" y="1325880"/>
            <a:ext cx="5486400" cy="4937760"/>
          </a:xfrm>
          <a:prstGeom prst="rect">
            <a:avLst/>
          </a:prstGeom>
          <a:noFill/>
        </p:spPr>
        <p:txBody>
          <a:bodyPr wrap="square" lIns="45720" rIns="45720" tIns="27432" bIns="27432">
            <a:spAutoFit/>
          </a:bodyPr>
          <a:lstStyle/>
          <a:p>
            <a:pPr marL="256032" indent="-256032">
              <a:spcAft>
                <a:spcPts val="800"/>
              </a:spcAft>
              <a:buChar char="•"/>
            </a:pPr>
            <a:r>
              <a:rPr sz="1800" b="1" i="0"/>
              <a:t>SQ-1</a:t>
            </a:r>
            <a:r>
              <a:rPr sz="1800" b="0" i="0"/>
              <a:t>  well-formed and consistent</a:t>
            </a:r>
          </a:p>
          <a:p>
            <a:pPr marL="256032" indent="-256032">
              <a:spcAft>
                <a:spcPts val="800"/>
              </a:spcAft>
              <a:buChar char="•"/>
            </a:pPr>
            <a:r>
              <a:rPr sz="1800" b="1" i="0"/>
              <a:t>RQ-1</a:t>
            </a:r>
            <a:r>
              <a:rPr sz="1800" b="0" i="0"/>
              <a:t>  lints and collects</a:t>
            </a:r>
          </a:p>
          <a:p>
            <a:pPr marL="256032" indent="-256032">
              <a:spcAft>
                <a:spcPts val="800"/>
              </a:spcAft>
              <a:buChar char="•"/>
            </a:pPr>
            <a:r>
              <a:rPr sz="1800" b="1" i="0"/>
              <a:t>CONF-1</a:t>
            </a:r>
            <a:r>
              <a:rPr sz="1800" b="0" i="0"/>
              <a:t>  every mechanical clause has passing evidence; the code is exercised</a:t>
            </a:r>
          </a:p>
          <a:p>
            <a:pPr marL="256032" indent="-256032">
              <a:spcAft>
                <a:spcPts val="800"/>
              </a:spcAft>
              <a:buChar char="•"/>
            </a:pPr>
            <a:r>
              <a:rPr sz="1800" b="1" i="0"/>
              <a:t>CONF-2</a:t>
            </a:r>
            <a:r>
              <a:rPr sz="1800" b="0" i="0"/>
              <a:t>  every judgment clause has a walkthrough record</a:t>
            </a:r>
          </a:p>
        </p:txBody>
      </p:sp>
      <p:sp>
        <p:nvSpPr>
          <p:cNvPr id="6" name="TextBox 5"/>
          <p:cNvSpPr txBox="1"/>
          <p:nvPr/>
        </p:nvSpPr>
        <p:spPr>
          <a:xfrm>
            <a:off x="6492240" y="1325880"/>
            <a:ext cx="5303520" cy="4937760"/>
          </a:xfrm>
          <a:prstGeom prst="rect">
            <a:avLst/>
          </a:prstGeom>
          <a:noFill/>
        </p:spPr>
        <p:txBody>
          <a:bodyPr wrap="square" lIns="45720" rIns="45720" tIns="27432" bIns="27432">
            <a:spAutoFit/>
          </a:bodyPr>
          <a:lstStyle/>
          <a:p>
            <a:pPr marL="256032" indent="-256032">
              <a:spcAft>
                <a:spcPts val="800"/>
              </a:spcAft>
              <a:buChar char="•"/>
            </a:pPr>
            <a:r>
              <a:rPr sz="1800" b="1" i="0"/>
              <a:t>VAL-1</a:t>
            </a:r>
            <a:r>
              <a:rPr sz="1800" b="0" i="0"/>
              <a:t>  the concept of operations carries a sign-off</a:t>
            </a:r>
          </a:p>
          <a:p>
            <a:pPr marL="256032" indent="-256032">
              <a:spcAft>
                <a:spcPts val="800"/>
              </a:spcAft>
              <a:buChar char="•"/>
            </a:pPr>
            <a:r>
              <a:rPr sz="1800" b="1" i="0"/>
              <a:t>TR-1</a:t>
            </a:r>
            <a:r>
              <a:rPr sz="1800" b="0" i="0"/>
              <a:t>  every reference resolves</a:t>
            </a:r>
          </a:p>
          <a:p>
            <a:pPr marL="256032" indent="-256032">
              <a:spcAft>
                <a:spcPts val="800"/>
              </a:spcAft>
              <a:buChar char="•"/>
            </a:pPr>
            <a:r>
              <a:rPr sz="1800" b="1" i="0"/>
              <a:t>WF-1</a:t>
            </a:r>
            <a:r>
              <a:rPr sz="1800" b="0" i="0"/>
              <a:t>  the gate stands before every commit</a:t>
            </a:r>
          </a:p>
          <a:p>
            <a:pPr marL="256032" indent="-256032">
              <a:spcAft>
                <a:spcPts val="800"/>
              </a:spcAft>
              <a:buChar char="•"/>
            </a:pPr>
            <a:r>
              <a:rPr sz="1800" b="1" i="0"/>
              <a:t>RPT-1</a:t>
            </a:r>
            <a:r>
              <a:rPr sz="1800" b="0" i="0"/>
              <a:t>  the dev log and the ledger are kept</a:t>
            </a:r>
          </a:p>
        </p:txBody>
      </p:sp>
      <p:sp>
        <p:nvSpPr>
          <p:cNvPr id="7" name="Rectangle 6"/>
          <p:cNvSpPr/>
          <p:nvPr/>
        </p:nvSpPr>
        <p:spPr>
          <a:xfrm>
            <a:off x="777240" y="502920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Two styles in A0: an obligation (every X MUST have property P) and a gate (WHEN step S would complete, condition C MUST hold).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One rule in the template form</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48</a:t>
            </a:r>
          </a:p>
        </p:txBody>
      </p:sp>
      <p:graphicFrame>
        <p:nvGraphicFramePr>
          <p:cNvPr id="5" name="Table 4"/>
          <p:cNvGraphicFramePr>
            <a:graphicFrameLocks noGrp="1"/>
          </p:cNvGraphicFramePr>
          <p:nvPr/>
        </p:nvGraphicFramePr>
        <p:xfrm>
          <a:off x="777240" y="1325880"/>
          <a:ext cx="11018520" cy="3657600"/>
        </p:xfrm>
        <a:graphic>
          <a:graphicData uri="http://schemas.openxmlformats.org/drawingml/2006/table">
            <a:tbl>
              <a:tblPr firstRow="1" bandRow="1">
                <a:tableStyleId>{5C22544A-7EE6-4342-B048-85BDC9FD1C3A}</a:tableStyleId>
              </a:tblPr>
              <a:tblGrid>
                <a:gridCol w="2377440"/>
                <a:gridCol w="8641080"/>
              </a:tblGrid>
              <a:tr h="457200">
                <a:tc>
                  <a:txBody>
                    <a:bodyPr wrap="square"/>
                    <a:lstStyle/>
                    <a:p>
                      <a:pPr>
                        <a:spcAft>
                          <a:spcPts val="0"/>
                        </a:spcAft>
                      </a:pPr>
                      <a:r>
                        <a:rPr sz="1600" b="1" i="0">
                          <a:solidFill>
                            <a:srgbClr val="FFFFFF"/>
                          </a:solidFill>
                        </a:rPr>
                        <a:t>CONF-1</a:t>
                      </a:r>
                    </a:p>
                  </a:txBody>
                  <a:tcPr marL="73152" marR="73152" marT="36576" marB="36576">
                    <a:solidFill>
                      <a:srgbClr val="990099"/>
                    </a:solidFill>
                  </a:tcPr>
                </a:tc>
                <a:tc>
                  <a:txBody>
                    <a:bodyPr wrap="square"/>
                    <a:lstStyle/>
                    <a:p>
                      <a:pPr>
                        <a:spcAft>
                          <a:spcPts val="0"/>
                        </a:spcAft>
                      </a:pPr>
                      <a:r>
                        <a:rPr sz="1600" b="1" i="0">
                          <a:solidFill>
                            <a:srgbClr val="FFFFFF"/>
                          </a:solidFill>
                        </a:rPr>
                        <a:t>Every mechanical clause has passing evidence, and the code is exercised</a:t>
                      </a:r>
                    </a:p>
                  </a:txBody>
                  <a:tcPr marL="73152" marR="73152" marT="36576" marB="36576">
                    <a:solidFill>
                      <a:srgbClr val="990099"/>
                    </a:solidFill>
                  </a:tcPr>
                </a:tc>
              </a:tr>
              <a:tr h="457200">
                <a:tc>
                  <a:txBody>
                    <a:bodyPr wrap="square"/>
                    <a:lstStyle/>
                    <a:p>
                      <a:pPr>
                        <a:spcAft>
                          <a:spcPts val="0"/>
                        </a:spcAft>
                      </a:pPr>
                      <a:r>
                        <a:rPr sz="1600" b="0" i="0">
                          <a:solidFill>
                            <a:srgbClr val="000000"/>
                          </a:solidFill>
                        </a:rPr>
                        <a:t>Style · Maintains</a:t>
                      </a:r>
                    </a:p>
                  </a:txBody>
                  <a:tcPr marL="73152" marR="73152" marT="36576" marB="36576">
                    <a:solidFill>
                      <a:srgbClr val="FFFFFF"/>
                    </a:solidFill>
                  </a:tcPr>
                </a:tc>
                <a:tc>
                  <a:txBody>
                    <a:bodyPr wrap="square"/>
                    <a:lstStyle/>
                    <a:p>
                      <a:pPr>
                        <a:spcAft>
                          <a:spcPts val="0"/>
                        </a:spcAft>
                      </a:pPr>
                      <a:r>
                        <a:rPr sz="1600" b="0" i="0">
                          <a:solidFill>
                            <a:srgbClr val="000000"/>
                          </a:solidFill>
                        </a:rPr>
                        <a:t>obligation · CONF</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When</a:t>
                      </a:r>
                    </a:p>
                  </a:txBody>
                  <a:tcPr marL="73152" marR="73152" marT="36576" marB="36576">
                    <a:solidFill>
                      <a:srgbClr val="F3F0F9"/>
                    </a:solidFill>
                  </a:tcPr>
                </a:tc>
                <a:tc>
                  <a:txBody>
                    <a:bodyPr wrap="square"/>
                    <a:lstStyle/>
                    <a:p>
                      <a:pPr>
                        <a:spcAft>
                          <a:spcPts val="0"/>
                        </a:spcAft>
                      </a:pPr>
                      <a:r>
                        <a:rPr sz="1600" b="0" i="0">
                          <a:solidFill>
                            <a:srgbClr val="000000"/>
                          </a:solidFill>
                        </a:rPr>
                        <a:t>at every commit; every clause whose method is test</a:t>
                      </a:r>
                    </a:p>
                  </a:txBody>
                  <a:tcPr marL="73152" marR="73152" marT="36576" marB="36576">
                    <a:solidFill>
                      <a:srgbClr val="F3F0F9"/>
                    </a:solidFill>
                  </a:tcPr>
                </a:tc>
              </a:tr>
              <a:tr h="457200">
                <a:tc>
                  <a:txBody>
                    <a:bodyPr wrap="square"/>
                    <a:lstStyle/>
                    <a:p>
                      <a:pPr>
                        <a:spcAft>
                          <a:spcPts val="0"/>
                        </a:spcAft>
                      </a:pPr>
                      <a:r>
                        <a:rPr sz="1600" b="0" i="0">
                          <a:solidFill>
                            <a:srgbClr val="000000"/>
                          </a:solidFill>
                        </a:rPr>
                        <a:t>Statement</a:t>
                      </a:r>
                    </a:p>
                  </a:txBody>
                  <a:tcPr marL="73152" marR="73152" marT="36576" marB="36576">
                    <a:solidFill>
                      <a:srgbClr val="FFFFFF"/>
                    </a:solidFill>
                  </a:tcPr>
                </a:tc>
                <a:tc>
                  <a:txBody>
                    <a:bodyPr wrap="square"/>
                    <a:lstStyle/>
                    <a:p>
                      <a:pPr>
                        <a:spcAft>
                          <a:spcPts val="0"/>
                        </a:spcAft>
                      </a:pPr>
                      <a:r>
                        <a:rPr sz="1600" b="0" i="0">
                          <a:solidFill>
                            <a:srgbClr val="000000"/>
                          </a:solidFill>
                        </a:rPr>
                        <a:t>Every test clause MUST be cited by at least one test; every citing test MUST pass; the suite MUST reach 100 percent branch coverage</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Decided by</a:t>
                      </a:r>
                    </a:p>
                  </a:txBody>
                  <a:tcPr marL="73152" marR="73152" marT="36576" marB="36576">
                    <a:solidFill>
                      <a:srgbClr val="F3F0F9"/>
                    </a:solidFill>
                  </a:tcPr>
                </a:tc>
                <a:tc>
                  <a:txBody>
                    <a:bodyPr wrap="square"/>
                    <a:lstStyle/>
                    <a:p>
                      <a:pPr>
                        <a:spcAft>
                          <a:spcPts val="0"/>
                        </a:spcAft>
                      </a:pPr>
                      <a:r>
                        <a:rPr sz="1600" b="0" i="0">
                          <a:solidFill>
                            <a:srgbClr val="000000"/>
                          </a:solidFill>
                        </a:rPr>
                        <a:t>analysis: uv run pytest; the plugin and pytest-cov fail the run</a:t>
                      </a:r>
                    </a:p>
                  </a:txBody>
                  <a:tcPr marL="73152" marR="73152" marT="36576" marB="36576">
                    <a:solidFill>
                      <a:srgbClr val="F3F0F9"/>
                    </a:solidFill>
                  </a:tcPr>
                </a:tc>
              </a:tr>
              <a:tr h="457200">
                <a:tc>
                  <a:txBody>
                    <a:bodyPr wrap="square"/>
                    <a:lstStyle/>
                    <a:p>
                      <a:pPr>
                        <a:spcAft>
                          <a:spcPts val="0"/>
                        </a:spcAft>
                      </a:pPr>
                      <a:r>
                        <a:rPr sz="1600" b="0" i="0">
                          <a:solidFill>
                            <a:srgbClr val="000000"/>
                          </a:solidFill>
                        </a:rPr>
                        <a:t>Evidence</a:t>
                      </a:r>
                    </a:p>
                  </a:txBody>
                  <a:tcPr marL="73152" marR="73152" marT="36576" marB="36576">
                    <a:solidFill>
                      <a:srgbClr val="FFFFFF"/>
                    </a:solidFill>
                  </a:tcPr>
                </a:tc>
                <a:tc>
                  <a:txBody>
                    <a:bodyPr wrap="square"/>
                    <a:lstStyle/>
                    <a:p>
                      <a:pPr>
                        <a:spcAft>
                          <a:spcPts val="0"/>
                        </a:spcAft>
                      </a:pPr>
                      <a:r>
                        <a:rPr sz="1600" b="0" i="0">
                          <a:solidFill>
                            <a:srgbClr val="000000"/>
                          </a:solidFill>
                        </a:rPr>
                        <a:t>reports/conformance.md; the coverage table</a:t>
                      </a:r>
                    </a:p>
                  </a:txBody>
                  <a:tcPr marL="73152" marR="73152" marT="36576" marB="36576">
                    <a:solidFill>
                      <a:srgbClr val="FFFFFF"/>
                    </a:solidFill>
                  </a:tcPr>
                </a:tc>
              </a:tr>
              <a:tr h="457200">
                <a:tc>
                  <a:txBody>
                    <a:bodyPr wrap="square"/>
                    <a:lstStyle/>
                    <a:p>
                      <a:pPr>
                        <a:spcAft>
                          <a:spcPts val="0"/>
                        </a:spcAft>
                      </a:pPr>
                      <a:r>
                        <a:rPr sz="1600" b="0" i="0">
                          <a:solidFill>
                            <a:srgbClr val="000000"/>
                          </a:solidFill>
                        </a:rPr>
                        <a:t>On failure</a:t>
                      </a:r>
                    </a:p>
                  </a:txBody>
                  <a:tcPr marL="73152" marR="73152" marT="36576" marB="36576">
                    <a:solidFill>
                      <a:srgbClr val="F3F0F9"/>
                    </a:solidFill>
                  </a:tcPr>
                </a:tc>
                <a:tc>
                  <a:txBody>
                    <a:bodyPr wrap="square"/>
                    <a:lstStyle/>
                    <a:p>
                      <a:pPr>
                        <a:spcAft>
                          <a:spcPts val="0"/>
                        </a:spcAft>
                      </a:pPr>
                      <a:r>
                        <a:rPr sz="1600" b="0" i="0">
                          <a:solidFill>
                            <a:srgbClr val="000000"/>
                          </a:solidFill>
                        </a:rPr>
                        <a:t>a test or the code is fixed; a clause is never weakened to pass</a:t>
                      </a:r>
                    </a:p>
                  </a:txBody>
                  <a:tcPr marL="73152" marR="73152" marT="36576" marB="36576">
                    <a:solidFill>
                      <a:srgbClr val="F3F0F9"/>
                    </a:solidFill>
                  </a:tcPr>
                </a:tc>
              </a:tr>
              <a:tr h="457200">
                <a:tc>
                  <a:txBody>
                    <a:bodyPr wrap="square"/>
                    <a:lstStyle/>
                    <a:p>
                      <a:pPr>
                        <a:spcAft>
                          <a:spcPts val="0"/>
                        </a:spcAft>
                      </a:pPr>
                      <a:r>
                        <a:rPr sz="1600" b="0" i="0">
                          <a:solidFill>
                            <a:srgbClr val="000000"/>
                          </a:solidFill>
                        </a:rPr>
                        <a:t>Example</a:t>
                      </a:r>
                    </a:p>
                  </a:txBody>
                  <a:tcPr marL="73152" marR="73152" marT="36576" marB="36576">
                    <a:solidFill>
                      <a:srgbClr val="FFFFFF"/>
                    </a:solidFill>
                  </a:tcPr>
                </a:tc>
                <a:tc>
                  <a:txBody>
                    <a:bodyPr wrap="square"/>
                    <a:lstStyle/>
                    <a:p>
                      <a:pPr>
                        <a:spcAft>
                          <a:spcPts val="0"/>
                        </a:spcAft>
                      </a:pPr>
                      <a:r>
                        <a:rPr sz="1600" b="0" i="0">
                          <a:solidFill>
                            <a:srgbClr val="000000"/>
                          </a:solidFill>
                        </a:rPr>
                        <a:t>REQ-1 is cited by test_critical_is_dropped</a:t>
                      </a:r>
                    </a:p>
                  </a:txBody>
                  <a:tcPr marL="73152" marR="73152" marT="36576" marB="36576">
                    <a:solidFill>
                      <a:srgbClr val="FFFFFF"/>
                    </a:solidFill>
                  </a:tcPr>
                </a:tc>
              </a:tr>
            </a:tbl>
          </a:graphicData>
        </a:graphic>
      </p:graphicFrame>
      <p:sp>
        <p:nvSpPr>
          <p:cNvPr id="6" name="Rectangle 5"/>
          <p:cNvSpPr/>
          <p:nvPr/>
        </p:nvSpPr>
        <p:spPr>
          <a:xfrm>
            <a:off x="777240" y="5394960"/>
            <a:ext cx="11018520" cy="77724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Decided by names the verifier, so the rule can be checked. On failure says what happens, so a red result has a next step.</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Why the rules are a file</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49</a:t>
            </a:r>
          </a:p>
        </p:txBody>
      </p:sp>
      <p:sp>
        <p:nvSpPr>
          <p:cNvPr id="5" name="TextBox 4"/>
          <p:cNvSpPr txBox="1"/>
          <p:nvPr/>
        </p:nvSpPr>
        <p:spPr>
          <a:xfrm>
            <a:off x="777240" y="1325880"/>
            <a:ext cx="11018520" cy="3840480"/>
          </a:xfrm>
          <a:prstGeom prst="rect">
            <a:avLst/>
          </a:prstGeom>
          <a:noFill/>
        </p:spPr>
        <p:txBody>
          <a:bodyPr wrap="square" lIns="45720" rIns="45720" tIns="27432" bIns="27432">
            <a:spAutoFit/>
          </a:bodyPr>
          <a:lstStyle/>
          <a:p>
            <a:pPr marL="256032" indent="-256032">
              <a:spcAft>
                <a:spcPts val="1000"/>
              </a:spcAft>
              <a:buChar char="•"/>
            </a:pPr>
            <a:r>
              <a:rPr sz="1800" b="0" i="0"/>
              <a:t>An agent started in this directory is told, by CLAUDE.md, to read process/rules.md; from then on the person and the agent follow the same written process</a:t>
            </a:r>
          </a:p>
          <a:p>
            <a:pPr marL="256032" indent="-256032">
              <a:spcAft>
                <a:spcPts val="1000"/>
              </a:spcAft>
              <a:buChar char="•"/>
            </a:pPr>
            <a:r>
              <a:rPr sz="1800" b="0" i="0"/>
              <a:t>It cites a clause in each test because CONF-1 says so; it records the gate result because RPT-1 says so</a:t>
            </a:r>
          </a:p>
          <a:p>
            <a:pPr marL="256032" indent="-256032">
              <a:spcAft>
                <a:spcPts val="1000"/>
              </a:spcAft>
              <a:buChar char="•"/>
            </a:pPr>
            <a:r>
              <a:rPr sz="1800" b="0" i="0"/>
              <a:t>A habit cannot be followed by an agent; a prompt cannot be audited by a person; a file can be both</a:t>
            </a:r>
          </a:p>
        </p:txBody>
      </p:sp>
      <p:sp>
        <p:nvSpPr>
          <p:cNvPr id="6" name="Rectangle 5"/>
          <p:cNvSpPr/>
          <p:nvPr/>
        </p:nvSpPr>
        <p:spPr>
          <a:xfrm>
            <a:off x="777240" y="5394960"/>
            <a:ext cx="11018520" cy="6400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reports/dev-log.md records what each task did; the ledger records where things stand.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Where the effort goes</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50</a:t>
            </a:r>
          </a:p>
        </p:txBody>
      </p:sp>
      <p:sp>
        <p:nvSpPr>
          <p:cNvPr id="5" name="Rectangle 4"/>
          <p:cNvSpPr/>
          <p:nvPr/>
        </p:nvSpPr>
        <p:spPr>
          <a:xfrm>
            <a:off x="777240" y="1325880"/>
            <a:ext cx="5303520" cy="1828800"/>
          </a:xfrm>
          <a:prstGeom prst="rect">
            <a:avLst/>
          </a:prstGeom>
          <a:solidFill>
            <a:srgbClr val="F3F0F9"/>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4400" b="1" i="0">
                <a:solidFill>
                  <a:srgbClr val="6E1EC6"/>
                </a:solidFill>
              </a:rPr>
              <a:t>&lt; 30</a:t>
            </a:r>
          </a:p>
          <a:p>
            <a:pPr algn="ctr">
              <a:spcAft>
                <a:spcPts val="200"/>
              </a:spcAft>
            </a:pPr>
            <a:r>
              <a:rPr sz="1800" b="0" i="0">
                <a:solidFill>
                  <a:srgbClr val="000000"/>
                </a:solidFill>
              </a:rPr>
              <a:t>lines of code in guard/</a:t>
            </a:r>
          </a:p>
        </p:txBody>
      </p:sp>
      <p:sp>
        <p:nvSpPr>
          <p:cNvPr id="6" name="Rectangle 5"/>
          <p:cNvSpPr/>
          <p:nvPr/>
        </p:nvSpPr>
        <p:spPr>
          <a:xfrm>
            <a:off x="6492240" y="1325880"/>
            <a:ext cx="5303520" cy="1828800"/>
          </a:xfrm>
          <a:prstGeom prst="rect">
            <a:avLst/>
          </a:prstGeom>
          <a:solidFill>
            <a:srgbClr val="F3F0F9"/>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4400" b="1" i="0">
                <a:solidFill>
                  <a:srgbClr val="6E1EC6"/>
                </a:solidFill>
              </a:rPr>
              <a:t>&gt; 300</a:t>
            </a:r>
          </a:p>
          <a:p>
            <a:pPr algn="ctr">
              <a:spcAft>
                <a:spcPts val="200"/>
              </a:spcAft>
            </a:pPr>
            <a:r>
              <a:rPr sz="1800" b="0" i="0">
                <a:solidFill>
                  <a:srgbClr val="000000"/>
                </a:solidFill>
              </a:rPr>
              <a:t>lines of specifications, rules, and reports</a:t>
            </a:r>
          </a:p>
        </p:txBody>
      </p:sp>
      <p:sp>
        <p:nvSpPr>
          <p:cNvPr id="7" name="TextBox 6"/>
          <p:cNvSpPr txBox="1"/>
          <p:nvPr/>
        </p:nvSpPr>
        <p:spPr>
          <a:xfrm>
            <a:off x="777240" y="3383280"/>
            <a:ext cx="11018520" cy="1463040"/>
          </a:xfrm>
          <a:prstGeom prst="rect">
            <a:avLst/>
          </a:prstGeom>
          <a:noFill/>
        </p:spPr>
        <p:txBody>
          <a:bodyPr wrap="square" lIns="45720" rIns="45720">
            <a:spAutoFit/>
          </a:bodyPr>
          <a:lstStyle/>
          <a:p>
            <a:pPr>
              <a:spcAft>
                <a:spcPts val="400"/>
              </a:spcAft>
            </a:pPr>
            <a:r>
              <a:rPr sz="1800" b="0" i="0"/>
              <a:t>Not a property of the small example. When an agent writes the code, the person's effort goes into saying what is wanted, deciding how it will be checked, and reading the evidence.</a:t>
            </a:r>
          </a:p>
        </p:txBody>
      </p:sp>
      <p:sp>
        <p:nvSpPr>
          <p:cNvPr id="8" name="Rectangle 7"/>
          <p:cNvSpPr/>
          <p:nvPr/>
        </p:nvSpPr>
        <p:spPr>
          <a:xfrm>
            <a:off x="777240" y="4892040"/>
            <a:ext cx="11018520" cy="1371600"/>
          </a:xfrm>
          <a:prstGeom prst="rect">
            <a:avLst/>
          </a:prstGeom>
          <a:solidFill>
            <a:srgbClr val="FFCF01"/>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400"/>
              </a:spcAft>
            </a:pPr>
            <a:r>
              <a:rPr sz="1600" b="1" i="0">
                <a:solidFill>
                  <a:srgbClr val="000000"/>
                </a:solidFill>
              </a:rPr>
              <a:t>In class, optional</a:t>
            </a:r>
          </a:p>
          <a:p>
            <a:pPr algn="l">
              <a:spcAft>
                <a:spcPts val="400"/>
              </a:spcAft>
            </a:pPr>
            <a:r>
              <a:rPr sz="1600" b="0" i="0">
                <a:solidFill>
                  <a:srgbClr val="000000"/>
                </a:solidFill>
              </a:rPr>
              <a:t>Ask an agent in v0/ what the system does and how it is known that the code does it. Watch where it looks: the specifications and the ledger, or the code.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What is not here yet: version A1</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51</a:t>
            </a:r>
          </a:p>
        </p:txBody>
      </p:sp>
      <p:sp>
        <p:nvSpPr>
          <p:cNvPr id="5" name="TextBox 4"/>
          <p:cNvSpPr txBox="1"/>
          <p:nvPr/>
        </p:nvSpPr>
        <p:spPr>
          <a:xfrm>
            <a:off x="777240" y="1325880"/>
            <a:ext cx="11018520" cy="4937760"/>
          </a:xfrm>
          <a:prstGeom prst="rect">
            <a:avLst/>
          </a:prstGeom>
          <a:noFill/>
        </p:spPr>
        <p:txBody>
          <a:bodyPr wrap="square" lIns="45720" rIns="45720" tIns="27432" bIns="27432">
            <a:spAutoFit/>
          </a:bodyPr>
          <a:lstStyle/>
          <a:p>
            <a:pPr marL="256032" indent="-256032">
              <a:spcAft>
                <a:spcPts val="1000"/>
              </a:spcAft>
              <a:buChar char="•"/>
            </a:pPr>
            <a:r>
              <a:rPr sz="1800" b="0" i="0"/>
              <a:t>Elicitation: how the purpose statement and the stories are obtained from stakeholders</a:t>
            </a:r>
          </a:p>
          <a:p>
            <a:pPr marL="256032" indent="-256032">
              <a:spcAft>
                <a:spcPts val="1000"/>
              </a:spcAft>
              <a:buChar char="•"/>
            </a:pPr>
            <a:r>
              <a:rPr sz="1800" b="0" i="0"/>
              <a:t>A glossary of the domain's terms; requirements in a structured form (EARS)</a:t>
            </a:r>
          </a:p>
          <a:p>
            <a:pPr marL="256032" indent="-256032">
              <a:spcAft>
                <a:spcPts val="1000"/>
              </a:spcAft>
              <a:buChar char="•"/>
            </a:pPr>
            <a:r>
              <a:rPr sz="1800" b="0" i="0"/>
              <a:t>Fixtures derived from the stories, so a story can be checked by a test as well as walked</a:t>
            </a:r>
          </a:p>
          <a:p>
            <a:pPr marL="256032" indent="-256032">
              <a:spcAft>
                <a:spcPts val="1000"/>
              </a:spcAft>
              <a:buChar char="•"/>
            </a:pPr>
            <a:r>
              <a:rPr sz="1800" b="0" i="0"/>
              <a:t>The audit replaces the reading: a procedure on gaps placed on purpose, by a person, then an agent, then a skill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What is not here yet: later versions</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52</a:t>
            </a:r>
          </a:p>
        </p:txBody>
      </p:sp>
      <p:sp>
        <p:nvSpPr>
          <p:cNvPr id="5" name="TextBox 4"/>
          <p:cNvSpPr txBox="1"/>
          <p:nvPr/>
        </p:nvSpPr>
        <p:spPr>
          <a:xfrm>
            <a:off x="777240" y="1325880"/>
            <a:ext cx="11018520" cy="4937760"/>
          </a:xfrm>
          <a:prstGeom prst="rect">
            <a:avLst/>
          </a:prstGeom>
          <a:noFill/>
        </p:spPr>
        <p:txBody>
          <a:bodyPr wrap="square" lIns="45720" rIns="45720" tIns="27432" bIns="27432">
            <a:spAutoFit/>
          </a:bodyPr>
          <a:lstStyle/>
          <a:p>
            <a:pPr marL="256032" indent="-256032">
              <a:spcAft>
                <a:spcPts val="1000"/>
              </a:spcAft>
              <a:buChar char="•"/>
            </a:pPr>
            <a:r>
              <a:rPr sz="1800" b="1" i="0"/>
              <a:t>A2: </a:t>
            </a:r>
            <a:r>
              <a:rPr sz="1800" b="0" i="0"/>
              <a:t>the second stage, sanitize; architecture, the message format, contracts; a build plan with tasks and waves; analysis and review as methods; a generated ledger</a:t>
            </a:r>
          </a:p>
          <a:p>
            <a:pPr marL="256032" indent="-256032">
              <a:spcAft>
                <a:spcPts val="1000"/>
              </a:spcAft>
              <a:buChar char="•"/>
            </a:pPr>
            <a:r>
              <a:rPr sz="1800" b="1" i="0"/>
              <a:t>A3: </a:t>
            </a:r>
            <a:r>
              <a:rPr sz="1800" b="0" i="0"/>
              <a:t>a change of policy: change requests, staleness in action</a:t>
            </a:r>
          </a:p>
          <a:p>
            <a:pPr marL="256032" indent="-256032">
              <a:spcAft>
                <a:spcPts val="1000"/>
              </a:spcAft>
              <a:buChar char="•"/>
            </a:pPr>
            <a:r>
              <a:rPr sz="1800" b="1" i="0"/>
              <a:t>A4, A5: </a:t>
            </a:r>
            <a:r>
              <a:rPr sz="1800" b="0" i="0"/>
              <a:t>sessions with a protocol (state machine, sequence chart, verification plan); a standard message format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Applying this: what carries over directly</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53</a:t>
            </a:r>
          </a:p>
        </p:txBody>
      </p:sp>
      <p:sp>
        <p:nvSpPr>
          <p:cNvPr id="5" name="TextBox 4"/>
          <p:cNvSpPr txBox="1"/>
          <p:nvPr/>
        </p:nvSpPr>
        <p:spPr>
          <a:xfrm>
            <a:off x="777240" y="1325880"/>
            <a:ext cx="5486400" cy="4937760"/>
          </a:xfrm>
          <a:prstGeom prst="rect">
            <a:avLst/>
          </a:prstGeom>
          <a:noFill/>
        </p:spPr>
        <p:txBody>
          <a:bodyPr wrap="square" lIns="45720" rIns="45720" tIns="27432" bIns="27432">
            <a:spAutoFit/>
          </a:bodyPr>
          <a:lstStyle/>
          <a:p>
            <a:pPr marL="256032" indent="-256032">
              <a:spcAft>
                <a:spcPts val="800"/>
              </a:spcAft>
              <a:buChar char="•"/>
            </a:pPr>
            <a:r>
              <a:rPr sz="1800" b="1" i="0"/>
              <a:t>The judgments. </a:t>
            </a:r>
            <a:r>
              <a:rPr sz="1800" b="0" i="0"/>
              <a:t>Start a ledger on day one, by hand</a:t>
            </a:r>
          </a:p>
          <a:p>
            <a:pPr marL="256032" indent="-256032">
              <a:spcAft>
                <a:spcPts val="800"/>
              </a:spcAft>
              <a:buChar char="•"/>
            </a:pPr>
            <a:r>
              <a:rPr sz="1800" b="1" i="0"/>
              <a:t>A concept of operations </a:t>
            </a:r>
            <a:r>
              <a:rPr sz="1800" b="0" i="0"/>
              <a:t>with the four elements, agreed before code</a:t>
            </a:r>
          </a:p>
          <a:p>
            <a:pPr marL="256032" indent="-256032">
              <a:spcAft>
                <a:spcPts val="800"/>
              </a:spcAft>
              <a:buChar char="•"/>
            </a:pPr>
            <a:r>
              <a:rPr sz="1800" b="1" i="0"/>
              <a:t>Requirements </a:t>
            </a:r>
            <a:r>
              <a:rPr sz="1800" b="0" i="0"/>
              <a:t>whose clauses carry an identifier, a method, and a derivation</a:t>
            </a:r>
          </a:p>
          <a:p>
            <a:pPr marL="256032" indent="-256032">
              <a:spcAft>
                <a:spcPts val="800"/>
              </a:spcAft>
              <a:buChar char="•"/>
            </a:pPr>
            <a:r>
              <a:rPr sz="1800" b="1" i="0"/>
              <a:t>A statement of the technology </a:t>
            </a:r>
            <a:r>
              <a:rPr sz="1800" b="0" i="0"/>
              <a:t>and the gate command</a:t>
            </a:r>
          </a:p>
        </p:txBody>
      </p:sp>
      <p:sp>
        <p:nvSpPr>
          <p:cNvPr id="6" name="TextBox 5"/>
          <p:cNvSpPr txBox="1"/>
          <p:nvPr/>
        </p:nvSpPr>
        <p:spPr>
          <a:xfrm>
            <a:off x="6492240" y="1325880"/>
            <a:ext cx="5303520" cy="4937760"/>
          </a:xfrm>
          <a:prstGeom prst="rect">
            <a:avLst/>
          </a:prstGeom>
          <a:noFill/>
        </p:spPr>
        <p:txBody>
          <a:bodyPr wrap="square" lIns="45720" rIns="45720" tIns="27432" bIns="27432">
            <a:spAutoFit/>
          </a:bodyPr>
          <a:lstStyle/>
          <a:p>
            <a:pPr marL="256032" indent="-256032">
              <a:spcAft>
                <a:spcPts val="800"/>
              </a:spcAft>
              <a:buChar char="•"/>
            </a:pPr>
            <a:r>
              <a:rPr sz="1800" b="1" i="0"/>
              <a:t>Tests that cite clauses, </a:t>
            </a:r>
            <a:r>
              <a:rPr sz="1800" b="0" i="0"/>
              <a:t>and the two coverages: does the suite support a verification?</a:t>
            </a:r>
          </a:p>
          <a:p>
            <a:pPr marL="256032" indent="-256032">
              <a:spcAft>
                <a:spcPts val="800"/>
              </a:spcAft>
              <a:buChar char="•"/>
            </a:pPr>
            <a:r>
              <a:rPr sz="1800" b="1" i="0"/>
              <a:t>A rules file </a:t>
            </a:r>
            <a:r>
              <a:rPr sz="1800" b="0" i="0"/>
              <a:t>with the template fields; one gate first</a:t>
            </a:r>
          </a:p>
          <a:p>
            <a:pPr marL="256032" indent="-256032">
              <a:spcAft>
                <a:spcPts val="800"/>
              </a:spcAft>
              <a:buChar char="•"/>
            </a:pPr>
            <a:r>
              <a:rPr sz="1800" b="1" i="0"/>
              <a:t>A sign-off, </a:t>
            </a:r>
            <a:r>
              <a:rPr sz="1800" b="0" i="0"/>
              <a:t>and provenance on every claim</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Applying this: what needs adaptation</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54</a:t>
            </a:r>
          </a:p>
        </p:txBody>
      </p:sp>
      <p:sp>
        <p:nvSpPr>
          <p:cNvPr id="5" name="TextBox 4"/>
          <p:cNvSpPr txBox="1"/>
          <p:nvPr/>
        </p:nvSpPr>
        <p:spPr>
          <a:xfrm>
            <a:off x="777240" y="1325880"/>
            <a:ext cx="11018520" cy="3474720"/>
          </a:xfrm>
          <a:prstGeom prst="rect">
            <a:avLst/>
          </a:prstGeom>
          <a:noFill/>
        </p:spPr>
        <p:txBody>
          <a:bodyPr wrap="square" lIns="45720" rIns="45720" tIns="27432" bIns="27432">
            <a:spAutoFit/>
          </a:bodyPr>
          <a:lstStyle/>
          <a:p>
            <a:pPr marL="256032" indent="-256032">
              <a:spcAft>
                <a:spcPts val="800"/>
              </a:spcAft>
              <a:buChar char="•"/>
            </a:pPr>
            <a:r>
              <a:rPr sz="1800" b="1" i="0"/>
              <a:t>The forms of specification: </a:t>
            </a:r>
            <a:r>
              <a:rPr sz="1800" b="0" i="0"/>
              <a:t>architecture, data format, state machine, contracts (specification-kinds.md)</a:t>
            </a:r>
          </a:p>
          <a:p>
            <a:pPr marL="256032" indent="-256032">
              <a:spcAft>
                <a:spcPts val="800"/>
              </a:spcAft>
              <a:buChar char="•"/>
            </a:pPr>
            <a:r>
              <a:rPr sz="1800" b="1" i="0"/>
              <a:t>The verification methods: </a:t>
            </a:r>
            <a:r>
              <a:rPr sz="1800" b="0" i="0"/>
              <a:t>analysis and review, with their tools</a:t>
            </a:r>
          </a:p>
          <a:p>
            <a:pPr marL="256032" indent="-256032">
              <a:spcAft>
                <a:spcPts val="800"/>
              </a:spcAft>
              <a:buChar char="•"/>
            </a:pPr>
            <a:r>
              <a:rPr sz="1800" b="1" i="0"/>
              <a:t>The tooling: </a:t>
            </a:r>
            <a:r>
              <a:rPr sz="1800" b="0" i="0"/>
              <a:t>citation-derived coverage carries; the plugin does not</a:t>
            </a:r>
          </a:p>
          <a:p>
            <a:pPr marL="256032" indent="-256032">
              <a:spcAft>
                <a:spcPts val="800"/>
              </a:spcAft>
              <a:buChar char="•"/>
            </a:pPr>
            <a:r>
              <a:rPr sz="1800" b="1" i="0"/>
              <a:t>The thresholds, the people, the records</a:t>
            </a:r>
          </a:p>
        </p:txBody>
      </p:sp>
      <p:sp>
        <p:nvSpPr>
          <p:cNvPr id="6" name="Rectangle 5"/>
          <p:cNvSpPr/>
          <p:nvPr/>
        </p:nvSpPr>
        <p:spPr>
          <a:xfrm>
            <a:off x="777240" y="502920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800" b="0" i="0">
                <a:solidFill>
                  <a:srgbClr val="000000"/>
                </a:solidFill>
              </a:rPr>
              <a:t>The skill the next lectures build: phrasing your own criteria with a named decider, named evidence, and a stated consequence of failure.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Exercise 1</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55</a:t>
            </a:r>
          </a:p>
        </p:txBody>
      </p:sp>
      <p:sp>
        <p:nvSpPr>
          <p:cNvPr id="5" name="Rectangle 4"/>
          <p:cNvSpPr/>
          <p:nvPr/>
        </p:nvSpPr>
        <p:spPr>
          <a:xfrm>
            <a:off x="777240" y="1325880"/>
            <a:ext cx="11018520" cy="2651760"/>
          </a:xfrm>
          <a:prstGeom prst="rect">
            <a:avLst/>
          </a:prstGeom>
          <a:solidFill>
            <a:srgbClr val="FFF3B0"/>
          </a:solidFill>
          <a:ln w="9525">
            <a:solidFill>
              <a:srgbClr val="000000"/>
            </a:solidFill>
          </a:ln>
          <a:effectLst>
            <a:outerShdw blurRad="38100" dist="38100" dir="27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marL="256032" indent="-256032">
              <a:spcAft>
                <a:spcPts val="400"/>
              </a:spcAft>
              <a:buChar char="•"/>
            </a:pPr>
            <a:r>
              <a:rPr sz="1800" b="0" i="0">
                <a:solidFill>
                  <a:srgbClr val="000000"/>
                </a:solidFill>
              </a:rPr>
              <a:t>Add a requirement: a message whose payload is negative is dropped, whatever its level</a:t>
            </a:r>
          </a:p>
          <a:p>
            <a:pPr algn="l" marL="256032" indent="-256032">
              <a:spcAft>
                <a:spcPts val="400"/>
              </a:spcAft>
              <a:buChar char="•"/>
            </a:pPr>
            <a:r>
              <a:rPr sz="1800" b="0" i="0">
                <a:solidFill>
                  <a:srgbClr val="000000"/>
                </a:solidFill>
              </a:rPr>
              <a:t>Before writing code: do the five quality properties still hold with REQ-0 to REQ-3? Amend what must be amended</a:t>
            </a:r>
          </a:p>
          <a:p>
            <a:pPr algn="l" marL="256032" indent="-256032">
              <a:spcAft>
                <a:spcPts val="400"/>
              </a:spcAft>
              <a:buChar char="•"/>
            </a:pPr>
            <a:r>
              <a:rPr sz="1800" b="0" i="0">
                <a:solidFill>
                  <a:srgbClr val="000000"/>
                </a:solidFill>
              </a:rPr>
              <a:t>Record which ledger rows the amendment makes stale, and why</a:t>
            </a:r>
          </a:p>
          <a:p>
            <a:pPr algn="l" marL="256032" indent="-256032">
              <a:spcAft>
                <a:spcPts val="400"/>
              </a:spcAft>
              <a:buChar char="•"/>
            </a:pPr>
            <a:r>
              <a:rPr sz="1800" b="0" i="0">
                <a:solidFill>
                  <a:srgbClr val="000000"/>
                </a:solidFill>
              </a:rPr>
              <a:t>Carry it through: clause, test, gate, ledger, dev-log entry; what must the sign-off now say?</a:t>
            </a:r>
          </a:p>
        </p:txBody>
      </p:sp>
      <p:sp>
        <p:nvSpPr>
          <p:cNvPr id="6" name="Rectangle 5"/>
          <p:cNvSpPr/>
          <p:nvPr/>
        </p:nvSpPr>
        <p:spPr>
          <a:xfrm>
            <a:off x="777240" y="4206240"/>
            <a:ext cx="11018520" cy="77724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Deliverable: the diff; the ledger after; half a page on which rows went stale and which verifier re-established each.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000" b="0" i="0"/>
              <a:t>Before next meeting</a:t>
            </a:r>
          </a:p>
        </p:txBody>
      </p:sp>
      <p:sp>
        <p:nvSpPr>
          <p:cNvPr id="3" name="TextBox 2"/>
          <p:cNvSpPr txBox="1"/>
          <p:nvPr/>
        </p:nvSpPr>
        <p:spPr>
          <a:xfrm>
            <a:off x="777240" y="6400800"/>
            <a:ext cx="7315200" cy="320040"/>
          </a:xfrm>
          <a:prstGeom prst="rect">
            <a:avLst/>
          </a:prstGeom>
          <a:noFill/>
        </p:spPr>
        <p:txBody>
          <a:bodyPr wrap="square" lIns="18288" rIns="18288" tIns="18288" bIns="18288">
            <a:spAutoFit/>
          </a:bodyPr>
          <a:lstStyle/>
          <a:p>
            <a:pPr>
              <a:spcAft>
                <a:spcPts val="400"/>
              </a:spcAft>
            </a:pPr>
            <a:r>
              <a:rPr sz="1200" b="0" i="0">
                <a:solidFill>
                  <a:srgbClr val="595959"/>
                </a:solidFill>
              </a:rPr>
              <a:t>Agentic Software Engineering — ASE Principles Module, Lecture 01</a:t>
            </a:r>
          </a:p>
        </p:txBody>
      </p:sp>
      <p:sp>
        <p:nvSpPr>
          <p:cNvPr id="4" name="TextBox 3"/>
          <p:cNvSpPr txBox="1"/>
          <p:nvPr/>
        </p:nvSpPr>
        <p:spPr>
          <a:xfrm>
            <a:off x="10881360" y="6400800"/>
            <a:ext cx="914400" cy="320040"/>
          </a:xfrm>
          <a:prstGeom prst="rect">
            <a:avLst/>
          </a:prstGeom>
          <a:noFill/>
        </p:spPr>
        <p:txBody>
          <a:bodyPr wrap="square" lIns="18288" rIns="18288" tIns="18288" bIns="18288">
            <a:spAutoFit/>
          </a:bodyPr>
          <a:lstStyle/>
          <a:p>
            <a:pPr algn="r">
              <a:spcAft>
                <a:spcPts val="400"/>
              </a:spcAft>
            </a:pPr>
            <a:r>
              <a:rPr sz="1200" b="0" i="0">
                <a:solidFill>
                  <a:srgbClr val="595959"/>
                </a:solidFill>
              </a:rPr>
              <a:t>56</a:t>
            </a:r>
          </a:p>
        </p:txBody>
      </p:sp>
      <p:sp>
        <p:nvSpPr>
          <p:cNvPr id="5" name="TextBox 4"/>
          <p:cNvSpPr txBox="1"/>
          <p:nvPr/>
        </p:nvSpPr>
        <p:spPr>
          <a:xfrm>
            <a:off x="777240" y="1325880"/>
            <a:ext cx="11018520" cy="2926080"/>
          </a:xfrm>
          <a:prstGeom prst="rect">
            <a:avLst/>
          </a:prstGeom>
          <a:noFill/>
        </p:spPr>
        <p:txBody>
          <a:bodyPr wrap="square" lIns="45720" rIns="45720" tIns="27432" bIns="27432">
            <a:spAutoFit/>
          </a:bodyPr>
          <a:lstStyle/>
          <a:p>
            <a:pPr marL="256032" indent="-256032">
              <a:spcAft>
                <a:spcPts val="1000"/>
              </a:spcAft>
              <a:buChar char="•"/>
            </a:pPr>
            <a:r>
              <a:rPr sz="1800" b="0" i="0"/>
              <a:t>Run A0: uv sync; tools/gate.sh; the two sabotages, restoring the file after the first</a:t>
            </a:r>
          </a:p>
          <a:p>
            <a:pPr marL="256032" indent="-256032">
              <a:spcAft>
                <a:spcPts val="1000"/>
              </a:spcAft>
              <a:buChar char="•"/>
            </a:pPr>
            <a:r>
              <a:rPr sz="1800" b="0" i="0"/>
              <a:t>Read the glossary entries for the terms introduced today</a:t>
            </a:r>
          </a:p>
          <a:p>
            <a:pPr marL="256032" indent="-256032">
              <a:spcAft>
                <a:spcPts val="1000"/>
              </a:spcAft>
              <a:buChar char="•"/>
            </a:pPr>
            <a:r>
              <a:rPr sz="1800" b="0" i="0"/>
              <a:t>Reread specs/conops.md and ask how its author could have found out what the security officer wanted</a:t>
            </a:r>
          </a:p>
        </p:txBody>
      </p:sp>
      <p:sp>
        <p:nvSpPr>
          <p:cNvPr id="6" name="Rectangle 5"/>
          <p:cNvSpPr/>
          <p:nvPr/>
        </p:nvSpPr>
        <p:spPr>
          <a:xfrm>
            <a:off x="777240" y="4572000"/>
            <a:ext cx="11018520" cy="868680"/>
          </a:xfrm>
          <a:prstGeom prst="rect">
            <a:avLst/>
          </a:prstGeom>
          <a:gradFill rotWithShape="1">
            <a:gsLst>
              <a:gs pos="0">
                <a:srgbClr val="FFCF01"/>
              </a:gs>
              <a:gs pos="100000">
                <a:srgbClr val="FFFFF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27432" bIns="27432"/>
          <a:lstStyle/>
          <a:p>
            <a:pPr algn="l">
              <a:spcAft>
                <a:spcPts val="0"/>
              </a:spcAft>
            </a:pPr>
            <a:r>
              <a:rPr sz="1600" b="0" i="0">
                <a:solidFill>
                  <a:srgbClr val="000000"/>
                </a:solidFill>
              </a:rPr>
              <a:t>Question to think about: a reading of "unchanged" in REQ-2 under which the test is too weak, and which artifact you would change.</a:t>
            </a:r>
          </a:p>
        </p:txBody>
      </p:sp>
    </p:spTree>
  </p:cSld>
  <p:clrMapOvr>
    <a:masterClrMapping/>
  </p:clrMapOvr>
</p:sld>
</file>

<file path=ppt/theme/theme1.xml><?xml version="1.0" encoding="utf-8"?>
<a:theme xmlns:a="http://schemas.openxmlformats.org/drawingml/2006/main" name="Collins Masters: Covers">
  <a:themeElements>
    <a:clrScheme name="1: RTX PRIMARY PALETTE">
      <a:dk1>
        <a:sysClr val="windowText" lastClr="000000"/>
      </a:dk1>
      <a:lt1>
        <a:sysClr val="window" lastClr="FFFFFF"/>
      </a:lt1>
      <a:dk2>
        <a:srgbClr val="CE1126"/>
      </a:dk2>
      <a:lt2>
        <a:srgbClr val="FFFFFF"/>
      </a:lt2>
      <a:accent1>
        <a:srgbClr val="000000"/>
      </a:accent1>
      <a:accent2>
        <a:srgbClr val="63666A"/>
      </a:accent2>
      <a:accent3>
        <a:srgbClr val="B1B3B3"/>
      </a:accent3>
      <a:accent4>
        <a:srgbClr val="D9D9D6"/>
      </a:accent4>
      <a:accent5>
        <a:srgbClr val="F7F7F7"/>
      </a:accent5>
      <a:accent6>
        <a:srgbClr val="FFFFFF"/>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_Collins_PPT_Non_tech_data_16x9_internal" id="{B82BE9C0-C93E-B342-83A7-9B688A9500D2}" vid="{3BB40FCB-6667-1E47-BE2D-5EA748AB28C3}"/>
    </a:ext>
  </a:extLst>
</a:theme>
</file>

<file path=ppt/theme/theme7.xml><?xml version="1.0" encoding="utf-8"?>
<a:theme xmlns:a="http://schemas.openxmlformats.org/drawingml/2006/main" name="Blends">
  <a:themeElements>
    <a:clrScheme name="">
      <a:dk1>
        <a:srgbClr val="000000"/>
      </a:dk1>
      <a:lt1>
        <a:srgbClr val="FFFFFF"/>
      </a:lt1>
      <a:dk2>
        <a:srgbClr val="990099"/>
      </a:dk2>
      <a:lt2>
        <a:srgbClr val="1C1C1C"/>
      </a:lt2>
      <a:accent1>
        <a:srgbClr val="6E1EC6"/>
      </a:accent1>
      <a:accent2>
        <a:srgbClr val="FFCF01"/>
      </a:accent2>
      <a:accent3>
        <a:srgbClr val="FFFFFF"/>
      </a:accent3>
      <a:accent4>
        <a:srgbClr val="000000"/>
      </a:accent4>
      <a:accent5>
        <a:srgbClr val="BAABDF"/>
      </a:accent5>
      <a:accent6>
        <a:srgbClr val="E7BB01"/>
      </a:accent6>
      <a:hlink>
        <a:srgbClr val="00CC00"/>
      </a:hlink>
      <a:folHlink>
        <a:srgbClr val="990099"/>
      </a:folHlink>
    </a:clrScheme>
    <a:fontScheme name="Blends">
      <a:majorFont>
        <a:latin typeface="Microsoft Sans Serif"/>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ahom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ahoma"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RTX Colors">
      <a:dk1>
        <a:sysClr val="windowText" lastClr="000000"/>
      </a:dk1>
      <a:lt1>
        <a:sysClr val="window" lastClr="FFFFFF"/>
      </a:lt1>
      <a:dk2>
        <a:srgbClr val="CE1126"/>
      </a:dk2>
      <a:lt2>
        <a:srgbClr val="FFFFFF"/>
      </a:lt2>
      <a:accent1>
        <a:srgbClr val="000000"/>
      </a:accent1>
      <a:accent2>
        <a:srgbClr val="464648"/>
      </a:accent2>
      <a:accent3>
        <a:srgbClr val="6B6B6D"/>
      </a:accent3>
      <a:accent4>
        <a:srgbClr val="89898A"/>
      </a:accent4>
      <a:accent5>
        <a:srgbClr val="B8B8B9"/>
      </a:accent5>
      <a:accent6>
        <a:srgbClr val="D4D4D5"/>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RTX Colors">
      <a:dk1>
        <a:sysClr val="windowText" lastClr="000000"/>
      </a:dk1>
      <a:lt1>
        <a:sysClr val="window" lastClr="FFFFFF"/>
      </a:lt1>
      <a:dk2>
        <a:srgbClr val="CE1126"/>
      </a:dk2>
      <a:lt2>
        <a:srgbClr val="FFFFFF"/>
      </a:lt2>
      <a:accent1>
        <a:srgbClr val="000000"/>
      </a:accent1>
      <a:accent2>
        <a:srgbClr val="464648"/>
      </a:accent2>
      <a:accent3>
        <a:srgbClr val="6B6B6D"/>
      </a:accent3>
      <a:accent4>
        <a:srgbClr val="89898A"/>
      </a:accent4>
      <a:accent5>
        <a:srgbClr val="B8B8B9"/>
      </a:accent5>
      <a:accent6>
        <a:srgbClr val="D4D4D5"/>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E7012FDC1D4354E98E11BE167F4924F" ma:contentTypeVersion="15" ma:contentTypeDescription="Create a new document." ma:contentTypeScope="" ma:versionID="ee7bbbec8c70d8a105990da3d4a313c8">
  <xsd:schema xmlns:xsd="http://www.w3.org/2001/XMLSchema" xmlns:xs="http://www.w3.org/2001/XMLSchema" xmlns:p="http://schemas.microsoft.com/office/2006/metadata/properties" xmlns:ns1="http://schemas.microsoft.com/sharepoint/v3" xmlns:ns2="753e5dbd-8faa-4cd2-a40a-88c25858900e" xmlns:ns3="2b0f7bea-0413-45a1-baf2-d1833301f0a3" targetNamespace="http://schemas.microsoft.com/office/2006/metadata/properties" ma:root="true" ma:fieldsID="26901830fb53b027f9814912c0dd6b18" ns1:_="" ns2:_="" ns3:_="">
    <xsd:import namespace="http://schemas.microsoft.com/sharepoint/v3"/>
    <xsd:import namespace="753e5dbd-8faa-4cd2-a40a-88c25858900e"/>
    <xsd:import namespace="2b0f7bea-0413-45a1-baf2-d1833301f0a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VIOL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3e5dbd-8faa-4cd2-a40a-88c2585890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5da18db-0dbb-493a-8358-0ebfa2dc996a"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VIOLATION" ma:index="20" nillable="true" ma:displayName="VIOLATION" ma:internalName="VIOLATION">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b0f7bea-0413-45a1-baf2-d1833301f0a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18818af6-7cc3-44cc-bda2-686339767069}" ma:internalName="TaxCatchAll" ma:showField="CatchAllData" ma:web="2b0f7bea-0413-45a1-baf2-d1833301f0a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VIOLATION xmlns="753e5dbd-8faa-4cd2-a40a-88c25858900e">FALSE</VIOLATION>
    <SharedWithUsers xmlns="2b0f7bea-0413-45a1-baf2-d1833301f0a3">
      <UserInfo>
        <DisplayName>Tahat, Amer                            Collins</DisplayName>
        <AccountId>34</AccountId>
        <AccountType/>
      </UserInfo>
      <UserInfo>
        <DisplayName>Kramer, Sara                            Collins</DisplayName>
        <AccountId>41</AccountId>
        <AccountType/>
      </UserInfo>
      <UserInfo>
        <DisplayName>Wijesekara, Yeshani D                            Collins</DisplayName>
        <AccountId>44</AccountId>
        <AccountType/>
      </UserInfo>
      <UserInfo>
        <DisplayName>Carcangiu, Simone                           Export License Required - US Collins</DisplayName>
        <AccountId>55</AccountId>
        <AccountType/>
      </UserInfo>
      <UserInfo>
        <DisplayName>Sofronis, Christos                           Export License Required - US Collins</DisplayName>
        <AccountId>56</AccountId>
        <AccountType/>
      </UserInfo>
    </SharedWithUsers>
    <lcf76f155ced4ddcb4097134ff3c332f xmlns="753e5dbd-8faa-4cd2-a40a-88c25858900e">
      <Terms xmlns="http://schemas.microsoft.com/office/infopath/2007/PartnerControls"/>
    </lcf76f155ced4ddcb4097134ff3c332f>
    <TaxCatchAll xmlns="2b0f7bea-0413-45a1-baf2-d1833301f0a3" xsi:nil="true"/>
  </documentManagement>
</p:properties>
</file>

<file path=customXml/item3.xml><?xml version="1.0" encoding="utf-8"?>
<sisl xmlns:xsi="http://www.w3.org/2001/XMLSchema-instance" xmlns:xsd="http://www.w3.org/2001/XMLSchema" xmlns="http://www.boldonjames.com/2008/01/sie/internal/label" sislVersion="0" policy="cde53ac1-bf5f-4aae-9cf1-07509e23a4b0" origin="defaultValue">
  <element uid="bba94c65-ac3d-4f34-b2e1-8de11ef6f01c" value=""/>
</sisl>
</file>

<file path=customXml/item4.xml><?xml version="1.0" encoding="utf-8"?>
<WrappedLabelHistory xmlns:xsi="http://www.w3.org/2001/XMLSchema-instance" xmlns:xsd="http://www.w3.org/2001/XMLSchema" xmlns="http://www.boldonjames.com/2016/02/Classifier/internal/wrappedLabelHistory">
  <Value>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VVNcbnJwMDI0MTU4MjwvVXNlck5hbWU+PERhdGVUaW1lPjIvMTIvMjAyMCAyOjQ5OjE3IFBNPC9EYXRlVGltZT48TGFiZWxTdHJpbmc+T3JpZ2luIEp1cmlzZGljdGlvbjogVVMg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VVNcbnJwMDI0MTU4MjwvVXNlck5hbWU+PERhdGVUaW1lPjIvMTIvMjAyMCAzOjAzOjA5IFBNPC9EYXRlVGltZT48TGFiZWxTdHJpbmc+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yLzIwMjAgMzoyODo1NyBQTTwvRGF0ZVRpbWU+PExhYmVsU3RyaW5nPk9yaWdpbiBKdXJpc2RpY3Rpb246IFVTICB8IFJheXRoZW9uIFByb3ByaWV0YXJ5IHwgUGVyIEN1cnJlbnQgUmF5dGhlb24gUG9saWN5IChSUC1PR0MtMDM1KSB8IFVTLUlUQVIgQ29udHJvbGx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yLzE0LzIwMjAgNDo0Mjo0NCBQTTwvRGF0ZVRpbWU+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0LzIwMjAgNjoyOTozNC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VVNcbnJwMDI0MTU4MjwvVXNlck5hbWU+PERhdGVUaW1lPjIvMTgvMjAyMCA0OjU4OjI4IFBNPC9EYXRlVGltZT48TGFiZWxTdHJpbmc+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zLzcvMjAyMCA4OjIzOjM2IFBNPC9EYXRlVGltZT48TGFiZWxTdHJpbmc+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y83LzIwMjAgODoyNDo0OS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PC9zaXNsPjxVc2VyTmFtZT5VU1wxMTAzMDg1PC9Vc2VyTmFtZT48RGF0ZVRpbWU+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gLz48VXNlck5hbWU+VVNcMTEwMzA4NTwvVXNlck5hbWU+PERhdGVUaW1lPjMvMTMvMjAyMCAxMDowMjo0NCBQTTwvRGF0ZVRpbWU+PExhYmVsU3RyaW5nPlRoaXMgYXJ0aWZhY3QgaGFzIG5vIGNsYXNzaWZpY2F0aW9uLjwvTGFiZWxTdHJpbmc+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IC8+PFVzZXJOYW1lPlVTXG5ycDAyNDE1ODI8L1VzZXJOYW1lPjxEYXRlVGltZT4zLzMwLzIwMjAgMTo1MzoxNyBQTTwvRGF0ZVRpbWU+PExhYmVsU3RyaW5nPlRoaXMgYXJ0aWZhY3QgaGFzIG5vIGNsYXNzaWZpY2F0aW9uLjwvTGFiZWxTdHJpbmc+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PGVsZW1lbnQgdWlkPSJhMDZkYTRkYS1hMjYzLTQxMzYtYjRmZC1mMjhhMTdkMzAxODg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40LzIvMjAyMCAzOjQ5OjE3IFBNPC9EYXRlVGltZT48TGFiZWxTdHJpbmc+T3JpZ2luIEp1cmlzZGljdGlvbjogVVMgIHwgVGhpcmQgUGFydHkgUHJvcHJpZXRhcnkgLSBOZWVkIHRvIEtub3cgfCBVc2UgUHJlZXhpc3RpbmcgTWFya2luZyAobm90IGFwcGxpZWQgYnkgdGhpcyB0b29sKSB8IE90aGVyIEluZm9ybWF0aW9uIChOb3QgUmVxdWlyaW5nIGFuIEV4cG9ydCBDb250cm9sIE1hcmtpbmcpIHwgTm8gbWFya2luZyBhcHBsaWVkIGJ5IHRoZSB0b29sPC9MYWJlbFN0cmluZz48L2l0ZW0+PGl0ZW0+PHNpc2wgc2lzbFZlcnNpb249IjAiIHBvbGljeT0iY2RlNTNhYzEtYmY1Zi00YWFlLTljZjEtMDc1MDllMjNhNGIwIiBvcmlnaW49InVzZXJTZWxlY3RlZCIgLz48VXNlck5hbWU+VVNcMTEwMzA4NTwvVXNlck5hbWU+PERhdGVUaW1lPjQvMjAvMjAyMCA2OjI2OjU0IFBNPC9EYXRlVGltZT48TGFiZWxTdHJpbmc+VGhpcyBhcnRpZmFjdCBoYXMgbm8gY2xhc3NpZmljYXRpb24uPC9MYWJlbFN0cmluZz48L2l0ZW0+PGl0ZW0+PHNpc2wgc2lzbFZlcnNpb249IjAiIHBvbGljeT0iY2RlNTNhYzEtYmY1Zi00YWFlLTljZjEtMDc1MDllMjNhNGIwIiBvcmlnaW49ImRlZmF1bHRWYWx1ZSI+PGVsZW1lbnQgdWlkPSJiYmE5NGM2NS1hYzNkLTRmMzQtYjJlMS04ZGUxMWVmNmYwMWMiIHZhbHVlPSIiIHhtbG5zPSJodHRwOi8vd3d3LmJvbGRvbmphbWVzLmNvbS8yMDA4LzAxL3NpZS9pbnRlcm5hbC9sYWJlbCIgLz48L3Npc2w+PFVzZXJOYW1lPlVTXG5ycDAyNDE1ODI8L1VzZXJOYW1lPjxEYXRlVGltZT4xMC83LzIwMjAgNDowMjo0NSBQTTwvRGF0ZVRpbWU+PExhYmVsU3RyaW5nPk9yaWdpbiBKdXJpc2RpY3Rpb246IFVTIDwvTGFiZWxTdHJpbmc+PC9pdGVtPjwvbGFiZWxIaXN0b3J5Pg==</Value>
</WrappedLabelHistory>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EE6978-602F-4E1E-86C3-E0B15D47F80B}">
  <ds:schemaRefs>
    <ds:schemaRef ds:uri="2b0f7bea-0413-45a1-baf2-d1833301f0a3"/>
    <ds:schemaRef ds:uri="753e5dbd-8faa-4cd2-a40a-88c2585890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992B585-A4B9-4C42-9AB2-69742D208DAF}">
  <ds:schemaRefs>
    <ds:schemaRef ds:uri="2b0f7bea-0413-45a1-baf2-d1833301f0a3"/>
    <ds:schemaRef ds:uri="753e5dbd-8faa-4cd2-a40a-88c25858900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489B1DF-446C-4290-BB79-EA688A1291AC}">
  <ds:schemaRefs>
    <ds:schemaRef ds:uri="http://www.boldonjames.com/2008/01/sie/internal/label"/>
    <ds:schemaRef ds:uri="http://www.w3.org/2001/XMLSchema"/>
  </ds:schemaRefs>
</ds:datastoreItem>
</file>

<file path=customXml/itemProps4.xml><?xml version="1.0" encoding="utf-8"?>
<ds:datastoreItem xmlns:ds="http://schemas.openxmlformats.org/officeDocument/2006/customXml" ds:itemID="{45F20A76-F421-4C7E-9FA5-EB9918BB68FF}">
  <ds:schemaRefs>
    <ds:schemaRef ds:uri="http://www.boldonjames.com/2016/02/Classifier/internal/wrappedLabelHistory"/>
    <ds:schemaRef ds:uri="http://www.w3.org/2001/XMLSchema"/>
  </ds:schemaRefs>
</ds:datastoreItem>
</file>

<file path=customXml/itemProps5.xml><?xml version="1.0" encoding="utf-8"?>
<ds:datastoreItem xmlns:ds="http://schemas.openxmlformats.org/officeDocument/2006/customXml" ds:itemID="{4E5169E7-2729-4230-9755-7A49F75A3C20}">
  <ds:schemaRefs>
    <ds:schemaRef ds:uri="http://schemas.microsoft.com/sharepoint/v3/contenttype/forms"/>
  </ds:schemaRefs>
</ds:datastoreItem>
</file>

<file path=docMetadata/LabelInfo.xml><?xml version="1.0" encoding="utf-8"?>
<clbl:labelList xmlns:clbl="http://schemas.microsoft.com/office/2020/mipLabelMetadata">
  <clbl:label id="{4447dd6a-a4a1-440b-a6a3-9124ef1ee017}" enabled="1" method="Privileged" siteId="{7a18110d-ef9b-4274-acef-e62ab0fe28ed}" removed="0"/>
</clbl:labelList>
</file>

<file path=docProps/app.xml><?xml version="1.0" encoding="utf-8"?>
<Properties xmlns="http://schemas.openxmlformats.org/officeDocument/2006/extended-properties" xmlns:vt="http://schemas.openxmlformats.org/officeDocument/2006/docPropsVTypes">
  <Template>Collins_PPT_Non_tech_data_16x9_internal</Template>
  <TotalTime>28486</TotalTime>
  <Words>484</Words>
  <Application>Microsoft Macintosh PowerPoint</Application>
  <PresentationFormat>Widescreen</PresentationFormat>
  <Paragraphs>105</Paragraphs>
  <Slides>6</Slides>
  <Notes>1</Notes>
  <HiddenSlides>0</HiddenSlides>
  <MMClips>0</MMClips>
  <ScaleCrop>false</ScaleCrop>
  <HeadingPairs>
    <vt:vector size="6" baseType="variant">
      <vt:variant>
        <vt:lpstr>Fonts Used</vt:lpstr>
      </vt:variant>
      <vt:variant>
        <vt:i4>8</vt:i4>
      </vt:variant>
      <vt:variant>
        <vt:lpstr>Theme</vt:lpstr>
      </vt:variant>
      <vt:variant>
        <vt:i4>10</vt:i4>
      </vt:variant>
      <vt:variant>
        <vt:lpstr>Slide Titles</vt:lpstr>
      </vt:variant>
      <vt:variant>
        <vt:i4>6</vt:i4>
      </vt:variant>
    </vt:vector>
  </HeadingPairs>
  <TitlesOfParts>
    <vt:vector size="24" baseType="lpstr">
      <vt:lpstr>Arial</vt:lpstr>
      <vt:lpstr>Arial Regular</vt:lpstr>
      <vt:lpstr>DIN-Light</vt:lpstr>
      <vt:lpstr>Microsoft Sans Serif</vt:lpstr>
      <vt:lpstr>Noto Sans Symbols</vt:lpstr>
      <vt:lpstr>Tahoma</vt:lpstr>
      <vt:lpstr>Verdana</vt:lpstr>
      <vt:lpstr>Wingdings</vt:lpstr>
      <vt:lpstr>Collins Masters: Covers</vt:lpstr>
      <vt:lpstr>Collins Masters: Content</vt:lpstr>
      <vt:lpstr>Collins Masters: Section Breakers</vt:lpstr>
      <vt:lpstr>1_Collins Masters: Content</vt:lpstr>
      <vt:lpstr>2_Collins Masters: Content</vt:lpstr>
      <vt:lpstr>Collins Aerospace 16x9</vt:lpstr>
      <vt:lpstr>Blends</vt:lpstr>
      <vt:lpstr>1_Collins Aerospace 16x9</vt:lpstr>
      <vt:lpstr>2_Collins Aerospace 16x9</vt:lpstr>
      <vt:lpstr>3_Collins Aerospace 16x9</vt:lpstr>
      <vt:lpstr>Intent, Specifications, Realizations, and the Judgments That Connect Them</vt:lpstr>
      <vt:lpstr>Motivation</vt:lpstr>
      <vt:lpstr>ASE – Key Concepts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Avionics CMS Gate 3 Template</dc:title>
  <dc:subject>[rtnipcontrolcode:rtnipcontrolcodenone||rtnexportcontrolcountry:usa|rtnexportcontrolcode:rtnexportcontrolcodenone||]</dc:subject>
  <dc:creator>Jaeger, Nic               Collins</dc:creator>
  <cp:keywords>AM Template</cp:keywords>
  <dc:description>AM Template;</dc:description>
  <cp:lastModifiedBy>John Hatcliff</cp:lastModifiedBy>
  <cp:revision>203</cp:revision>
  <cp:lastPrinted>2025-09-04T07:08:32Z</cp:lastPrinted>
  <dcterms:created xsi:type="dcterms:W3CDTF">2022-01-19T19:30:31Z</dcterms:created>
  <dcterms:modified xsi:type="dcterms:W3CDTF">2026-10-20T16:49:42Z</dcterms:modified>
  <cp:category>AM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bb64deb3-b5ac-4347-88a3-8a542b8e6f51</vt:lpwstr>
  </property>
  <property fmtid="{D5CDD505-2E9C-101B-9397-08002B2CF9AE}" pid="3" name="bjSaver">
    <vt:lpwstr>A2AB0OuaTTiL2YVHw3qxYann2Jd9uCN6</vt:lpwstr>
  </property>
  <property fmtid="{D5CDD505-2E9C-101B-9397-08002B2CF9AE}" pid="4" name="rtnipcontrolcode">
    <vt:lpwstr>rtnipcontrolcodenone</vt:lpwstr>
  </property>
  <property fmtid="{D5CDD505-2E9C-101B-9397-08002B2CF9AE}" pid="5" name="rtnexportcontrolcode">
    <vt:lpwstr>rtnexportcontrolcodenone</vt:lpwstr>
  </property>
  <property fmtid="{D5CDD505-2E9C-101B-9397-08002B2CF9AE}" pid="6" name="bjDocumentLabelXML">
    <vt:lpwstr>&lt;?xml version="1.0" encoding="us-ascii"?&gt;&lt;sisl xmlns:xsi="http://www.w3.org/2001/XMLSchema-instance" xmlns:xsd="http://www.w3.org/2001/XMLSchema" sislVersion="0" policy="cde53ac1-bf5f-4aae-9cf1-07509e23a4b0" origin="defaultValue" xmlns="http://www.boldonj</vt:lpwstr>
  </property>
  <property fmtid="{D5CDD505-2E9C-101B-9397-08002B2CF9AE}" pid="7" name="bjDocumentLabelXML-0">
    <vt:lpwstr>ames.com/2008/01/sie/internal/label"&gt;&lt;element uid="bba94c65-ac3d-4f34-b2e1-8de11ef6f01c" value="" /&gt;&lt;/sisl&gt;</vt:lpwstr>
  </property>
  <property fmtid="{D5CDD505-2E9C-101B-9397-08002B2CF9AE}" pid="8" name="bjDocumentSecurityLabel">
    <vt:lpwstr>Origin Jurisdiction: US </vt:lpwstr>
  </property>
  <property fmtid="{D5CDD505-2E9C-101B-9397-08002B2CF9AE}" pid="9" name="rtnexportcontrolcountry">
    <vt:lpwstr>usa</vt:lpwstr>
  </property>
  <property fmtid="{D5CDD505-2E9C-101B-9397-08002B2CF9AE}" pid="10" name="bjClsUserRVM">
    <vt:lpwstr>[]</vt:lpwstr>
  </property>
  <property fmtid="{D5CDD505-2E9C-101B-9397-08002B2CF9AE}" pid="11" name="bjLabelHistoryID">
    <vt:lpwstr>{45F20A76-F421-4C7E-9FA5-EB9918BB68FF}</vt:lpwstr>
  </property>
  <property fmtid="{D5CDD505-2E9C-101B-9397-08002B2CF9AE}" pid="12" name="MSIP_Label_a37ca26f-e25f-4770-9a89-55e6db4cfbd6_SetDate">
    <vt:lpwstr>2020-04-03T15:47:36.2221519Z</vt:lpwstr>
  </property>
  <property fmtid="{D5CDD505-2E9C-101B-9397-08002B2CF9AE}" pid="13" name="MSIP_Label_a37ca26f-e25f-4770-9a89-55e6db4cfbd6_Name">
    <vt:lpwstr>NO TECH DATA</vt:lpwstr>
  </property>
  <property fmtid="{D5CDD505-2E9C-101B-9397-08002B2CF9AE}" pid="14" name="CASize">
    <vt:lpwstr>W</vt:lpwstr>
  </property>
  <property fmtid="{D5CDD505-2E9C-101B-9397-08002B2CF9AE}" pid="15" name="MSIP_Label_a37ca26f-e25f-4770-9a89-55e6db4cfbd6_Application">
    <vt:lpwstr>Microsoft Azure Information Protection</vt:lpwstr>
  </property>
  <property fmtid="{D5CDD505-2E9C-101B-9397-08002B2CF9AE}" pid="16" name="UTC Classification">
    <vt:lpwstr>NO TECH DATA</vt:lpwstr>
  </property>
  <property fmtid="{D5CDD505-2E9C-101B-9397-08002B2CF9AE}" pid="17" name="MSIP_Label_a37ca26f-e25f-4770-9a89-55e6db4cfbd6_Extended_MSFT_Method">
    <vt:lpwstr>Manual</vt:lpwstr>
  </property>
  <property fmtid="{D5CDD505-2E9C-101B-9397-08002B2CF9AE}" pid="18" name="ContentTypeId">
    <vt:lpwstr>0x0101007E7012FDC1D4354E98E11BE167F4924F</vt:lpwstr>
  </property>
  <property fmtid="{D5CDD505-2E9C-101B-9397-08002B2CF9AE}" pid="19" name="MSIP_Label_a37ca26f-e25f-4770-9a89-55e6db4cfbd6_Owner">
    <vt:lpwstr>zastropw@azg.utcaus.com</vt:lpwstr>
  </property>
  <property fmtid="{D5CDD505-2E9C-101B-9397-08002B2CF9AE}" pid="20" name="MSIP_Label_a37ca26f-e25f-4770-9a89-55e6db4cfbd6_Enabled">
    <vt:lpwstr>True</vt:lpwstr>
  </property>
  <property fmtid="{D5CDD505-2E9C-101B-9397-08002B2CF9AE}" pid="21" name="MSIP_Label_a37ca26f-e25f-4770-9a89-55e6db4cfbd6_SiteId">
    <vt:lpwstr>ff460f77-8fa7-4946-ad6d-d50817a742fa</vt:lpwstr>
  </property>
  <property fmtid="{D5CDD505-2E9C-101B-9397-08002B2CF9AE}" pid="22" name="MSIP_Label_a37ca26f-e25f-4770-9a89-55e6db4cfbd6_ActionId">
    <vt:lpwstr>029ba2ca-3ec3-4a74-a9d9-492333a5ed1c</vt:lpwstr>
  </property>
  <property fmtid="{D5CDD505-2E9C-101B-9397-08002B2CF9AE}" pid="23" name="MSIP_Label_4447dd6a-a4a1-440b-a6a3-9124ef1ee017_Enabled">
    <vt:lpwstr>true</vt:lpwstr>
  </property>
  <property fmtid="{D5CDD505-2E9C-101B-9397-08002B2CF9AE}" pid="24" name="MSIP_Label_4447dd6a-a4a1-440b-a6a3-9124ef1ee017_SetDate">
    <vt:lpwstr>2022-09-22T01:10:54Z</vt:lpwstr>
  </property>
  <property fmtid="{D5CDD505-2E9C-101B-9397-08002B2CF9AE}" pid="25" name="MSIP_Label_4447dd6a-a4a1-440b-a6a3-9124ef1ee017_Method">
    <vt:lpwstr>Privileged</vt:lpwstr>
  </property>
  <property fmtid="{D5CDD505-2E9C-101B-9397-08002B2CF9AE}" pid="26" name="MSIP_Label_4447dd6a-a4a1-440b-a6a3-9124ef1ee017_Name">
    <vt:lpwstr>NO TECH DATA</vt:lpwstr>
  </property>
  <property fmtid="{D5CDD505-2E9C-101B-9397-08002B2CF9AE}" pid="27" name="MSIP_Label_4447dd6a-a4a1-440b-a6a3-9124ef1ee017_SiteId">
    <vt:lpwstr>7a18110d-ef9b-4274-acef-e62ab0fe28ed</vt:lpwstr>
  </property>
  <property fmtid="{D5CDD505-2E9C-101B-9397-08002B2CF9AE}" pid="28" name="MSIP_Label_4447dd6a-a4a1-440b-a6a3-9124ef1ee017_ActionId">
    <vt:lpwstr>2b5d91e4-2c21-4644-8d30-dadf71502cbd</vt:lpwstr>
  </property>
  <property fmtid="{D5CDD505-2E9C-101B-9397-08002B2CF9AE}" pid="29" name="MSIP_Label_4447dd6a-a4a1-440b-a6a3-9124ef1ee017_ContentBits">
    <vt:lpwstr>0</vt:lpwstr>
  </property>
  <property fmtid="{D5CDD505-2E9C-101B-9397-08002B2CF9AE}" pid="30" name="MediaServiceImageTags">
    <vt:lpwstr/>
  </property>
</Properties>
</file>
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2"/>
  </p:sldMasterIdLst>
  <p:notesMasterIdLst>
    <p:notesMasterId r:id="rId59"/>
  </p:notesMasterIdLst>
  <p:handoutMasterIdLst>
    <p:handoutMasterId r:id="rId60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382648-2297-8FFC-B73F-AB124D6DE6DE}" name="Kaplan, Dan J                            Collins" initials="KDJC" userId="Kaplan, Dan J                            Collins" providerId="None"/>
  <p188:author id="{2D53BE49-35D9-EF15-1A32-A328DF3692BD}" name="Schroeder, Nancy A                            Collins" initials="SC" userId="S::10656689@adxuser.com::a39546d3-50b7-4369-86b3-1895d645d969" providerId="AD"/>
  <p188:author id="{6FDF37B6-3747-D076-79BF-E4A9A05A5DDD}" name="Sevestre, Stephane                           Export License Required - US Collins" initials="SSELRUC" userId="Sevestre, Stephane                           Export License Required - US Collins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y Avitabile" initials="AA" lastIdx="1" clrIdx="0">
    <p:extLst>
      <p:ext uri="{19B8F6BF-5375-455C-9EA6-DF929625EA0E}">
        <p15:presenceInfo xmlns:p15="http://schemas.microsoft.com/office/powerpoint/2012/main" userId="S-1-5-21-1214440339-861567501-682003330-1365948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933C"/>
    <a:srgbClr val="C09C0F"/>
    <a:srgbClr val="6E1EC6"/>
    <a:srgbClr val="00B050"/>
    <a:srgbClr val="FFCC00"/>
    <a:srgbClr val="FFCCCC"/>
    <a:srgbClr val="D3D1E7"/>
    <a:srgbClr val="D9D9D6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49"/>
    <p:restoredTop sz="95545"/>
  </p:normalViewPr>
  <p:slideViewPr>
    <p:cSldViewPr snapToGrid="0">
      <p:cViewPr varScale="1">
        <p:scale>
          <a:sx n="153" d="100"/>
          <a:sy n="153" d="100"/>
        </p:scale>
        <p:origin x="264" y="144"/>
      </p:cViewPr>
      <p:guideLst>
        <p:guide orient="horz" pos="4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12" Type="http://schemas.openxmlformats.org/officeDocument/2006/relationships/slideMaster" Target="slideMasters/slideMaster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59" Type="http://schemas.openxmlformats.org/officeDocument/2006/relationships/notesMaster" Target="notesMasters/notesMaster1.xml"/><Relationship Id="rId60" Type="http://schemas.openxmlformats.org/officeDocument/2006/relationships/handoutMaster" Target="handoutMasters/handoutMaster1.xml"/><Relationship Id="rId61" Type="http://schemas.openxmlformats.org/officeDocument/2006/relationships/commentAuthors" Target="commentAuthors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6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/>
          <p:cNvSpPr>
            <a:spLocks noGrp="1"/>
          </p:cNvSpPr>
          <p:nvPr>
            <p:ph type="ftr" sz="quarter" idx="2"/>
          </p:nvPr>
        </p:nvSpPr>
        <p:spPr>
          <a:xfrm>
            <a:off x="0" y="8855038"/>
            <a:ext cx="6858000" cy="276999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>
              <a:defRPr sz="1200"/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3"/>
          </p:nvPr>
        </p:nvSpPr>
        <p:spPr>
          <a:xfrm>
            <a:off x="388620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C58B0-FFE9-437E-B2CB-216DAFA8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6732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2" pos="288" userDrawn="1">
          <p15:clr>
            <a:srgbClr val="F26B43"/>
          </p15:clr>
        </p15:guide>
        <p15:guide id="3" pos="4032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92624" y="692622"/>
            <a:ext cx="5517676" cy="310369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012556"/>
            <a:ext cx="5524500" cy="40942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4"/>
          </p:nvPr>
        </p:nvSpPr>
        <p:spPr>
          <a:xfrm>
            <a:off x="0" y="8774668"/>
            <a:ext cx="6858000" cy="369332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ctr">
              <a:defRPr lang="en-US"/>
            </a:lvl1pPr>
          </a:lstStyle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5"/>
          </p:nvPr>
        </p:nvSpPr>
        <p:spPr>
          <a:xfrm>
            <a:off x="3886200" y="918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F3A09-0EB5-429E-B7D0-FB28A7726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1913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5888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87338" indent="-117475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57200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27063" indent="-115888" algn="l" defTabSz="914400" rtl="0" eaLnBrk="1" latinLnBrk="0" hangingPunct="1">
      <a:spcBef>
        <a:spcPts val="200"/>
      </a:spcBef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0425" indent="-17145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32" userDrawn="1">
          <p15:clr>
            <a:srgbClr val="F26B43"/>
          </p15:clr>
        </p15:guide>
        <p15:guide id="2" pos="3912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0–4 min. No demo yet. ls the demo repository: one specification, a CLAUDE.md, a process/ folder, no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0–4 min. Why the example is small: six rules on one screen; every concept can be pointed at in a file. Project 0 is the same thing at the student's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4–14 min. Keep this on screen while defining the four terms. Note "Version: 0.1 (draft)".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4–14 min. Rules are numbered AUD-1, RPT-2, VER-1, so that reports can cite process rules the way they cite R-numbers.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14–20 min. The properties are not advice; they are a procedure in a file, cited by number. Run when the developer asks, before any plan, after any amendment.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20–34 min begins. Demo Segment 2. Plan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Room writes its own list for two minutes before the agent's appears; compare. Seeded findings, for your eyes: the scope sentence against R6 (index.md cannot satisfy R1); R2 against R3 (no rule that title and H1 agree); the filename the walkthrough must invent.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diff HEAD~1 -- note-format-spec.md; git log --oneline. If a finding is missed: one nudge each, in the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34–40 min. S can be missing a rule, or two rules can conflict, or a clause can fail to say what was meant. Two ways to find defects in S: realistic examples; analysis — which is what the audit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40–52 min. Demo Segment 3: mkdir notes; paste the careless note as notes/royce-1970-waterfall-paper.md (the filename follows R7); write index.md by hand; "check and report per RPT-2; change nothing".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R3 finding exists only because of the audit. Against 0.1 a report would have accepted the heading, and it would have been right — for 0.1. That is why a report says which version it checked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52–64 min. Demo Segment 4: the agent writes check_notes.py (R1–R5, R7 per note; --all adds R6; exit 0/1/2; docstring states version and clauses). Run --all. Sabotage the date; exit 1; restore; exit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64–70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70–72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auto">
          <a:xfrm>
            <a:off x="0" y="0"/>
            <a:ext cx="12192000" cy="12954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5" name="Rectangle 18"/>
          <p:cNvSpPr>
            <a:spLocks noChangeArrowheads="1"/>
          </p:cNvSpPr>
          <p:nvPr userDrawn="1"/>
        </p:nvSpPr>
        <p:spPr bwMode="auto">
          <a:xfrm rot="16200000">
            <a:off x="-2425700" y="3721100"/>
            <a:ext cx="5562600" cy="7112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5E685A3-5A44-F34A-9DD6-E549D5259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040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399C2-1ADD-1549-9753-CEA7C1EED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583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848EDB-E059-EE4C-BEE4-92ACBFC1AC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048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334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1600" y="1524000"/>
            <a:ext cx="5334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9051A-5116-C044-BC66-ED283B4D5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37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3A91B-A097-8F43-A5C5-A8482E10C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905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AA622-F4CE-604D-A669-CD3D12FC5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573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615124-8EB2-6E40-9E50-F98D2465D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853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EE25D-892F-FA42-8251-4062CB60CA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42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6E9B7-6EE0-8D46-8C36-993F30F20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397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14967-302F-6E48-8678-32FDE0F329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882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0"/>
            <a:ext cx="271780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0"/>
            <a:ext cx="795020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15ABF-0168-ED43-8055-FDAC86F85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74883"/>
      </p:ext>
    </p:extLst>
  </p:cSld>
  <p:clrMapOvr>
    <a:masterClrMapping/>
  </p:clrMapOvr>
</p:sldLayout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7.xml"/></Relationships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Rectangle 15"/>
          <p:cNvSpPr>
            <a:spLocks noChangeArrowheads="1"/>
          </p:cNvSpPr>
          <p:nvPr userDrawn="1"/>
        </p:nvSpPr>
        <p:spPr bwMode="auto">
          <a:xfrm rot="-5400000">
            <a:off x="-2501900" y="3644900"/>
            <a:ext cx="5715000" cy="711200"/>
          </a:xfrm>
          <a:prstGeom prst="rect">
            <a:avLst/>
          </a:prstGeom>
          <a:gradFill rotWithShape="0">
            <a:gsLst>
              <a:gs pos="0">
                <a:srgbClr val="DDCBE7"/>
              </a:gs>
              <a:gs pos="100000">
                <a:srgbClr val="DDCBE7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5134" name="Rectangle 14"/>
          <p:cNvSpPr>
            <a:spLocks noChangeArrowheads="1"/>
          </p:cNvSpPr>
          <p:nvPr userDrawn="1"/>
        </p:nvSpPr>
        <p:spPr bwMode="auto">
          <a:xfrm>
            <a:off x="0" y="0"/>
            <a:ext cx="12192000" cy="1143000"/>
          </a:xfrm>
          <a:prstGeom prst="rect">
            <a:avLst/>
          </a:prstGeom>
          <a:gradFill rotWithShape="0">
            <a:gsLst>
              <a:gs pos="0">
                <a:srgbClr val="9900CC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1800">
              <a:latin typeface="Tahoma" pitchFamily="-8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10871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524000"/>
            <a:ext cx="10871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4775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r>
              <a:rPr lang="en-US"/>
              <a:t>RASE for seL4 using HAMR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82400" y="6400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D0B6DE"/>
                </a:solidFill>
                <a:latin typeface="Tahoma" pitchFamily="-84" charset="0"/>
              </a:defRPr>
            </a:lvl1pPr>
          </a:lstStyle>
          <a:p>
            <a:pPr>
              <a:defRPr/>
            </a:pPr>
            <a:fld id="{623F72AE-F2FC-1C4B-AEBE-5105C7AC91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8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  <a:ea typeface="ＭＳ Ｐゴシック" pitchFamily="-84" charset="-128"/>
          <a:cs typeface="ＭＳ Ｐゴシック" pitchFamily="-8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Microsoft Sans Serif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-106" charset="2"/>
        <a:buChar char="n"/>
        <a:defRPr sz="32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-106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106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-106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63040"/>
            <a:ext cx="11064240" cy="1737360"/>
          </a:xfrm>
        </p:spPr>
        <p:txBody>
          <a:bodyPr/>
          <a:lstStyle/>
          <a:p>
            <a:pPr algn="ctr"/>
            <a:r>
              <a:rPr sz="4000" b="1"/>
              <a:t>Specifications, Realizations,</a:t>
            </a:r>
            <a:br/>
            <a:r>
              <a:rPr sz="4000" b="1"/>
              <a:t>and Conformance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3429000"/>
            <a:ext cx="832104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40" y="4114800"/>
            <a:ext cx="832104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3493008"/>
            <a:ext cx="8321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200">
                <a:latin typeface="Tahoma"/>
              </a:rPr>
              <a:t>Agentic Software Engineering — Software-Engineering Module, Lecture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343400"/>
            <a:ext cx="83210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>
                <a:latin typeface="Tahoma"/>
              </a:rPr>
              <a:t>Meeting 1 of 6 · runs part 1 of the note-set demo · launches </a:t>
            </a:r>
            <a:r>
              <a:rPr sz="1800" b="1">
                <a:latin typeface="Tahoma"/>
              </a:rPr>
              <a:t>Exercise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one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sz="2400"/>
              <a:t>A specification and a realization are two artifacts. </a:t>
            </a:r>
            <a:r>
              <a:rPr sz="2400" b="1"/>
              <a:t>Conformance</a:t>
            </a:r>
            <a:r>
              <a:rPr sz="2400"/>
              <a:t> is a relation between them; </a:t>
            </a:r>
            <a:r>
              <a:rPr sz="2400" b="1"/>
              <a:t>verification</a:t>
            </a:r>
            <a:r>
              <a:rPr sz="2400"/>
              <a:t> is the activity that checks it.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400"/>
              <a:t>When the check fails, one side or the other is changed, the check is run again, and the decision — which side moved, and why — is recorded.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example: a set of study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sz="2200"/>
              <a:t>One markdown file per article you read. Two questions:</a:t>
            </a:r>
          </a:p>
          <a:p>
            <a:pPr>
              <a:spcBef>
                <a:spcPts val="800"/>
              </a:spcBef>
            </a:pPr>
            <a:r>
              <a:rPr sz="2200"/>
              <a:t>How should a note be formatted?</a:t>
            </a:r>
          </a:p>
          <a:p>
            <a:pPr>
              <a:spcBef>
                <a:spcPts val="800"/>
              </a:spcBef>
            </a:pPr>
            <a:r>
              <a:rPr sz="2200"/>
              <a:t>Who checks that it is?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200"/>
              <a:t>The first answer is a document that is not a note: a </a:t>
            </a:r>
            <a:r>
              <a:rPr sz="2200" b="1"/>
              <a:t>specification</a:t>
            </a:r>
            <a:r>
              <a:rPr sz="2200"/>
              <a:t>, </a:t>
            </a:r>
            <a:r>
              <a:rPr sz="2200">
                <a:latin typeface="Consolas"/>
              </a:rPr>
              <a:t>note-format-spec.md</a:t>
            </a:r>
            <a:r>
              <a:rPr sz="2200"/>
              <a:t>. The second answer is this lecture.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200"/>
              <a:t>At the start the repository holds the specification (version 0.1, draft), a short </a:t>
            </a:r>
            <a:r>
              <a:rPr sz="2200">
                <a:latin typeface="Consolas"/>
              </a:rPr>
              <a:t>CLAUDE.md</a:t>
            </a:r>
            <a:r>
              <a:rPr sz="2200"/>
              <a:t>, and three process documents. No notes.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format specification, version 0.1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17320"/>
          <a:ext cx="1033272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2354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Tahoma"/>
                        </a:rPr>
                        <a:t>Rule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latin typeface="Tahoma"/>
                        </a:rPr>
                        <a:t>Requirement (condensed)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R1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YAML front-matter block; the opening </a:t>
                      </a:r>
                      <a:r>
                        <a:rPr sz="1600">
                          <a:latin typeface="Consolas"/>
                        </a:rPr>
                        <a:t>---</a:t>
                      </a:r>
                      <a:r>
                        <a:rPr sz="1600">
                          <a:latin typeface="Tahoma"/>
                        </a:rPr>
                        <a:t> is line 1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R2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exactly two fields: </a:t>
                      </a:r>
                      <a:r>
                        <a:rPr sz="1600">
                          <a:latin typeface="Consolas"/>
                        </a:rPr>
                        <a:t>title</a:t>
                      </a:r>
                      <a:r>
                        <a:rPr sz="1600">
                          <a:latin typeface="Tahoma"/>
                        </a:rPr>
                        <a:t>, </a:t>
                      </a:r>
                      <a:r>
                        <a:rPr sz="1600">
                          <a:latin typeface="Consolas"/>
                        </a:rPr>
                        <a:t>created</a:t>
                      </a:r>
                      <a:r>
                        <a:rPr sz="1600">
                          <a:latin typeface="Tahoma"/>
                        </a:rPr>
                        <a:t> (ISO-8601)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R3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the body begins with a level-1 heading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R4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exactly one level-1 heading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R5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no skipped heading levels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600">
                          <a:latin typeface="Tahoma"/>
                        </a:rPr>
                        <a:t>R6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latin typeface="Consolas"/>
                        </a:rPr>
                        <a:t>index.md</a:t>
                      </a:r>
                      <a:r>
                        <a:rPr sz="1600">
                          <a:latin typeface="Tahoma"/>
                        </a:rPr>
                        <a:t> links every note exactly once; every link resolves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>
                <a:latin typeface="Tahoma"/>
              </a:rPr>
              <a:t>RFC 2119 keywords; numbered rules, so that any report can cite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Four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/>
              <a:t>Specification (S)</a:t>
            </a:r>
            <a:r>
              <a:rPr sz="2000"/>
              <a:t> — states, above the level of the artifact it governs, what the developer intends; fixes what matters and leaves the rest free</a:t>
            </a:r>
          </a:p>
          <a:p>
            <a:pPr>
              <a:spcBef>
                <a:spcPts val="800"/>
              </a:spcBef>
            </a:pPr>
            <a:r>
              <a:rPr sz="2000" b="1"/>
              <a:t>Realization (R)</a:t>
            </a:r>
            <a:r>
              <a:rPr sz="2000"/>
              <a:t> — an artifact built to satisfy S; </a:t>
            </a:r>
            <a:r>
              <a:rPr sz="2000" i="1"/>
              <a:t>implementation</a:t>
            </a:r>
            <a:r>
              <a:rPr sz="2000"/>
              <a:t> when R is code; a note or a document can also be one</a:t>
            </a:r>
          </a:p>
          <a:p>
            <a:pPr>
              <a:spcBef>
                <a:spcPts val="800"/>
              </a:spcBef>
            </a:pPr>
            <a:r>
              <a:rPr sz="2000" b="1"/>
              <a:t>Conformance</a:t>
            </a:r>
            <a:r>
              <a:rPr sz="2000"/>
              <a:t> — the relation that holds when R satisfies every property stated in S; a yes-or-no question about the pair</a:t>
            </a:r>
          </a:p>
          <a:p>
            <a:pPr>
              <a:spcBef>
                <a:spcPts val="800"/>
              </a:spcBef>
            </a:pPr>
            <a:r>
              <a:rPr sz="2000" b="1"/>
              <a:t>Verification</a:t>
            </a:r>
            <a:r>
              <a:rPr sz="2000"/>
              <a:t> — the activity of </a:t>
            </a:r>
            <a:r>
              <a:rPr sz="2000" i="1"/>
              <a:t>trying</a:t>
            </a:r>
            <a:r>
              <a:rPr sz="2000"/>
              <a:t> to confirm that R conforms to S; the result is evidence, and we need to know what it is evidence of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000"/>
              <a:t>One S, many R: every conformant note is a different realization of the same rules.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arrangement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6002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Developer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371600"/>
            <a:ext cx="219456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Specification S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states the required properties; omits everything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219456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Realization R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built to satisfy 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697480"/>
            <a:ext cx="182880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Verification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ahoma"/>
              </a:rPr>
              <a:t>checks whether conformance 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697480"/>
            <a:ext cx="28346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</a:ln>
          <a:effectLst>
            <a:outerShdw blurRad="63500" dist="35921" dir="2700000" algn="ctr" rotWithShape="0">
              <a:schemeClr val="bg2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Result: holds, or findings that cite rule IDs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180594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180594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1513332"/>
            <a:ext cx="1554480" cy="585216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>
                <a:latin typeface="Tahoma"/>
              </a:rPr>
              <a:t>conformance:</a:t>
            </a:r>
          </a:p>
          <a:p>
            <a:pPr algn="ctr">
              <a:spcBef>
                <a:spcPts val="600"/>
              </a:spcBef>
            </a:pPr>
            <a:r>
              <a:rPr sz="1000">
                <a:latin typeface="Tahoma"/>
              </a:rPr>
              <a:t>R satisfies every property S states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2402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246888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24688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22402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852160" y="2468880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52160" y="24688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3063240"/>
            <a:ext cx="1554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" y="3703320"/>
            <a:ext cx="11018520" cy="0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835640" y="132588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1">
                <a:latin typeface="Tahoma"/>
              </a:rPr>
              <a:t>in general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379476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i="1">
                <a:latin typeface="Tahoma"/>
              </a:rPr>
              <a:t>in the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23359"/>
            <a:ext cx="16002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Intent: readable, indexable study 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3931920"/>
            <a:ext cx="219456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note-format-spec.md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rules R1–R6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31920"/>
            <a:ext cx="219456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notes/royce-1970-waterfall-paper.md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(later: </a:t>
            </a:r>
            <a:r>
              <a:rPr sz="1200">
                <a:solidFill>
                  <a:srgbClr val="000000"/>
                </a:solidFill>
                <a:latin typeface="Consolas"/>
              </a:rPr>
              <a:t>check_notes.py</a:t>
            </a:r>
            <a:r>
              <a:rPr sz="1200">
                <a:solidFill>
                  <a:srgbClr val="000000"/>
                </a:solidFill>
                <a:latin typeface="Tahoma"/>
              </a:rPr>
              <a:t> too)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5257800"/>
            <a:ext cx="182880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a person, an agent, or </a:t>
            </a:r>
            <a:r>
              <a:rPr sz="1200" b="1">
                <a:solidFill>
                  <a:srgbClr val="FFFFFF"/>
                </a:solidFill>
                <a:latin typeface="Consolas"/>
              </a:rPr>
              <a:t>check_notes.py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5257800"/>
            <a:ext cx="2834640" cy="73152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</a:ln>
          <a:effectLst>
            <a:outerShdw blurRad="63500" dist="35921" dir="2700000" algn="ctr" rotWithShape="0">
              <a:schemeClr val="bg2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'R2: created date is not ISO-8601'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03120" y="4366259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663440" y="4366259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54880" y="4073651"/>
            <a:ext cx="1554480" cy="585216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>
                <a:latin typeface="Tahoma"/>
              </a:rPr>
              <a:t>each note satisfies R1–R6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40480" y="48006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502920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37760" y="50292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0" y="48006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852160" y="5029200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852160" y="50292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9360" y="5623560"/>
            <a:ext cx="1554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loader, and the process documents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914400" y="1207008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>
                <a:latin typeface="Consolas"/>
              </a:rPr>
              <a:t>CLAUDE.md</a:t>
            </a:r>
            <a:r>
              <a:rPr sz="1600">
                <a:latin typeface="Tahoma"/>
              </a:rPr>
              <a:t> names one governing document and three process documents, and states two rules: read everything before acting; change nothing without approval.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783080"/>
          <a:ext cx="10424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029200"/>
                <a:gridCol w="182880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Document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Says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Loaded</a:t>
                      </a:r>
                    </a:p>
                  </a:txBody>
                  <a:tcPr marL="64008" marR="64008" marT="27432" marB="27432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>
                          <a:latin typeface="Consolas"/>
                        </a:rPr>
                        <a:t>process/spec-audit.md</a:t>
                      </a:r>
                      <a:r>
                        <a:rPr sz="1300">
                          <a:latin typeface="Tahoma"/>
                        </a:rPr>
                        <a:t> (AUD)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how a specification's quality is assessed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when asked</a:t>
                      </a:r>
                    </a:p>
                  </a:txBody>
                  <a:tcPr marL="64008" marR="64008" marT="27432" marB="27432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>
                          <a:latin typeface="Consolas"/>
                        </a:rPr>
                        <a:t>process/reporting.md</a:t>
                      </a:r>
                      <a:r>
                        <a:rPr sz="1300">
                          <a:latin typeface="Tahoma"/>
                        </a:rPr>
                        <a:t> (RPT)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the forms a report takes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always</a:t>
                      </a:r>
                    </a:p>
                  </a:txBody>
                  <a:tcPr marL="64008" marR="64008" marT="27432" marB="27432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300">
                          <a:latin typeface="Consolas"/>
                        </a:rPr>
                        <a:t>process/verification.md</a:t>
                      </a:r>
                      <a:r>
                        <a:rPr sz="1300">
                          <a:latin typeface="Tahoma"/>
                        </a:rPr>
                        <a:t> (VER)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how conformance is checked, and by what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always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343400"/>
            <a:ext cx="2468880" cy="82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CLAUDE.md</a:t>
            </a:r>
            <a:r>
              <a:rPr sz="1200" b="1">
                <a:solidFill>
                  <a:srgbClr val="FFFFFF"/>
                </a:solidFill>
                <a:latin typeface="Tahoma"/>
              </a:rPr>
              <a:t> — the loader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ahoma"/>
              </a:rPr>
              <a:t>names the documents; two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291840"/>
            <a:ext cx="3108960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note-format-spec.md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the governing document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108960" y="3575304"/>
            <a:ext cx="731520" cy="1179576"/>
          </a:xfrm>
          <a:prstGeom prst="line">
            <a:avLst/>
          </a:prstGeom>
          <a:ln w="158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40480" y="4041648"/>
            <a:ext cx="3108960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process/spec-audit.md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AUD — run when asked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4325112"/>
            <a:ext cx="731520" cy="429768"/>
          </a:xfrm>
          <a:prstGeom prst="line">
            <a:avLst/>
          </a:prstGeom>
          <a:ln w="158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40480" y="4791456"/>
            <a:ext cx="3108960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process/reporting.md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RPT — always loaded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4754880"/>
            <a:ext cx="731520" cy="320040"/>
          </a:xfrm>
          <a:prstGeom prst="line">
            <a:avLst/>
          </a:prstGeom>
          <a:ln w="158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0480" y="5541264"/>
            <a:ext cx="3108960" cy="5669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Consolas"/>
              </a:rPr>
              <a:t>process/verification.md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VER — always loaded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4754880"/>
            <a:ext cx="731520" cy="1069847"/>
          </a:xfrm>
          <a:prstGeom prst="line">
            <a:avLst/>
          </a:prstGeom>
          <a:ln w="15875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749039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3749039"/>
            <a:ext cx="0" cy="457201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49440" y="420624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3840480"/>
            <a:ext cx="118872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audited by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448056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448056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949440" y="493776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43800" y="4572000"/>
            <a:ext cx="1371600" cy="27432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gap list, RPT-1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0" y="576072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06640" y="521208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949440" y="521208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43800" y="5285232"/>
            <a:ext cx="1828800" cy="402336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conformance report,</a:t>
            </a:r>
          </a:p>
          <a:p>
            <a:pPr algn="ctr">
              <a:spcBef>
                <a:spcPts val="600"/>
              </a:spcBef>
            </a:pPr>
            <a:r>
              <a:rPr sz="1100">
                <a:latin typeface="Tahoma"/>
              </a:rPr>
              <a:t>RPT-2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49440" y="3383280"/>
            <a:ext cx="25603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09760" y="3383280"/>
            <a:ext cx="0" cy="2560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49440" y="5943600"/>
            <a:ext cx="25603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46920" y="4434840"/>
            <a:ext cx="2103120" cy="45720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realizations verified</a:t>
            </a:r>
          </a:p>
          <a:p>
            <a:pPr algn="ctr">
              <a:spcBef>
                <a:spcPts val="600"/>
              </a:spcBef>
            </a:pPr>
            <a:r>
              <a:rPr sz="1100">
                <a:latin typeface="Tahoma"/>
              </a:rPr>
              <a:t>against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Evaluating a specification: five properties, as an audit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Property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Rule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The test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Unambiguous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AUD-1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could two careful readers decide a clause differently?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Internally consistent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AUD-2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do two clauses that constrain the same thing state their relationship?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Externally consistent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AUD-3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across documents: one vocabulary; nothing one document requires that another's artifact cannot satisfy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Complete for its level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AUD-4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the walkthrough: perform each operation on paper; what did you invent?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Traceable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AUD-5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can a report, a test, a later document cite this clause — still, after the next change?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709160"/>
            <a:ext cx="1042416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>
                <a:latin typeface="Tahoma"/>
              </a:rPr>
              <a:t>AUD-6: search within a document, between documents, and between a document and executing it.</a:t>
            </a:r>
          </a:p>
          <a:p>
            <a:pPr algn="l">
              <a:spcBef>
                <a:spcPts val="600"/>
              </a:spcBef>
            </a:pPr>
            <a:r>
              <a:rPr sz="1600">
                <a:latin typeface="Tahoma"/>
              </a:rPr>
              <a:t>AUD-7: the output is a numbered gap list (RPT-1); then stop and wait for rulings.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audit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1463040" y="2377440"/>
            <a:ext cx="9235440" cy="2011680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>
                <a:solidFill>
                  <a:srgbClr val="310066"/>
                </a:solidFill>
                <a:latin typeface="Tahoma"/>
              </a:rPr>
              <a:t>Before anything realizes the specification, the specification is examined.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audit prompt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0424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" bIns="27432"/>
          <a:lstStyle/>
          <a:p>
            <a:pPr algn="l"/>
            <a:r>
              <a:rPr sz="1700">
                <a:solidFill>
                  <a:srgbClr val="000000"/>
                </a:solidFill>
                <a:latin typeface="Tahoma"/>
              </a:rPr>
              <a:t>Read </a:t>
            </a:r>
            <a:r>
              <a:rPr sz="1700">
                <a:solidFill>
                  <a:srgbClr val="000000"/>
                </a:solidFill>
                <a:latin typeface="Consolas"/>
              </a:rPr>
              <a:t>note-format-spec.md</a:t>
            </a:r>
            <a:r>
              <a:rPr sz="1700">
                <a:solidFill>
                  <a:srgbClr val="000000"/>
                </a:solidFill>
                <a:latin typeface="Tahoma"/>
              </a:rPr>
              <a:t> and the process documents. Run the audit in </a:t>
            </a:r>
            <a:r>
              <a:rPr sz="1700">
                <a:solidFill>
                  <a:srgbClr val="000000"/>
                </a:solidFill>
                <a:latin typeface="Consolas"/>
              </a:rPr>
              <a:t>process/spec-audit.md</a:t>
            </a:r>
            <a:r>
              <a:rPr sz="1700">
                <a:solidFill>
                  <a:srgbClr val="000000"/>
                </a:solidFill>
                <a:latin typeface="Tahoma"/>
              </a:rPr>
              <a:t> on the specification and report per RPT-1: number every finding, place it, quote the text, categorize it, and give a recommended resolution. Include the walkthrough that AUD-4 asks for: write one conformant note on paper, step by step, and say what you had to invent. State which of the three places in AUD-6 you searched. Then stop and wait for my rulings.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91440" cy="265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>
                <a:latin typeface="Tahoma"/>
              </a:rPr>
              <a:t>The prompt says which document and which audit. What the audit is, and what its report looks like, is in the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Three findings, three rulings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8991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822960"/>
                <a:gridCol w="265176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Finding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Rule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Ruling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ahoma"/>
                        </a:rPr>
                        <a:t>Amendment</a:t>
                      </a:r>
                    </a:p>
                  </a:txBody>
                  <a:tcPr marL="64008" marR="64008" marT="27432" marB="27432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the scope sentence covers every markdown file; R6 names </a:t>
                      </a:r>
                      <a:r>
                        <a:rPr sz="1300">
                          <a:latin typeface="Consolas"/>
                        </a:rPr>
                        <a:t>index.md</a:t>
                      </a:r>
                      <a:r>
                        <a:rPr sz="1300">
                          <a:latin typeface="Tahoma"/>
                        </a:rPr>
                        <a:t>, which cannot satisfy R1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AUD-2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Consolas"/>
                        </a:rPr>
                        <a:t>index.md</a:t>
                      </a:r>
                      <a:r>
                        <a:rPr sz="1300">
                          <a:latin typeface="Tahoma"/>
                        </a:rPr>
                        <a:t> is not a note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scope statement: R1–R5 govern </a:t>
                      </a:r>
                      <a:r>
                        <a:rPr sz="1300">
                          <a:latin typeface="Consolas"/>
                        </a:rPr>
                        <a:t>notes/</a:t>
                      </a:r>
                      <a:r>
                        <a:rPr sz="1300">
                          <a:latin typeface="Tahoma"/>
                        </a:rPr>
                        <a:t>; R6 alone governs the index</a:t>
                      </a:r>
                    </a:p>
                  </a:txBody>
                  <a:tcPr marL="64008" marR="64008" marT="27432" marB="27432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R2 requires </a:t>
                      </a:r>
                      <a:r>
                        <a:rPr sz="1300">
                          <a:latin typeface="Consolas"/>
                        </a:rPr>
                        <a:t>title</a:t>
                      </a:r>
                      <a:r>
                        <a:rPr sz="1300">
                          <a:latin typeface="Tahoma"/>
                        </a:rPr>
                        <a:t>; R3 requires an H1; nothing says they agree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AUD-2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they are equal; the field is authoritative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R3 extended</a:t>
                      </a:r>
                    </a:p>
                  </a:txBody>
                  <a:tcPr marL="64008" marR="64008" marT="27432" marB="27432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R6 links to note files; no rule says what a note's filename is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AUD-4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derive it from the title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latin typeface="Tahoma"/>
                        </a:rPr>
                        <a:t>new R7: the slug of the title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51960"/>
            <a:ext cx="107899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>
                <a:latin typeface="Tahoma"/>
              </a:rPr>
              <a:t>Amendments proposed per RPT-3 — old text, new text, rationale, version, changelog — approved, applied: version 0.1 → 1.0.0. The specification moved before any realization existed.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When conformance fails: change S or change 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28600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Verify R against S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(person, agent, or program)</a:t>
            </a:r>
          </a:p>
        </p:txBody>
      </p:sp>
      <p:sp>
        <p:nvSpPr>
          <p:cNvPr id="6" name="Diamond 5"/>
          <p:cNvSpPr/>
          <p:nvPr/>
        </p:nvSpPr>
        <p:spPr>
          <a:xfrm>
            <a:off x="3154680" y="2103120"/>
            <a:ext cx="2194560" cy="13258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Conformance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holds?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25880"/>
            <a:ext cx="310896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/>
            </a:solidFill>
          </a:ln>
          <a:effectLst>
            <a:outerShdw blurRad="63500" dist="35921" dir="2700000" algn="ctr" rotWithShape="0">
              <a:schemeClr val="bg2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Record the result (RPT-2):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verifier, specification version, clauses checked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880360"/>
            <a:ext cx="246888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Decide which side moves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Tahoma"/>
              </a:rPr>
              <a:t>a person decides; the decision is recorded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2286000"/>
            <a:ext cx="2651760" cy="8686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Repair R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e.g. fix the date, the H1, the heading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3566160"/>
            <a:ext cx="2651760" cy="10058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Amend S (RPT-3)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propose → approve → edit → version bump → changelog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766060"/>
            <a:ext cx="22860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51960" y="1714500"/>
            <a:ext cx="0" cy="38862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51960" y="1714500"/>
            <a:ext cx="150876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43400" y="1481328"/>
            <a:ext cx="548640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2766060"/>
            <a:ext cx="1828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2120" y="2766060"/>
            <a:ext cx="0" cy="57150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3337560"/>
            <a:ext cx="22860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57800" y="2852928"/>
            <a:ext cx="457200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no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0" y="315468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641080" y="2720340"/>
            <a:ext cx="0" cy="43434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41080" y="272034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83879" y="2450592"/>
            <a:ext cx="960120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R is wrong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0" y="352044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352044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41080" y="406908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55279" y="4114800"/>
            <a:ext cx="1463040" cy="256032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>
                <a:latin typeface="Tahoma"/>
              </a:rPr>
              <a:t>S is wrong or silent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704320" y="2720340"/>
            <a:ext cx="22860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932920" y="2720340"/>
            <a:ext cx="0" cy="212598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783080" y="4846320"/>
            <a:ext cx="10149840" cy="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783080" y="3200400"/>
            <a:ext cx="0" cy="164592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78440" y="457200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>
                <a:latin typeface="Tahoma"/>
              </a:rPr>
              <a:t>A failed check reports a fact about the pair (S, R). It does not say which side is wrong. A person decides; the decision is recorded — in the changelog when S moves, in the commit message when R moves.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The verification gate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1463040" y="2377440"/>
            <a:ext cx="9235440" cy="2011680"/>
          </a:xfrm>
          <a:prstGeom prst="roundRect">
            <a:avLst>
              <a:gd name="adj" fmla="val 18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800">
                <a:solidFill>
                  <a:srgbClr val="310066"/>
                </a:solidFill>
                <a:latin typeface="Tahoma"/>
              </a:rPr>
              <a:t>A note written carelessly, in another editor, with nothing checking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A conformance report (RPT-2)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latin typeface="Tahoma"/>
              </a:rPr>
              <a:t>Verifier:</a:t>
            </a:r>
            <a:r>
              <a:rPr sz="1600">
                <a:latin typeface="Tahoma"/>
              </a:rPr>
              <a:t> agent (model, date). </a:t>
            </a:r>
            <a:r>
              <a:rPr sz="1600" b="1">
                <a:latin typeface="Tahoma"/>
              </a:rPr>
              <a:t>Specification:</a:t>
            </a:r>
            <a:r>
              <a:rPr sz="1600">
                <a:latin typeface="Tahoma"/>
              </a:rPr>
              <a:t> </a:t>
            </a:r>
            <a:r>
              <a:rPr sz="1600">
                <a:latin typeface="Consolas"/>
              </a:rPr>
              <a:t>note-format-spec.md</a:t>
            </a:r>
            <a:r>
              <a:rPr sz="1600">
                <a:latin typeface="Tahoma"/>
              </a:rPr>
              <a:t> 1.0.0. </a:t>
            </a:r>
            <a:r>
              <a:rPr sz="1600" b="1">
                <a:latin typeface="Tahoma"/>
              </a:rPr>
              <a:t>Checked:</a:t>
            </a:r>
            <a:r>
              <a:rPr sz="1600">
                <a:latin typeface="Tahoma"/>
              </a:rPr>
              <a:t> R1–R7. </a:t>
            </a:r>
            <a:r>
              <a:rPr sz="1600" b="1">
                <a:latin typeface="Tahoma"/>
              </a:rPr>
              <a:t>Not checked:</a:t>
            </a:r>
            <a:r>
              <a:rPr sz="1600">
                <a:latin typeface="Tahoma"/>
              </a:rPr>
              <a:t> none.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65960"/>
          <a:ext cx="10424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32918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In the file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Rule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Repair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>
                          <a:latin typeface="Consolas"/>
                        </a:rPr>
                        <a:t>created: Sept 11, 2026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R2 (since 0.1)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Consolas"/>
                        </a:rPr>
                        <a:t>2026-09-11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H1 </a:t>
                      </a:r>
                      <a:r>
                        <a:rPr sz="1400">
                          <a:latin typeface="Consolas"/>
                        </a:rPr>
                        <a:t>The Waterfall Paper</a:t>
                      </a:r>
                      <a:r>
                        <a:rPr sz="1400">
                          <a:latin typeface="Tahoma"/>
                        </a:rPr>
                        <a:t>; </a:t>
                      </a:r>
                      <a:r>
                        <a:rPr sz="1400">
                          <a:latin typeface="Consolas"/>
                        </a:rPr>
                        <a:t>title: Royce 1970 Waterfall Paper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R3 (amended an hour ago)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heading rewritten; the field is authoritative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 second H1, </a:t>
                      </a:r>
                      <a:r>
                        <a:rPr sz="1400">
                          <a:latin typeface="Consolas"/>
                        </a:rPr>
                        <a:t># My take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R4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demoted to </a:t>
                      </a:r>
                      <a:r>
                        <a:rPr sz="1400">
                          <a:latin typeface="Consolas"/>
                        </a:rPr>
                        <a:t>##</a:t>
                      </a:r>
                    </a:p>
                  </a:txBody>
                  <a:tcPr marL="64008" marR="64008" marT="27432" marB="27432" anchor="ctr"/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400">
                          <a:latin typeface="Consolas"/>
                        </a:rPr>
                        <a:t>####</a:t>
                      </a:r>
                      <a:r>
                        <a:rPr sz="1400">
                          <a:latin typeface="Tahoma"/>
                        </a:rPr>
                        <a:t> directly after </a:t>
                      </a:r>
                      <a:r>
                        <a:rPr sz="1400">
                          <a:latin typeface="Consolas"/>
                        </a:rPr>
                        <a:t>##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R5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demoted to </a:t>
                      </a:r>
                      <a:r>
                        <a:rPr sz="1400">
                          <a:latin typeface="Consolas"/>
                        </a:rPr>
                        <a:t>###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43484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latin typeface="Tahoma"/>
              </a:rPr>
              <a:t>Verdict:</a:t>
            </a:r>
            <a:r>
              <a:rPr sz="1800">
                <a:latin typeface="Tahoma"/>
              </a:rPr>
              <a:t> nonconformant. Repairs proposed; none applied.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Report before repair, then the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</a:pPr>
            <a:r>
              <a:rPr sz="2200"/>
              <a:t>RPT-4: nothing changes until the report has been read and a ruling given</a:t>
            </a:r>
          </a:p>
          <a:p>
            <a:pPr>
              <a:spcBef>
                <a:spcPts val="800"/>
              </a:spcBef>
            </a:pPr>
            <a:r>
              <a:rPr sz="2200"/>
              <a:t>The ruling: the specification is right; the note is wrong</a:t>
            </a:r>
          </a:p>
          <a:p>
            <a:pPr>
              <a:spcBef>
                <a:spcPts val="800"/>
              </a:spcBef>
            </a:pPr>
            <a:r>
              <a:rPr sz="2200"/>
              <a:t>The repair; the re-check passes; the commit names the operation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200"/>
              <a:t>The passing re-check is what "done" means: the task was to make the check pass, not to edit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200"/>
              <a:t>In the audit, S moved with no R present. Here, R moved with S held still. Both end with conformance re-established.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Three kinds of verifier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2468880"/>
                <a:gridCol w="2468880"/>
              </a:tblGrid>
              <a:tr h="457200"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ahoma"/>
                        </a:rPr>
                        <a:t>Human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ahoma"/>
                        </a:rPr>
                        <a:t>Agent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ahoma"/>
                        </a:rPr>
                        <a:t>Algorithmic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Cost per check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minutes of attention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tokens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milliseconds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Same result on repeat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not guaranteed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not guaranteed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Decides mechanical clauses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Decides judgment clauses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latin typeface="Tahoma"/>
                        </a:rPr>
                        <a:t>no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Composable into a gate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no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with effort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latin typeface="Tahoma"/>
                        </a:rPr>
                        <a:t>yes, via the exit code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34340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>
                <a:latin typeface="Tahoma"/>
              </a:rPr>
              <a:t>VER-1. Because every rule has an identifier, the three are comparable: all three cite R2–R5 on the same note.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Verifiers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sp>
        <p:nvSpPr>
          <p:cNvPr id="5" name="Rectangle 4"/>
          <p:cNvSpPr/>
          <p:nvPr/>
        </p:nvSpPr>
        <p:spPr>
          <a:xfrm>
            <a:off x="2194560" y="1371600"/>
            <a:ext cx="3017520" cy="777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Tahoma"/>
              </a:rPr>
              <a:t>Specification S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Consolas"/>
              </a:rPr>
              <a:t>note-format-spec.md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371600"/>
            <a:ext cx="3017520" cy="777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Tahoma"/>
              </a:rPr>
              <a:t>Realization R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Tahoma"/>
              </a:rPr>
              <a:t>a note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3383280" cy="1234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Human verifier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decides every clause, including judgment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minutes per check; attention-dependent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154680"/>
            <a:ext cx="3383280" cy="1234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Agent verifier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mechanical and judgment clauses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tokens per check; may vary run to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3154680"/>
            <a:ext cx="3383280" cy="1234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00000"/>
                </a:solidFill>
                <a:latin typeface="Tahoma"/>
              </a:rPr>
              <a:t>Algorithmic verifier: </a:t>
            </a:r>
            <a:r>
              <a:rPr sz="1200" b="1">
                <a:solidFill>
                  <a:srgbClr val="000000"/>
                </a:solidFill>
                <a:latin typeface="Consolas"/>
              </a:rPr>
              <a:t>check_notes.py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mechanical clauses only</a:t>
            </a:r>
          </a:p>
          <a:p>
            <a:pPr algn="ctr"/>
            <a:r>
              <a:rPr sz="1200">
                <a:solidFill>
                  <a:srgbClr val="000000"/>
                </a:solidFill>
                <a:latin typeface="Tahoma"/>
              </a:rPr>
              <a:t>free, immediate, deterministic; exit 0 / 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5394960"/>
            <a:ext cx="6858000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Reports that cite the same rule identifiers (RPT-2)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331720" y="2148840"/>
            <a:ext cx="41148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2148840"/>
            <a:ext cx="237744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148840"/>
            <a:ext cx="516636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651760" y="2148840"/>
            <a:ext cx="4846319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309360" y="2148840"/>
            <a:ext cx="214884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20" y="2148840"/>
            <a:ext cx="64008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31720" y="4389120"/>
            <a:ext cx="132588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4389120"/>
            <a:ext cx="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503920" y="4389120"/>
            <a:ext cx="1325880" cy="1005840"/>
          </a:xfrm>
          <a:prstGeom prst="line">
            <a:avLst/>
          </a:prstGeom>
          <a:ln w="12700">
            <a:solidFill>
              <a:srgbClr val="0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Mechanical clauses, judgment clauses —</a:t>
            </a:r>
            <a:br/>
            <a:r>
              <a:rPr sz="3000"/>
              <a:t>and the verifier as a realization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</a:pPr>
            <a:r>
              <a:rPr sz="2000" b="1"/>
              <a:t>VER-2.</a:t>
            </a:r>
            <a:r>
              <a:rPr sz="2000"/>
              <a:t> A clause is </a:t>
            </a:r>
            <a:r>
              <a:rPr sz="2000" i="1"/>
              <a:t>mechanical</a:t>
            </a:r>
            <a:r>
              <a:rPr sz="2000"/>
              <a:t> when a program can decide it from the file alone, </a:t>
            </a:r>
            <a:r>
              <a:rPr sz="2000" i="1"/>
              <a:t>judgment</a:t>
            </a:r>
            <a:r>
              <a:rPr sz="2000"/>
              <a:t> when it needs a reader. Every clause of 1.0.0 is mechanical. A program decides what it can; the rest is named, never assumed covered.</a:t>
            </a:r>
          </a:p>
          <a:p>
            <a:pPr>
              <a:spcBef>
                <a:spcPts val="800"/>
              </a:spcBef>
            </a:pPr>
            <a:r>
              <a:rPr sz="2000">
                <a:latin typeface="Consolas"/>
              </a:rPr>
              <a:t>check_notes.py</a:t>
            </a:r>
            <a:r>
              <a:rPr sz="2000"/>
              <a:t> is itself a realization of the specification. If it implements a rule wrongly, its results are wrong in a way its output does not show.</a:t>
            </a:r>
          </a:p>
          <a:p>
            <a:pPr>
              <a:spcBef>
                <a:spcPts val="800"/>
              </a:spcBef>
            </a:pPr>
            <a:r>
              <a:rPr sz="2000"/>
              <a:t>Who verifies the verifier: read it against the rules; test it on inputs with known violations; compare it with another verifier.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Six ways a verification result can be invalid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/>
              <a:t>Checked against the wrong </a:t>
            </a:r>
            <a:r>
              <a:rPr sz="1800" b="1"/>
              <a:t>version</a:t>
            </a:r>
            <a:r>
              <a:rPr sz="1800"/>
              <a:t> of S — a 1.0.0 verifier on 2.0.0 notes: a false pass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/>
              <a:t>The verifier </a:t>
            </a:r>
            <a:r>
              <a:rPr sz="1800" b="1"/>
              <a:t>mis-implements</a:t>
            </a:r>
            <a:r>
              <a:rPr sz="1800"/>
              <a:t> a clause; it is a realization too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/>
              <a:t>Checked from </a:t>
            </a:r>
            <a:r>
              <a:rPr sz="1800" b="1"/>
              <a:t>memory</a:t>
            </a:r>
            <a:r>
              <a:rPr sz="1800"/>
              <a:t> rather than from the document (the loader's first rule)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 b="1"/>
              <a:t>Clauses not decided</a:t>
            </a:r>
            <a:r>
              <a:rPr sz="1800"/>
              <a:t>: a pass says nothing about clauses the verifier does not decide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 b="1"/>
              <a:t>Attention</a:t>
            </a:r>
            <a:r>
              <a:rPr sz="1800"/>
              <a:t>: the human is the verifier for everything no process checks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1800"/>
              <a:t>A </a:t>
            </a:r>
            <a:r>
              <a:rPr sz="1800" b="1"/>
              <a:t>defective S</a:t>
            </a:r>
            <a:r>
              <a:rPr sz="1800"/>
              <a:t>: before the amendments, no </a:t>
            </a:r>
            <a:r>
              <a:rPr sz="1800">
                <a:latin typeface="Consolas"/>
              </a:rPr>
              <a:t>index.md</a:t>
            </a:r>
            <a:r>
              <a:rPr sz="1800"/>
              <a:t> could conform</a:t>
            </a:r>
          </a:p>
          <a:p>
            <a:pPr marL="0" indent="0">
              <a:spcBef>
                <a:spcPts val="1000"/>
              </a:spcBef>
              <a:buNone/>
            </a:pPr>
            <a:r>
              <a:rPr sz="1800"/>
              <a:t>Verification is not proof. It is evidence within a scope — which verifier, which version, which clauses — and RPT-2 requires the scope to be stated.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What the process documents did today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566160"/>
                <a:gridCol w="5394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Document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Used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latin typeface="Tahoma"/>
                        </a:rPr>
                        <a:t>For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AUD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once, when asked, before anything was built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the gap list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RPT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throughout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a gap list (RPT-1), two conformance reports (RPT-2), an amendment proposal (RPT-3), report-before-repair (RPT-4)</a:t>
                      </a:r>
                    </a:p>
                  </a:txBody>
                  <a:tcPr marL="64008" marR="64008" marT="27432" marB="27432" anchor="ctr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VER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throughout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latin typeface="Tahoma"/>
                        </a:rPr>
                        <a:t>three kinds of verifier (VER-1); mechanical and judgment clauses (VER-2)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931920"/>
            <a:ext cx="104241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>
                <a:latin typeface="Tahoma"/>
              </a:rPr>
              <a:t>Not yet present: operations on the set, a statement of what the set is </a:t>
            </a:r>
            <a:r>
              <a:rPr sz="1800" i="1">
                <a:latin typeface="Tahoma"/>
              </a:rPr>
              <a:t>for</a:t>
            </a:r>
            <a:r>
              <a:rPr sz="1800">
                <a:latin typeface="Tahoma"/>
              </a:rPr>
              <a:t>, the rule that conformance is an invariant while the set changes. Lecture 02.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Exercise 1, and Project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0" indent="0">
              <a:spcBef>
                <a:spcPts val="1000"/>
              </a:spcBef>
              <a:buNone/>
            </a:pPr>
            <a:r>
              <a:rPr sz="2000" b="1"/>
              <a:t>Exercise 1</a:t>
            </a:r>
            <a:r>
              <a:rPr sz="2000"/>
              <a:t> — run the audit and verification segments yourself; write one note carelessly; check it with all three kinds of verifier; report with RPT-2 scope lines; explain one disagreement; say which side should have moved and how each verifier could have been wrong. Due before Lecture 03.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000" b="1"/>
              <a:t>Project 0</a:t>
            </a:r>
            <a:r>
              <a:rPr sz="2000"/>
              <a:t> — the same structure at your scale: your PKB specification is this specification grown up; its checklist is R1–R7 grown up; the stretch-goal validator is </a:t>
            </a:r>
            <a:r>
              <a:rPr sz="2000">
                <a:latin typeface="Consolas"/>
              </a:rPr>
              <a:t>check_notes.py</a:t>
            </a:r>
            <a:r>
              <a:rPr sz="2000"/>
              <a:t> grown up.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Questions to think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2000"/>
              <a:t>Name a property that specification 1.0.0 leaves unconstrained. Should it stay that way? If not, write the rule and say which kind of verifier decides it.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2000"/>
              <a:t>For the R3 finding, defend moving S instead of R. What would it cost?</a:t>
            </a:r>
          </a:p>
          <a:p>
            <a:pPr marL="365760" indent="-365760">
              <a:spcBef>
                <a:spcPts val="800"/>
              </a:spcBef>
              <a:buSzPct val="100000"/>
              <a:buFont typeface="+mn-lt"/>
              <a:buAutoNum type="arabicPeriod"/>
            </a:pPr>
            <a:r>
              <a:rPr sz="2000"/>
              <a:t>A compiler's type checker is an algorithmic verifier. Which failure modes apply, and who verifies that verifier?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Before next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</a:pPr>
            <a:r>
              <a:rPr sz="2000"/>
              <a:t>Read Royce (1970) and Meyer (1992); see </a:t>
            </a:r>
            <a:r>
              <a:rPr sz="2000">
                <a:latin typeface="Consolas"/>
              </a:rPr>
              <a:t>reading-list.md</a:t>
            </a:r>
            <a:r>
              <a:rPr sz="2000"/>
              <a:t>. Meyer's precondition and postcondition are the form the next lecture gives to an operation.</a:t>
            </a:r>
          </a:p>
          <a:p>
            <a:pPr>
              <a:spcBef>
                <a:spcPts val="800"/>
              </a:spcBef>
            </a:pPr>
            <a:r>
              <a:rPr sz="2000"/>
              <a:t>Read the Lecture 02 handout: the draft concept of operations and the three process documents Lecture 02 adds.</a:t>
            </a:r>
          </a:p>
          <a:p>
            <a:pPr>
              <a:spcBef>
                <a:spcPts val="800"/>
              </a:spcBef>
            </a:pPr>
            <a:r>
              <a:rPr sz="2000"/>
              <a:t>Exercise 1 is due before Lecture 03; Project 0 continues.</a:t>
            </a:r>
          </a:p>
          <a:p>
            <a:pPr marL="0" indent="0">
              <a:spcBef>
                <a:spcPts val="1000"/>
              </a:spcBef>
              <a:buNone/>
            </a:pPr>
            <a:r>
              <a:rPr sz="2000" b="1"/>
              <a:t>Next meeting:</a:t>
            </a:r>
            <a:r>
              <a:rPr sz="2000"/>
              <a:t> what the set is for; operations with contracts; the specification as an invariant while the set changes.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0" sz="quarter"/>
          </p:nvPr>
        </p:nvSpPr>
        <p:spPr/>
        <p:txBody>
          <a:bodyPr/>
          <a:p>
            <a:r>
              <a:t>Agentic Software Engineering — SE Module, Lecture 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1" sz="quarter"/>
          </p:nvPr>
        </p:nvSpPr>
        <p:spPr/>
        <p:txBody>
          <a:bodyPr/>
          <a:p>
            <a:fld id="{6E0AA622-F4CE-604D-A669-CD3D12FC535C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ins Masters: Covers">
  <a:themeElements>
    <a:clrScheme name="1: RTX PRIMARY PALETTE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63666A"/>
      </a:accent2>
      <a:accent3>
        <a:srgbClr val="B1B3B3"/>
      </a:accent3>
      <a:accent4>
        <a:srgbClr val="D9D9D6"/>
      </a:accent4>
      <a:accent5>
        <a:srgbClr val="F7F7F7"/>
      </a:accent5>
      <a:accent6>
        <a:srgbClr val="FFFFFF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Collins_PPT_Non_tech_data_16x9_internal" id="{B82BE9C0-C93E-B342-83A7-9B688A9500D2}" vid="{3BB40FCB-6667-1E47-BE2D-5EA748AB28C3}"/>
    </a:ext>
  </a:extLst>
</a:theme>
</file>

<file path=ppt/theme/theme7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990099"/>
      </a:dk2>
      <a:lt2>
        <a:srgbClr val="1C1C1C"/>
      </a:lt2>
      <a:accent1>
        <a:srgbClr val="6E1EC6"/>
      </a:accent1>
      <a:accent2>
        <a:srgbClr val="FFCF01"/>
      </a:accent2>
      <a:accent3>
        <a:srgbClr val="FFFFFF"/>
      </a:accent3>
      <a:accent4>
        <a:srgbClr val="000000"/>
      </a:accent4>
      <a:accent5>
        <a:srgbClr val="BAABDF"/>
      </a:accent5>
      <a:accent6>
        <a:srgbClr val="E7BB01"/>
      </a:accent6>
      <a:hlink>
        <a:srgbClr val="00CC00"/>
      </a:hlink>
      <a:folHlink>
        <a:srgbClr val="990099"/>
      </a:folHlink>
    </a:clrScheme>
    <a:fontScheme name="Blends">
      <a:majorFont>
        <a:latin typeface="Microsoft Sans Serif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RTX Colors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464648"/>
      </a:accent2>
      <a:accent3>
        <a:srgbClr val="6B6B6D"/>
      </a:accent3>
      <a:accent4>
        <a:srgbClr val="89898A"/>
      </a:accent4>
      <a:accent5>
        <a:srgbClr val="B8B8B9"/>
      </a:accent5>
      <a:accent6>
        <a:srgbClr val="D4D4D5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RTX Colors">
      <a:dk1>
        <a:sysClr val="windowText" lastClr="000000"/>
      </a:dk1>
      <a:lt1>
        <a:sysClr val="window" lastClr="FFFFFF"/>
      </a:lt1>
      <a:dk2>
        <a:srgbClr val="CE1126"/>
      </a:dk2>
      <a:lt2>
        <a:srgbClr val="FFFFFF"/>
      </a:lt2>
      <a:accent1>
        <a:srgbClr val="000000"/>
      </a:accent1>
      <a:accent2>
        <a:srgbClr val="464648"/>
      </a:accent2>
      <a:accent3>
        <a:srgbClr val="6B6B6D"/>
      </a:accent3>
      <a:accent4>
        <a:srgbClr val="89898A"/>
      </a:accent4>
      <a:accent5>
        <a:srgbClr val="B8B8B9"/>
      </a:accent5>
      <a:accent6>
        <a:srgbClr val="D4D4D5"/>
      </a:accent6>
      <a:hlink>
        <a:srgbClr val="CE1126"/>
      </a:hlink>
      <a:folHlink>
        <a:srgbClr val="000000"/>
      </a:folHlink>
    </a:clrScheme>
    <a:fontScheme name="RTX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WrappedLabelHistory xmlns:xsi="http://www.w3.org/2001/XMLSchema-instance" xmlns:xsd="http://www.w3.org/2001/XMLSchema" xmlns="http://www.boldonjames.com/2016/02/Classifier/internal/wrappedLabelHistory">
  <Value>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+VVNcbnJwMDI0MTU4MjwvVXNlck5hbWU+PERhdGVUaW1lPjIvMTIvMjAyMCAyOjQ5OjE3IFBNPC9EYXRlVGltZT48TGFiZWxTdHJpbmc+T3JpZ2luIEp1cmlzZGljdGlvbjogVVMg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+VVNcbnJwMDI0MTU4MjwvVXNlck5hbWU+PERhdGVUaW1lPjIvMTIvMjAyMCAzOjAzOjA5IFBNPC9EYXRlVGltZT48TGFiZWxTdHJpbmc+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yLzIwMjAgMzoyODo1NyBQTTwvRGF0ZVRpbWU+PExhYmVsU3RyaW5nPk9yaWdpbiBKdXJpc2RpY3Rpb246IFVTICB8IFJheXRoZW9uIFByb3ByaWV0YXJ5IHwgUGVyIEN1cnJlbnQgUmF5dGhlb24gUG9saWN5IChSUC1PR0MtMDM1KSB8IFVTLUlUQVIgQ29udHJvbGx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yLzE0LzIwMjAgNDo0Mjo0NCBQTTwvRGF0ZVRpbWU+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L3Npc2w+PFVzZXJOYW1lPlVTXG5ycDAyNDE1ODI8L1VzZXJOYW1lPjxEYXRlVGltZT4yLzE0LzIwMjAgNjoyOTozNC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+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+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+VVNcbnJwMDI0MTU4MjwvVXNlck5hbWU+PERhdGVUaW1lPjIvMTgvMjAyMCA0OjU4OjI4IFBNPC9EYXRlVGltZT48TGFiZWxTdHJpbmc+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+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+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zLzcvMjAyMCA4OjIzOjM2IFBNPC9EYXRlVGltZT48TGFiZWxTdHJpbmc+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+PC9zaXNsPjxVc2VyTmFtZT5VU1xucnAwMjQxNTgyPC9Vc2VyTmFtZT48RGF0ZVRpbWU+My83LzIwMjAgODoyNDo0OSBQTTwvRGF0ZVRpbWU+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+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+PC9zaXNsPjxVc2VyTmFtZT5VU1wxMTAzMDg1PC9Vc2VyTmFtZT48RGF0ZVRpbWU+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+PGl0ZW0+PHNpc2wgc2lzbFZlcnNpb249IjAiIHBvbGljeT0iY2RlNTNhYzEtYmY1Zi00YWFlLTljZjEtMDc1MDllMjNhNGIwIiBvcmlnaW49InVzZXJTZWxlY3RlZCIgLz48VXNlck5hbWU+VVNcMTEwMzA4NTwvVXNlck5hbWU+PERhdGVUaW1lPjMvMTMvMjAyMCAxMDowMjo0NC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+PC9pdGVtPjxpdGVtPjxzaXNsIHNpc2xWZXJzaW9uPSIwIiBwb2xpY3k9ImNkZTUzYWMxLWJmNWYtNGFhZS05Y2YxLTA3NTA5ZTIzYTRiMCIgb3JpZ2luPSJ1c2VyU2VsZWN0ZWQiIC8+PFVzZXJOYW1lPlVTXG5ycDAyNDE1ODI8L1VzZXJOYW1lPjxEYXRlVGltZT4zLzMwLzIwMjAgMTo1MzoxNyBQTTwvRGF0ZVRpbWU+PExhYmVsU3RyaW5nPlRoaXMgYXJ0aWZhY3QgaGFzIG5vIGNsYXNzaWZpY2F0aW9uLjwvTGFiZWxTdHJpbmc+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+PGVsZW1lbnQgdWlkPSJhMDZkYTRkYS1hMjYzLTQxMzYtYjRmZC1mMjhhMTdkMzAxODg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+PGVsZW1lbnQgdWlkPSI5MmU5OTNhMy1hZjMyLTRhZmItYWExOS0zYTQ5Y2RiODJjN2EiIHZhbHVlPSIiIHhtbG5zPSJodHRwOi8vd3d3LmJvbGRvbmphbWVzLmNvbS8yMDA4LzAxL3NpZS9pbnRlcm5hbC9sYWJlbCIgLz48L3Npc2w+PFVzZXJOYW1lPlVTXG5ycDAyNDE1ODI8L1VzZXJOYW1lPjxEYXRlVGltZT40LzIvMjAyMCAzOjQ5OjE3IFBNPC9EYXRlVGltZT48TGFiZWxTdHJpbmc+T3JpZ2luIEp1cmlzZGljdGlvbjogVVMgIHwgVGhpcmQgUGFydHkgUHJvcHJpZXRhcnkgLSBOZWVkIHRvIEtub3cgfCBVc2UgUHJlZXhpc3RpbmcgTWFya2luZyAobm90IGFwcGxpZWQgYnkgdGhpcyB0b29sKSB8IE90aGVyIEluZm9ybWF0aW9uIChOb3QgUmVxdWlyaW5nIGFuIEV4cG9ydCBDb250cm9sIE1hcmtpbmcpIHwgTm8gbWFya2luZyBhcHBsaWVkIGJ5IHRoZSB0b29sPC9MYWJlbFN0cmluZz48L2l0ZW0+PGl0ZW0+PHNpc2wgc2lzbFZlcnNpb249IjAiIHBvbGljeT0iY2RlNTNhYzEtYmY1Zi00YWFlLTljZjEtMDc1MDllMjNhNGIwIiBvcmlnaW49InVzZXJTZWxlY3RlZCIgLz48VXNlck5hbWU+VVNcMTEwMzA4NTwvVXNlck5hbWU+PERhdGVUaW1lPjQvMjAvMjAyMCA2OjI2OjU0IFBNPC9EYXRlVGltZT48TGFiZWxTdHJpbmc+VGhpcyBhcnRpZmFjdCBoYXMgbm8gY2xhc3NpZmljYXRpb24uPC9MYWJlbFN0cmluZz48L2l0ZW0+PGl0ZW0+PHNpc2wgc2lzbFZlcnNpb249IjAiIHBvbGljeT0iY2RlNTNhYzEtYmY1Zi00YWFlLTljZjEtMDc1MDllMjNhNGIwIiBvcmlnaW49ImRlZmF1bHRWYWx1ZSI+PGVsZW1lbnQgdWlkPSJiYmE5NGM2NS1hYzNkLTRmMzQtYjJlMS04ZGUxMWVmNmYwMWMiIHZhbHVlPSIiIHhtbG5zPSJodHRwOi8vd3d3LmJvbGRvbmphbWVzLmNvbS8yMDA4LzAxL3NpZS9pbnRlcm5hbC9sYWJlbCIgLz48L3Npc2w+PFVzZXJOYW1lPlVTXG5ycDAyNDE1ODI8L1VzZXJOYW1lPjxEYXRlVGltZT4xMC83LzIwMjAgNDowMjo0NSBQTTwvRGF0ZVRpbWU+PExhYmVsU3RyaW5nPk9yaWdpbiBKdXJpc2RpY3Rpb246IFVTIDwvTGFiZWxTdHJpbmc+PC9pdGVtPjwvbGFiZWxIaXN0b3J5Pg==</Value>
</WrappedLabelHistory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VIOLATION xmlns="753e5dbd-8faa-4cd2-a40a-88c25858900e">FALSE</VIOLATION>
    <SharedWithUsers xmlns="2b0f7bea-0413-45a1-baf2-d1833301f0a3">
      <UserInfo>
        <DisplayName>Tahat, Amer                            Collins</DisplayName>
        <AccountId>34</AccountId>
        <AccountType/>
      </UserInfo>
      <UserInfo>
        <DisplayName>Kramer, Sara                            Collins</DisplayName>
        <AccountId>41</AccountId>
        <AccountType/>
      </UserInfo>
      <UserInfo>
        <DisplayName>Wijesekara, Yeshani D                            Collins</DisplayName>
        <AccountId>44</AccountId>
        <AccountType/>
      </UserInfo>
      <UserInfo>
        <DisplayName>Carcangiu, Simone                           Export License Required - US Collins</DisplayName>
        <AccountId>55</AccountId>
        <AccountType/>
      </UserInfo>
      <UserInfo>
        <DisplayName>Sofronis, Christos                           Export License Required - US Collins</DisplayName>
        <AccountId>56</AccountId>
        <AccountType/>
      </UserInfo>
    </SharedWithUsers>
    <lcf76f155ced4ddcb4097134ff3c332f xmlns="753e5dbd-8faa-4cd2-a40a-88c25858900e">
      <Terms xmlns="http://schemas.microsoft.com/office/infopath/2007/PartnerControls"/>
    </lcf76f155ced4ddcb4097134ff3c332f>
    <TaxCatchAll xmlns="2b0f7bea-0413-45a1-baf2-d1833301f0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012FDC1D4354E98E11BE167F4924F" ma:contentTypeVersion="15" ma:contentTypeDescription="Create a new document." ma:contentTypeScope="" ma:versionID="ee7bbbec8c70d8a105990da3d4a313c8">
  <xsd:schema xmlns:xsd="http://www.w3.org/2001/XMLSchema" xmlns:xs="http://www.w3.org/2001/XMLSchema" xmlns:p="http://schemas.microsoft.com/office/2006/metadata/properties" xmlns:ns1="http://schemas.microsoft.com/sharepoint/v3" xmlns:ns2="753e5dbd-8faa-4cd2-a40a-88c25858900e" xmlns:ns3="2b0f7bea-0413-45a1-baf2-d1833301f0a3" targetNamespace="http://schemas.microsoft.com/office/2006/metadata/properties" ma:root="true" ma:fieldsID="26901830fb53b027f9814912c0dd6b18" ns1:_="" ns2:_="" ns3:_="">
    <xsd:import namespace="http://schemas.microsoft.com/sharepoint/v3"/>
    <xsd:import namespace="753e5dbd-8faa-4cd2-a40a-88c25858900e"/>
    <xsd:import namespace="2b0f7bea-0413-45a1-baf2-d1833301f0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VIOL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e5dbd-8faa-4cd2-a40a-88c2585890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5da18db-0dbb-493a-8358-0ebfa2dc99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VIOLATION" ma:index="20" nillable="true" ma:displayName="VIOLATION" ma:internalName="VIOLATION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0f7bea-0413-45a1-baf2-d1833301f0a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8818af6-7cc3-44cc-bda2-686339767069}" ma:internalName="TaxCatchAll" ma:showField="CatchAllData" ma:web="2b0f7bea-0413-45a1-baf2-d1833301f0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sisl xmlns:xsi="http://www.w3.org/2001/XMLSchema-instance" xmlns:xsd="http://www.w3.org/2001/XMLSchema" xmlns="http://www.boldonjames.com/2008/01/sie/internal/label" sislVersion="0" policy="cde53ac1-bf5f-4aae-9cf1-07509e23a4b0" origin="defaultValue">
  <element uid="bba94c65-ac3d-4f34-b2e1-8de11ef6f01c" value=""/>
</sisl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F20A76-F421-4C7E-9FA5-EB9918BB68FF}">
  <ds:schemaRefs>
    <ds:schemaRef ds:uri="http://www.boldonjames.com/2016/02/Classifier/internal/wrappedLabelHistory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992B585-A4B9-4C42-9AB2-69742D208DAF}">
  <ds:schemaRefs>
    <ds:schemaRef ds:uri="2b0f7bea-0413-45a1-baf2-d1833301f0a3"/>
    <ds:schemaRef ds:uri="753e5dbd-8faa-4cd2-a40a-88c2585890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2EE6978-602F-4E1E-86C3-E0B15D47F80B}">
  <ds:schemaRefs>
    <ds:schemaRef ds:uri="2b0f7bea-0413-45a1-baf2-d1833301f0a3"/>
    <ds:schemaRef ds:uri="753e5dbd-8faa-4cd2-a40a-88c2585890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5489B1DF-446C-4290-BB79-EA688A1291AC}">
  <ds:schemaRefs>
    <ds:schemaRef ds:uri="http://www.boldonjames.com/2008/01/sie/internal/label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4E5169E7-2729-4230-9755-7A49F75A3C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Collins_PPT_Non_tech_data_16x9_internal</Template>
  <TotalTime>74185</TotalTime>
  <Words>5099</Words>
  <Application>Microsoft Macintosh PowerPoint</Application>
  <PresentationFormat>Widescreen</PresentationFormat>
  <Paragraphs>712</Paragraphs>
  <Slides>43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43</vt:i4>
      </vt:variant>
    </vt:vector>
  </HeadingPairs>
  <TitlesOfParts>
    <vt:vector size="64" baseType="lpstr">
      <vt:lpstr>Arial</vt:lpstr>
      <vt:lpstr>Arial Regular</vt:lpstr>
      <vt:lpstr>Consolas</vt:lpstr>
      <vt:lpstr>Courier New</vt:lpstr>
      <vt:lpstr>DIN-Light</vt:lpstr>
      <vt:lpstr>Microsoft Sans Serif</vt:lpstr>
      <vt:lpstr>Noto Sans Symbols</vt:lpstr>
      <vt:lpstr>Tahoma</vt:lpstr>
      <vt:lpstr>Times New Roman</vt:lpstr>
      <vt:lpstr>Verdana</vt:lpstr>
      <vt:lpstr>Wingdings</vt:lpstr>
      <vt:lpstr>Collins Masters: Covers</vt:lpstr>
      <vt:lpstr>Collins Masters: Content</vt:lpstr>
      <vt:lpstr>Collins Masters: Section Breakers</vt:lpstr>
      <vt:lpstr>1_Collins Masters: Content</vt:lpstr>
      <vt:lpstr>2_Collins Masters: Content</vt:lpstr>
      <vt:lpstr>Collins Aerospace 16x9</vt:lpstr>
      <vt:lpstr>Blends</vt:lpstr>
      <vt:lpstr>1_Collins Aerospace 16x9</vt:lpstr>
      <vt:lpstr>2_Collins Aerospace 16x9</vt:lpstr>
      <vt:lpstr>3_Collins Aerospace 16x9</vt:lpstr>
      <vt:lpstr>Rigorous Agentic Systems Engineering  for seL4 using HAMR </vt:lpstr>
      <vt:lpstr>HAMR</vt:lpstr>
      <vt:lpstr>Potential Benefits to seL4 Application Developers</vt:lpstr>
      <vt:lpstr>Potential Benefits to seL4 Application Developers</vt:lpstr>
      <vt:lpstr>Challenges – In a World Rushing to Agentic Development</vt:lpstr>
      <vt:lpstr>Challenges – In a World Rushing to Agentic Development</vt:lpstr>
      <vt:lpstr>Our Vision:  Rigorous Agentic Systems Engineering</vt:lpstr>
      <vt:lpstr>Rigorous Agentic Systems Engineering</vt:lpstr>
      <vt:lpstr>Rigorous Agentic Systems Engineering</vt:lpstr>
      <vt:lpstr>Rigorous Agentic Systems Engineering</vt:lpstr>
      <vt:lpstr>Talk Outline / Arc</vt:lpstr>
      <vt:lpstr>INSPECTA Public Demonstrator: Open Platform Basic Architecture</vt:lpstr>
      <vt:lpstr>Functional Concepts</vt:lpstr>
      <vt:lpstr>VSCode SysMLv2 HAMR Front End</vt:lpstr>
      <vt:lpstr>VSCode SysMLv2 HAMR Front End</vt:lpstr>
      <vt:lpstr>HAMR Generates seL4 Kernel Configuration</vt:lpstr>
      <vt:lpstr>HAMR Allocates and Configures  1-Way Communication Paths Between Partitions</vt:lpstr>
      <vt:lpstr>HAMR Generates Scheduling Infrastructure  (Time Partitioning)</vt:lpstr>
      <vt:lpstr>HAMR Auto-generates Support for Component Application Code</vt:lpstr>
      <vt:lpstr>HAMR Auto-generates Support for Component Application Code</vt:lpstr>
      <vt:lpstr>HAMR Generates Correspondence Information</vt:lpstr>
      <vt:lpstr>Auto-generated System Feature Traceability for  Manage Heat Source Port (GitHub Markdown)</vt:lpstr>
      <vt:lpstr>HAMR Model / Code / Executable Alignment</vt:lpstr>
      <vt:lpstr>GUMBO – Behavioral Blueprints  via Multi-Level Contract Framework</vt:lpstr>
      <vt:lpstr>GUMBO – Multi-Level Contract Framework</vt:lpstr>
      <vt:lpstr>Towards a Repeatable and Auditable Engineering Process</vt:lpstr>
      <vt:lpstr>HAMR Agent Context Repo</vt:lpstr>
      <vt:lpstr>Agent Workflow Steps Specified  in HAMR Agent Context</vt:lpstr>
      <vt:lpstr>Example Workflow Steps – System Modeling (excerpts)</vt:lpstr>
      <vt:lpstr>Example: Controlled Experiment to Add MavLink Firewall</vt:lpstr>
      <vt:lpstr>Bird’s Eye View of Workflow Step Structure</vt:lpstr>
      <vt:lpstr>Input: Change Request Sketch</vt:lpstr>
      <vt:lpstr>Agents Transforms Change Request  Sketch Into Engineering Plan</vt:lpstr>
      <vt:lpstr>Agent-Produced Plan Waves (excerpts)</vt:lpstr>
      <vt:lpstr>Bird’s Eye View</vt:lpstr>
      <vt:lpstr>Bird’s Eye View</vt:lpstr>
      <vt:lpstr>Bird’s Eye View</vt:lpstr>
      <vt:lpstr>Bird’s Eye View</vt:lpstr>
      <vt:lpstr>Assessment</vt:lpstr>
      <vt:lpstr>Next Steps</vt:lpstr>
      <vt:lpstr>Key Takeaways</vt:lpstr>
      <vt:lpstr>Website / Documentation</vt:lpstr>
      <vt:lpstr>Workflow State is Automatically Maintained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Avionics CMS Gate 3 Template</dc:title>
  <dc:subject>[rtnipcontrolcode:rtnipcontrolcodenone||rtnexportcontrolcountry:usa|rtnexportcontrolcode:rtnexportcontrolcodenone||]</dc:subject>
  <dc:creator>Jaeger, Nic               Collins</dc:creator>
  <cp:keywords>AM Template</cp:keywords>
  <dc:description>AM Template;</dc:description>
  <cp:lastModifiedBy>John Hatcliff</cp:lastModifiedBy>
  <cp:revision>443</cp:revision>
  <cp:lastPrinted>2026-09-07T16:33:56Z</cp:lastPrinted>
  <dcterms:created xsi:type="dcterms:W3CDTF">2022-01-19T19:30:31Z</dcterms:created>
  <dcterms:modified xsi:type="dcterms:W3CDTF">2026-09-07T16:48:40Z</dcterms:modified>
  <cp:category>AM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bb64deb3-b5ac-4347-88a3-8a542b8e6f51</vt:lpwstr>
  </property>
  <property fmtid="{D5CDD505-2E9C-101B-9397-08002B2CF9AE}" pid="3" name="bjSaver">
    <vt:lpwstr>A2AB0OuaTTiL2YVHw3qxYann2Jd9uCN6</vt:lpwstr>
  </property>
  <property fmtid="{D5CDD505-2E9C-101B-9397-08002B2CF9AE}" pid="4" name="rtnipcontrolcode">
    <vt:lpwstr>rtnipcontrolcodenone</vt:lpwstr>
  </property>
  <property fmtid="{D5CDD505-2E9C-101B-9397-08002B2CF9AE}" pid="5" name="rtnexportcontrolcode">
    <vt:lpwstr>rtnexportcontrolcodenone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policy="cde53ac1-bf5f-4aae-9cf1-07509e23a4b0" origin="defaultValue" xmlns="http://www.boldonj</vt:lpwstr>
  </property>
  <property fmtid="{D5CDD505-2E9C-101B-9397-08002B2CF9AE}" pid="7" name="bjDocumentLabelXML-0">
    <vt:lpwstr>ames.com/2008/01/sie/internal/label"&gt;&lt;element uid="bba94c65-ac3d-4f34-b2e1-8de11ef6f01c" value="" /&gt;&lt;/sisl&gt;</vt:lpwstr>
  </property>
  <property fmtid="{D5CDD505-2E9C-101B-9397-08002B2CF9AE}" pid="8" name="bjDocumentSecurityLabel">
    <vt:lpwstr>Origin Jurisdiction: US </vt:lpwstr>
  </property>
  <property fmtid="{D5CDD505-2E9C-101B-9397-08002B2CF9AE}" pid="9" name="rtnexportcontrolcountry">
    <vt:lpwstr>usa</vt:lpwstr>
  </property>
  <property fmtid="{D5CDD505-2E9C-101B-9397-08002B2CF9AE}" pid="10" name="bjClsUserRVM">
    <vt:lpwstr>[]</vt:lpwstr>
  </property>
  <property fmtid="{D5CDD505-2E9C-101B-9397-08002B2CF9AE}" pid="11" name="bjLabelHistoryID">
    <vt:lpwstr>{45F20A76-F421-4C7E-9FA5-EB9918BB68FF}</vt:lpwstr>
  </property>
  <property fmtid="{D5CDD505-2E9C-101B-9397-08002B2CF9AE}" pid="12" name="MSIP_Label_a37ca26f-e25f-4770-9a89-55e6db4cfbd6_SetDate">
    <vt:lpwstr>2020-04-03T15:47:36.2221519Z</vt:lpwstr>
  </property>
  <property fmtid="{D5CDD505-2E9C-101B-9397-08002B2CF9AE}" pid="13" name="MSIP_Label_a37ca26f-e25f-4770-9a89-55e6db4cfbd6_Name">
    <vt:lpwstr>NO TECH DATA</vt:lpwstr>
  </property>
  <property fmtid="{D5CDD505-2E9C-101B-9397-08002B2CF9AE}" pid="14" name="CASize">
    <vt:lpwstr>W</vt:lpwstr>
  </property>
  <property fmtid="{D5CDD505-2E9C-101B-9397-08002B2CF9AE}" pid="15" name="MSIP_Label_a37ca26f-e25f-4770-9a89-55e6db4cfbd6_Application">
    <vt:lpwstr>Microsoft Azure Information Protection</vt:lpwstr>
  </property>
  <property fmtid="{D5CDD505-2E9C-101B-9397-08002B2CF9AE}" pid="16" name="UTC Classification">
    <vt:lpwstr>NO TECH DATA</vt:lpwstr>
  </property>
  <property fmtid="{D5CDD505-2E9C-101B-9397-08002B2CF9AE}" pid="17" name="MSIP_Label_a37ca26f-e25f-4770-9a89-55e6db4cfbd6_Extended_MSFT_Method">
    <vt:lpwstr>Manual</vt:lpwstr>
  </property>
  <property fmtid="{D5CDD505-2E9C-101B-9397-08002B2CF9AE}" pid="18" name="ContentTypeId">
    <vt:lpwstr>0x0101007E7012FDC1D4354E98E11BE167F4924F</vt:lpwstr>
  </property>
  <property fmtid="{D5CDD505-2E9C-101B-9397-08002B2CF9AE}" pid="19" name="MSIP_Label_a37ca26f-e25f-4770-9a89-55e6db4cfbd6_Owner">
    <vt:lpwstr>zastropw@azg.utcaus.com</vt:lpwstr>
  </property>
  <property fmtid="{D5CDD505-2E9C-101B-9397-08002B2CF9AE}" pid="20" name="MSIP_Label_a37ca26f-e25f-4770-9a89-55e6db4cfbd6_Enabled">
    <vt:lpwstr>True</vt:lpwstr>
  </property>
  <property fmtid="{D5CDD505-2E9C-101B-9397-08002B2CF9AE}" pid="21" name="MSIP_Label_a37ca26f-e25f-4770-9a89-55e6db4cfbd6_SiteId">
    <vt:lpwstr>ff460f77-8fa7-4946-ad6d-d50817a742fa</vt:lpwstr>
  </property>
  <property fmtid="{D5CDD505-2E9C-101B-9397-08002B2CF9AE}" pid="22" name="MSIP_Label_a37ca26f-e25f-4770-9a89-55e6db4cfbd6_ActionId">
    <vt:lpwstr>029ba2ca-3ec3-4a74-a9d9-492333a5ed1c</vt:lpwstr>
  </property>
  <property fmtid="{D5CDD505-2E9C-101B-9397-08002B2CF9AE}" pid="23" name="MSIP_Label_4447dd6a-a4a1-440b-a6a3-9124ef1ee017_Enabled">
    <vt:lpwstr>true</vt:lpwstr>
  </property>
  <property fmtid="{D5CDD505-2E9C-101B-9397-08002B2CF9AE}" pid="24" name="MSIP_Label_4447dd6a-a4a1-440b-a6a3-9124ef1ee017_SetDate">
    <vt:lpwstr>2022-09-22T01:10:54Z</vt:lpwstr>
  </property>
  <property fmtid="{D5CDD505-2E9C-101B-9397-08002B2CF9AE}" pid="25" name="MSIP_Label_4447dd6a-a4a1-440b-a6a3-9124ef1ee017_Method">
    <vt:lpwstr>Privileged</vt:lpwstr>
  </property>
  <property fmtid="{D5CDD505-2E9C-101B-9397-08002B2CF9AE}" pid="26" name="MSIP_Label_4447dd6a-a4a1-440b-a6a3-9124ef1ee017_Name">
    <vt:lpwstr>NO TECH DATA</vt:lpwstr>
  </property>
  <property fmtid="{D5CDD505-2E9C-101B-9397-08002B2CF9AE}" pid="27" name="MSIP_Label_4447dd6a-a4a1-440b-a6a3-9124ef1ee017_SiteId">
    <vt:lpwstr>7a18110d-ef9b-4274-acef-e62ab0fe28ed</vt:lpwstr>
  </property>
  <property fmtid="{D5CDD505-2E9C-101B-9397-08002B2CF9AE}" pid="28" name="MSIP_Label_4447dd6a-a4a1-440b-a6a3-9124ef1ee017_ActionId">
    <vt:lpwstr>2b5d91e4-2c21-4644-8d30-dadf71502cbd</vt:lpwstr>
  </property>
  <property fmtid="{D5CDD505-2E9C-101B-9397-08002B2CF9AE}" pid="29" name="MSIP_Label_4447dd6a-a4a1-440b-a6a3-9124ef1ee017_ContentBits">
    <vt:lpwstr>0</vt:lpwstr>
  </property>
  <property fmtid="{D5CDD505-2E9C-101B-9397-08002B2CF9AE}" pid="30" name="MediaServiceImageTags">
    <vt:lpwstr/>
  </property>
</Properties>
</file>
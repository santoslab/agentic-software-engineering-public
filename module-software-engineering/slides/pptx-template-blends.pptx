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Masters/slideMaster7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2"/>
  </p:sldMasterIdLst>
  <p:notesMasterIdLst>
    <p:notesMasterId r:id="rId59"/>
  </p:notesMasterIdLst>
  <p:handoutMasterIdLst>
    <p:handoutMasterId r:id="rId60"/>
  </p:handout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382648-2297-8FFC-B73F-AB124D6DE6DE}" name="Kaplan, Dan J                            Collins" initials="KDJC" userId="Kaplan, Dan J                            Collins" providerId="None"/>
  <p188:author id="{2D53BE49-35D9-EF15-1A32-A328DF3692BD}" name="Schroeder, Nancy A                            Collins" initials="SC" userId="S::10656689@adxuser.com::a39546d3-50b7-4369-86b3-1895d645d969" providerId="AD"/>
  <p188:author id="{6FDF37B6-3747-D076-79BF-E4A9A05A5DDD}" name="Sevestre, Stephane                           Export License Required - US Collins" initials="SSELRUC" userId="Sevestre, Stephane                           Export License Required - US Collins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Avitabile" initials="AA" lastIdx="1" clrIdx="0">
    <p:extLst>
      <p:ext uri="{19B8F6BF-5375-455C-9EA6-DF929625EA0E}">
        <p15:presenceInfo xmlns:p15="http://schemas.microsoft.com/office/powerpoint/2012/main" userId="S-1-5-21-1214440339-861567501-682003330-1365948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933C"/>
    <a:srgbClr val="C09C0F"/>
    <a:srgbClr val="6E1EC6"/>
    <a:srgbClr val="00B050"/>
    <a:srgbClr val="FFCC00"/>
    <a:srgbClr val="FFCCCC"/>
    <a:srgbClr val="D3D1E7"/>
    <a:srgbClr val="D9D9D6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49"/>
    <p:restoredTop sz="95545"/>
  </p:normalViewPr>
  <p:slideViewPr>
    <p:cSldViewPr snapToGrid="0">
      <p:cViewPr varScale="1">
        <p:scale>
          <a:sx n="153" d="100"/>
          <a:sy n="153" d="100"/>
        </p:scale>
        <p:origin x="264" y="144"/>
      </p:cViewPr>
      <p:guideLst>
        <p:guide orient="horz" pos="40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12" Type="http://schemas.openxmlformats.org/officeDocument/2006/relationships/slideMaster" Target="slideMasters/slideMaster7.xml"/><Relationship Id="rId59" Type="http://schemas.openxmlformats.org/officeDocument/2006/relationships/notesMaster" Target="notesMasters/notesMaster1.xml"/><Relationship Id="rId60" Type="http://schemas.openxmlformats.org/officeDocument/2006/relationships/handoutMaster" Target="handoutMasters/handoutMaster1.xml"/><Relationship Id="rId61" Type="http://schemas.openxmlformats.org/officeDocument/2006/relationships/commentAuthors" Target="commentAuthors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2"/>
          </p:nvPr>
        </p:nvSpPr>
        <p:spPr>
          <a:xfrm>
            <a:off x="0" y="8855038"/>
            <a:ext cx="6858000" cy="276999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>
              <a:defRPr sz="1200"/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3"/>
          </p:nvPr>
        </p:nvSpPr>
        <p:spPr>
          <a:xfrm>
            <a:off x="388620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C58B0-FFE9-437E-B2CB-216DAFA8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6732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2" pos="288" userDrawn="1">
          <p15:clr>
            <a:srgbClr val="F26B43"/>
          </p15:clr>
        </p15:guide>
        <p15:guide id="3" pos="4032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2624" y="692622"/>
            <a:ext cx="5517676" cy="310369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012556"/>
            <a:ext cx="5524500" cy="40942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4"/>
          </p:nvPr>
        </p:nvSpPr>
        <p:spPr>
          <a:xfrm>
            <a:off x="0" y="8774668"/>
            <a:ext cx="6858000" cy="369332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ctr">
              <a:defRPr lang="en-US"/>
            </a:lvl1pPr>
          </a:lstStyle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5"/>
          </p:nvPr>
        </p:nvSpPr>
        <p:spPr>
          <a:xfrm>
            <a:off x="3886200" y="918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F3A09-0EB5-429E-B7D0-FB28A772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1913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5888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87338" indent="-117475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57200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27063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0425" indent="-17145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32" userDrawn="1">
          <p15:clr>
            <a:srgbClr val="F26B43"/>
          </p15:clr>
        </p15:guide>
        <p15:guide id="2" pos="3912" userDrawn="1">
          <p15:clr>
            <a:srgbClr val="F26B43"/>
          </p15:clr>
        </p15:guide>
      </p15:sldGuideLst>
    </p:ext>
  </p:extLst>
</p:notesMaster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auto">
          <a:xfrm>
            <a:off x="0" y="0"/>
            <a:ext cx="12192000" cy="12954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5" name="Rectangle 18"/>
          <p:cNvSpPr>
            <a:spLocks noChangeArrowheads="1"/>
          </p:cNvSpPr>
          <p:nvPr userDrawn="1"/>
        </p:nvSpPr>
        <p:spPr bwMode="auto">
          <a:xfrm rot="16200000">
            <a:off x="-2425700" y="3721100"/>
            <a:ext cx="5562600" cy="7112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E685A3-5A44-F34A-9DD6-E549D5259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403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399C2-1ADD-1549-9753-CEA7C1EED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583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848EDB-E059-EE4C-BEE4-92ACBFC1A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048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334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600" y="1524000"/>
            <a:ext cx="5334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9051A-5116-C044-BC66-ED283B4D5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37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3A91B-A097-8F43-A5C5-A8482E10C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905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AA622-F4CE-604D-A669-CD3D12FC5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573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15124-8EB2-6E40-9E50-F98D2465D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853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EE25D-892F-FA42-8251-4062CB60CA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42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6E9B7-6EE0-8D46-8C36-993F30F20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397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14967-302F-6E48-8678-32FDE0F329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882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0"/>
            <a:ext cx="27178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0"/>
            <a:ext cx="79502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15ABF-0168-ED43-8055-FDAC86F85D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74883"/>
      </p:ext>
    </p:extLst>
  </p:cSld>
  <p:clrMapOvr>
    <a:masterClrMapping/>
  </p:clrMapOvr>
</p:sldLayout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7.xml"/></Relationships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/>
          <p:cNvSpPr>
            <a:spLocks noChangeArrowheads="1"/>
          </p:cNvSpPr>
          <p:nvPr userDrawn="1"/>
        </p:nvSpPr>
        <p:spPr bwMode="auto">
          <a:xfrm rot="-5400000">
            <a:off x="-2501900" y="3644900"/>
            <a:ext cx="5715000" cy="711200"/>
          </a:xfrm>
          <a:prstGeom prst="rect">
            <a:avLst/>
          </a:prstGeom>
          <a:gradFill rotWithShape="0">
            <a:gsLst>
              <a:gs pos="0">
                <a:srgbClr val="DDCBE7"/>
              </a:gs>
              <a:gs pos="100000">
                <a:srgbClr val="DDCBE7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5134" name="Rectangle 14"/>
          <p:cNvSpPr>
            <a:spLocks noChangeArrowheads="1"/>
          </p:cNvSpPr>
          <p:nvPr userDrawn="1"/>
        </p:nvSpPr>
        <p:spPr bwMode="auto">
          <a:xfrm>
            <a:off x="0" y="0"/>
            <a:ext cx="12192000" cy="11430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10871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524000"/>
            <a:ext cx="10871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D0B6DE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D0B6DE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fld id="{623F72AE-F2FC-1C4B-AEBE-5105C7AC91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8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-106" charset="2"/>
        <a:buChar char="n"/>
        <a:defRPr sz="32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-106" charset="2"/>
        <a:buChar char="n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106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-106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-106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ollins Masters: Covers">
  <a:themeElements>
    <a:clrScheme name="1: RTX PRIMARY PALETTE">
      <a:dk1>
        <a:sysClr val="windowText" lastClr="000000"/>
      </a:dk1>
      <a:lt1>
        <a:sysClr val="window" lastClr="FFFFFF"/>
      </a:lt1>
      <a:dk2>
        <a:srgbClr val="CE1126"/>
      </a:dk2>
      <a:lt2>
        <a:srgbClr val="FFFFFF"/>
      </a:lt2>
      <a:accent1>
        <a:srgbClr val="000000"/>
      </a:accent1>
      <a:accent2>
        <a:srgbClr val="63666A"/>
      </a:accent2>
      <a:accent3>
        <a:srgbClr val="B1B3B3"/>
      </a:accent3>
      <a:accent4>
        <a:srgbClr val="D9D9D6"/>
      </a:accent4>
      <a:accent5>
        <a:srgbClr val="F7F7F7"/>
      </a:accent5>
      <a:accent6>
        <a:srgbClr val="FFFFFF"/>
      </a:accent6>
      <a:hlink>
        <a:srgbClr val="CE1126"/>
      </a:hlink>
      <a:folHlink>
        <a:srgbClr val="000000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Collins_PPT_Non_tech_data_16x9_internal" id="{B82BE9C0-C93E-B342-83A7-9B688A9500D2}" vid="{3BB40FCB-6667-1E47-BE2D-5EA748AB28C3}"/>
    </a:ext>
  </a:extLst>
</a:theme>
</file>

<file path=ppt/theme/theme7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990099"/>
      </a:dk2>
      <a:lt2>
        <a:srgbClr val="1C1C1C"/>
      </a:lt2>
      <a:accent1>
        <a:srgbClr val="6E1EC6"/>
      </a:accent1>
      <a:accent2>
        <a:srgbClr val="FFCF01"/>
      </a:accent2>
      <a:accent3>
        <a:srgbClr val="FFFFFF"/>
      </a:accent3>
      <a:accent4>
        <a:srgbClr val="000000"/>
      </a:accent4>
      <a:accent5>
        <a:srgbClr val="BAABDF"/>
      </a:accent5>
      <a:accent6>
        <a:srgbClr val="E7BB01"/>
      </a:accent6>
      <a:hlink>
        <a:srgbClr val="00CC00"/>
      </a:hlink>
      <a:folHlink>
        <a:srgbClr val="990099"/>
      </a:folHlink>
    </a:clrScheme>
    <a:fontScheme name="Blends">
      <a:majorFont>
        <a:latin typeface="Microsoft Sans Serif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RTX Colors">
      <a:dk1>
        <a:sysClr val="windowText" lastClr="000000"/>
      </a:dk1>
      <a:lt1>
        <a:sysClr val="window" lastClr="FFFFFF"/>
      </a:lt1>
      <a:dk2>
        <a:srgbClr val="CE1126"/>
      </a:dk2>
      <a:lt2>
        <a:srgbClr val="FFFFFF"/>
      </a:lt2>
      <a:accent1>
        <a:srgbClr val="000000"/>
      </a:accent1>
      <a:accent2>
        <a:srgbClr val="464648"/>
      </a:accent2>
      <a:accent3>
        <a:srgbClr val="6B6B6D"/>
      </a:accent3>
      <a:accent4>
        <a:srgbClr val="89898A"/>
      </a:accent4>
      <a:accent5>
        <a:srgbClr val="B8B8B9"/>
      </a:accent5>
      <a:accent6>
        <a:srgbClr val="D4D4D5"/>
      </a:accent6>
      <a:hlink>
        <a:srgbClr val="CE1126"/>
      </a:hlink>
      <a:folHlink>
        <a:srgbClr val="000000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RTX Colors">
      <a:dk1>
        <a:sysClr val="windowText" lastClr="000000"/>
      </a:dk1>
      <a:lt1>
        <a:sysClr val="window" lastClr="FFFFFF"/>
      </a:lt1>
      <a:dk2>
        <a:srgbClr val="CE1126"/>
      </a:dk2>
      <a:lt2>
        <a:srgbClr val="FFFFFF"/>
      </a:lt2>
      <a:accent1>
        <a:srgbClr val="000000"/>
      </a:accent1>
      <a:accent2>
        <a:srgbClr val="464648"/>
      </a:accent2>
      <a:accent3>
        <a:srgbClr val="6B6B6D"/>
      </a:accent3>
      <a:accent4>
        <a:srgbClr val="89898A"/>
      </a:accent4>
      <a:accent5>
        <a:srgbClr val="B8B8B9"/>
      </a:accent5>
      <a:accent6>
        <a:srgbClr val="D4D4D5"/>
      </a:accent6>
      <a:hlink>
        <a:srgbClr val="CE1126"/>
      </a:hlink>
      <a:folHlink>
        <a:srgbClr val="000000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+VVNcbnJwMDI0MTU4MjwvVXNlck5hbWU+PERhdGVUaW1lPjIvMTIvMjAyMCAyOjQ5OjE3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bnJwMDI0MTU4MjwvVXNlck5hbWU+PERhdGVUaW1lPjIvMTIvMjAyMCAzOjAzOjA5IFBNPC9EYXRlVGltZT48TGFiZWxTdHJpbmc+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yLzIwMjAgMzoyODo1NyBQTTwvRGF0ZVRpbWU+PExhYmVsU3RyaW5nPk9yaWdpbiBKdXJpc2RpY3Rpb246IFVTICB8IFJheXRoZW9uIFByb3ByaWV0YXJ5IHwgUGVyIEN1cnJlbnQgUmF5dGhlb24gUG9saWN5IChSUC1PR0MtMDM1KSB8IFVTLUlUQVIgQ29udHJvbGx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yLzE0LzIwMjAgNDo0Mjo0NCBQTTwvRGF0ZVRpbWU+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0LzIwMjAgNjoyOTozNC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+VVNcbnJwMDI0MTU4MjwvVXNlck5hbWU+PERhdGVUaW1lPjIvMTgvMjAyMCA0OjU4OjI4IFBNPC9EYXRlVGltZT48TGFiZWxTdHJpbmc+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zLzcvMjAyMCA4OjIzOjM2IFBNPC9EYXRlVGltZT48TGFiZWxTdHJpbmc+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y83LzIwMjAgODoyNDo0OS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+PC9zaXNsPjxVc2VyTmFtZT5VU1wxMTAzMDg1PC9Vc2VyTmFtZT48RGF0ZVRpbWU+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gLz48VXNlck5hbWU+VVNcMTEwMzA4NTwvVXNlck5hbWU+PERhdGVUaW1lPjMvMTMvMjAyMCAxMDowMjo0NC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IC8+PFVzZXJOYW1lPlVTXG5ycDAyNDE1ODI8L1VzZXJOYW1lPjxEYXRlVGltZT4zLzMwLzIwMjAgMTo1MzoxNy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MDZkYTRkYS1hMjYzLTQxMzYtYjRmZC1mMjhhMTdkMzAxODg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40LzIvMjAyMCAzOjQ5OjE3IFBNPC9EYXRlVGltZT48TGFiZWxTdHJpbmc+T3JpZ2luIEp1cmlzZGljdGlvbjogVVMgIHwgVGhpcmQgUGFydHkgUHJvcHJpZXRhcnkgLSBOZWVkIHRvIEtub3cgfCBVc2UgUHJlZXhpc3RpbmcgTWFya2luZyAobm90IGFwcGxpZWQgYnkgdGhpcyB0b29sKSB8IE90aGVyIEluZm9ybWF0aW9uIChOb3QgUmVxdWlyaW5nIGFuIEV4cG9ydCBDb250cm9sIE1hcmtpbmcpIHwgTm8gbWFya2luZyBhcHBsaWVkIGJ5IHRoZSB0b29sPC9MYWJlbFN0cmluZz48L2l0ZW0+PGl0ZW0+PHNpc2wgc2lzbFZlcnNpb249IjAiIHBvbGljeT0iY2RlNTNhYzEtYmY1Zi00YWFlLTljZjEtMDc1MDllMjNhNGIwIiBvcmlnaW49InVzZXJTZWxlY3RlZCIgLz48VXNlck5hbWU+VVNcMTEwMzA4NTwvVXNlck5hbWU+PERhdGVUaW1lPjQvMjAvMjAyMCA2OjI2OjU0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G5ycDAyNDE1ODI8L1VzZXJOYW1lPjxEYXRlVGltZT4xMC83LzIwMjAgNDowMjo0NSBQTTwvRGF0ZVRpbWU+PExhYmVsU3RyaW5nPk9yaWdpbiBKdXJpc2RpY3Rpb246IFVTIDwvTGFiZWxTdHJpbmc+PC9pdGVtPjwvbGFiZWxIaXN0b3J5Pg==</Value>
</WrappedLabelHistory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VIOLATION xmlns="753e5dbd-8faa-4cd2-a40a-88c25858900e">FALSE</VIOLATION>
    <SharedWithUsers xmlns="2b0f7bea-0413-45a1-baf2-d1833301f0a3">
      <UserInfo>
        <DisplayName>Tahat, Amer                            Collins</DisplayName>
        <AccountId>34</AccountId>
        <AccountType/>
      </UserInfo>
      <UserInfo>
        <DisplayName>Kramer, Sara                            Collins</DisplayName>
        <AccountId>41</AccountId>
        <AccountType/>
      </UserInfo>
      <UserInfo>
        <DisplayName>Wijesekara, Yeshani D                            Collins</DisplayName>
        <AccountId>44</AccountId>
        <AccountType/>
      </UserInfo>
      <UserInfo>
        <DisplayName>Carcangiu, Simone                           Export License Required - US Collins</DisplayName>
        <AccountId>55</AccountId>
        <AccountType/>
      </UserInfo>
      <UserInfo>
        <DisplayName>Sofronis, Christos                           Export License Required - US Collins</DisplayName>
        <AccountId>56</AccountId>
        <AccountType/>
      </UserInfo>
    </SharedWithUsers>
    <lcf76f155ced4ddcb4097134ff3c332f xmlns="753e5dbd-8faa-4cd2-a40a-88c25858900e">
      <Terms xmlns="http://schemas.microsoft.com/office/infopath/2007/PartnerControls"/>
    </lcf76f155ced4ddcb4097134ff3c332f>
    <TaxCatchAll xmlns="2b0f7bea-0413-45a1-baf2-d1833301f0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7012FDC1D4354E98E11BE167F4924F" ma:contentTypeVersion="15" ma:contentTypeDescription="Create a new document." ma:contentTypeScope="" ma:versionID="ee7bbbec8c70d8a105990da3d4a313c8">
  <xsd:schema xmlns:xsd="http://www.w3.org/2001/XMLSchema" xmlns:xs="http://www.w3.org/2001/XMLSchema" xmlns:p="http://schemas.microsoft.com/office/2006/metadata/properties" xmlns:ns1="http://schemas.microsoft.com/sharepoint/v3" xmlns:ns2="753e5dbd-8faa-4cd2-a40a-88c25858900e" xmlns:ns3="2b0f7bea-0413-45a1-baf2-d1833301f0a3" targetNamespace="http://schemas.microsoft.com/office/2006/metadata/properties" ma:root="true" ma:fieldsID="26901830fb53b027f9814912c0dd6b18" ns1:_="" ns2:_="" ns3:_="">
    <xsd:import namespace="http://schemas.microsoft.com/sharepoint/v3"/>
    <xsd:import namespace="753e5dbd-8faa-4cd2-a40a-88c25858900e"/>
    <xsd:import namespace="2b0f7bea-0413-45a1-baf2-d1833301f0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VIOL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3e5dbd-8faa-4cd2-a40a-88c2585890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5da18db-0dbb-493a-8358-0ebfa2dc9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VIOLATION" ma:index="20" nillable="true" ma:displayName="VIOLATION" ma:internalName="VIOLATION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0f7bea-0413-45a1-baf2-d1833301f0a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8818af6-7cc3-44cc-bda2-686339767069}" ma:internalName="TaxCatchAll" ma:showField="CatchAllData" ma:web="2b0f7bea-0413-45a1-baf2-d1833301f0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sisl xmlns:xsi="http://www.w3.org/2001/XMLSchema-instance" xmlns:xsd="http://www.w3.org/2001/XMLSchema" xmlns="http://www.boldonjames.com/2008/01/sie/internal/label" sislVersion="0" policy="cde53ac1-bf5f-4aae-9cf1-07509e23a4b0" origin="defaultValue">
  <element uid="bba94c65-ac3d-4f34-b2e1-8de11ef6f01c" value=""/>
</sisl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F20A76-F421-4C7E-9FA5-EB9918BB68FF}">
  <ds:schemaRefs>
    <ds:schemaRef ds:uri="http://www.boldonjames.com/2016/02/Classifier/internal/wrappedLabelHistory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992B585-A4B9-4C42-9AB2-69742D208DAF}">
  <ds:schemaRefs>
    <ds:schemaRef ds:uri="2b0f7bea-0413-45a1-baf2-d1833301f0a3"/>
    <ds:schemaRef ds:uri="753e5dbd-8faa-4cd2-a40a-88c25858900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2EE6978-602F-4E1E-86C3-E0B15D47F80B}">
  <ds:schemaRefs>
    <ds:schemaRef ds:uri="2b0f7bea-0413-45a1-baf2-d1833301f0a3"/>
    <ds:schemaRef ds:uri="753e5dbd-8faa-4cd2-a40a-88c2585890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5489B1DF-446C-4290-BB79-EA688A1291AC}">
  <ds:schemaRefs>
    <ds:schemaRef ds:uri="http://www.boldonjames.com/2008/01/sie/internal/label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4E5169E7-2729-4230-9755-7A49F75A3C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Collins_PPT_Non_tech_data_16x9_internal</Template>
  <TotalTime>74185</TotalTime>
  <Words>5099</Words>
  <Application>Microsoft Macintosh PowerPoint</Application>
  <PresentationFormat>Widescreen</PresentationFormat>
  <Paragraphs>712</Paragraphs>
  <Slides>43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43</vt:i4>
      </vt:variant>
    </vt:vector>
  </HeadingPairs>
  <TitlesOfParts>
    <vt:vector size="64" baseType="lpstr">
      <vt:lpstr>Arial</vt:lpstr>
      <vt:lpstr>Arial Regular</vt:lpstr>
      <vt:lpstr>Consolas</vt:lpstr>
      <vt:lpstr>Courier New</vt:lpstr>
      <vt:lpstr>DIN-Light</vt:lpstr>
      <vt:lpstr>Microsoft Sans Serif</vt:lpstr>
      <vt:lpstr>Noto Sans Symbols</vt:lpstr>
      <vt:lpstr>Tahoma</vt:lpstr>
      <vt:lpstr>Times New Roman</vt:lpstr>
      <vt:lpstr>Verdana</vt:lpstr>
      <vt:lpstr>Wingdings</vt:lpstr>
      <vt:lpstr>Collins Masters: Covers</vt:lpstr>
      <vt:lpstr>Collins Masters: Content</vt:lpstr>
      <vt:lpstr>Collins Masters: Section Breakers</vt:lpstr>
      <vt:lpstr>1_Collins Masters: Content</vt:lpstr>
      <vt:lpstr>2_Collins Masters: Content</vt:lpstr>
      <vt:lpstr>Collins Aerospace 16x9</vt:lpstr>
      <vt:lpstr>Blends</vt:lpstr>
      <vt:lpstr>1_Collins Aerospace 16x9</vt:lpstr>
      <vt:lpstr>2_Collins Aerospace 16x9</vt:lpstr>
      <vt:lpstr>3_Collins Aerospace 16x9</vt:lpstr>
      <vt:lpstr>Rigorous Agentic Systems Engineering  for seL4 using HAMR </vt:lpstr>
      <vt:lpstr>HAMR</vt:lpstr>
      <vt:lpstr>Potential Benefits to seL4 Application Developers</vt:lpstr>
      <vt:lpstr>Potential Benefits to seL4 Application Developers</vt:lpstr>
      <vt:lpstr>Challenges – In a World Rushing to Agentic Development</vt:lpstr>
      <vt:lpstr>Challenges – In a World Rushing to Agentic Development</vt:lpstr>
      <vt:lpstr>Our Vision:  Rigorous Agentic Systems Engineering</vt:lpstr>
      <vt:lpstr>Rigorous Agentic Systems Engineering</vt:lpstr>
      <vt:lpstr>Rigorous Agentic Systems Engineering</vt:lpstr>
      <vt:lpstr>Rigorous Agentic Systems Engineering</vt:lpstr>
      <vt:lpstr>Talk Outline / Arc</vt:lpstr>
      <vt:lpstr>INSPECTA Public Demonstrator: Open Platform Basic Architecture</vt:lpstr>
      <vt:lpstr>Functional Concepts</vt:lpstr>
      <vt:lpstr>VSCode SysMLv2 HAMR Front End</vt:lpstr>
      <vt:lpstr>VSCode SysMLv2 HAMR Front End</vt:lpstr>
      <vt:lpstr>HAMR Generates seL4 Kernel Configuration</vt:lpstr>
      <vt:lpstr>HAMR Allocates and Configures  1-Way Communication Paths Between Partitions</vt:lpstr>
      <vt:lpstr>HAMR Generates Scheduling Infrastructure  (Time Partitioning)</vt:lpstr>
      <vt:lpstr>HAMR Auto-generates Support for Component Application Code</vt:lpstr>
      <vt:lpstr>HAMR Auto-generates Support for Component Application Code</vt:lpstr>
      <vt:lpstr>HAMR Generates Correspondence Information</vt:lpstr>
      <vt:lpstr>Auto-generated System Feature Traceability for  Manage Heat Source Port (GitHub Markdown)</vt:lpstr>
      <vt:lpstr>HAMR Model / Code / Executable Alignment</vt:lpstr>
      <vt:lpstr>GUMBO – Behavioral Blueprints  via Multi-Level Contract Framework</vt:lpstr>
      <vt:lpstr>GUMBO – Multi-Level Contract Framework</vt:lpstr>
      <vt:lpstr>Towards a Repeatable and Auditable Engineering Process</vt:lpstr>
      <vt:lpstr>HAMR Agent Context Repo</vt:lpstr>
      <vt:lpstr>Agent Workflow Steps Specified  in HAMR Agent Context</vt:lpstr>
      <vt:lpstr>Example Workflow Steps – System Modeling (excerpts)</vt:lpstr>
      <vt:lpstr>Example: Controlled Experiment to Add MavLink Firewall</vt:lpstr>
      <vt:lpstr>Bird’s Eye View of Workflow Step Structure</vt:lpstr>
      <vt:lpstr>Input: Change Request Sketch</vt:lpstr>
      <vt:lpstr>Agents Transforms Change Request  Sketch Into Engineering Plan</vt:lpstr>
      <vt:lpstr>Agent-Produced Plan Waves (excerpts)</vt:lpstr>
      <vt:lpstr>Bird’s Eye View</vt:lpstr>
      <vt:lpstr>Bird’s Eye View</vt:lpstr>
      <vt:lpstr>Bird’s Eye View</vt:lpstr>
      <vt:lpstr>Bird’s Eye View</vt:lpstr>
      <vt:lpstr>Assessment</vt:lpstr>
      <vt:lpstr>Next Steps</vt:lpstr>
      <vt:lpstr>Key Takeaways</vt:lpstr>
      <vt:lpstr>Website / Documentation</vt:lpstr>
      <vt:lpstr>Workflow State is Automatically Maintained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Avionics CMS Gate 3 Template</dc:title>
  <dc:subject>[rtnipcontrolcode:rtnipcontrolcodenone||rtnexportcontrolcountry:usa|rtnexportcontrolcode:rtnexportcontrolcodenone||]</dc:subject>
  <dc:creator>Jaeger, Nic               Collins</dc:creator>
  <cp:keywords>AM Template</cp:keywords>
  <dc:description>AM Template;</dc:description>
  <cp:lastModifiedBy>John Hatcliff</cp:lastModifiedBy>
  <cp:revision>443</cp:revision>
  <cp:lastPrinted>2026-09-07T16:33:56Z</cp:lastPrinted>
  <dcterms:created xsi:type="dcterms:W3CDTF">2022-01-19T19:30:31Z</dcterms:created>
  <dcterms:modified xsi:type="dcterms:W3CDTF">2026-09-07T16:48:40Z</dcterms:modified>
  <cp:category>AM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bb64deb3-b5ac-4347-88a3-8a542b8e6f51</vt:lpwstr>
  </property>
  <property fmtid="{D5CDD505-2E9C-101B-9397-08002B2CF9AE}" pid="3" name="bjSaver">
    <vt:lpwstr>A2AB0OuaTTiL2YVHw3qxYann2Jd9uCN6</vt:lpwstr>
  </property>
  <property fmtid="{D5CDD505-2E9C-101B-9397-08002B2CF9AE}" pid="4" name="rtnipcontrolcode">
    <vt:lpwstr>rtnipcontrolcodenone</vt:lpwstr>
  </property>
  <property fmtid="{D5CDD505-2E9C-101B-9397-08002B2CF9AE}" pid="5" name="rtnexportcontrolcode">
    <vt:lpwstr>rtnexportcontrolcodenone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policy="cde53ac1-bf5f-4aae-9cf1-07509e23a4b0" origin="defaultValue" xmlns="http://www.boldonj</vt:lpwstr>
  </property>
  <property fmtid="{D5CDD505-2E9C-101B-9397-08002B2CF9AE}" pid="7" name="bjDocumentLabelXML-0">
    <vt:lpwstr>ames.com/2008/01/sie/internal/label"&gt;&lt;element uid="bba94c65-ac3d-4f34-b2e1-8de11ef6f01c" value="" /&gt;&lt;/sisl&gt;</vt:lpwstr>
  </property>
  <property fmtid="{D5CDD505-2E9C-101B-9397-08002B2CF9AE}" pid="8" name="bjDocumentSecurityLabel">
    <vt:lpwstr>Origin Jurisdiction: US </vt:lpwstr>
  </property>
  <property fmtid="{D5CDD505-2E9C-101B-9397-08002B2CF9AE}" pid="9" name="rtnexportcontrolcountry">
    <vt:lpwstr>usa</vt:lpwstr>
  </property>
  <property fmtid="{D5CDD505-2E9C-101B-9397-08002B2CF9AE}" pid="10" name="bjClsUserRVM">
    <vt:lpwstr>[]</vt:lpwstr>
  </property>
  <property fmtid="{D5CDD505-2E9C-101B-9397-08002B2CF9AE}" pid="11" name="bjLabelHistoryID">
    <vt:lpwstr>{45F20A76-F421-4C7E-9FA5-EB9918BB68FF}</vt:lpwstr>
  </property>
  <property fmtid="{D5CDD505-2E9C-101B-9397-08002B2CF9AE}" pid="12" name="MSIP_Label_a37ca26f-e25f-4770-9a89-55e6db4cfbd6_SetDate">
    <vt:lpwstr>2020-04-03T15:47:36.2221519Z</vt:lpwstr>
  </property>
  <property fmtid="{D5CDD505-2E9C-101B-9397-08002B2CF9AE}" pid="13" name="MSIP_Label_a37ca26f-e25f-4770-9a89-55e6db4cfbd6_Name">
    <vt:lpwstr>NO TECH DATA</vt:lpwstr>
  </property>
  <property fmtid="{D5CDD505-2E9C-101B-9397-08002B2CF9AE}" pid="14" name="CASize">
    <vt:lpwstr>W</vt:lpwstr>
  </property>
  <property fmtid="{D5CDD505-2E9C-101B-9397-08002B2CF9AE}" pid="15" name="MSIP_Label_a37ca26f-e25f-4770-9a89-55e6db4cfbd6_Application">
    <vt:lpwstr>Microsoft Azure Information Protection</vt:lpwstr>
  </property>
  <property fmtid="{D5CDD505-2E9C-101B-9397-08002B2CF9AE}" pid="16" name="UTC Classification">
    <vt:lpwstr>NO TECH DATA</vt:lpwstr>
  </property>
  <property fmtid="{D5CDD505-2E9C-101B-9397-08002B2CF9AE}" pid="17" name="MSIP_Label_a37ca26f-e25f-4770-9a89-55e6db4cfbd6_Extended_MSFT_Method">
    <vt:lpwstr>Manual</vt:lpwstr>
  </property>
  <property fmtid="{D5CDD505-2E9C-101B-9397-08002B2CF9AE}" pid="18" name="ContentTypeId">
    <vt:lpwstr>0x0101007E7012FDC1D4354E98E11BE167F4924F</vt:lpwstr>
  </property>
  <property fmtid="{D5CDD505-2E9C-101B-9397-08002B2CF9AE}" pid="19" name="MSIP_Label_a37ca26f-e25f-4770-9a89-55e6db4cfbd6_Owner">
    <vt:lpwstr>zastropw@azg.utcaus.com</vt:lpwstr>
  </property>
  <property fmtid="{D5CDD505-2E9C-101B-9397-08002B2CF9AE}" pid="20" name="MSIP_Label_a37ca26f-e25f-4770-9a89-55e6db4cfbd6_Enabled">
    <vt:lpwstr>True</vt:lpwstr>
  </property>
  <property fmtid="{D5CDD505-2E9C-101B-9397-08002B2CF9AE}" pid="21" name="MSIP_Label_a37ca26f-e25f-4770-9a89-55e6db4cfbd6_SiteId">
    <vt:lpwstr>ff460f77-8fa7-4946-ad6d-d50817a742fa</vt:lpwstr>
  </property>
  <property fmtid="{D5CDD505-2E9C-101B-9397-08002B2CF9AE}" pid="22" name="MSIP_Label_a37ca26f-e25f-4770-9a89-55e6db4cfbd6_ActionId">
    <vt:lpwstr>029ba2ca-3ec3-4a74-a9d9-492333a5ed1c</vt:lpwstr>
  </property>
  <property fmtid="{D5CDD505-2E9C-101B-9397-08002B2CF9AE}" pid="23" name="MSIP_Label_4447dd6a-a4a1-440b-a6a3-9124ef1ee017_Enabled">
    <vt:lpwstr>true</vt:lpwstr>
  </property>
  <property fmtid="{D5CDD505-2E9C-101B-9397-08002B2CF9AE}" pid="24" name="MSIP_Label_4447dd6a-a4a1-440b-a6a3-9124ef1ee017_SetDate">
    <vt:lpwstr>2022-09-22T01:10:54Z</vt:lpwstr>
  </property>
  <property fmtid="{D5CDD505-2E9C-101B-9397-08002B2CF9AE}" pid="25" name="MSIP_Label_4447dd6a-a4a1-440b-a6a3-9124ef1ee017_Method">
    <vt:lpwstr>Privileged</vt:lpwstr>
  </property>
  <property fmtid="{D5CDD505-2E9C-101B-9397-08002B2CF9AE}" pid="26" name="MSIP_Label_4447dd6a-a4a1-440b-a6a3-9124ef1ee017_Name">
    <vt:lpwstr>NO TECH DATA</vt:lpwstr>
  </property>
  <property fmtid="{D5CDD505-2E9C-101B-9397-08002B2CF9AE}" pid="27" name="MSIP_Label_4447dd6a-a4a1-440b-a6a3-9124ef1ee017_SiteId">
    <vt:lpwstr>7a18110d-ef9b-4274-acef-e62ab0fe28ed</vt:lpwstr>
  </property>
  <property fmtid="{D5CDD505-2E9C-101B-9397-08002B2CF9AE}" pid="28" name="MSIP_Label_4447dd6a-a4a1-440b-a6a3-9124ef1ee017_ActionId">
    <vt:lpwstr>2b5d91e4-2c21-4644-8d30-dadf71502cbd</vt:lpwstr>
  </property>
  <property fmtid="{D5CDD505-2E9C-101B-9397-08002B2CF9AE}" pid="29" name="MSIP_Label_4447dd6a-a4a1-440b-a6a3-9124ef1ee017_ContentBits">
    <vt:lpwstr>0</vt:lpwstr>
  </property>
  <property fmtid="{D5CDD505-2E9C-101B-9397-08002B2CF9AE}" pid="30" name="MediaServiceImageTags">
    <vt:lpwstr/>
  </property>
</Properties>
</file>